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70" r:id="rId20"/>
    <p:sldId id="265" r:id="rId11"/>
    <p:sldId id="269" r:id="rId13"/>
    <p:sldId id="266" r:id="rId12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evaluate.com/ask-ella/" TargetMode="External"/><Relationship Id="rId12" Type="http://schemas.openxmlformats.org/officeDocument/2006/relationships/hyperlink" Target="https://www.iqvia.com/solutions/commercialization/commercial-analytics/omnichannel-engagement-and-insights/field-force-agent" TargetMode="External"/><Relationship Id="rId13" Type="http://schemas.openxmlformats.org/officeDocument/2006/relationships/hyperlink" Target="https://trinitylifesciences.com/company/press-releases/trinity-launches-insightsedge-digital-twins/" TargetMode="External"/><Relationship Id="rId14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citeline.com/plus" TargetMode="External"/><Relationship Id="rId12" Type="http://schemas.openxmlformats.org/officeDocument/2006/relationships/hyperlink" Target="https://clinicaldata.veevavault.help/en/lr/rn/limited-releases/26r3/new-features" TargetMode="External"/><Relationship Id="rId13" Type="http://schemas.openxmlformats.org/officeDocument/2006/relationships/hyperlink" Target="https://www.mmitnetwork.com/mosaic/" TargetMode="External"/><Relationship Id="rId14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veeva.com/products/vault-ai/" TargetMode="External"/><Relationship Id="rId3" Type="http://schemas.openxmlformats.org/officeDocument/2006/relationships/hyperlink" Target="https://www.iqvia.com/newsroom/2026/03/iqvia-unveils-iqvia-ai-a-unified-agentic-ai-platform" TargetMode="External"/><Relationship Id="rId4" Type="http://schemas.openxmlformats.org/officeDocument/2006/relationships/hyperlink" Target="https://www.iqvia.com/blogs/2025/12/introducing-iqvia-med-r1-deep-research-agent" TargetMode="External"/><Relationship Id="rId5" Type="http://schemas.openxmlformats.org/officeDocument/2006/relationships/hyperlink" Target="https://lens.tempus.com/" TargetMode="External"/><Relationship Id="rId6" Type="http://schemas.openxmlformats.org/officeDocument/2006/relationships/hyperlink" Target="https://www.komodohealth.com/product/healthcare-map/" TargetMode="External"/><Relationship Id="rId7" Type="http://schemas.openxmlformats.org/officeDocument/2006/relationships/hyperlink" Target="https://www.komodohealth.com/press/komodo-health-introduces-marmot-the-ai-built-to-accelerate-healthcare-innovation/" TargetMode="External"/><Relationship Id="rId8" Type="http://schemas.openxmlformats.org/officeDocument/2006/relationships/hyperlink" Target="https://www.truveta.com/blog/data/approach-to-real-world-data-quality/" TargetMode="External"/><Relationship Id="rId9" Type="http://schemas.openxmlformats.org/officeDocument/2006/relationships/hyperlink" Target="https://www.norstella.com/press-releases/norstella-introduces-norstellalinq/" TargetMode="External"/><Relationship Id="rId10" Type="http://schemas.openxmlformats.org/officeDocument/2006/relationships/hyperlink" Target="https://www.komodohealth.com/perspectives/building-the-framework-for-trusted-ai-in-healthcare/" TargetMode="External"/><Relationship Id="rId11" Type="http://schemas.openxmlformats.org/officeDocument/2006/relationships/hyperlink" Target="https://healthverity.com/exos/" TargetMode="External"/><Relationship Id="rId12" Type="http://schemas.openxmlformats.org/officeDocument/2006/relationships/hyperlink" Target="https://clinicaldata.veevavault.help/en/lr/rn/limited-releases/26r3/new-features/" TargetMode="External"/><Relationship Id="rId13" Type="http://schemas.openxmlformats.org/officeDocument/2006/relationships/hyperlink" Target="https://veranahealth.com/verana-health-introduces-new-ai-agents-to-expedite-and-streamline-rd-tasks/" TargetMode="External"/><Relationship Id="rId14" Type="http://schemas.openxmlformats.org/officeDocument/2006/relationships/hyperlink" Target="https://www.zs.com/about/newsroom/zs-press-salesforce-zaidyn-crm" TargetMode="External"/><Relationship Id="rId15" Type="http://schemas.openxmlformats.org/officeDocument/2006/relationships/hyperlink" Target="https://trinetx.com/blog/trinetx-named-best-of-show-finalist-at-scope-advancing-clinical-trial-planning-with-conversational-ai-and-enhanced-api-capabilities/" TargetMode="External"/><Relationship Id="rId16" Type="http://schemas.openxmlformats.org/officeDocument/2006/relationships/hyperlink" Target="https://healthverity.com/news/announcing-healthverity-exos/" TargetMode="External"/><Relationship Id="rId17" Type="http://schemas.openxmlformats.org/officeDocument/2006/relationships/hyperlink" Target="https://medeloop.ai/analytic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9" Type="http://schemas.openxmlformats.org/officeDocument/2006/relationships/hyperlink" Target="https://www.veeva.com/products/veeva-ai/" TargetMode="External"/><Relationship Id="rId10" Type="http://schemas.openxmlformats.org/officeDocument/2006/relationships/hyperlink" Target="https://www.anthropic.com/news/claude-science-ai-workbench" TargetMode="External"/><Relationship Id="rId11" Type="http://schemas.openxmlformats.org/officeDocument/2006/relationships/hyperlink" Target="https://openai.com/index/introducing-gpt-rosalind" TargetMode="External"/><Relationship Id="rId12" Type="http://schemas.openxmlformats.org/officeDocument/2006/relationships/hyperlink" Target="https://azure.microsoft.com/en-us/blog/announcing-microsoft-discovery-general-availability-and-microsoft-discovery-app-preview/" TargetMode="External"/><Relationship Id="rId13" Type="http://schemas.openxmlformats.org/officeDocument/2006/relationships/hyperlink" Target="https://deepmind.google/blog/co-scientist-a-multi-agent-ai-partner-to-accelerate-research/" TargetMode="External"/><Relationship Id="rId14" Type="http://schemas.openxmlformats.org/officeDocument/2006/relationships/hyperlink" Target="https://news.bms.com/news/details/2026/Bristol-Myers-Squibb-Announces-Strategic-Agreement-with-Anthropic-to-Position-Claude-Enterprise-as-the-Shared-Intelligence-Platform-Across-Its-Global-Operations/default.aspx" TargetMode="External"/><Relationship Id="rId15" Type="http://schemas.openxmlformats.org/officeDocument/2006/relationships/hyperlink" Target="https://www.biopharminternational.com/view/novo-nordisk-partners-with-openai-for-drug-discovery" TargetMode="External"/><Relationship Id="rId16" Type="http://schemas.openxmlformats.org/officeDocument/2006/relationships/hyperlink" Target="https://www.novonordisk.com/news-and-media/news-and-ir-materials/news-details.html?id=916768" TargetMode="External"/><Relationship Id="rId17" Type="http://schemas.openxmlformats.org/officeDocument/2006/relationships/hyperlink" Target="https://www.hpcwire.com/aiwire/2026/05/19/cohere-acquires-reliant-ai-to-expand-sovereign-enterprise-ai-for-global-biopharma-and-healthcare-sectors/" TargetMode="External"/><Relationship Id="rId18" Type="http://schemas.openxmlformats.org/officeDocument/2006/relationships/hyperlink" Target="https://www.fiercebiotech.com/biotech/anthropic-acquires-stealth-ai-startup-coefficient-bio-400m-deal" TargetMode="External"/><Relationship Id="rId19" Type="http://schemas.openxmlformats.org/officeDocument/2006/relationships/hyperlink" Target="https://www.rdworldonline.com/anthropics-400m-acquisition-of-coefficient-bio-signals-a-deeper-push-into-drug-discovery/" TargetMode="External"/><Relationship Id="rId20" Type="http://schemas.openxmlformats.org/officeDocument/2006/relationships/hyperlink" Target="https://www.veeva.com/resources/new-veeva-study-builder-agent-to-configure-clinical-studies-in-as-little-as-one-day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68249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2093976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871215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39242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94106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443983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531266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7365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1. 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inside CRM, or across a portfolio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IQVIA, Norstella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2. 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3. 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4. 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23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Excludes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3898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7589520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389120"/>
            <a:ext cx="7187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754880"/>
            <a:ext cx="7187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How widely are life-sciences vendors marketing conversational AI, and in which domains?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Which customer tasks does it target, and what do vendors promise?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Who supplies the underlying AI, and could those suppliers become competitors?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What does that positioning suggest for an Optum LS offering?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8321040" y="4114800"/>
            <a:ext cx="3319272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8522208" y="438912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4754880"/>
            <a:ext cx="2916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Vendors’ public product claims show what competitors choose to promise customers. That makes them direct evidence of competitive positioning—though not of performance, adoption or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 market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000" b="1" dirty="0">
                <a:solidFill>
                  <a:schemeClr val="tx1"/>
                </a:solidFill>
              </a:rPr>
              <a:t>Every domain now has competitors marketing conversational AI, from 9 in RWE to 2 in market access.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000" b="1" dirty="0">
                <a:solidFill>
                  <a:schemeClr val="tx1"/>
                </a:solidFill>
              </a:rPr>
              <a:t>Norstella alone markets Ella-branded assistants in four of the five.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Trinity, Norstella (Evaluate)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TriNetX, Norstella (Citeline),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selection; data-bounded EDC chat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Access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EVERSANA, Norstella (MMIT)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answers; queryable payer feedback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059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Evaluate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plain-English questions on pharma markets, deals and forecasts;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5521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79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66253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339214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525701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972093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158580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345054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www.evaluate.com/ask-ella/">
            <a:hlinkClick r:id="rId11"/>
          </p:cNvPr>
          <p:cNvSpPr/>
          <p:nvPr/>
        </p:nvSpPr>
        <p:spPr>
          <a:xfrm>
            <a:off x="2944075" y="2152740"/>
            <a:ext cx="13686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69653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56140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www.iqvia.com/solutions/commercialization/commercial-analytics/omnichannel-engagement-and-insights/field-force-agent">
            <a:hlinkClick r:id="rId12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trinitylifesciences.com/company/press-releases/trinity-launches-insightsedge-digital-twins/">
            <a:hlinkClick r:id="rId13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8: https://www.ipsos.com/en/launch-ipsos-personabot-groundbreaking-ai-powered-solution-enhance-segmentation-research">
            <a:hlinkClick r:id="rId14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trials and market access, vendors limit what conversational AI can see and how far its answers go</a:t>
            </a:r>
            <a:endParaRPr lang="en-US" sz="22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CLINICAL TRIALS: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529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Conversational AI + Terrain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protocol feasibility, clinical-code generation and site/investigator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Citeline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trial and site search strategies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4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Clinical-data operations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 on study operational data and help content, excluding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True Source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(electronic source-data capture); no comparable conversational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MARKET ACCESS: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37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2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Payer feedback and coverage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MMIT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plain-language answers grounded in formulary, coverage and payer-feedback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No comparable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defined data boundar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DEFINED DATA BOUNDARIES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Veeva draws an explicit line around its new trial assistant: the EDC AI Tab answers questions from study operational data and help pages, but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 site-entered casebook data is referenced by the AI agent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1908303"/>
            <a:ext cx="24108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0: https://www.navlin.com/products/tender">
            <a:hlinkClick r:id="rId6"/>
          </p:cNvPr>
          <p:cNvSpPr/>
          <p:nvPr/>
        </p:nvSpPr>
        <p:spPr>
          <a:xfrm>
            <a:off x="2944075" y="3491942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0: https://citeline.com/plus">
            <a:hlinkClick r:id="rId11"/>
          </p:cNvPr>
          <p:cNvSpPr/>
          <p:nvPr/>
        </p:nvSpPr>
        <p:spPr>
          <a:xfrm>
            <a:off x="2944075" y="2230502"/>
            <a:ext cx="130744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2944075" y="2560981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mmitnetwork.com/mosaic/">
            <a:hlinkClick r:id="rId13"/>
          </p:cNvPr>
          <p:cNvSpPr/>
          <p:nvPr/>
        </p:nvSpPr>
        <p:spPr>
          <a:xfrm>
            <a:off x="2944075" y="4107181"/>
            <a:ext cx="11810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5037945" y="5375216"/>
            <a:ext cx="5420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749515" y="5535058"/>
            <a:ext cx="338427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ACROSS ALL FIVE DOMAINS: HOW THE PRODUCTS ARE BUILT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Behind the products, competitors lead with their data and controls;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outside suppliers can provide the model, and even the interface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graphicFrame>
        <p:nvGraphicFramePr>
          <p:cNvPr id="2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168395"/>
        </p:xfrm>
        <a:graphic>
          <a:graphicData uri="http://schemas.openxmlformats.org/drawingml/2006/table">
            <a:tbl>
              <a:tblPr/>
              <a:tblGrid>
                <a:gridCol w="1737360"/>
                <a:gridCol w="7086600"/>
                <a:gridCol w="22677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LAYER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COMPETITORS SHOW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TAKEAWAY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Model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Anthropic and Amazon models;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IQVIA.ai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NVIDIA Nemotron;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developed separately;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frontier LLMs paired with its own oncology models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Often sourced or adapted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Data and domain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Map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de-identified patient journeys;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 knowledge graph built from prior analyses;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Data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continuously refreshed EHR data from member health systems;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NorstellaLinQ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patient data, plus Citeline trial, Evaluate commercial and MMIT payer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What launches lead with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Execution and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controls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“</a:t>
                      </a: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The LLM never touches numbers.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”;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“</a:t>
                      </a: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nothing runs until you review, edit and approve it.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”;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reads no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How AI work is constrained and checked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96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Interface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Most build chat into their own products; some also design for other companies’ assistants, platforms or APIs: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callable from Claude, Gemini and Copilot;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brought into Salesforce’s Agentforce Life Sciences;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API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AI integration through enhanced API capabilities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Not always the vendor’s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upplier and seller card"/>
          <p:cNvSpPr/>
          <p:nvPr/>
        </p:nvSpPr>
        <p:spPr>
          <a:xfrm>
            <a:off x="548640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label"/>
          <p:cNvSpPr txBox="1"/>
          <p:nvPr/>
        </p:nvSpPr>
        <p:spPr>
          <a:xfrm>
            <a:off x="749808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SUPPLIER AND SELLER</a:t>
            </a:r>
            <a:endParaRPr lang="en-US" sz="1300" dirty="0"/>
          </a:p>
        </p:txBody>
      </p:sp>
      <p:sp>
        <p:nvSpPr>
          <p:cNvPr id="29" name="Text 14"/>
          <p:cNvSpPr txBox="1"/>
          <p:nvPr/>
        </p:nvSpPr>
        <p:spPr>
          <a:xfrm>
            <a:off x="749808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Medeloop powers HealthVerity’s eXOs</a:t>
            </a:r>
            <a:r>
              <a:rPr lang="en-US" sz="1050" b="1" dirty="0">
                <a:solidFill>
                  <a:schemeClr val="tx1"/>
                </a:solidFill>
              </a:rPr>
              <a:t> and also sells its own analytics platform, preloaded with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38 million de-identified patients from HealthVerity’s all-payer claims dataset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0" name="the interface isn’t always the vendor’s card"/>
          <p:cNvSpPr/>
          <p:nvPr/>
        </p:nvSpPr>
        <p:spPr>
          <a:xfrm>
            <a:off x="6185916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label"/>
          <p:cNvSpPr txBox="1"/>
          <p:nvPr/>
        </p:nvSpPr>
        <p:spPr>
          <a:xfrm>
            <a:off x="6387084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INTERFACE ISN’T ALWAYS THE VENDOR’S</a:t>
            </a:r>
            <a:endParaRPr lang="en-US" sz="1300" dirty="0"/>
          </a:p>
        </p:txBody>
      </p:sp>
      <p:sp>
        <p:nvSpPr>
          <p:cNvPr id="32" name="Text 14"/>
          <p:cNvSpPr txBox="1"/>
          <p:nvPr/>
        </p:nvSpPr>
        <p:spPr>
          <a:xfrm>
            <a:off x="6387084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Verana markets Agent Claire as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callable from Claude, Gemini and Copilot</a:t>
            </a:r>
            <a:r>
              <a:rPr lang="en-US" sz="1050" b="1" dirty="0">
                <a:solidFill>
                  <a:schemeClr val="tx1"/>
                </a:solidFill>
              </a:rPr>
              <a:t>; ZS has announced it is bringing ZAIDYN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directly into Salesforce’s Agentforce Life Sciences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3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4: https://www.veeva.com/products/vault-ai/">
            <a:hlinkClick r:id="rId2"/>
          </p:cNvPr>
          <p:cNvSpPr/>
          <p:nvPr/>
        </p:nvSpPr>
        <p:spPr>
          <a:xfrm>
            <a:off x="2395435" y="1888135"/>
            <a:ext cx="921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4: https://www.iqvia.com/newsroom/2026/03/iqvia-unveils-iqvia-ai-a-unified-agentic-ai-platform">
            <a:hlinkClick r:id="rId3"/>
          </p:cNvPr>
          <p:cNvSpPr/>
          <p:nvPr/>
        </p:nvSpPr>
        <p:spPr>
          <a:xfrm>
            <a:off x="2395435" y="2074622"/>
            <a:ext cx="92333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4: https://www.iqvia.com/blogs/2025/12/introducing-iqvia-med-r1-deep-research-agent">
            <a:hlinkClick r:id="rId4"/>
          </p:cNvPr>
          <p:cNvSpPr/>
          <p:nvPr/>
        </p:nvSpPr>
        <p:spPr>
          <a:xfrm>
            <a:off x="4375073" y="2074622"/>
            <a:ext cx="46793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4: https://lens.tempus.com/">
            <a:hlinkClick r:id="rId5"/>
          </p:cNvPr>
          <p:cNvSpPr/>
          <p:nvPr/>
        </p:nvSpPr>
        <p:spPr>
          <a:xfrm>
            <a:off x="2395435" y="2261096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4: https://www.komodohealth.com/product/healthcare-map/">
            <a:hlinkClick r:id="rId6"/>
          </p:cNvPr>
          <p:cNvSpPr/>
          <p:nvPr/>
        </p:nvSpPr>
        <p:spPr>
          <a:xfrm>
            <a:off x="2395435" y="2551253"/>
            <a:ext cx="18697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4: https://www.komodohealth.com/press/komodo-health-introduces-marmot-the-ai-built-to-accelerate-healthcare-innovation/">
            <a:hlinkClick r:id="rId7"/>
          </p:cNvPr>
          <p:cNvSpPr/>
          <p:nvPr/>
        </p:nvSpPr>
        <p:spPr>
          <a:xfrm>
            <a:off x="5903645" y="2551253"/>
            <a:ext cx="46792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4: https://www.truveta.com/blog/data/approach-to-real-world-data-quality/">
            <a:hlinkClick r:id="rId8"/>
          </p:cNvPr>
          <p:cNvSpPr/>
          <p:nvPr/>
        </p:nvSpPr>
        <p:spPr>
          <a:xfrm>
            <a:off x="2395435" y="2737740"/>
            <a:ext cx="127720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4: https://www.norstella.com/press-releases/norstella-introduces-norstellalinq/">
            <a:hlinkClick r:id="rId9"/>
          </p:cNvPr>
          <p:cNvSpPr/>
          <p:nvPr/>
        </p:nvSpPr>
        <p:spPr>
          <a:xfrm>
            <a:off x="2395435" y="2924214"/>
            <a:ext cx="141436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4: https://www.komodohealth.com/perspectives/building-the-framework-for-trusted-ai-in-healthcare/">
            <a:hlinkClick r:id="rId10"/>
          </p:cNvPr>
          <p:cNvSpPr/>
          <p:nvPr/>
        </p:nvSpPr>
        <p:spPr>
          <a:xfrm>
            <a:off x="2395435" y="3214371"/>
            <a:ext cx="141581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4: https://healthverity.com/exos/">
            <a:hlinkClick r:id="rId11"/>
          </p:cNvPr>
          <p:cNvSpPr/>
          <p:nvPr/>
        </p:nvSpPr>
        <p:spPr>
          <a:xfrm>
            <a:off x="2395435" y="3400858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4: https://clinicaldata.veevavault.help/en/lr/rn/limited-releases/26r3/new-features/">
            <a:hlinkClick r:id="rId12"/>
          </p:cNvPr>
          <p:cNvSpPr/>
          <p:nvPr/>
        </p:nvSpPr>
        <p:spPr>
          <a:xfrm>
            <a:off x="2395435" y="3587332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2395435" y="4063976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2395435" y="4250462"/>
            <a:ext cx="75305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4: https://trinetx.com/blog/trinetx-named-best-of-show-finalist-at-scope-advancing-clinical-trial-planning-with-conversational-ai-and-enhanced-api-capabilities/">
            <a:hlinkClick r:id="rId15"/>
          </p:cNvPr>
          <p:cNvSpPr/>
          <p:nvPr/>
        </p:nvSpPr>
        <p:spPr>
          <a:xfrm>
            <a:off x="2395435" y="4436937"/>
            <a:ext cx="105148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4: https://healthverity.com/news/announcing-healthverity-exos/">
            <a:hlinkClick r:id="rId16"/>
          </p:cNvPr>
          <p:cNvSpPr/>
          <p:nvPr/>
        </p:nvSpPr>
        <p:spPr>
          <a:xfrm>
            <a:off x="749515" y="5375216"/>
            <a:ext cx="24008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4: https://medeloop.ai/analytics">
            <a:hlinkClick r:id="rId17"/>
          </p:cNvPr>
          <p:cNvSpPr/>
          <p:nvPr/>
        </p:nvSpPr>
        <p:spPr>
          <a:xfrm>
            <a:off x="1720659" y="5535058"/>
            <a:ext cx="38640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medeloop.ai/analytics">
            <a:hlinkClick r:id="rId17"/>
          </p:cNvPr>
          <p:cNvSpPr/>
          <p:nvPr/>
        </p:nvSpPr>
        <p:spPr>
          <a:xfrm>
            <a:off x="749515" y="5694900"/>
            <a:ext cx="101619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8399881" y="5375216"/>
            <a:ext cx="262914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8754607" y="5535058"/>
            <a:ext cx="263398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6386753" y="5694900"/>
            <a:ext cx="67778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4: https://www.komodohealth.com/perspectives/building-the-framework-for-trusted-ai-in-healthcare/">
            <a:hlinkClick r:id="rId10"/>
          </p:cNvPr>
          <p:cNvSpPr/>
          <p:nvPr/>
        </p:nvSpPr>
        <p:spPr>
          <a:xfrm>
            <a:off x="3843328" y="3214371"/>
            <a:ext cx="1914039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4: https://healthverity.com/exos/">
            <a:hlinkClick r:id="rId11"/>
          </p:cNvPr>
          <p:cNvSpPr/>
          <p:nvPr/>
        </p:nvSpPr>
        <p:spPr>
          <a:xfrm>
            <a:off x="3535163" y="3400858"/>
            <a:ext cx="272295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MODEL SUPPLIERS: LLM PROVIDERS IN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are entering pharma through research workbenches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and enterprise deployments, not patient-level data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828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WAYS LLM PROVIDERS REACH OPTUM LS’S CUSTOMERS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75688"/>
          <a:ext cx="11091672" cy="2871215"/>
        </p:xfrm>
        <a:graphic>
          <a:graphicData uri="http://schemas.openxmlformats.org/drawingml/2006/table">
            <a:tbl>
              <a:tblPr/>
              <a:tblGrid>
                <a:gridCol w="1554480"/>
                <a:gridCol w="1234440"/>
                <a:gridCol w="5029200"/>
                <a:gridCol w="3273552"/>
              </a:tblGrid>
              <a:tr h="402336"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LAYER REACHED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9976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Own research workbenches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Interface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Anthropic’s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Science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(beta, June 2026):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over 60 curated skills and connectors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,” drawing on public databases such as UniProt and ClinVar plus users’ own data;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OpenAI’s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GPT-Rosalind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trusted access for eligible organizations since September 2026;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Microsoft Discovery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generally available June 2026, with GSK named;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Google’s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Co-Scientist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enterprise preview that includes Daiichi Sankyo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Discovery-stage research on public and customer data; little overlap with RWE, commercial or HEOR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86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Become pharma’s enterprise layer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Interface and workflow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BMS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positions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Enterprise as the Shared Intelligence Platform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across research, clinical, commercial and corporate functions, including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turning field insights into structured intelligence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HCP engagement;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Novo Nordisk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partnered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2026, reaching into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commercial execution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”) and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(September 2026)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The closest overlap with Optum LS: pharma companies analyze their own data and systems inside the provider’s assistant, including in commercial functions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04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Acquire research capability and customers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Domain expertise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(May 2026): adds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proprietary biomedical datasets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and customers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including GSK, Medicus Pharma, and Kyowa Kirin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”; North for Pharma is announced;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Coefficient Bio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2026): a team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fewer than 10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building biology-specific models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Research teams, literature-derived data and pharma accounts, not patient-level RWD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5129784"/>
            <a:ext cx="11091672" cy="9235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390388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478902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239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OVERLAP IS THE INTERFACE, NOT THE DATA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53212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None of these products markets patient-level RWD of its own. But BMS is making Claude its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shared intelligence platform</a:t>
            </a:r>
            <a:r>
              <a:rPr lang="en-US" sz="1100" b="1" dirty="0">
                <a:solidFill>
                  <a:schemeClr val="accent1"/>
                </a:solidFill>
              </a:rPr>
              <a:t>,” and Veeva’s newest agent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is delivered as a Claude Cowork plugin</a:t>
            </a:r>
            <a:r>
              <a:rPr lang="en-US" sz="1100" b="1" dirty="0">
                <a:solidFill>
                  <a:schemeClr val="accent1"/>
                </a:solidFill>
              </a:rPr>
              <a:t>.” The near-term overlap with Optum LS is where pharma teams do the analysis.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  <p:sp>
        <p:nvSpPr>
          <p:cNvPr id="26" name="starting point band"/>
          <p:cNvSpPr/>
          <p:nvPr/>
        </p:nvSpPr>
        <p:spPr>
          <a:xfrm>
            <a:off x="548640" y="1481328"/>
            <a:ext cx="11091672" cy="274320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rting point"/>
          <p:cNvSpPr txBox="1"/>
          <p:nvPr/>
        </p:nvSpPr>
        <p:spPr>
          <a:xfrm>
            <a:off x="731520" y="1481328"/>
            <a:ext cx="10789920" cy="2743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050" b="1">
                <a:solidFill>
                  <a:srgbClr val="002677"/>
                </a:solidFill>
              </a:rPr>
              <a:t>STARTING POINT: </a:t>
            </a:r>
            <a:r>
              <a:rPr sz="1050">
                <a:solidFill>
                  <a:srgbClr val="002677"/>
                </a:solidFill>
              </a:rPr>
              <a:t>LLM providers already supply the model to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Veeva</a:t>
            </a:r>
            <a:r>
              <a:rPr sz="1050">
                <a:solidFill>
                  <a:srgbClr val="002677"/>
                </a:solidFill>
              </a:rPr>
              <a:t>,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</a:t>
            </a:r>
            <a:r>
              <a:rPr sz="1050">
                <a:solidFill>
                  <a:srgbClr val="002677"/>
                </a:solidFill>
              </a:rPr>
              <a:t> and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Datavant</a:t>
            </a:r>
            <a:r>
              <a:rPr sz="1050">
                <a:solidFill>
                  <a:srgbClr val="002677"/>
                </a:solidFill>
              </a:rPr>
              <a:t> (previous slide).</a:t>
            </a:r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3" name="Invisible source link 11: https://www.veeva.com/products/veeva-ai/">
            <a:hlinkClick r:id="rId9"/>
          </p:cNvPr>
          <p:cNvSpPr/>
          <p:nvPr/>
        </p:nvSpPr>
        <p:spPr>
          <a:xfrm>
            <a:off x="4440605" y="1550941"/>
            <a:ext cx="40409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anthropic.com/news/claude-for-life-sciences">
            <a:hlinkClick r:id="rId4"/>
          </p:cNvPr>
          <p:cNvSpPr/>
          <p:nvPr/>
        </p:nvSpPr>
        <p:spPr>
          <a:xfrm>
            <a:off x="4880876" y="1550941"/>
            <a:ext cx="49243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5668924" y="1550941"/>
            <a:ext cx="52986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www.anthropic.com/news/claude-science-ai-workbench">
            <a:hlinkClick r:id="rId10"/>
          </p:cNvPr>
          <p:cNvSpPr/>
          <p:nvPr/>
        </p:nvSpPr>
        <p:spPr>
          <a:xfrm>
            <a:off x="4108323" y="2569036"/>
            <a:ext cx="84381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www.anthropic.com/news/claude-science-ai-workbench">
            <a:hlinkClick r:id="rId10"/>
          </p:cNvPr>
          <p:cNvSpPr/>
          <p:nvPr/>
        </p:nvSpPr>
        <p:spPr>
          <a:xfrm>
            <a:off x="5943093" y="2569036"/>
            <a:ext cx="199386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openai.com/index/introducing-gpt-rosalind">
            <a:hlinkClick r:id="rId11"/>
          </p:cNvPr>
          <p:cNvSpPr/>
          <p:nvPr/>
        </p:nvSpPr>
        <p:spPr>
          <a:xfrm>
            <a:off x="3975836" y="2850912"/>
            <a:ext cx="7801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1: https://azure.microsoft.com/en-us/blog/announcing-microsoft-discovery-general-availability-and-microsoft-discovery-app-preview/">
            <a:hlinkClick r:id="rId12"/>
          </p:cNvPr>
          <p:cNvSpPr/>
          <p:nvPr/>
        </p:nvSpPr>
        <p:spPr>
          <a:xfrm>
            <a:off x="3446995" y="3004633"/>
            <a:ext cx="112286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1: https://deepmind.google/blog/co-scientist-a-multi-agent-ai-partner-to-accelerate-research/">
            <a:hlinkClick r:id="rId13"/>
          </p:cNvPr>
          <p:cNvSpPr/>
          <p:nvPr/>
        </p:nvSpPr>
        <p:spPr>
          <a:xfrm>
            <a:off x="3962158" y="3158354"/>
            <a:ext cx="69771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3446995" y="3468678"/>
            <a:ext cx="28479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245682" y="3468678"/>
            <a:ext cx="280092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6210261" y="3596834"/>
            <a:ext cx="1803832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3446995" y="3725003"/>
            <a:ext cx="60979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5007597" y="3878723"/>
            <a:ext cx="38704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6728156" y="3878723"/>
            <a:ext cx="121775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11: https://www.novonordisk.com/news-and-media/news-and-ir-materials/news-details.html?id=916768">
            <a:hlinkClick r:id="rId16"/>
          </p:cNvPr>
          <p:cNvSpPr/>
          <p:nvPr/>
        </p:nvSpPr>
        <p:spPr>
          <a:xfrm>
            <a:off x="3681717" y="4006879"/>
            <a:ext cx="48252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317191"/>
            <a:ext cx="104712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5445233" y="4317191"/>
            <a:ext cx="166400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445359"/>
            <a:ext cx="263958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1: https://www.fiercebiotech.com/biotech/anthropic-acquires-stealth-ai-startup-coefficient-bio-400m-deal">
            <a:hlinkClick r:id="rId18"/>
          </p:cNvPr>
          <p:cNvSpPr/>
          <p:nvPr/>
        </p:nvSpPr>
        <p:spPr>
          <a:xfrm>
            <a:off x="3446995" y="4599080"/>
            <a:ext cx="14751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1: https://www.rdworldonline.com/anthropics-400m-acquisition-of-coefficient-bio-signals-a-deeper-push-into-drug-discovery/">
            <a:hlinkClick r:id="rId19"/>
          </p:cNvPr>
          <p:cNvSpPr/>
          <p:nvPr/>
        </p:nvSpPr>
        <p:spPr>
          <a:xfrm>
            <a:off x="6115685" y="4599080"/>
            <a:ext cx="6915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7429613" y="5545389"/>
            <a:ext cx="2055641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11: https://www.veeva.com/resources/new-veeva-study-builder-agent-to-configure-clinical-studies-in-as-little-as-one-day/">
            <a:hlinkClick r:id="rId20"/>
          </p:cNvPr>
          <p:cNvSpPr/>
          <p:nvPr/>
        </p:nvSpPr>
        <p:spPr>
          <a:xfrm>
            <a:off x="1280160" y="5713156"/>
            <a:ext cx="2779527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AI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AI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23 qualifying offerings. Domain counts overlap. Screens are not exhaustive.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