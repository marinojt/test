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evaluate.com/ask-ella/" TargetMode="External"/><Relationship Id="rId12" Type="http://schemas.openxmlformats.org/officeDocument/2006/relationships/hyperlink" Target="https://www.iqvia.com/solutions/commercialization/commercial-analytics/omnichannel-engagement-and-insights/field-force-agent" TargetMode="External"/><Relationship Id="rId13" Type="http://schemas.openxmlformats.org/officeDocument/2006/relationships/hyperlink" Target="https://trinitylifesciences.com/company/press-releases/trinity-launches-insightsedge-digital-twins/" TargetMode="External"/><Relationship Id="rId14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citeline.com/plus" TargetMode="External"/><Relationship Id="rId12" Type="http://schemas.openxmlformats.org/officeDocument/2006/relationships/hyperlink" Target="https://clinicaldata.veevavault.help/en/lr/rn/limited-releases/26r3/new-features" TargetMode="External"/><Relationship Id="rId13" Type="http://schemas.openxmlformats.org/officeDocument/2006/relationships/hyperlink" Target="https://www.mmitnetwork.com/mosaic/" TargetMode="External"/><Relationship Id="rId14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5" Type="http://schemas.openxmlformats.org/officeDocument/2006/relationships/hyperlink" Target="https://www.anthropic.com/news/healthcare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7" Type="http://schemas.openxmlformats.org/officeDocument/2006/relationships/hyperlink" Target="https://openai.com/index/introducing-gpt-rosalind/" TargetMode="External"/><Relationship Id="rId8" Type="http://schemas.openxmlformats.org/officeDocument/2006/relationships/hyperlink" Target="https://cohere.com/blog/cohere-acquires-reliant-ai-expand-sovereign-enterprise-ai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362455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1773935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55117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0723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An outside-in assessment of publicly marketed conversational AI offerings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621024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380390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1239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4992624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44165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1. 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inside CRM, or across a portfolio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IQVIA, Norstella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2. 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3. 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4. 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23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optum ls positioning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8117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282696"/>
            <a:ext cx="7479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52" name="research scope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3" name="card label"/>
          <p:cNvSpPr txBox="1"/>
          <p:nvPr/>
        </p:nvSpPr>
        <p:spPr>
          <a:xfrm>
            <a:off x="3959352" y="467258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3959352" y="5047488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5623559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5623559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5623559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5623559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5623559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5623559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5623559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5623559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5623559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5623559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5623559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5" name="aside rule"/>
          <p:cNvSpPr/>
          <p:nvPr/>
        </p:nvSpPr>
        <p:spPr>
          <a:xfrm>
            <a:off x="548640" y="4672584"/>
            <a:ext cx="32004" cy="1252727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694944" y="5001768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Excludes patient-facing chatbots, clinician scribes and AI without a natural-language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3898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7589520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389120"/>
            <a:ext cx="7187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754880"/>
            <a:ext cx="7187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How widely are life-sciences vendors marketing conversational AI, and in which domains?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Which customer tasks does it target, and what do vendors promise?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Who supplies the underlying AI, and could those suppliers become competitors?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What does that positioning suggest for an Optum LS offering?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8321040" y="4114800"/>
            <a:ext cx="3319272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8522208" y="438912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22208" y="4754880"/>
            <a:ext cx="2916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Vendors’ public product claims show what competitors choose to promise customers. That makes them direct evidence of competitive positioning—though not of performance, adoption or revenue.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visible in RWE, where competitors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market new access points to tasks Optum LS already serves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548640" y="4846320"/>
            <a:ext cx="3937217" cy="1207008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4526280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4668737" y="4846320"/>
            <a:ext cx="6971574" cy="120700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4869905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4869905" y="5349240"/>
            <a:ext cx="65692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l">
              <a:buNone/>
            </a:pPr>
            <a:r>
              <a:rPr lang="en-US" sz="1250" b="1" dirty="0">
                <a:solidFill>
                  <a:schemeClr val="tx1"/>
                </a:solidFill>
              </a:rPr>
              <a:t>RWE has the highest concentration (9 of 34); market access the lowest (2 of 24).</a:t>
            </a:r>
            <a:endParaRPr lang="en-US" sz="1050" dirty="0"/>
          </a:p>
          <a:p>
            <a:pPr indent="0" marL="0" algn="l">
              <a:spcBef>
                <a:spcPts val="800"/>
              </a:spcBef>
              <a:buNone/>
            </a:pPr>
            <a:r>
              <a:rPr lang="en-US" sz="1250" b="1" dirty="0">
                <a:solidFill>
                  <a:schemeClr val="tx1"/>
                </a:solidFill>
              </a:rPr>
              <a:t>Norstella alone markets Ella-branded assistants in four of five domains.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5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2971799"/>
        </p:xfrm>
        <a:graphic>
          <a:graphicData uri="http://schemas.openxmlformats.org/drawingml/2006/table">
            <a:tbl>
              <a:tblPr/>
              <a:tblGrid>
                <a:gridCol w="1619997"/>
                <a:gridCol w="3793465"/>
                <a:gridCol w="2835756"/>
                <a:gridCol w="2842453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DOMAIN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WHO’S COMPETING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THEY PITCH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(most active)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Komodo, Truveta, Flatiron, Tempus, HealthVerity, Norstella, Truven, ConcertAI, Verana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Pre-sale data previews; self-service analysis; packaged studies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Analytics on Demand; epidemiology research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Trinity, Norstella (Evaluate)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AI inside the rep’s CRM; simulated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Market Clarity: portfolio and patient/prescriber analytics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Medical / Regulatory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Narrowly scoped tools; published limits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Postapproval safety studies; Market Clarity medical affairs insights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TriNetX, Norstella (Citeline),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Site selection; data-bounded EDC chat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Prospector; Digital Research Network; True Source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Market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Access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EVERSANA, Norstella (MMIT)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Moving past chat answers; queryable payer feedback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HEOR/value evidence; Evidence Engine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85800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screened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54992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754992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competitors marketing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conversational AI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2325224" y="5065776"/>
            <a:ext cx="384048" cy="219456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 previews to analyses traditionally handled by specialists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6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AI as a multi-step workflow, not just search. HealthVerity’s eXOs advertises data feasibility, cohort design and RWE analysis, while Norstella’s Ella offers dataset recommendations, cohort construction and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14500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00975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896134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896134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082621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269095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828899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01537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215373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215373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375216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 as a substitute for some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 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059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Evaluate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plain-English questions on pharma markets, deals and forecasts;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5521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79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66253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339214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525701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972093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158580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345054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www.evaluate.com/ask-ella/">
            <a:hlinkClick r:id="rId11"/>
          </p:cNvPr>
          <p:cNvSpPr/>
          <p:nvPr/>
        </p:nvSpPr>
        <p:spPr>
          <a:xfrm>
            <a:off x="2944075" y="2152740"/>
            <a:ext cx="13686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69653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56140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www.iqvia.com/solutions/commercialization/commercial-analytics/omnichannel-engagement-and-insights/field-force-agent">
            <a:hlinkClick r:id="rId12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trinitylifesciences.com/company/press-releases/trinity-launches-insightsedge-digital-twins/">
            <a:hlinkClick r:id="rId13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8: https://www.ipsos.com/en/launch-ipsos-personabot-groundbreaking-ai-powered-solution-enhance-segmentation-research">
            <a:hlinkClick r:id="rId14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trials and market access, vendors limit what conversational AI can see and how far its answers go</a:t>
            </a:r>
            <a:endParaRPr lang="en-US" sz="22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CLINICAL TRIALS: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529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LIVE Conversational AI + Terrain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protocol feasibility, clinical-code generation and site/investigator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Citeline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trial and site search strategies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4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Clinical-data operations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EDC AI Tab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 on study operational data and help content, excluding site-entered casebook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True Source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(electronic source-data capture); no comparable conversational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MARKET ACCESS: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37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2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Payer feedback and coverage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MMIT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plain-language answers grounded in formulary, coverage and payer-feedback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No comparable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defined data boundar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DEFINED DATA BOUNDARIES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Veeva draws an explicit line around its new trial assistant: the EDC AI Tab answers questions from study operational data and help pages, but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 site-entered casebook data is referenced by the AI agent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1908303"/>
            <a:ext cx="24108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0: https://www.navlin.com/products/tender">
            <a:hlinkClick r:id="rId6"/>
          </p:cNvPr>
          <p:cNvSpPr/>
          <p:nvPr/>
        </p:nvSpPr>
        <p:spPr>
          <a:xfrm>
            <a:off x="2944075" y="3491942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0: https://citeline.com/plus">
            <a:hlinkClick r:id="rId11"/>
          </p:cNvPr>
          <p:cNvSpPr/>
          <p:nvPr/>
        </p:nvSpPr>
        <p:spPr>
          <a:xfrm>
            <a:off x="2944075" y="2230502"/>
            <a:ext cx="130744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2944075" y="2560981"/>
            <a:ext cx="112744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mmitnetwork.com/mosaic/">
            <a:hlinkClick r:id="rId13"/>
          </p:cNvPr>
          <p:cNvSpPr/>
          <p:nvPr/>
        </p:nvSpPr>
        <p:spPr>
          <a:xfrm>
            <a:off x="2944075" y="4107181"/>
            <a:ext cx="11810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5037945" y="5375216"/>
            <a:ext cx="5420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749515" y="5535058"/>
            <a:ext cx="338427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ADDITIONAL COMPETITIVE DYNAMIC: LLM PROVIDERS EXPAND INTO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now supply, build and buy their way into life sciences, making them potential partners and rivals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OBSERVED APPROACHES TO ENTERING LIFE SCIENCES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3017518"/>
        </p:xfrm>
        <a:graphic>
          <a:graphicData uri="http://schemas.openxmlformats.org/drawingml/2006/table">
            <a:tbl>
              <a:tblPr/>
              <a:tblGrid>
                <a:gridCol w="1965960"/>
                <a:gridCol w="5349240"/>
                <a:gridCol w="37764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0" kern="0" dirty="0">
                          <a:solidFill>
                            <a:schemeClr val="bg1"/>
                          </a:solidFill>
                        </a:rPr>
                        <a:t>LLM PROVIDER 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50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Partner with established life-sciences vendors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Komodo Health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documented partnership supporting AI-enabled healthcare analytics;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Veeva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Claude incorporated into Veeva’s industry-specific AI offerings;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AWS + Datavant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Explore Assistant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publicly described in February 2026, uses Bedrock and AWS Clean Rooms to support natural-language assessment of healthcare datasets and research feasibility.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supply the model while partners keep the data, applications and customer relationships; Komodo and Veeva already appear in this analysis.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17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Develop their own life-sciences-specific products and tools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Anthropic’s Claude for Life Sciences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Specialized scientific tools and integrations supporting research, clinical trials and regulatory workflows;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OpenAI’s GPT-Rosalind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purpose-built model for biology, drug discovery and translational research, with access expanded to eligible organizations in September 2026.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are building products aimed directly at life-sciences users, reaching into workflows adjacent to Optum LS’s RWE and healthcare-data offerings.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8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Acquire specialized life-sciences capabilities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In May 2026, Cohere acquired a biopharma AI company offering literature review, competitive landscaping and scientific/regulatory information extraction. The acquisition supports development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North for Pharma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a planned specialized agentic offering.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Acquisitions give LLM providers industry-specific technology, expertise and pharmaceutical customer relationships in one step.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4937760"/>
            <a:ext cx="11091672" cy="11155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010912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099426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0109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PARTNER, SUPPLIER OR RIVAL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48640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Anthropic already works with two competitors in this deck (Komodo and Veeva) while selling its own Claude for Life Sciences; Cohere bought its way in. For any Optum LS offering, the model provider may also be pursuing the same pharmaceutical customers.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2293636"/>
            <a:ext cx="155156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1: https://www.anthropic.com/news/healthcare-life-sciences">
            <a:hlinkClick r:id="rId5"/>
          </p:cNvPr>
          <p:cNvSpPr/>
          <p:nvPr/>
        </p:nvSpPr>
        <p:spPr>
          <a:xfrm>
            <a:off x="2624035" y="2472554"/>
            <a:ext cx="103173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2624035" y="2651472"/>
            <a:ext cx="91148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3564724" y="2651472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3344117"/>
            <a:ext cx="202711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openai.com/index/introducing-gpt-rosalind/">
            <a:hlinkClick r:id="rId7"/>
          </p:cNvPr>
          <p:cNvSpPr/>
          <p:nvPr/>
        </p:nvSpPr>
        <p:spPr>
          <a:xfrm>
            <a:off x="2624035" y="3651203"/>
            <a:ext cx="13154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2624035" y="4215680"/>
            <a:ext cx="10835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3907078" y="4471991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AI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AI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23 qualifying offerings. Domain counts overlap. Screens are not exhaustive.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