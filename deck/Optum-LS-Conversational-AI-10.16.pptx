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70" r:id="rId20"/>
    <p:sldId id="265" r:id="rId11"/>
    <p:sldId id="269" r:id="rId13"/>
    <p:sldId id="266" r:id="rId12"/>
    <p:sldId id="259" r:id="rId5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cutive summary" id="{24a83ca0-fbf1-5aa1-231e-0e9ee1b3a55d}">
          <p14:sldIdLst>
            <p14:sldId id="256"/>
          </p14:sldIdLst>
        </p14:section>
        <p14:section name="Research catalyst" id="{a3ae336b-83b3-7ccf-6aee-cd2831e1ba46}">
          <p14:sldIdLst>
            <p14:sldId id="257"/>
          </p14:sldIdLst>
        </p14:section>
        <p14:section name="U.S. competitive landscape" id="{94ea1914-a217-df21-74d7-d7894557f7aa}">
          <p14:sldIdLst>
            <p14:sldId id="258"/>
          </p14:sldIdLst>
        </p14:section>
        <p14:section name="International competitor screens" id="{5c2e99d5-36e9-0a01-e587-5d607015bf90}">
          <p14:sldIdLst>
            <p14:sldId id="259"/>
          </p14:sldIdLst>
        </p14:section>
        <p14:section name="Workflow deep dives" id="{8ddf841b-5ded-34d4-2bec-e63798bae4f9}">
          <p14:sldIdLst>
            <p14:sldId id="260"/>
            <p14:sldId id="261"/>
            <p14:sldId id="262"/>
            <p14:sldId id="263"/>
            <p14:sldId id="264"/>
          </p14:sldIdLst>
        </p14:section>
        <p14:section name="AI suppliers" id="{8ce88946-6d30-3dca-4f63-319bce2eeb93}">
          <p14:sldIdLst>
            <p14:sldId id="265"/>
          </p14:sldIdLst>
        </p14:section>
        <p14:section name="Methodology note" id="{195c6e09-c7e0-6bdb-94e4-1e5d4c03ac7f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1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.xml"/><Relationship Id="rId20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 qualifying chat</c:v>
                </c:pt>
              </c:strCache>
            </c:strRef>
          </c:tx>
          <c:spPr>
            <a:solidFill>
              <a:srgbClr val="0026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Remaining comparable</c:v>
                </c:pt>
              </c:strCache>
            </c:strRef>
          </c:tx>
          <c:spPr>
            <a:solidFill>
              <a:srgbClr val="D9D4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20</c:v>
                </c:pt>
                <c:pt idx="2">
                  <c:v>15</c:v>
                </c:pt>
                <c:pt idx="3">
                  <c:v>24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axMin"/>
          <c:max val="3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3052109181141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Screened-company share</c:v>
                </c:pt>
              </c:strCache>
            </c:strRef>
          </c:tx>
          <c:spPr>
            <a:solidFill>
              <a:srgbClr val="8FA3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002677"/>
              </a:solidFill>
              <a:effectLst/>
            </c:spPr>
          </c:dPt>
          <c:cat>
            <c:strRef>
              <c:f>Sheet1!$A$2:$A$16</c:f>
              <c:strCache>
                <c:ptCount val="15"/>
                <c:pt idx="0">
                  <c:v>Japan</c:v>
                </c:pt>
                <c:pt idx="1">
                  <c:v>Germany</c:v>
                </c:pt>
                <c:pt idx="2">
                  <c:v>Canada</c:v>
                </c:pt>
                <c:pt idx="3">
                  <c:v>United Kingdom</c:v>
                </c:pt>
                <c:pt idx="4">
                  <c:v>Belgium</c:v>
                </c:pt>
                <c:pt idx="5">
                  <c:v>South Korea</c:v>
                </c:pt>
                <c:pt idx="6">
                  <c:v>Australia</c:v>
                </c:pt>
                <c:pt idx="7">
                  <c:v>Netherlands</c:v>
                </c:pt>
                <c:pt idx="8">
                  <c:v>India</c:v>
                </c:pt>
                <c:pt idx="9">
                  <c:v>Nordics</c:v>
                </c:pt>
                <c:pt idx="10">
                  <c:v>France</c:v>
                </c:pt>
                <c:pt idx="11">
                  <c:v>Israel</c:v>
                </c:pt>
                <c:pt idx="12">
                  <c:v>Spain</c:v>
                </c:pt>
                <c:pt idx="13">
                  <c:v>China</c:v>
                </c:pt>
                <c:pt idx="14">
                  <c:v>United States</c:v>
                </c:pt>
              </c:strCache>
            </c:strRef>
          </c:cat>
          <c:val>
            <c:numRef>
              <c:f>Sheet1!$B$2:$B$16</c:f>
              <c:numCache>
                <c:formatCode>0%</c:formatCode>
                <c:ptCount val="1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0.05555555555555555</c:v>
                </c:pt>
                <c:pt idx="4">
                  <c:v>0.05555555555555555</c:v>
                </c:pt>
                <c:pt idx="5">
                  <c:v>0.058823529411764705</c:v>
                </c:pt>
                <c:pt idx="6">
                  <c:v>0.07142857142857142</c:v>
                </c:pt>
                <c:pt idx="7">
                  <c:v>0.09090909090909091</c:v>
                </c:pt>
                <c:pt idx="8">
                  <c:v>0.09375</c:v>
                </c:pt>
                <c:pt idx="9">
                  <c:v>0.11764705882352941</c:v>
                </c:pt>
                <c:pt idx="10">
                  <c:v>0.11764705882352941</c:v>
                </c:pt>
                <c:pt idx="11">
                  <c:v>0.13333333333333333</c:v>
                </c:pt>
                <c:pt idx="12">
                  <c:v>0.17647058823529413</c:v>
                </c:pt>
                <c:pt idx="13">
                  <c:v>0.2</c:v>
                </c:pt>
                <c:pt idx="14">
                  <c:v>0.3488372093023256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b"/>
        <c:majorGridlines>
          <c:spPr>
            <a:ln w="6350" cap="flat">
              <a:solidFill>
                <a:srgbClr val="E3DED3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A7C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36208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3093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Candidate work sample — outside-in research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1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inkedin.com/in/joseph-marino-995651183/" TargetMode="External"/><Relationship Id="rId3" Type="http://schemas.openxmlformats.org/officeDocument/2006/relationships/hyperlink" Target="mailto:marinojoe@gmail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investors.tempus.com/node/6451/pdf" TargetMode="External"/><Relationship Id="rId4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5" Type="http://schemas.openxmlformats.org/officeDocument/2006/relationships/hyperlink" Target="https://www.komodohealth.com/press/komodo-health-introduces-marmot-the-ai-built-to-accelerate-healthcare-innovation/" TargetMode="External"/><Relationship Id="rId6" Type="http://schemas.openxmlformats.org/officeDocument/2006/relationships/hyperlink" Target="https://www.truveta.com/blog/announcement/truveta-unveils-truveta-intelligence/" TargetMode="External"/><Relationship Id="rId7" Type="http://schemas.openxmlformats.org/officeDocument/2006/relationships/hyperlink" Target="https://resources.flatiron.com/press/flatiron-health-launches-flatiron-telescope-a-new-ai-platform-delivering-oncology-insights-in-minutes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9" Type="http://schemas.openxmlformats.org/officeDocument/2006/relationships/hyperlink" Target="https://www.norstella.com/press-releases/launches-real-world-data-agentic-platform-first-agent-replace-manual-cohort-build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merative.com/newsroom/truven-launches-marketscan-snapshot-an-ai-powered-tool-to-evaluate-fit-for-purpose-real-world-data-in-minutes" TargetMode="External"/><Relationship Id="rId4" Type="http://schemas.openxmlformats.org/officeDocument/2006/relationships/hyperlink" Target="https://healthverity.com/news/announcing-healthverity-exos/" TargetMode="External"/><Relationship Id="rId8" Type="http://schemas.openxmlformats.org/officeDocument/2006/relationships/hyperlink" Target="https://www.komodohealth.com/product/marmot/" TargetMode="External"/><Relationship Id="rId9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10" Type="http://schemas.openxmlformats.org/officeDocument/2006/relationships/hyperlink" Target="https://www.truveta.com/blog/announcement/truveta-unveils-truveta-intelligence/" TargetMode="External"/><Relationship Id="rId11" Type="http://schemas.openxmlformats.org/officeDocument/2006/relationships/hyperlink" Target="https://briya.com/aire-population-agent/" TargetMode="External"/><Relationship Id="rId15" Type="http://schemas.openxmlformats.org/officeDocument/2006/relationships/hyperlink" Target="https://panalgo.com/ella/" TargetMode="External"/><Relationship Id="rId16" Type="http://schemas.openxmlformats.org/officeDocument/2006/relationships/hyperlink" Target="https://www.bcplatforms.com/bc-catalyst" TargetMode="External"/><Relationship Id="rId18" Type="http://schemas.openxmlformats.org/officeDocument/2006/relationships/hyperlink" Target="https://healthverity.com/exos/" TargetMode="External"/><Relationship Id="rId19" Type="http://schemas.openxmlformats.org/officeDocument/2006/relationships/hyperlink" Target="https://www.norstella.com/press-releases/panalgo-revolutionizes-real-world-data-launch-linqnotes-ella-ai/" TargetMode="External"/><Relationship Id="rId20" Type="http://schemas.openxmlformats.org/officeDocument/2006/relationships/hyperlink" Target="https://www.prnewswire.com/news-releases/truven-launches-marketscan-snapshot-an-ai-powered-tool-to-evaluate-fit-for-purpose-real-world-data-in-minutes-302892187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resources.flatiron.com/press/flatiron-health-launches-flatiron-telescope-a-new-ai-platform-delivering-oncology-insights-in-minutes" TargetMode="External"/><Relationship Id="rId4" Type="http://schemas.openxmlformats.org/officeDocument/2006/relationships/hyperlink" Target="https://www.tempus.com/solutions/lens/" TargetMode="External"/><Relationship Id="rId7" Type="http://schemas.openxmlformats.org/officeDocument/2006/relationships/hyperlink" Target="https://www.concertai.com/precision-explorer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11" Type="http://schemas.openxmlformats.org/officeDocument/2006/relationships/hyperlink" Target="https://mdclone.com/meet-copilot/" TargetMode="External"/><Relationship Id="rId14" Type="http://schemas.openxmlformats.org/officeDocument/2006/relationships/hyperlink" Target="https://www.prnewswire.com/news-releases/verana-health-introduces-new-ai-agents-to-expedite-and-streamline-rd-302888122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ww.iqvia.com/solutions/commercialization/iqvia-commercial-agentic-ai" TargetMode="External"/><Relationship Id="rId4" Type="http://schemas.openxmlformats.org/officeDocument/2006/relationships/hyperlink" Target="https://www.gbihealth.com.cn/en/products/gbi-bot" TargetMode="External"/><Relationship Id="rId5" Type="http://schemas.openxmlformats.org/officeDocument/2006/relationships/hyperlink" Target="https://support.prospection.com/en_US/530415-using-progpt/8351360445583" TargetMode="External"/><Relationship Id="rId7" Type="http://schemas.openxmlformats.org/officeDocument/2006/relationships/hyperlink" Target="https://zaidyn.zs.com/products/zaidyn-commercial/conversational-ai" TargetMode="External"/><Relationship Id="rId8" Type="http://schemas.openxmlformats.org/officeDocument/2006/relationships/hyperlink" Target="https://close-upinternational.com/es/crm-farmaceutico-nativo-en-ia-de-los-datos-a-las-decisiones-unificadas-2/" TargetMode="External"/><Relationship Id="rId9" Type="http://schemas.openxmlformats.org/officeDocument/2006/relationships/hyperlink" Target="https://trinitylifesciences.com/products/insightsedge-digital-twins/" TargetMode="External"/><Relationship Id="rId10" Type="http://schemas.openxmlformats.org/officeDocument/2006/relationships/hyperlink" Target="https://www.ipsos.com/en/healthcare/healthcare-personabot" TargetMode="External"/><Relationship Id="rId11" Type="http://schemas.openxmlformats.org/officeDocument/2006/relationships/hyperlink" Target="https://www.evaluate.com/ask-ella/" TargetMode="External"/><Relationship Id="rId12" Type="http://schemas.openxmlformats.org/officeDocument/2006/relationships/hyperlink" Target="https://www.iqvia.com/solutions/commercialization/commercial-analytics/omnichannel-engagement-and-insights/field-force-agent" TargetMode="External"/><Relationship Id="rId13" Type="http://schemas.openxmlformats.org/officeDocument/2006/relationships/hyperlink" Target="https://trinitylifesciences.com/company/press-releases/trinity-launches-insightsedge-digital-twins/" TargetMode="External"/><Relationship Id="rId14" Type="http://schemas.openxmlformats.org/officeDocument/2006/relationships/hyperlink" Target="https://www.ipsos.com/en/launch-ipsos-personabot-groundbreaking-ai-powered-solution-enhance-segmentation-researc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iqvia.com/solutions/innovative-models/artificial-intelligence-and-machine-learning/iqvia-ai-platform" TargetMode="External"/><Relationship Id="rId5" Type="http://schemas.openxmlformats.org/officeDocument/2006/relationships/hyperlink" Target="https://zaidyn.zs.com/products/zaidyn-medical/conversational-ai-for-medical" TargetMode="External"/><Relationship Id="rId6" Type="http://schemas.openxmlformats.org/officeDocument/2006/relationships/hyperlink" Target="https://evidenze.com/" TargetMode="External"/><Relationship Id="rId8" Type="http://schemas.openxmlformats.org/officeDocument/2006/relationships/hyperlink" Target="https://platform.veevavault.help/en/lr/950642" TargetMode="External"/><Relationship Id="rId9" Type="http://schemas.openxmlformats.org/officeDocument/2006/relationships/hyperlink" Target="https://zaidyn.zs.com/products/zaidyn-medical/patient-outcome-intelligence" TargetMode="External"/><Relationship Id="rId10" Type="http://schemas.openxmlformats.org/officeDocument/2006/relationships/hyperlink" Target="https://www.iqvia.com/blogs/2025/12/introducing-iqvia-med-r1-deep-research-agen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6" Type="http://schemas.openxmlformats.org/officeDocument/2006/relationships/hyperlink" Target="https://www.navlin.com/products/tender" TargetMode="External"/><Relationship Id="rId10" Type="http://schemas.openxmlformats.org/officeDocument/2006/relationships/hyperlink" Target="https://trinetx.com/press-releases/trinetx-unveils-conversational-ai-interface-and-enhanced-api-capabilities/" TargetMode="External"/><Relationship Id="rId11" Type="http://schemas.openxmlformats.org/officeDocument/2006/relationships/hyperlink" Target="https://citeline.com/plus" TargetMode="External"/><Relationship Id="rId12" Type="http://schemas.openxmlformats.org/officeDocument/2006/relationships/hyperlink" Target="https://clinicaldata.veevavault.help/en/lr/rn/limited-releases/26r3/new-features" TargetMode="External"/><Relationship Id="rId13" Type="http://schemas.openxmlformats.org/officeDocument/2006/relationships/hyperlink" Target="https://www.mmitnetwork.com/mosaic/" TargetMode="External"/><Relationship Id="rId14" Type="http://schemas.openxmlformats.org/officeDocument/2006/relationships/hyperlink" Target="https://www.eversana.com/insights/from-ai-answers-to-decision-grade-market-access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veeva.com/products/vault-ai/" TargetMode="External"/><Relationship Id="rId3" Type="http://schemas.openxmlformats.org/officeDocument/2006/relationships/hyperlink" Target="https://www.iqvia.com/newsroom/2026/03/iqvia-unveils-iqvia-ai-a-unified-agentic-ai-platform" TargetMode="External"/><Relationship Id="rId4" Type="http://schemas.openxmlformats.org/officeDocument/2006/relationships/hyperlink" Target="https://www.iqvia.com/blogs/2025/12/introducing-iqvia-med-r1-deep-research-agent" TargetMode="External"/><Relationship Id="rId5" Type="http://schemas.openxmlformats.org/officeDocument/2006/relationships/hyperlink" Target="https://lens.tempus.com/" TargetMode="External"/><Relationship Id="rId6" Type="http://schemas.openxmlformats.org/officeDocument/2006/relationships/hyperlink" Target="https://www.komodohealth.com/product/healthcare-map/" TargetMode="External"/><Relationship Id="rId7" Type="http://schemas.openxmlformats.org/officeDocument/2006/relationships/hyperlink" Target="https://www.komodohealth.com/press/komodo-health-introduces-marmot-the-ai-built-to-accelerate-healthcare-innovation/" TargetMode="External"/><Relationship Id="rId8" Type="http://schemas.openxmlformats.org/officeDocument/2006/relationships/hyperlink" Target="https://www.truveta.com/blog/data/approach-to-real-world-data-quality/" TargetMode="External"/><Relationship Id="rId9" Type="http://schemas.openxmlformats.org/officeDocument/2006/relationships/hyperlink" Target="https://www.norstella.com/press-releases/norstella-introduces-norstellalinq/" TargetMode="External"/><Relationship Id="rId10" Type="http://schemas.openxmlformats.org/officeDocument/2006/relationships/hyperlink" Target="https://www.komodohealth.com/perspectives/building-the-framework-for-trusted-ai-in-healthcare/" TargetMode="External"/><Relationship Id="rId11" Type="http://schemas.openxmlformats.org/officeDocument/2006/relationships/hyperlink" Target="https://healthverity.com/exos/" TargetMode="External"/><Relationship Id="rId12" Type="http://schemas.openxmlformats.org/officeDocument/2006/relationships/hyperlink" Target="https://clinicaldata.veevavault.help/en/lr/rn/limited-releases/26r3/new-features/" TargetMode="External"/><Relationship Id="rId13" Type="http://schemas.openxmlformats.org/officeDocument/2006/relationships/hyperlink" Target="https://veranahealth.com/verana-health-introduces-new-ai-agents-to-expedite-and-streamline-rd-tasks/" TargetMode="External"/><Relationship Id="rId14" Type="http://schemas.openxmlformats.org/officeDocument/2006/relationships/hyperlink" Target="https://www.zs.com/about/newsroom/zs-press-salesforce-zaidyn-crm" TargetMode="External"/><Relationship Id="rId15" Type="http://schemas.openxmlformats.org/officeDocument/2006/relationships/hyperlink" Target="https://trinetx.com/blog/trinetx-named-best-of-show-finalist-at-scope-advancing-clinical-trial-planning-with-conversational-ai-and-enhanced-api-capabilities/" TargetMode="External"/><Relationship Id="rId16" Type="http://schemas.openxmlformats.org/officeDocument/2006/relationships/hyperlink" Target="https://healthverity.com/news/announcing-healthverity-exos/" TargetMode="External"/><Relationship Id="rId17" Type="http://schemas.openxmlformats.org/officeDocument/2006/relationships/hyperlink" Target="https://medeloop.ai/analytics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Relationship Id="rId4" Type="http://schemas.openxmlformats.org/officeDocument/2006/relationships/hyperlink" Target="https://www.anthropic.com/news/claude-for-life-sciences" TargetMode="External"/><Relationship Id="rId6" Type="http://schemas.openxmlformats.org/officeDocument/2006/relationships/hyperlink" Target="https://www.datavant.com/blog/how-ai-is-powering-smarter-privacy-preserving-data-discovery-for-life-sciences" TargetMode="External"/><Relationship Id="rId9" Type="http://schemas.openxmlformats.org/officeDocument/2006/relationships/hyperlink" Target="https://www.veeva.com/products/veeva-ai/" TargetMode="External"/><Relationship Id="rId10" Type="http://schemas.openxmlformats.org/officeDocument/2006/relationships/hyperlink" Target="https://www.anthropic.com/news/claude-science-ai-workbench" TargetMode="External"/><Relationship Id="rId11" Type="http://schemas.openxmlformats.org/officeDocument/2006/relationships/hyperlink" Target="https://openai.com/index/introducing-gpt-rosalind" TargetMode="External"/><Relationship Id="rId12" Type="http://schemas.openxmlformats.org/officeDocument/2006/relationships/hyperlink" Target="https://azure.microsoft.com/en-us/blog/announcing-microsoft-discovery-general-availability-and-microsoft-discovery-app-preview/" TargetMode="External"/><Relationship Id="rId13" Type="http://schemas.openxmlformats.org/officeDocument/2006/relationships/hyperlink" Target="https://deepmind.google/blog/co-scientist-a-multi-agent-ai-partner-to-accelerate-research/" TargetMode="External"/><Relationship Id="rId14" Type="http://schemas.openxmlformats.org/officeDocument/2006/relationships/hyperlink" Target="https://news.bms.com/news/details/2026/Bristol-Myers-Squibb-Announces-Strategic-Agreement-with-Anthropic-to-Position-Claude-Enterprise-as-the-Shared-Intelligence-Platform-Across-Its-Global-Operations/default.aspx" TargetMode="External"/><Relationship Id="rId15" Type="http://schemas.openxmlformats.org/officeDocument/2006/relationships/hyperlink" Target="https://www.biopharminternational.com/view/novo-nordisk-partners-with-openai-for-drug-discovery" TargetMode="External"/><Relationship Id="rId16" Type="http://schemas.openxmlformats.org/officeDocument/2006/relationships/hyperlink" Target="https://www.novonordisk.com/news-and-media/news-and-ir-materials/news-details.html?id=916768" TargetMode="External"/><Relationship Id="rId17" Type="http://schemas.openxmlformats.org/officeDocument/2006/relationships/hyperlink" Target="https://www.hpcwire.com/aiwire/2026/05/19/cohere-acquires-reliant-ai-to-expand-sovereign-enterprise-ai-for-global-biopharma-and-healthcare-sectors/" TargetMode="External"/><Relationship Id="rId18" Type="http://schemas.openxmlformats.org/officeDocument/2006/relationships/hyperlink" Target="https://www.fiercebiotech.com/biotech/anthropic-acquires-stealth-ai-startup-coefficient-bio-400m-deal" TargetMode="External"/><Relationship Id="rId19" Type="http://schemas.openxmlformats.org/officeDocument/2006/relationships/hyperlink" Target="https://www.rdworldonline.com/anthropics-400m-acquisition-of-coefficient-bio-signals-a-deeper-push-into-drug-discovery/" TargetMode="External"/><Relationship Id="rId20" Type="http://schemas.openxmlformats.org/officeDocument/2006/relationships/hyperlink" Target="https://www.veeva.com/resources/new-veeva-study-builder-agent-to-configure-clinical-studies-in-as-little-as-one-day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kicker"/>
          <p:cNvSpPr txBox="1"/>
          <p:nvPr/>
        </p:nvSpPr>
        <p:spPr>
          <a:xfrm>
            <a:off x="822960" y="1362455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50">
                <a:solidFill>
                  <a:srgbClr val="FF612B"/>
                </a:solidFill>
                <a:latin typeface="Arial"/>
              </a:rPr>
              <a:t>INDEPENDENT COMPETITIVE INTELLIGENCE WORK SAMPLE</a:t>
            </a:r>
          </a:p>
        </p:txBody>
      </p:sp>
      <p:sp>
        <p:nvSpPr>
          <p:cNvPr id="3" name="cover title"/>
          <p:cNvSpPr txBox="1"/>
          <p:nvPr/>
        </p:nvSpPr>
        <p:spPr>
          <a:xfrm>
            <a:off x="822960" y="1773935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02677"/>
                </a:solidFill>
                <a:latin typeface="Arial"/>
              </a:rPr>
              <a:t>Conversational AI in Life Sciences</a:t>
            </a:r>
          </a:p>
        </p:txBody>
      </p:sp>
      <p:sp>
        <p:nvSpPr>
          <p:cNvPr id="4" name="cover subtitle"/>
          <p:cNvSpPr txBox="1"/>
          <p:nvPr/>
        </p:nvSpPr>
        <p:spPr>
          <a:xfrm>
            <a:off x="822960" y="255117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02677"/>
                </a:solidFill>
                <a:latin typeface="Arial"/>
              </a:rPr>
              <a:t>Competitive landscape and implications for Optum Life Sciences</a:t>
            </a:r>
          </a:p>
        </p:txBody>
      </p:sp>
      <p:sp>
        <p:nvSpPr>
          <p:cNvPr id="10" name="cover scope"/>
          <p:cNvSpPr txBox="1"/>
          <p:nvPr/>
        </p:nvSpPr>
        <p:spPr>
          <a:xfrm>
            <a:off x="822960" y="307238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B4D4F"/>
                </a:solidFill>
                <a:latin typeface="Arial"/>
              </a:rPr>
              <a:t>An outside-in assessment of publicly marketed conversational AI offerings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621024"/>
            <a:ext cx="10543032" cy="0"/>
          </a:xfrm>
          <a:prstGeom prst="line">
            <a:avLst/>
          </a:prstGeom>
          <a:ln w="9525">
            <a:solidFill>
              <a:srgbClr val="D9D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ver author"/>
          <p:cNvSpPr txBox="1"/>
          <p:nvPr/>
        </p:nvSpPr>
        <p:spPr>
          <a:xfrm>
            <a:off x="822960" y="380390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677"/>
                </a:solidFill>
                <a:latin typeface="Arial"/>
              </a:rPr>
              <a:t>Prepared by Joseph Marino</a:t>
            </a:r>
          </a:p>
        </p:txBody>
      </p:sp>
      <p:sp>
        <p:nvSpPr>
          <p:cNvPr id="13" name="cover date"/>
          <p:cNvSpPr txBox="1"/>
          <p:nvPr/>
        </p:nvSpPr>
        <p:spPr>
          <a:xfrm>
            <a:off x="822960" y="41239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4D4F"/>
                </a:solidFill>
                <a:latin typeface="Arial"/>
              </a:rPr>
              <a:t>October 2026  ·  Public sources reviewed as of October 13, 2026</a:t>
            </a:r>
          </a:p>
        </p:txBody>
      </p:sp>
      <p:sp>
        <p:nvSpPr>
          <p:cNvPr id="14" name="cover disclaimer"/>
          <p:cNvSpPr txBox="1"/>
          <p:nvPr/>
        </p:nvSpPr>
        <p:spPr>
          <a:xfrm>
            <a:off x="822960" y="4992624"/>
            <a:ext cx="105430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7C7E"/>
                </a:solidFill>
                <a:latin typeface="Arial"/>
              </a:rPr>
              <a:t>Independent work sample based solely on publicly available information. Not affiliated with, commissioned by or endorsed by Optum or UnitedHealth Group.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7A7C7E"/>
                </a:solidFill>
                <a:latin typeface="Arial"/>
              </a:rPr>
              <a:t>Research and drafting were assisted by AI tools; the analysis and conclusions are the author’s own.</a:t>
            </a:r>
          </a:p>
        </p:txBody>
      </p:sp>
      <p:sp>
        <p:nvSpPr>
          <p:cNvPr id="15" name="cover contact"/>
          <p:cNvSpPr txBox="1"/>
          <p:nvPr/>
        </p:nvSpPr>
        <p:spPr>
          <a:xfrm>
            <a:off x="822960" y="44165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u="none">
                <a:solidFill>
                  <a:srgbClr val="002677"/>
                </a:solidFill>
                <a:latin typeface="Arial"/>
                <a:hlinkClick r:id="rId2"/>
              </a:rPr>
              <a:t>linkedin.com/in/joseph-marino-995651183</a:t>
            </a:r>
            <a:r>
              <a:rPr sz="1200">
                <a:solidFill>
                  <a:srgbClr val="7A7C7E"/>
                </a:solidFill>
                <a:latin typeface="Arial"/>
              </a:rPr>
              <a:t>  ·  </a:t>
            </a:r>
            <a:r>
              <a:rPr sz="1200" u="none">
                <a:solidFill>
                  <a:srgbClr val="002677"/>
                </a:solidFill>
                <a:latin typeface="Arial"/>
                <a:hlinkClick r:id="rId3"/>
              </a:rPr>
              <a:t>marinojoe@gmail.com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Competitors’ conversational AI points to four choices for any Optum LS offering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48640" y="11612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THE FOUR CHOICES</a:t>
            </a:r>
            <a:endParaRPr lang="en-US" sz="1000" dirty="0"/>
          </a:p>
        </p:txBody>
      </p:sp>
      <p:sp>
        <p:nvSpPr>
          <p:cNvPr id="27" name="choice tile 1"/>
          <p:cNvSpPr/>
          <p:nvPr/>
        </p:nvSpPr>
        <p:spPr>
          <a:xfrm>
            <a:off x="548640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8" name="card label"/>
          <p:cNvSpPr txBox="1"/>
          <p:nvPr/>
        </p:nvSpPr>
        <p:spPr>
          <a:xfrm>
            <a:off x="694944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1. WHERE IT SITS</a:t>
            </a:r>
            <a:endParaRPr lang="en-US" sz="1300" dirty="0"/>
          </a:p>
        </p:txBody>
      </p:sp>
      <p:sp>
        <p:nvSpPr>
          <p:cNvPr id="29" name="Text 29"/>
          <p:cNvSpPr txBox="1"/>
          <p:nvPr/>
        </p:nvSpPr>
        <p:spPr>
          <a:xfrm>
            <a:off x="694944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Before purchase, in place of analyst requests, inside CRM, or across a portfolio</a:t>
            </a:r>
            <a:endParaRPr lang="en-US" sz="1100" dirty="0"/>
          </a:p>
        </p:txBody>
      </p:sp>
      <p:sp>
        <p:nvSpPr>
          <p:cNvPr id="30" name="Text 29"/>
          <p:cNvSpPr txBox="1"/>
          <p:nvPr/>
        </p:nvSpPr>
        <p:spPr>
          <a:xfrm>
            <a:off x="694944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Truven, Flatiron, IQVIA, Norstella</a:t>
            </a:r>
            <a:endParaRPr lang="en-US" sz="1100" dirty="0"/>
          </a:p>
        </p:txBody>
      </p:sp>
      <p:sp>
        <p:nvSpPr>
          <p:cNvPr id="31" name="choice tile 2"/>
          <p:cNvSpPr/>
          <p:nvPr/>
        </p:nvSpPr>
        <p:spPr>
          <a:xfrm>
            <a:off x="3355848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2" name="card label"/>
          <p:cNvSpPr txBox="1"/>
          <p:nvPr/>
        </p:nvSpPr>
        <p:spPr>
          <a:xfrm>
            <a:off x="3502152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2. HOW IT SHOWS ITS WORK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3502152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Sources and assumptions kept visible; limits published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3502152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EVERSANA, IQVIA</a:t>
            </a:r>
            <a:endParaRPr lang="en-US" sz="1100" dirty="0"/>
          </a:p>
        </p:txBody>
      </p:sp>
      <p:sp>
        <p:nvSpPr>
          <p:cNvPr id="35" name="choice tile 3"/>
          <p:cNvSpPr/>
          <p:nvPr/>
        </p:nvSpPr>
        <p:spPr>
          <a:xfrm>
            <a:off x="6163056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6" name="card label"/>
          <p:cNvSpPr txBox="1"/>
          <p:nvPr/>
        </p:nvSpPr>
        <p:spPr>
          <a:xfrm>
            <a:off x="6309360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3. HOW MUCH AUTONOMY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6309360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Highest in RWE analysis; narrower in medical and regulatory work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6309360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Flatiron, Verana, ZS, Veeva</a:t>
            </a:r>
            <a:endParaRPr lang="en-US" sz="1100" dirty="0"/>
          </a:p>
        </p:txBody>
      </p:sp>
      <p:sp>
        <p:nvSpPr>
          <p:cNvPr id="39" name="choice tile 4"/>
          <p:cNvSpPr/>
          <p:nvPr/>
        </p:nvSpPr>
        <p:spPr>
          <a:xfrm>
            <a:off x="8970264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0" name="card label"/>
          <p:cNvSpPr txBox="1"/>
          <p:nvPr/>
        </p:nvSpPr>
        <p:spPr>
          <a:xfrm>
            <a:off x="9116568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4. BUILT OR PARTNERED</a:t>
            </a:r>
            <a:endParaRPr lang="en-US" sz="1300" dirty="0"/>
          </a:p>
        </p:txBody>
      </p:sp>
      <p:sp>
        <p:nvSpPr>
          <p:cNvPr id="41" name="Text 29"/>
          <p:cNvSpPr txBox="1"/>
          <p:nvPr/>
        </p:nvSpPr>
        <p:spPr>
          <a:xfrm>
            <a:off x="9116568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LLM providers supply competitors and sell their own products</a:t>
            </a:r>
            <a:endParaRPr lang="en-US" sz="1100" dirty="0"/>
          </a:p>
        </p:txBody>
      </p:sp>
      <p:sp>
        <p:nvSpPr>
          <p:cNvPr id="42" name="Text 29"/>
          <p:cNvSpPr txBox="1"/>
          <p:nvPr/>
        </p:nvSpPr>
        <p:spPr>
          <a:xfrm>
            <a:off x="9116568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Anthropic, OpenAI, Cohere</a:t>
            </a:r>
            <a:endParaRPr lang="en-US" sz="1100" dirty="0"/>
          </a:p>
        </p:txBody>
      </p:sp>
      <p:sp>
        <p:nvSpPr>
          <p:cNvPr id="43" name="key findings card"/>
          <p:cNvSpPr/>
          <p:nvPr/>
        </p:nvSpPr>
        <p:spPr>
          <a:xfrm>
            <a:off x="548640" y="2578608"/>
            <a:ext cx="3026664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4" name="card label"/>
          <p:cNvSpPr txBox="1"/>
          <p:nvPr/>
        </p:nvSpPr>
        <p:spPr>
          <a:xfrm>
            <a:off x="731520" y="2706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KEY FINDINGS</a:t>
            </a:r>
            <a:endParaRPr lang="en-US" sz="1300" dirty="0"/>
          </a:p>
        </p:txBody>
      </p:sp>
      <p:sp>
        <p:nvSpPr>
          <p:cNvPr id="45" name="hero 19"/>
          <p:cNvSpPr txBox="1"/>
          <p:nvPr/>
        </p:nvSpPr>
        <p:spPr>
          <a:xfrm>
            <a:off x="621792" y="305409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23</a:t>
            </a:r>
            <a:endParaRPr lang="en-US" sz="3400" dirty="0"/>
          </a:p>
        </p:txBody>
      </p:sp>
      <p:sp>
        <p:nvSpPr>
          <p:cNvPr id="46" name="Text 29"/>
          <p:cNvSpPr txBox="1"/>
          <p:nvPr/>
        </p:nvSpPr>
        <p:spPr>
          <a:xfrm>
            <a:off x="1207007" y="309067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conversational AI offerings</a:t>
            </a:r>
            <a:r>
              <a:rPr lang="en-US" sz="950" dirty="0">
                <a:solidFill>
                  <a:srgbClr val="4B4D4F"/>
                </a:solidFill>
              </a:rPr>
              <a:t>, marketed by </a:t>
            </a:r>
            <a:r>
              <a:rPr lang="en-US" sz="950" dirty="0" b="1">
                <a:solidFill>
                  <a:srgbClr val="4B4D4F"/>
                </a:solidFill>
              </a:rPr>
              <a:t>15 of 43 U.S. competitors</a:t>
            </a:r>
            <a:endParaRPr lang="en-US" sz="1100" dirty="0"/>
          </a:p>
        </p:txBody>
      </p:sp>
      <p:sp>
        <p:nvSpPr>
          <p:cNvPr id="47" name="hero 19"/>
          <p:cNvSpPr txBox="1"/>
          <p:nvPr/>
        </p:nvSpPr>
        <p:spPr>
          <a:xfrm>
            <a:off x="621792" y="369417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9</a:t>
            </a:r>
            <a:endParaRPr lang="en-US" sz="3400" dirty="0"/>
          </a:p>
        </p:txBody>
      </p:sp>
      <p:sp>
        <p:nvSpPr>
          <p:cNvPr id="48" name="Text 29"/>
          <p:cNvSpPr txBox="1"/>
          <p:nvPr/>
        </p:nvSpPr>
        <p:spPr>
          <a:xfrm>
            <a:off x="1207007" y="373075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of 34 RWE competitors</a:t>
            </a:r>
            <a:r>
              <a:rPr lang="en-US" sz="950" dirty="0">
                <a:solidFill>
                  <a:srgbClr val="4B4D4F"/>
                </a:solidFill>
              </a:rPr>
              <a:t> market one, the highest share of any domain</a:t>
            </a:r>
            <a:endParaRPr lang="en-US" sz="1100" dirty="0"/>
          </a:p>
        </p:txBody>
      </p:sp>
      <p:sp>
        <p:nvSpPr>
          <p:cNvPr id="49" name="optum ls positioning card"/>
          <p:cNvSpPr/>
          <p:nvPr/>
        </p:nvSpPr>
        <p:spPr>
          <a:xfrm>
            <a:off x="3758184" y="2578608"/>
            <a:ext cx="7882127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0" name="card label"/>
          <p:cNvSpPr txBox="1"/>
          <p:nvPr/>
        </p:nvSpPr>
        <p:spPr>
          <a:xfrm>
            <a:off x="3959352" y="28117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612B"/>
                </a:solidFill>
              </a:rPr>
              <a:t>OPTUM LS POSITIONING</a:t>
            </a:r>
            <a:endParaRPr lang="en-US" sz="1300" dirty="0"/>
          </a:p>
        </p:txBody>
      </p:sp>
      <p:sp>
        <p:nvSpPr>
          <p:cNvPr id="51" name="Text 29"/>
          <p:cNvSpPr txBox="1"/>
          <p:nvPr/>
        </p:nvSpPr>
        <p:spPr>
          <a:xfrm>
            <a:off x="3959352" y="3282696"/>
            <a:ext cx="7479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Optum LS publicly emphasizes linked healthcare data, AI-enabled research tools and scientific expertise.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Several competitors lead with conversational AI for comparable tasks.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002677"/>
                </a:solidFill>
              </a:rPr>
              <a:t>This analysis assumes Optum LS is developing or evaluating its own.</a:t>
            </a:r>
            <a:endParaRPr lang="en-US" sz="1100" dirty="0"/>
          </a:p>
        </p:txBody>
      </p:sp>
      <p:sp>
        <p:nvSpPr>
          <p:cNvPr id="52" name="research scope card"/>
          <p:cNvSpPr/>
          <p:nvPr/>
        </p:nvSpPr>
        <p:spPr>
          <a:xfrm>
            <a:off x="3758184" y="4544568"/>
            <a:ext cx="7882127" cy="1508759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3" name="card label"/>
          <p:cNvSpPr txBox="1"/>
          <p:nvPr/>
        </p:nvSpPr>
        <p:spPr>
          <a:xfrm>
            <a:off x="3959352" y="4672584"/>
            <a:ext cx="7479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RESEARCH SCOPE</a:t>
            </a:r>
            <a:endParaRPr lang="en-US" sz="1300" dirty="0"/>
          </a:p>
        </p:txBody>
      </p:sp>
      <p:sp>
        <p:nvSpPr>
          <p:cNvPr id="54" name="Text 29"/>
          <p:cNvSpPr txBox="1"/>
          <p:nvPr/>
        </p:nvSpPr>
        <p:spPr>
          <a:xfrm>
            <a:off x="3959352" y="5047488"/>
            <a:ext cx="7479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Competitor products were sorted by customer task rather than by vendor, to match each with a specific Optum LS offering.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Those tasks were then grouped into five domains where both Optum LS and its competitors publicly market products:</a:t>
            </a:r>
            <a:endParaRPr lang="en-US" sz="1100" dirty="0"/>
          </a:p>
        </p:txBody>
      </p:sp>
      <p:sp>
        <p:nvSpPr>
          <p:cNvPr id="9" name="workflow chip RWE"/>
          <p:cNvSpPr/>
          <p:nvPr/>
        </p:nvSpPr>
        <p:spPr>
          <a:xfrm>
            <a:off x="3959352" y="5623559"/>
            <a:ext cx="422727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959352" y="5623559"/>
            <a:ext cx="4227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RWE</a:t>
            </a:r>
            <a:endParaRPr lang="en-US" sz="950" dirty="0"/>
          </a:p>
        </p:txBody>
      </p:sp>
      <p:sp>
        <p:nvSpPr>
          <p:cNvPr id="11" name="workflow chip Commercial Intelligence"/>
          <p:cNvSpPr/>
          <p:nvPr/>
        </p:nvSpPr>
        <p:spPr>
          <a:xfrm>
            <a:off x="4473519" y="5623559"/>
            <a:ext cx="177786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4473519" y="5623559"/>
            <a:ext cx="17778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Commercial Intelligence</a:t>
            </a:r>
            <a:endParaRPr lang="en-US" sz="950" dirty="0"/>
          </a:p>
        </p:txBody>
      </p:sp>
      <p:sp>
        <p:nvSpPr>
          <p:cNvPr id="13" name="workflow chip Medical / Regulatory Research"/>
          <p:cNvSpPr/>
          <p:nvPr/>
        </p:nvSpPr>
        <p:spPr>
          <a:xfrm>
            <a:off x="6342827" y="5623559"/>
            <a:ext cx="2184410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6342827" y="5623559"/>
            <a:ext cx="21844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Medical / Regulatory Research</a:t>
            </a:r>
            <a:endParaRPr lang="en-US" sz="950" dirty="0"/>
          </a:p>
        </p:txBody>
      </p:sp>
      <p:sp>
        <p:nvSpPr>
          <p:cNvPr id="15" name="workflow chip Clinical Trials"/>
          <p:cNvSpPr/>
          <p:nvPr/>
        </p:nvSpPr>
        <p:spPr>
          <a:xfrm>
            <a:off x="8618677" y="5623559"/>
            <a:ext cx="1235812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8618677" y="5623559"/>
            <a:ext cx="12358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Clinical Trials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9945929" y="5623559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and</a:t>
            </a:r>
            <a:endParaRPr lang="en-US" sz="1000" dirty="0"/>
          </a:p>
        </p:txBody>
      </p:sp>
      <p:sp>
        <p:nvSpPr>
          <p:cNvPr id="18" name="workflow chip Market Access"/>
          <p:cNvSpPr/>
          <p:nvPr/>
        </p:nvSpPr>
        <p:spPr>
          <a:xfrm>
            <a:off x="10311689" y="5623559"/>
            <a:ext cx="110029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10311689" y="5623559"/>
            <a:ext cx="11002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Market Access</a:t>
            </a:r>
            <a:endParaRPr lang="en-US" sz="950" dirty="0"/>
          </a:p>
        </p:txBody>
      </p:sp>
      <p:sp>
        <p:nvSpPr>
          <p:cNvPr id="55" name="aside rule"/>
          <p:cNvSpPr/>
          <p:nvPr/>
        </p:nvSpPr>
        <p:spPr>
          <a:xfrm>
            <a:off x="548640" y="4672584"/>
            <a:ext cx="32004" cy="1252727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card label"/>
          <p:cNvSpPr txBox="1"/>
          <p:nvPr/>
        </p:nvSpPr>
        <p:spPr>
          <a:xfrm>
            <a:off x="694944" y="4672584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7C7E"/>
                </a:solidFill>
              </a:rPr>
              <a:t>WHAT COUNTS AS CONVERSATIONAL AI?</a:t>
            </a:r>
            <a:endParaRPr lang="en-US" sz="1300" dirty="0"/>
          </a:p>
        </p:txBody>
      </p:sp>
      <p:sp>
        <p:nvSpPr>
          <p:cNvPr id="57" name="Text 29"/>
          <p:cNvSpPr txBox="1"/>
          <p:nvPr/>
        </p:nvSpPr>
        <p:spPr>
          <a:xfrm>
            <a:off x="694944" y="5001768"/>
            <a:ext cx="2843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7A7C7E"/>
                </a:solidFill>
              </a:rPr>
              <a:t>A publicly marketed interface that lets life-sciences customers use natural language to interact with data, research or business workflows. Excludes patient-facing chatbots, clinician scribes and AI without a natural-language interface.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RESEARCH CATALYST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Seven RWE AI launches since 2024 warrant a wider look across life sciences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3898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SELECTED PUBLIC PRODUCT ANNOUNCEMENTS</a:t>
            </a:r>
            <a:endParaRPr lang="en-US" sz="1000" dirty="0"/>
          </a:p>
        </p:txBody>
      </p:sp>
      <p:sp>
        <p:nvSpPr>
          <p:cNvPr id="5" name="timeline"/>
          <p:cNvSpPr/>
          <p:nvPr/>
        </p:nvSpPr>
        <p:spPr>
          <a:xfrm>
            <a:off x="548640" y="2450592"/>
            <a:ext cx="1109167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2024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Precedents</a:t>
            </a:r>
            <a:endParaRPr lang="en-US" sz="1000" dirty="0"/>
          </a:p>
        </p:txBody>
      </p:sp>
      <p:sp>
        <p:nvSpPr>
          <p:cNvPr id="8" name="milestone"/>
          <p:cNvSpPr/>
          <p:nvPr/>
        </p:nvSpPr>
        <p:spPr>
          <a:xfrm>
            <a:off x="548640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48640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 One / Lens</a:t>
            </a:r>
            <a:r>
              <a:rPr lang="en-US" sz="1050" dirty="0">
                <a:solidFill>
                  <a:schemeClr val="tx1"/>
                </a:solidFill>
              </a:rPr>
              <a:t> — AI-assisted research and cohort exploration (February)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MapAI</a:t>
            </a:r>
            <a:r>
              <a:rPr lang="en-US" sz="1050" dirty="0">
                <a:solidFill>
                  <a:schemeClr val="tx1"/>
                </a:solidFill>
              </a:rPr>
              <a:t> — conversational healthcare analytics (September)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321558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August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21558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Platform expansion</a:t>
            </a:r>
            <a:endParaRPr lang="en-US" sz="1000" dirty="0"/>
          </a:p>
        </p:txBody>
      </p:sp>
      <p:sp>
        <p:nvSpPr>
          <p:cNvPr id="12" name="milestone"/>
          <p:cNvSpPr/>
          <p:nvPr/>
        </p:nvSpPr>
        <p:spPr>
          <a:xfrm>
            <a:off x="3321558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321558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Marmot</a:t>
            </a:r>
            <a:r>
              <a:rPr lang="en-US" sz="1050" dirty="0">
                <a:solidFill>
                  <a:schemeClr val="tx1"/>
                </a:solidFill>
              </a:rPr>
              <a:t> — AI-powered healthcare analytics and research workflows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094476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April–May 2026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94476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Research-interface launches</a:t>
            </a:r>
            <a:endParaRPr lang="en-US" sz="1000" dirty="0"/>
          </a:p>
        </p:txBody>
      </p:sp>
      <p:sp>
        <p:nvSpPr>
          <p:cNvPr id="16" name="milestone"/>
          <p:cNvSpPr/>
          <p:nvPr/>
        </p:nvSpPr>
        <p:spPr>
          <a:xfrm>
            <a:off x="6094476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094476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 Intelligence</a:t>
            </a:r>
            <a:r>
              <a:rPr lang="en-US" sz="1050" dirty="0">
                <a:solidFill>
                  <a:schemeClr val="tx1"/>
                </a:solidFill>
              </a:rPr>
              <a:t> — natural-language RWE research questions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Flatiron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Telescope</a:t>
            </a:r>
            <a:r>
              <a:rPr lang="en-US" sz="1050" dirty="0">
                <a:solidFill>
                  <a:schemeClr val="tx1"/>
                </a:solidFill>
              </a:rPr>
              <a:t> — conversational oncology cohort exploration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867394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September 2026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7394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New releases</a:t>
            </a:r>
            <a:endParaRPr lang="en-US" sz="1000" dirty="0"/>
          </a:p>
        </p:txBody>
      </p:sp>
      <p:sp>
        <p:nvSpPr>
          <p:cNvPr id="20" name="milestone"/>
          <p:cNvSpPr/>
          <p:nvPr/>
        </p:nvSpPr>
        <p:spPr>
          <a:xfrm>
            <a:off x="8867394" y="2368296"/>
            <a:ext cx="164592" cy="164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867394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Verana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Agent Claire</a:t>
            </a:r>
            <a:r>
              <a:rPr lang="en-US" sz="1050" dirty="0">
                <a:solidFill>
                  <a:schemeClr val="tx1"/>
                </a:solidFill>
              </a:rPr>
              <a:t> — conversational specialty-data research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Atlas Patient Analytics</a:t>
            </a:r>
            <a:r>
              <a:rPr lang="en-US" sz="1050" dirty="0">
                <a:solidFill>
                  <a:schemeClr val="tx1"/>
                </a:solidFill>
              </a:rPr>
              <a:t> — agentic, managed cohort analytics</a:t>
            </a:r>
            <a:endParaRPr lang="en-US" sz="1050" dirty="0"/>
          </a:p>
        </p:txBody>
      </p:sp>
      <p:sp>
        <p:nvSpPr>
          <p:cNvPr id="22" name="the broader competitive question card"/>
          <p:cNvSpPr/>
          <p:nvPr/>
        </p:nvSpPr>
        <p:spPr>
          <a:xfrm>
            <a:off x="548640" y="4114800"/>
            <a:ext cx="7589520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label"/>
          <p:cNvSpPr txBox="1"/>
          <p:nvPr/>
        </p:nvSpPr>
        <p:spPr>
          <a:xfrm>
            <a:off x="749808" y="4389120"/>
            <a:ext cx="7187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BROADER COMPETITIVE QUESTIONS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4754880"/>
            <a:ext cx="71871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1. How widely are life-sciences vendors marketing conversational AI, and in which domains?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2. Which customer tasks does it target, and what do vendors promise?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3. Who supplies the underlying AI, and could those suppliers become competitors?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4. What does that positioning suggest for an Optum LS offering?</a:t>
            </a:r>
            <a:endParaRPr lang="en-US" sz="1200" dirty="0"/>
          </a:p>
        </p:txBody>
      </p:sp>
      <p:sp>
        <p:nvSpPr>
          <p:cNvPr id="25" name="our research response card"/>
          <p:cNvSpPr/>
          <p:nvPr/>
        </p:nvSpPr>
        <p:spPr>
          <a:xfrm>
            <a:off x="8321040" y="4114800"/>
            <a:ext cx="3319272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label"/>
          <p:cNvSpPr txBox="1"/>
          <p:nvPr/>
        </p:nvSpPr>
        <p:spPr>
          <a:xfrm>
            <a:off x="8522208" y="4389120"/>
            <a:ext cx="2916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RESEARCH APPROACH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522208" y="4754880"/>
            <a:ext cx="2916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Vendors’ public product claims show what competitors choose to promise customers. That makes them direct evidence of competitive positioning—though not of performance, adoption or revenue.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8" name="Invisible source link 3: https://investors.tempus.com/node/6451/pdf">
            <a:hlinkClick r:id="rId3"/>
          </p:cNvPr>
          <p:cNvSpPr/>
          <p:nvPr/>
        </p:nvSpPr>
        <p:spPr>
          <a:xfrm>
            <a:off x="548284" y="2627342"/>
            <a:ext cx="180485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3: https://www.komodohealth.com/press/komodo-health-unveils-new-generative-ai-offerings-to-enable-real-time-insights-across-330-million-patient-journeys/">
            <a:hlinkClick r:id="rId4"/>
          </p:cNvPr>
          <p:cNvSpPr/>
          <p:nvPr/>
        </p:nvSpPr>
        <p:spPr>
          <a:xfrm>
            <a:off x="548284" y="3208380"/>
            <a:ext cx="143985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3: https://www.komodohealth.com/press/komodo-health-introduces-marmot-the-ai-built-to-accelerate-healthcare-innovation/">
            <a:hlinkClick r:id="rId5"/>
          </p:cNvPr>
          <p:cNvSpPr/>
          <p:nvPr/>
        </p:nvSpPr>
        <p:spPr>
          <a:xfrm>
            <a:off x="3321354" y="2627342"/>
            <a:ext cx="1522182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3: https://www.truveta.com/blog/announcement/truveta-unveils-truveta-intelligence/">
            <a:hlinkClick r:id="rId6"/>
          </p:cNvPr>
          <p:cNvSpPr/>
          <p:nvPr/>
        </p:nvSpPr>
        <p:spPr>
          <a:xfrm>
            <a:off x="6094082" y="2627342"/>
            <a:ext cx="180956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3: https://resources.flatiron.com/press/flatiron-health-launches-flatiron-telescope-a-new-ai-platform-delivering-oncology-insights-in-minutes">
            <a:hlinkClick r:id="rId7"/>
          </p:cNvPr>
          <p:cNvSpPr/>
          <p:nvPr/>
        </p:nvSpPr>
        <p:spPr>
          <a:xfrm>
            <a:off x="6094082" y="3048537"/>
            <a:ext cx="162911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3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8867165" y="2627342"/>
            <a:ext cx="174911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4" name="Invisible source link 3: https://www.norstella.com/press-releases/launches-real-world-data-agentic-platform-first-agent-replace-manual-cohort-building/">
            <a:hlinkClick r:id="rId9"/>
          </p:cNvPr>
          <p:cNvSpPr/>
          <p:nvPr/>
        </p:nvSpPr>
        <p:spPr>
          <a:xfrm>
            <a:off x="8867165" y="3048537"/>
            <a:ext cx="20745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U.S. COMPETITIVE LANDSCAPE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Conversational AI is most visible in RWE, where competitors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market new access points to tasks Optum LS already serves</a:t>
            </a:r>
            <a:endParaRPr lang="en-US" sz="2200" dirty="0"/>
          </a:p>
        </p:txBody>
      </p:sp>
      <p:sp>
        <p:nvSpPr>
          <p:cNvPr id="4" name="kpi tile 45"/>
          <p:cNvSpPr/>
          <p:nvPr/>
        </p:nvSpPr>
        <p:spPr>
          <a:xfrm>
            <a:off x="548640" y="4846320"/>
            <a:ext cx="3937217" cy="1207008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53" name="scope note"/>
          <p:cNvSpPr txBox="1"/>
          <p:nvPr/>
        </p:nvSpPr>
        <p:spPr>
          <a:xfrm>
            <a:off x="548640" y="4526280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4"/>
                </a:solidFill>
              </a:rPr>
              <a:t>Scope note: Offerings are organized by their primary domain; supporting data and analytics capabilities may serve more than one domain.</a:t>
            </a:r>
            <a:endParaRPr lang="en-US" sz="800" dirty="0"/>
          </a:p>
        </p:txBody>
      </p:sp>
      <p:sp>
        <p:nvSpPr>
          <p:cNvPr id="55" name="key takeaway card"/>
          <p:cNvSpPr/>
          <p:nvPr/>
        </p:nvSpPr>
        <p:spPr>
          <a:xfrm>
            <a:off x="4668737" y="4846320"/>
            <a:ext cx="6971574" cy="120700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4869905" y="49743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chemeClr val="accent2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4869905" y="5349240"/>
            <a:ext cx="65692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l">
              <a:buNone/>
            </a:pPr>
            <a:r>
              <a:rPr lang="en-US" sz="1250" b="1" dirty="0">
                <a:solidFill>
                  <a:schemeClr val="tx1"/>
                </a:solidFill>
              </a:rPr>
              <a:t>RWE has the highest concentration (9 of 34); market access the lowest (2 of 24).</a:t>
            </a:r>
            <a:endParaRPr lang="en-US" sz="1050" dirty="0"/>
          </a:p>
          <a:p>
            <a:pPr indent="0" marL="0" algn="l">
              <a:spcBef>
                <a:spcPts val="800"/>
              </a:spcBef>
              <a:buNone/>
            </a:pPr>
            <a:r>
              <a:rPr lang="en-US" sz="1250" b="1" dirty="0">
                <a:solidFill>
                  <a:schemeClr val="tx1"/>
                </a:solidFill>
              </a:rPr>
              <a:t>Norstella alone markets Ella-branded assistants in four of five domains.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graphicFrame>
        <p:nvGraphicFramePr>
          <p:cNvPr id="5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2971799"/>
        </p:xfrm>
        <a:graphic>
          <a:graphicData uri="http://schemas.openxmlformats.org/drawingml/2006/table">
            <a:tbl>
              <a:tblPr/>
              <a:tblGrid>
                <a:gridCol w="1619997"/>
                <a:gridCol w="3793465"/>
                <a:gridCol w="2835756"/>
                <a:gridCol w="2842453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DOMAIN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WHO’S COMPETING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WHAT THEY PITCH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(most active)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Komodo, Truveta, Flatiron, Tempus, HealthVerity, Norstella, Truven, ConcertAI, Verana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Pre-sale data previews; self-service analysis; packaged studies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Analytics on Demand; epidemiology research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Trinity, Norstella (Evaluate)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AI inside the rep’s CRM; simulated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Market Clarity: portfolio and patient/prescriber analytics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Medical / Regulatory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Veeva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Narrowly scoped tools; published limits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Postapproval safety studies; Market Clarity medical affairs insights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Clinical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TriNetX, Norstella (Citeline), Veeva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Site selection; data-bounded EDC chat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Prospector; Digital Research Network; True Source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Market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Access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EVERSANA, Norstella (MMIT)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Moving past chat answers; queryable payer feedback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HEOR/value evidence; Evidence Engine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3"/>
          <p:cNvSpPr txBox="1"/>
          <p:nvPr/>
        </p:nvSpPr>
        <p:spPr>
          <a:xfrm>
            <a:off x="685800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U.S. competitors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screened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754992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754992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competitors marketing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conversational AI</a:t>
            </a:r>
            <a:endParaRPr lang="en-US" sz="1100" dirty="0"/>
          </a:p>
        </p:txBody>
      </p:sp>
      <p:sp>
        <p:nvSpPr>
          <p:cNvPr id="7" name="flow arrow"/>
          <p:cNvSpPr/>
          <p:nvPr/>
        </p:nvSpPr>
        <p:spPr>
          <a:xfrm>
            <a:off x="2325224" y="5065776"/>
            <a:ext cx="384048" cy="219456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RWE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RWE, conversational AI now spans the workflow, from pre-sale data previews to analyses traditionally handled by specialists</a:t>
            </a:r>
            <a:endParaRPr lang="en-US" sz="2200" dirty="0"/>
          </a:p>
        </p:txBody>
      </p:sp>
      <p:graphicFrame>
        <p:nvGraphicFramePr>
          <p:cNvPr id="6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Identify and assess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suitable data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MarketScan Snapshot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assessment of MarketScan data suitability;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Ella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dataset recommendations (along with cohort construction and documented RWE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(NLP-extracted clinical variables)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96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patient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populations and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and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MapAI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healthcare analytics and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 Intelligence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research questions over longitudinal clinical data;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Briya’s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AIRE Population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cohort eligibility and feasibility assessment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broader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 questions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HealthVerity’s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eXOs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 feasibility, cohort design and auditable RWE analysis;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Platforms’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Catalyst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(Finland)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prompt-based cohort building and clinical/genomic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modeling, decision trees)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study methods, scientific review)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end-to-end conversational rwe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END-TO-END CONVERSATIONAL RWE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HealthVerity’s eXOs</a:t>
            </a:r>
            <a:r>
              <a:rPr lang="en-US" sz="1050" b="1" dirty="0">
                <a:solidFill>
                  <a:schemeClr val="tx1"/>
                </a:solidFill>
              </a:rPr>
              <a:t> and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Ella</a:t>
            </a:r>
            <a:r>
              <a:rPr lang="en-US" sz="1050" b="1" dirty="0">
                <a:solidFill>
                  <a:schemeClr val="tx1"/>
                </a:solidFill>
              </a:rPr>
              <a:t> market conversational AI as a multi-step workflow, not just search. HealthVerity’s eXOs advertises data feasibility, cohort design and RWE analysis, while Norstella’s Ella offers dataset recommendations, cohort construction and analytics.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sp>
        <p:nvSpPr>
          <p:cNvPr id="9903" name="pre-engagement data evaluation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904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PRE-ENGAGEMENT DATA EVALUATION</a:t>
            </a:r>
            <a:endParaRPr lang="en-US" sz="1300" dirty="0"/>
          </a:p>
        </p:txBody>
      </p:sp>
      <p:sp>
        <p:nvSpPr>
          <p:cNvPr id="9905" name="Text 14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Truven also uses its conversational AI as a sales tool, offering qualified prospects free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MarketScan Snapshot</a:t>
            </a:r>
            <a:r>
              <a:rPr lang="en-US" sz="1050" b="1" dirty="0">
                <a:solidFill>
                  <a:schemeClr val="tx1"/>
                </a:solidFill>
              </a:rPr>
              <a:t> access to cohort counts and summary statistics before they commit to a full RWE analysis.</a:t>
            </a:r>
            <a:endParaRPr lang="en-US" sz="1050" dirty="0"/>
          </a:p>
        </p:txBody>
      </p:sp>
      <p:sp>
        <p:nvSpPr>
          <p:cNvPr id="990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6: https://www.merative.com/newsroom/truven-launches-marketscan-snapshot-an-ai-powered-tool-to-evaluate-fit-for-purpose-real-world-data-in-minutes">
            <a:hlinkClick r:id="rId3"/>
          </p:cNvPr>
          <p:cNvSpPr/>
          <p:nvPr/>
        </p:nvSpPr>
        <p:spPr>
          <a:xfrm>
            <a:off x="2944075" y="2014500"/>
            <a:ext cx="17786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6: https://panalgo.com/ella/">
            <a:hlinkClick r:id="rId15"/>
          </p:cNvPr>
          <p:cNvSpPr/>
          <p:nvPr/>
        </p:nvSpPr>
        <p:spPr>
          <a:xfrm>
            <a:off x="2944075" y="2200975"/>
            <a:ext cx="98920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6: https://www.komodohealth.com/product/marmot/">
            <a:hlinkClick r:id="rId8"/>
          </p:cNvPr>
          <p:cNvSpPr/>
          <p:nvPr/>
        </p:nvSpPr>
        <p:spPr>
          <a:xfrm>
            <a:off x="2944075" y="2896134"/>
            <a:ext cx="138096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6: https://www.komodohealth.com/press/komodo-health-unveils-new-generative-ai-offerings-to-enable-real-time-insights-across-330-million-patient-journeys/">
            <a:hlinkClick r:id="rId9"/>
          </p:cNvPr>
          <p:cNvSpPr/>
          <p:nvPr/>
        </p:nvSpPr>
        <p:spPr>
          <a:xfrm>
            <a:off x="4593234" y="2896134"/>
            <a:ext cx="3944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6: https://www.truveta.com/blog/announcement/truveta-unveils-truveta-intelligence/">
            <a:hlinkClick r:id="rId10"/>
          </p:cNvPr>
          <p:cNvSpPr/>
          <p:nvPr/>
        </p:nvSpPr>
        <p:spPr>
          <a:xfrm>
            <a:off x="2944075" y="3082621"/>
            <a:ext cx="16778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6: https://briya.com/aire-population-agent/">
            <a:hlinkClick r:id="rId11"/>
          </p:cNvPr>
          <p:cNvSpPr/>
          <p:nvPr/>
        </p:nvSpPr>
        <p:spPr>
          <a:xfrm>
            <a:off x="2944075" y="3269095"/>
            <a:ext cx="170319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6: https://healthverity.com/news/announcing-healthverity-exos/">
            <a:hlinkClick r:id="rId4"/>
          </p:cNvPr>
          <p:cNvSpPr/>
          <p:nvPr/>
        </p:nvSpPr>
        <p:spPr>
          <a:xfrm>
            <a:off x="2944075" y="3828899"/>
            <a:ext cx="110764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6: https://www.bcplatforms.com/bc-catalyst">
            <a:hlinkClick r:id="rId16"/>
          </p:cNvPr>
          <p:cNvSpPr/>
          <p:nvPr/>
        </p:nvSpPr>
        <p:spPr>
          <a:xfrm>
            <a:off x="2944075" y="4015373"/>
            <a:ext cx="143855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6: https://healthverity.com/exos/">
            <a:hlinkClick r:id="rId18"/>
          </p:cNvPr>
          <p:cNvSpPr/>
          <p:nvPr/>
        </p:nvSpPr>
        <p:spPr>
          <a:xfrm>
            <a:off x="749515" y="5215373"/>
            <a:ext cx="124593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6: https://www.norstella.com/press-releases/panalgo-revolutionizes-real-world-data-launch-linqnotes-ella-ai/">
            <a:hlinkClick r:id="rId19"/>
          </p:cNvPr>
          <p:cNvSpPr/>
          <p:nvPr/>
        </p:nvSpPr>
        <p:spPr>
          <a:xfrm>
            <a:off x="2305443" y="5215373"/>
            <a:ext cx="94397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6: https://www.prnewswire.com/news-releases/truven-launches-marketscan-snapshot-an-ai-powered-tool-to-evaluate-fit-for-purpose-real-world-data-in-minutes-302892187.html">
            <a:hlinkClick r:id="rId20"/>
          </p:cNvPr>
          <p:cNvSpPr/>
          <p:nvPr/>
        </p:nvSpPr>
        <p:spPr>
          <a:xfrm>
            <a:off x="7336078" y="5375216"/>
            <a:ext cx="138219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SPECIALIZED RWE AND EVIDENCE GENERATION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oncology and specialty data, vendors pitch conversational AI as a substitute for some routine analyst work</a:t>
            </a:r>
            <a:endParaRPr lang="en-US" sz="2200" dirty="0"/>
          </a:p>
        </p:txBody>
      </p:sp>
      <p:graphicFrame>
        <p:nvGraphicFramePr>
          <p:cNvPr id="7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478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oncology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specialty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Flatiron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Telescope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oncology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Tempus’s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Lens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clinical and molecular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(NLP-derived disease attributes)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clinicogenomics datasets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clinical/genomic data)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781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specialty-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disease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ConcertAI’s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Precision Explorer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oncology research analytics;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Verana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Agent Claire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specialty-data research;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and observational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comparative effectiveness)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35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Analyze curated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 datasets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MDClone’s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ADAMS Copilot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statistical analysis and visualization within controlled research datasets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modeling, survival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research data and study environments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(curated data, analytical workspaces)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packaged outcomes stud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PACKAGED OUTCOMES STUDIES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ConcertAI markets named Precision Explorer agents for guideline concordance, real-world outcomes and comorbidity analysis; it claims projects can shrink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from 10-20 weeks to as little as 6 weeks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18" name="self-service analysi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SELF-SERVICE ANALYSIS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Specialty-data vendors market conversational AI as a way to supplant routine work by analysts: Flatiron’s Telescope delivers survival analyses on demand,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eliminating the need to wait in analyst queues</a:t>
            </a:r>
            <a:r>
              <a:rPr lang="en-US" sz="1050" b="1" dirty="0">
                <a:solidFill>
                  <a:schemeClr val="tx1"/>
                </a:solidFill>
              </a:rPr>
              <a:t>,” while Verana’s Agent Claire offers data access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needing programming skills or analyst assistance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2944075" y="2073898"/>
            <a:ext cx="151337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7: https://www.tempus.com/solutions/lens/">
            <a:hlinkClick r:id="rId4"/>
          </p:cNvPr>
          <p:cNvSpPr/>
          <p:nvPr/>
        </p:nvSpPr>
        <p:spPr>
          <a:xfrm>
            <a:off x="2944075" y="2260372"/>
            <a:ext cx="85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7: https://www.concertai.com/precision-explorer">
            <a:hlinkClick r:id="rId7"/>
          </p:cNvPr>
          <p:cNvSpPr/>
          <p:nvPr/>
        </p:nvSpPr>
        <p:spPr>
          <a:xfrm>
            <a:off x="2944075" y="2921700"/>
            <a:ext cx="174953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7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2944075" y="3108174"/>
            <a:ext cx="162316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7: https://mdclone.com/meet-copilot/">
            <a:hlinkClick r:id="rId11"/>
          </p:cNvPr>
          <p:cNvSpPr/>
          <p:nvPr/>
        </p:nvSpPr>
        <p:spPr>
          <a:xfrm>
            <a:off x="2944075" y="3862731"/>
            <a:ext cx="150705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7: https://www.concertai.com/precision-explorer">
            <a:hlinkClick r:id="rId7"/>
          </p:cNvPr>
          <p:cNvSpPr/>
          <p:nvPr/>
        </p:nvSpPr>
        <p:spPr>
          <a:xfrm>
            <a:off x="749515" y="5535058"/>
            <a:ext cx="265887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6386753" y="5535058"/>
            <a:ext cx="305667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7: https://www.prnewswire.com/news-releases/verana-health-introduces-new-ai-agents-to-expedite-and-streamline-rd-302888122.html">
            <a:hlinkClick r:id="rId14"/>
          </p:cNvPr>
          <p:cNvSpPr/>
          <p:nvPr/>
        </p:nvSpPr>
        <p:spPr>
          <a:xfrm>
            <a:off x="7578472" y="5694900"/>
            <a:ext cx="382336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COMMERCIAL INTELLIGENCE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commercial intelligence, conversational AI reaches into reps’ daily workflow and simulated market research</a:t>
            </a:r>
            <a:endParaRPr lang="en-US" sz="2200" dirty="0"/>
          </a:p>
        </p:txBody>
      </p:sp>
      <p:graphicFrame>
        <p:nvGraphicFramePr>
          <p:cNvPr id="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059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market and portfolio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GMI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global market insights;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Evaluate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plain-English questions on pharma markets, deals and forecasts;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(China)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pharmaceutical database Q&amp;A and competitive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Prospection’s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ProGPT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(Australia)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patient and market insights for brand planning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 data, market attractiveness and portfolio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5521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 field and prescribing decisions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Field Force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field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Commercial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information and decision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Close-Up International’s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Xplora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AI-enabled pharmaceutical CRM and commercial intelligence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(patient/prescriber segmentation, treatment patterns, market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798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Simulated stakeholder 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Trinity Life Sciences’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InsightsEDGE Digital Twins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simulated personas;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Ipsos’s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Healthcare PersonaBot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(France)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interaction with simulated healthcare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(observed patient/prescriber insights)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simulated-persona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from insight to field action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INSIGHT TO FIELD ACTION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IQVIA’s Field Force Agent uses CRM activity and call notes to recommend next best actions, with a claimed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prep-time reduction of up to 27%</a:t>
            </a:r>
            <a:r>
              <a:rPr lang="en-US" sz="1050" b="1" dirty="0">
                <a:solidFill>
                  <a:schemeClr val="tx1"/>
                </a:solidFill>
              </a:rPr>
              <a:t>. ZS’s commercial assistant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generates call plans and draft emails</a:t>
            </a:r>
            <a:r>
              <a:rPr lang="en-US" sz="1050" b="1" dirty="0">
                <a:solidFill>
                  <a:schemeClr val="tx1"/>
                </a:solidFill>
              </a:rPr>
              <a:t>.</a:t>
            </a:r>
            <a:endParaRPr lang="en-US" sz="1050" dirty="0"/>
          </a:p>
        </p:txBody>
      </p:sp>
      <p:sp>
        <p:nvSpPr>
          <p:cNvPr id="18" name="synthetic stakeholder research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SYNTHETIC STAKEHOLDER RESEARCH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Trinity’s data-grounded digital twins simulate HCP, patient and payer responses to test messages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commissioning a new study every time</a:t>
            </a:r>
            <a:r>
              <a:rPr lang="en-US" sz="1050" b="1" dirty="0">
                <a:solidFill>
                  <a:schemeClr val="tx1"/>
                </a:solidFill>
              </a:rPr>
              <a:t>”; Ipsos’s PersonaBot hosts a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focus group</a:t>
            </a:r>
            <a:r>
              <a:rPr lang="en-US" sz="1050" b="1" dirty="0">
                <a:solidFill>
                  <a:schemeClr val="tx1"/>
                </a:solidFill>
              </a:rPr>
              <a:t>” of personas drawn from clients’ existing research.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1966253"/>
            <a:ext cx="106049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8: https://www.gbihealth.com.cn/en/products/gbi-bot">
            <a:hlinkClick r:id="rId4"/>
          </p:cNvPr>
          <p:cNvSpPr/>
          <p:nvPr/>
        </p:nvSpPr>
        <p:spPr>
          <a:xfrm>
            <a:off x="2944075" y="2339214"/>
            <a:ext cx="120548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8: https://support.prospection.com/en_US/530415-using-progpt/8351360445583">
            <a:hlinkClick r:id="rId5"/>
          </p:cNvPr>
          <p:cNvSpPr/>
          <p:nvPr/>
        </p:nvSpPr>
        <p:spPr>
          <a:xfrm>
            <a:off x="2944075" y="2525701"/>
            <a:ext cx="119922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2972093"/>
            <a:ext cx="147521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2944075" y="3158580"/>
            <a:ext cx="272189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8: https://close-upinternational.com/es/crm-farmaceutico-nativo-en-ia-de-los-datos-a-las-decisiones-unificadas-2/">
            <a:hlinkClick r:id="rId8"/>
          </p:cNvPr>
          <p:cNvSpPr/>
          <p:nvPr/>
        </p:nvSpPr>
        <p:spPr>
          <a:xfrm>
            <a:off x="2944075" y="3345054"/>
            <a:ext cx="183740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8: https://www.evaluate.com/ask-ella/">
            <a:hlinkClick r:id="rId11"/>
          </p:cNvPr>
          <p:cNvSpPr/>
          <p:nvPr/>
        </p:nvSpPr>
        <p:spPr>
          <a:xfrm>
            <a:off x="2944075" y="2152740"/>
            <a:ext cx="136864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8: https://trinitylifesciences.com/products/insightsedge-digital-twins/">
            <a:hlinkClick r:id="rId9"/>
          </p:cNvPr>
          <p:cNvSpPr/>
          <p:nvPr/>
        </p:nvSpPr>
        <p:spPr>
          <a:xfrm>
            <a:off x="2944075" y="3969653"/>
            <a:ext cx="273088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8: https://www.ipsos.com/en/healthcare/healthcare-personabot">
            <a:hlinkClick r:id="rId10"/>
          </p:cNvPr>
          <p:cNvSpPr/>
          <p:nvPr/>
        </p:nvSpPr>
        <p:spPr>
          <a:xfrm>
            <a:off x="2944075" y="4156140"/>
            <a:ext cx="172893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8: https://www.iqvia.com/solutions/commercialization/commercial-analytics/omnichannel-engagement-and-insights/field-force-agent">
            <a:hlinkClick r:id="rId12"/>
          </p:cNvPr>
          <p:cNvSpPr/>
          <p:nvPr/>
        </p:nvSpPr>
        <p:spPr>
          <a:xfrm>
            <a:off x="2538717" y="5375216"/>
            <a:ext cx="210653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1360805" y="5535058"/>
            <a:ext cx="23578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8: https://trinitylifesciences.com/company/press-releases/trinity-launches-insightsedge-digital-twins/">
            <a:hlinkClick r:id="rId13"/>
          </p:cNvPr>
          <p:cNvSpPr/>
          <p:nvPr/>
        </p:nvSpPr>
        <p:spPr>
          <a:xfrm>
            <a:off x="7497222" y="5375216"/>
            <a:ext cx="314612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8: https://www.ipsos.com/en/launch-ipsos-personabot-groundbreaking-ai-powered-solution-enhance-segmentation-research">
            <a:hlinkClick r:id="rId14"/>
          </p:cNvPr>
          <p:cNvSpPr/>
          <p:nvPr/>
        </p:nvSpPr>
        <p:spPr>
          <a:xfrm>
            <a:off x="7666782" y="5535058"/>
            <a:ext cx="8986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MEDICAL / REGULATORY RESEARCH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medical and regulatory work, conversational AI operates within tighter bounds, and one vendor publishes where it fails</a:t>
            </a:r>
            <a:endParaRPr lang="en-US" sz="2200" dirty="0"/>
          </a:p>
        </p:txBody>
      </p:sp>
      <p:graphicFrame>
        <p:nvGraphicFramePr>
          <p:cNvPr id="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284835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Search and synthesize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scientific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Med-R1 Deep Research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synthesizes biomedical, clinical and regulatory sources to answer complex research questions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RWE generation)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postapproval safety and comparative-effectiveness studies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4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medical insights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support scientific engagement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Medical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analysis of care gaps, scientific insights and opinion-leader information;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Evidenze’s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 medical-education chatbots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medical education and knowledge support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(medical affairs evidence, MSL insights, HCP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Question and navigate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regulated documents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Vault AI Chat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questions, summaries and follow-up interactions within authorized Vault documents and records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Safety and evidence-research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(scientific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regulated-document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racking medical affairs impact card"/>
          <p:cNvSpPr/>
          <p:nvPr/>
        </p:nvSpPr>
        <p:spPr>
          <a:xfrm>
            <a:off x="548640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TRACKING MEDICAL AFFAIRS IMPACT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ZS positions its medical-affairs analytics as the answer to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what is medical affairs actually achieving?</a:t>
            </a:r>
            <a:r>
              <a:rPr lang="en-US" sz="1050" b="1" dirty="0">
                <a:solidFill>
                  <a:schemeClr val="tx1"/>
                </a:solidFill>
              </a:rPr>
              <a:t>” The suite tracks care gaps in patient-level claims data and compares engaged and non-engaged populations over time; a conversational assistant lets teams query the results.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sp>
        <p:nvSpPr>
          <p:cNvPr id="26" name="limits in the open card"/>
          <p:cNvSpPr/>
          <p:nvPr/>
        </p:nvSpPr>
        <p:spPr>
          <a:xfrm>
            <a:off x="6185916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LIMITS IN THE OPEN</a:t>
            </a:r>
            <a:endParaRPr lang="en-US" sz="1300" dirty="0"/>
          </a:p>
        </p:txBody>
      </p:sp>
      <p:sp>
        <p:nvSpPr>
          <p:cNvPr id="28" name="Text 14"/>
          <p:cNvSpPr txBox="1"/>
          <p:nvPr/>
        </p:nvSpPr>
        <p:spPr>
          <a:xfrm>
            <a:off x="6387084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 says its small Med-R1 research agent can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outperform much larger general-purpose models</a:t>
            </a:r>
            <a:r>
              <a:rPr lang="en-US" sz="1050" b="1" dirty="0">
                <a:solidFill>
                  <a:schemeClr val="tx1"/>
                </a:solidFill>
              </a:rPr>
              <a:t>,” while conceding that multi-step biomedical reasoning remains unsolved. In its December 2025 benchmark, Med-R1 answered 21 of 50 questions—and none of the 10 hardest, where OpenAI’s and Google’s agents managed one between them.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9: https://www.iqvia.com/solutions/innovative-models/artificial-intelligence-and-machine-learning/iqvia-ai-platform">
            <a:hlinkClick r:id="rId3"/>
          </p:cNvPr>
          <p:cNvSpPr/>
          <p:nvPr/>
        </p:nvSpPr>
        <p:spPr>
          <a:xfrm>
            <a:off x="2944075" y="2063815"/>
            <a:ext cx="217001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9: https://zaidyn.zs.com/products/zaidyn-medical/conversational-ai-for-medical">
            <a:hlinkClick r:id="rId5"/>
          </p:cNvPr>
          <p:cNvSpPr/>
          <p:nvPr/>
        </p:nvSpPr>
        <p:spPr>
          <a:xfrm>
            <a:off x="2944075" y="2773376"/>
            <a:ext cx="247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9: https://evidenze.com/">
            <a:hlinkClick r:id="rId6"/>
          </p:cNvPr>
          <p:cNvSpPr/>
          <p:nvPr/>
        </p:nvSpPr>
        <p:spPr>
          <a:xfrm>
            <a:off x="2944075" y="3095575"/>
            <a:ext cx="235622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9: https://platform.veevavault.help/en/lr/950642">
            <a:hlinkClick r:id="rId8"/>
          </p:cNvPr>
          <p:cNvSpPr/>
          <p:nvPr/>
        </p:nvSpPr>
        <p:spPr>
          <a:xfrm>
            <a:off x="2944075" y="3804781"/>
            <a:ext cx="122357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4420308" y="5055531"/>
            <a:ext cx="104939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749515" y="5215373"/>
            <a:ext cx="172332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9434314" y="5055531"/>
            <a:ext cx="157114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6386753" y="5215373"/>
            <a:ext cx="1642595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CLINICAL TRIALS AND MARKET ACCESS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trials and market access, vendors limit what conversational AI can see and how far its answers go</a:t>
            </a:r>
            <a:endParaRPr lang="en-US" sz="2200" dirty="0"/>
          </a:p>
        </p:txBody>
      </p:sp>
      <p:graphicFrame>
        <p:nvGraphicFramePr>
          <p:cNvPr id="10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612B"/>
                          </a:solidFill>
                        </a:rPr>
                        <a:t>CLINICAL TRIALS: </a:t>
                      </a: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529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 feasibility, site and investigator identification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TriNetX’s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LIVE Conversational AI + Terrain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protocol feasibility, clinical-code generation and site/investigator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Citeline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trial and site search strategies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funnels)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Digital Research Network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 identification, recruitment infrastructure)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4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Clinical-data operations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EDC AI Tab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 on study operational data and help content, excluding site-entered casebook data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True Source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(electronic source-data capture); no comparable conversational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612B"/>
                          </a:solidFill>
                        </a:rPr>
                        <a:t>MARKET ACCESS: </a:t>
                      </a: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37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pricing and market-access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EVERSANA’s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Ask NAVLIN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access to pricing, reimbursement and market-access information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HEOR/value evidence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(outcomes research, economic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Evidence Engine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(evidence-generation support)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health economic and budget impact modeling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(cost and budget scenarios)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2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Payer feedback and coverage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MMIT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plain-language answers grounded in formulary, coverage and payer-feedback data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No comparable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defined data boundar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DEFINED DATA BOUNDARIES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Veeva draws an explicit line around its new trial assistant: the EDC AI Tab answers questions from study operational data and help pages, but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 site-entered casebook data is referenced by the AI agent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26" name="from answers to workflow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ANSWERS TO WORKFLOWS</a:t>
            </a:r>
            <a:endParaRPr lang="en-US" sz="1300" dirty="0"/>
          </a:p>
        </p:txBody>
      </p:sp>
      <p:sp>
        <p:nvSpPr>
          <p:cNvPr id="28" name="Text 16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EVERSANA is moving market-access AI past chat answers. While offering Ask NAVLIN over pricing data from 100+ countries, it says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for important decisions, a good-looking AI answer is rarely enough</a:t>
            </a:r>
            <a:r>
              <a:rPr lang="en-US" sz="1050" b="1" dirty="0">
                <a:solidFill>
                  <a:schemeClr val="tx1"/>
                </a:solidFill>
              </a:rPr>
              <a:t>” and is building early workflows where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sources and assumptions remain visible</a:t>
            </a:r>
            <a:r>
              <a:rPr lang="en-US" sz="1050" b="1" dirty="0">
                <a:solidFill>
                  <a:schemeClr val="tx1"/>
                </a:solidFill>
              </a:rPr>
              <a:t>” for expert review.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10: https://trinetx.com/press-releases/trinetx-unveils-conversational-ai-interface-and-enhanced-api-capabilities/">
            <a:hlinkClick r:id="rId10"/>
          </p:cNvPr>
          <p:cNvSpPr/>
          <p:nvPr/>
        </p:nvSpPr>
        <p:spPr>
          <a:xfrm>
            <a:off x="2944075" y="1908303"/>
            <a:ext cx="241084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10: https://www.navlin.com/products/tender">
            <a:hlinkClick r:id="rId6"/>
          </p:cNvPr>
          <p:cNvSpPr/>
          <p:nvPr/>
        </p:nvSpPr>
        <p:spPr>
          <a:xfrm>
            <a:off x="2944075" y="3491942"/>
            <a:ext cx="149032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10: https://citeline.com/plus">
            <a:hlinkClick r:id="rId11"/>
          </p:cNvPr>
          <p:cNvSpPr/>
          <p:nvPr/>
        </p:nvSpPr>
        <p:spPr>
          <a:xfrm>
            <a:off x="2944075" y="2230502"/>
            <a:ext cx="130744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2944075" y="2560981"/>
            <a:ext cx="112744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0: https://www.mmitnetwork.com/mosaic/">
            <a:hlinkClick r:id="rId13"/>
          </p:cNvPr>
          <p:cNvSpPr/>
          <p:nvPr/>
        </p:nvSpPr>
        <p:spPr>
          <a:xfrm>
            <a:off x="2944075" y="4107181"/>
            <a:ext cx="11810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5037945" y="5375216"/>
            <a:ext cx="54208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749515" y="5535058"/>
            <a:ext cx="338427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9793548" y="5375216"/>
            <a:ext cx="157753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6386753" y="5535058"/>
            <a:ext cx="273528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6805393" y="5694900"/>
            <a:ext cx="26896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ACROSS ALL FIVE DOMAINS: HOW THE PRODUCTS ARE BUILT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Behind the products, competitors lead with their data and controls;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the model, and even the interface, can come from outside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  <p:graphicFrame>
        <p:nvGraphicFramePr>
          <p:cNvPr id="26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168395"/>
        </p:xfrm>
        <a:graphic>
          <a:graphicData uri="http://schemas.openxmlformats.org/drawingml/2006/table">
            <a:tbl>
              <a:tblPr/>
              <a:tblGrid>
                <a:gridCol w="1737360"/>
                <a:gridCol w="7086600"/>
                <a:gridCol w="226771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LAYER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WHAT COMPETITORS SHOW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TAKEAWAY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485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Model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Vault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Anthropic and Amazon models;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15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IQVIA.ai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NVIDIA Nemotron;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15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Med-R1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developed separately by IQVIA;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15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Tempus’s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Lens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frontier LLMs paired with its own oncology models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Often sourced or adapted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85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Data and domain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Healthcare Map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de-identified patient journeys;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15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 knowledge graph built from prior analyses;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15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 Data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continuously refreshed EHR data from member health systems;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15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NorstellaLinQ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patient data, plus Citeline trial, Evaluate commercial and MMIT payer intelligence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What launches lead with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36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Execution and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controls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“The LLM never touches numbers.”;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15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HealthVerity’s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eXOs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“nothing runs until you review, edit and approve it.”;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15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EDC AI Tab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reads no site-entered casebook data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How AI work is constrained and checked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85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Interface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Most build chat into their own products; some also design for other companies’ assistants, platforms or APIs: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15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Verana Health’s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Agent Claire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callable from Claude, Gemini and Copilot;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15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brought into Salesforce’s Agentforce Life Sciences;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15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TriNetX’s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LIVE API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AI integration through enhanced API capabilities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Not always the vendor’s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upplier and seller card"/>
          <p:cNvSpPr/>
          <p:nvPr/>
        </p:nvSpPr>
        <p:spPr>
          <a:xfrm>
            <a:off x="548640" y="4832604"/>
            <a:ext cx="5454396" cy="122072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8" name="label"/>
          <p:cNvSpPr txBox="1"/>
          <p:nvPr/>
        </p:nvSpPr>
        <p:spPr>
          <a:xfrm>
            <a:off x="749808" y="501548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SUPPLIER AND SELLER</a:t>
            </a:r>
            <a:endParaRPr lang="en-US" sz="1300" dirty="0"/>
          </a:p>
        </p:txBody>
      </p:sp>
      <p:sp>
        <p:nvSpPr>
          <p:cNvPr id="29" name="Text 14"/>
          <p:cNvSpPr txBox="1"/>
          <p:nvPr/>
        </p:nvSpPr>
        <p:spPr>
          <a:xfrm>
            <a:off x="749808" y="5362956"/>
            <a:ext cx="5052060" cy="507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Medeloop powers HealthVerity’s eXOs</a:t>
            </a:r>
            <a:r>
              <a:rPr lang="en-US" sz="1050" b="1" dirty="0">
                <a:solidFill>
                  <a:schemeClr val="tx1"/>
                </a:solidFill>
              </a:rPr>
              <a:t> and also sells its own analytics platform, preloaded with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38 million de-identified patients from HealthVerity’s all-payer claims dataset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30" name="the interface isn’t always the vendor’s card"/>
          <p:cNvSpPr/>
          <p:nvPr/>
        </p:nvSpPr>
        <p:spPr>
          <a:xfrm>
            <a:off x="6185916" y="4832604"/>
            <a:ext cx="5454396" cy="122072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1" name="label"/>
          <p:cNvSpPr txBox="1"/>
          <p:nvPr/>
        </p:nvSpPr>
        <p:spPr>
          <a:xfrm>
            <a:off x="6387084" y="501548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INTERFACE ISN’T ALWAYS THE VENDOR’S</a:t>
            </a:r>
            <a:endParaRPr lang="en-US" sz="1300" dirty="0"/>
          </a:p>
        </p:txBody>
      </p:sp>
      <p:sp>
        <p:nvSpPr>
          <p:cNvPr id="32" name="Text 14"/>
          <p:cNvSpPr txBox="1"/>
          <p:nvPr/>
        </p:nvSpPr>
        <p:spPr>
          <a:xfrm>
            <a:off x="6387084" y="5362956"/>
            <a:ext cx="5052060" cy="507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Verana markets Agent Claire as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callable from Claude, Gemini and Copilot</a:t>
            </a:r>
            <a:r>
              <a:rPr lang="en-US" sz="1050" b="1" dirty="0">
                <a:solidFill>
                  <a:schemeClr val="tx1"/>
                </a:solidFill>
              </a:rPr>
              <a:t>; ZS has announced it is bringing ZAIDYN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directly into Salesforce’s Agentforce Life Sciences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33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11" name="Invisible source link 14: https://www.veeva.com/products/vault-ai/">
            <a:hlinkClick r:id="rId2"/>
          </p:cNvPr>
          <p:cNvSpPr/>
          <p:nvPr/>
        </p:nvSpPr>
        <p:spPr>
          <a:xfrm>
            <a:off x="2395435" y="1885253"/>
            <a:ext cx="92188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2" name="Invisible source link 14: https://www.iqvia.com/newsroom/2026/03/iqvia-unveils-iqvia-ai-a-unified-agentic-ai-platform">
            <a:hlinkClick r:id="rId3"/>
          </p:cNvPr>
          <p:cNvSpPr/>
          <p:nvPr/>
        </p:nvSpPr>
        <p:spPr>
          <a:xfrm>
            <a:off x="2395435" y="2040053"/>
            <a:ext cx="92333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3" name="Invisible source link 14: https://www.iqvia.com/blogs/2025/12/introducing-iqvia-med-r1-deep-research-agent">
            <a:hlinkClick r:id="rId4"/>
          </p:cNvPr>
          <p:cNvSpPr/>
          <p:nvPr/>
        </p:nvSpPr>
        <p:spPr>
          <a:xfrm>
            <a:off x="2395435" y="2194853"/>
            <a:ext cx="89776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4" name="Invisible source link 14: https://lens.tempus.com/">
            <a:hlinkClick r:id="rId5"/>
          </p:cNvPr>
          <p:cNvSpPr/>
          <p:nvPr/>
        </p:nvSpPr>
        <p:spPr>
          <a:xfrm>
            <a:off x="2395435" y="2349653"/>
            <a:ext cx="85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5" name="Invisible source link 14: https://www.komodohealth.com/product/healthcare-map/">
            <a:hlinkClick r:id="rId6"/>
          </p:cNvPr>
          <p:cNvSpPr/>
          <p:nvPr/>
        </p:nvSpPr>
        <p:spPr>
          <a:xfrm>
            <a:off x="2395435" y="2633702"/>
            <a:ext cx="186977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6" name="Invisible source link 14: https://www.komodohealth.com/press/komodo-health-introduces-marmot-the-ai-built-to-accelerate-healthcare-innovation/">
            <a:hlinkClick r:id="rId7"/>
          </p:cNvPr>
          <p:cNvSpPr/>
          <p:nvPr/>
        </p:nvSpPr>
        <p:spPr>
          <a:xfrm>
            <a:off x="2395435" y="2788502"/>
            <a:ext cx="141581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7" name="Invisible source link 14: https://www.truveta.com/blog/data/approach-to-real-world-data-quality/">
            <a:hlinkClick r:id="rId8"/>
          </p:cNvPr>
          <p:cNvSpPr/>
          <p:nvPr/>
        </p:nvSpPr>
        <p:spPr>
          <a:xfrm>
            <a:off x="2395435" y="2943302"/>
            <a:ext cx="127720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8" name="Invisible source link 14: https://www.norstella.com/press-releases/norstella-introduces-norstellalinq/">
            <a:hlinkClick r:id="rId9"/>
          </p:cNvPr>
          <p:cNvSpPr/>
          <p:nvPr/>
        </p:nvSpPr>
        <p:spPr>
          <a:xfrm>
            <a:off x="2395435" y="3098103"/>
            <a:ext cx="141436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9" name="Invisible source link 14: https://www.komodohealth.com/perspectives/building-the-framework-for-trusted-ai-in-healthcare/">
            <a:hlinkClick r:id="rId10"/>
          </p:cNvPr>
          <p:cNvSpPr/>
          <p:nvPr/>
        </p:nvSpPr>
        <p:spPr>
          <a:xfrm>
            <a:off x="2395435" y="3382138"/>
            <a:ext cx="141581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0" name="Invisible source link 14: https://healthverity.com/exos/">
            <a:hlinkClick r:id="rId11"/>
          </p:cNvPr>
          <p:cNvSpPr/>
          <p:nvPr/>
        </p:nvSpPr>
        <p:spPr>
          <a:xfrm>
            <a:off x="2395435" y="3536938"/>
            <a:ext cx="110764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1" name="Invisible source link 14: https://clinicaldata.veevavault.help/en/lr/rn/limited-releases/26r3/new-features/">
            <a:hlinkClick r:id="rId12"/>
          </p:cNvPr>
          <p:cNvSpPr/>
          <p:nvPr/>
        </p:nvSpPr>
        <p:spPr>
          <a:xfrm>
            <a:off x="2395435" y="3691739"/>
            <a:ext cx="112744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14: https://veranahealth.com/verana-health-introduces-new-ai-agents-to-expedite-and-streamline-rd-tasks/">
            <a:hlinkClick r:id="rId13"/>
          </p:cNvPr>
          <p:cNvSpPr/>
          <p:nvPr/>
        </p:nvSpPr>
        <p:spPr>
          <a:xfrm>
            <a:off x="2395435" y="4130574"/>
            <a:ext cx="162316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14: https://www.zs.com/about/newsroom/zs-press-salesforce-zaidyn-crm">
            <a:hlinkClick r:id="rId14"/>
          </p:cNvPr>
          <p:cNvSpPr/>
          <p:nvPr/>
        </p:nvSpPr>
        <p:spPr>
          <a:xfrm>
            <a:off x="2395435" y="4285375"/>
            <a:ext cx="75305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14: https://trinetx.com/blog/trinetx-named-best-of-show-finalist-at-scope-advancing-clinical-trial-planning-with-conversational-ai-and-enhanced-api-capabilities/">
            <a:hlinkClick r:id="rId15"/>
          </p:cNvPr>
          <p:cNvSpPr/>
          <p:nvPr/>
        </p:nvSpPr>
        <p:spPr>
          <a:xfrm>
            <a:off x="2395435" y="4440175"/>
            <a:ext cx="105148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4: https://healthverity.com/news/announcing-healthverity-exos/">
            <a:hlinkClick r:id="rId16"/>
          </p:cNvPr>
          <p:cNvSpPr/>
          <p:nvPr/>
        </p:nvSpPr>
        <p:spPr>
          <a:xfrm>
            <a:off x="749515" y="5375216"/>
            <a:ext cx="240088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4: https://medeloop.ai/analytics">
            <a:hlinkClick r:id="rId17"/>
          </p:cNvPr>
          <p:cNvSpPr/>
          <p:nvPr/>
        </p:nvSpPr>
        <p:spPr>
          <a:xfrm>
            <a:off x="1720659" y="5535058"/>
            <a:ext cx="386406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4: https://medeloop.ai/analytics">
            <a:hlinkClick r:id="rId17"/>
          </p:cNvPr>
          <p:cNvSpPr/>
          <p:nvPr/>
        </p:nvSpPr>
        <p:spPr>
          <a:xfrm>
            <a:off x="749515" y="5694900"/>
            <a:ext cx="101619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4: https://veranahealth.com/verana-health-introduces-new-ai-agents-to-expedite-and-streamline-rd-tasks/">
            <a:hlinkClick r:id="rId13"/>
          </p:cNvPr>
          <p:cNvSpPr/>
          <p:nvPr/>
        </p:nvSpPr>
        <p:spPr>
          <a:xfrm>
            <a:off x="8399881" y="5375216"/>
            <a:ext cx="262914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14: https://www.zs.com/about/newsroom/zs-press-salesforce-zaidyn-crm">
            <a:hlinkClick r:id="rId14"/>
          </p:cNvPr>
          <p:cNvSpPr/>
          <p:nvPr/>
        </p:nvSpPr>
        <p:spPr>
          <a:xfrm>
            <a:off x="8754607" y="5535058"/>
            <a:ext cx="263398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14: https://www.zs.com/about/newsroom/zs-press-salesforce-zaidyn-crm">
            <a:hlinkClick r:id="rId14"/>
          </p:cNvPr>
          <p:cNvSpPr/>
          <p:nvPr/>
        </p:nvSpPr>
        <p:spPr>
          <a:xfrm>
            <a:off x="6386753" y="5694900"/>
            <a:ext cx="67778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THE MODEL SUPPLIERS: LLM PROVIDERS IN LIFE SCIENCES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LLM providers are entering pharma through research workbenches and enterprise deployments, not patient-level data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8288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THREE WAYS LLM PROVIDERS REACH OPTUM LS’S CUSTOMERS</a:t>
            </a:r>
            <a:endParaRPr lang="en-US" sz="10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75688"/>
          <a:ext cx="11091672" cy="2679190"/>
        </p:xfrm>
        <a:graphic>
          <a:graphicData uri="http://schemas.openxmlformats.org/drawingml/2006/table">
            <a:tbl>
              <a:tblPr/>
              <a:tblGrid>
                <a:gridCol w="1554480"/>
                <a:gridCol w="1234440"/>
                <a:gridCol w="5029200"/>
                <a:gridCol w="32735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APPROACH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LAYER REACHED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SELECTED PUBLIC DEVELOPMENTS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COMPETITIVE SIGNIFICANCE FOR OPTUM LS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784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Own research workbenches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2677"/>
                          </a:solidFill>
                        </a:rPr>
                        <a:t>Interface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Anthropic’s </a:t>
                      </a: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Claude Science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(beta, June 2026):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over 60 curated skills and connectors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,” drawing on public databases such as UniProt and ClinVar plus users’ own data.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OpenAI’s </a:t>
                      </a: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GPT-Rosalind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trusted access for eligible organizations since September 2026.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Microsoft Discovery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generally available June 2026, with GSK named.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Google’s </a:t>
                      </a: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Co-Scientist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enterprise preview that includes Daiichi Sankyo.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Discovery-stage research on public and customer data; little overlap with RWE, commercial or HEOR.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919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Become pharma’s enterprise layer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2677"/>
                          </a:solidFill>
                        </a:rPr>
                        <a:t>Interface and workflow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BMS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positions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Claude Enterprise as the Shared Intelligence Platform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 for more than 30,000 employees, including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turning field insights into structured intelligence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 for HCP engagement.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Novo Nordisk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partnered with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OpenAI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(April 2026, reaching into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commercial execution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”) and with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(September 2026).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The closest overlap with Optum LS: pharma companies analyze their own data and systems inside the provider’s assistant, including in commercial functions.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91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Acquire research capability and customers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2677"/>
                          </a:solidFill>
                        </a:rPr>
                        <a:t>Domain expertise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Cohere + Reliant AI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(May 2026): adds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proprietary biomedical datasets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 and customers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including GSK, Medicus Pharma, and Kyowa Kirin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”; North for Pharma is announced.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Coefficient Bio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(April 2026): a team of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fewer than 10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building biology-specific models.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Research teams, literature-derived data and pharma accounts, not patient-level RWD.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trategic question card"/>
          <p:cNvSpPr/>
          <p:nvPr/>
        </p:nvSpPr>
        <p:spPr>
          <a:xfrm>
            <a:off x="548640" y="4937760"/>
            <a:ext cx="11091672" cy="11155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49808" y="5010912"/>
            <a:ext cx="402336" cy="402336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pic>
        <p:nvPicPr>
          <p:cNvPr id="8" name="icon MdOutlineLightbulb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322" y="5099426"/>
            <a:ext cx="225308" cy="225308"/>
          </a:xfrm>
          <a:prstGeom prst="rect">
            <a:avLst/>
          </a:prstGeom>
        </p:spPr>
      </p:pic>
      <p:sp>
        <p:nvSpPr>
          <p:cNvPr id="9" name="label"/>
          <p:cNvSpPr txBox="1"/>
          <p:nvPr/>
        </p:nvSpPr>
        <p:spPr>
          <a:xfrm>
            <a:off x="1280160" y="50109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OVERLAP IS THE INTERFACE, NOT THE DATA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5486400"/>
            <a:ext cx="10131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None of these products markets patient-level RWD of its own. But BMS is making Claude its “</a:t>
            </a:r>
            <a:r>
              <a:rPr lang="en-US" sz="110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shared intelligence platform</a:t>
            </a:r>
            <a:r>
              <a:rPr lang="en-US" sz="1100" b="1" dirty="0">
                <a:solidFill>
                  <a:schemeClr val="accent1"/>
                </a:solidFill>
              </a:rPr>
              <a:t>,” and Veeva’s newest agent “</a:t>
            </a:r>
            <a:r>
              <a:rPr lang="en-US" sz="110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is delivered as a Claude Cowork plugin</a:t>
            </a:r>
            <a:r>
              <a:rPr lang="en-US" sz="1100" b="1" dirty="0">
                <a:solidFill>
                  <a:schemeClr val="accent1"/>
                </a:solidFill>
              </a:rPr>
              <a:t>.” The near-term overlap with Optum LS is where pharma teams do the analysis.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  <p:sp>
        <p:nvSpPr>
          <p:cNvPr id="26" name="starting point band"/>
          <p:cNvSpPr/>
          <p:nvPr/>
        </p:nvSpPr>
        <p:spPr>
          <a:xfrm>
            <a:off x="548640" y="1481328"/>
            <a:ext cx="11091672" cy="274320"/>
          </a:xfrm>
          <a:prstGeom prst="rect">
            <a:avLst/>
          </a:prstGeom>
          <a:solidFill>
            <a:srgbClr val="E6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tarting point"/>
          <p:cNvSpPr txBox="1"/>
          <p:nvPr/>
        </p:nvSpPr>
        <p:spPr>
          <a:xfrm>
            <a:off x="731520" y="1481328"/>
            <a:ext cx="10789920" cy="2743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050" b="1">
                <a:solidFill>
                  <a:srgbClr val="002677"/>
                </a:solidFill>
              </a:rPr>
              <a:t>STARTING POINT: </a:t>
            </a:r>
            <a:r>
              <a:rPr sz="1050">
                <a:solidFill>
                  <a:srgbClr val="002677"/>
                </a:solidFill>
              </a:rPr>
              <a:t>LLM providers already supply the model to </a:t>
            </a:r>
            <a:r>
              <a:rPr sz="105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Veeva</a:t>
            </a:r>
            <a:r>
              <a:rPr sz="1050">
                <a:solidFill>
                  <a:srgbClr val="002677"/>
                </a:solidFill>
              </a:rPr>
              <a:t>, </a:t>
            </a:r>
            <a:r>
              <a:rPr sz="105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</a:t>
            </a:r>
            <a:r>
              <a:rPr sz="1050">
                <a:solidFill>
                  <a:srgbClr val="002677"/>
                </a:solidFill>
              </a:rPr>
              <a:t> and </a:t>
            </a:r>
            <a:r>
              <a:rPr sz="105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Datavant</a:t>
            </a:r>
            <a:r>
              <a:rPr sz="1050">
                <a:solidFill>
                  <a:srgbClr val="002677"/>
                </a:solidFill>
              </a:rPr>
              <a:t> (previous slide).</a:t>
            </a:r>
          </a:p>
        </p:txBody>
      </p:sp>
      <p:sp>
        <p:nvSpPr>
          <p:cNvPr id="2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13" name="Invisible source link 11: https://www.veeva.com/products/veeva-ai/">
            <a:hlinkClick r:id="rId9"/>
          </p:cNvPr>
          <p:cNvSpPr/>
          <p:nvPr/>
        </p:nvSpPr>
        <p:spPr>
          <a:xfrm>
            <a:off x="4440605" y="1550941"/>
            <a:ext cx="40409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4" name="Invisible source link 11: https://www.anthropic.com/news/claude-for-life-sciences">
            <a:hlinkClick r:id="rId4"/>
          </p:cNvPr>
          <p:cNvSpPr/>
          <p:nvPr/>
        </p:nvSpPr>
        <p:spPr>
          <a:xfrm>
            <a:off x="4880876" y="1550941"/>
            <a:ext cx="49243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5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5668924" y="1550941"/>
            <a:ext cx="52986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6" name="Invisible source link 11: https://www.anthropic.com/news/claude-science-ai-workbench">
            <a:hlinkClick r:id="rId10"/>
          </p:cNvPr>
          <p:cNvSpPr/>
          <p:nvPr/>
        </p:nvSpPr>
        <p:spPr>
          <a:xfrm>
            <a:off x="4108323" y="2558241"/>
            <a:ext cx="84381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7" name="Invisible source link 11: https://www.anthropic.com/news/claude-science-ai-workbench">
            <a:hlinkClick r:id="rId10"/>
          </p:cNvPr>
          <p:cNvSpPr/>
          <p:nvPr/>
        </p:nvSpPr>
        <p:spPr>
          <a:xfrm>
            <a:off x="5943093" y="2558241"/>
            <a:ext cx="199386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8" name="Invisible source link 11: https://openai.com/index/introducing-gpt-rosalind">
            <a:hlinkClick r:id="rId11"/>
          </p:cNvPr>
          <p:cNvSpPr/>
          <p:nvPr/>
        </p:nvSpPr>
        <p:spPr>
          <a:xfrm>
            <a:off x="3975836" y="2840117"/>
            <a:ext cx="78015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9" name="Invisible source link 11: https://azure.microsoft.com/en-us/blog/announcing-microsoft-discovery-general-availability-and-microsoft-discovery-app-preview/">
            <a:hlinkClick r:id="rId12"/>
          </p:cNvPr>
          <p:cNvSpPr/>
          <p:nvPr/>
        </p:nvSpPr>
        <p:spPr>
          <a:xfrm>
            <a:off x="3446995" y="2993838"/>
            <a:ext cx="112286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0" name="Invisible source link 11: https://deepmind.google/blog/co-scientist-a-multi-agent-ai-partner-to-accelerate-research/">
            <a:hlinkClick r:id="rId13"/>
          </p:cNvPr>
          <p:cNvSpPr/>
          <p:nvPr/>
        </p:nvSpPr>
        <p:spPr>
          <a:xfrm>
            <a:off x="3962158" y="3147559"/>
            <a:ext cx="697711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1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3446995" y="3436636"/>
            <a:ext cx="28479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4245682" y="3436636"/>
            <a:ext cx="280092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4545868" y="3564792"/>
            <a:ext cx="244601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11: https://www.biopharminternational.com/view/novo-nordisk-partners-with-openai-for-drug-discovery">
            <a:hlinkClick r:id="rId15"/>
          </p:cNvPr>
          <p:cNvSpPr/>
          <p:nvPr/>
        </p:nvSpPr>
        <p:spPr>
          <a:xfrm>
            <a:off x="5007597" y="3718513"/>
            <a:ext cx="38704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1: https://www.biopharminternational.com/view/novo-nordisk-partners-with-openai-for-drug-discovery">
            <a:hlinkClick r:id="rId15"/>
          </p:cNvPr>
          <p:cNvSpPr/>
          <p:nvPr/>
        </p:nvSpPr>
        <p:spPr>
          <a:xfrm>
            <a:off x="6728156" y="3718513"/>
            <a:ext cx="1217753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1: https://www.novonordisk.com/news-and-media/news-and-ir-materials/news-details.html?id=916768">
            <a:hlinkClick r:id="rId16"/>
          </p:cNvPr>
          <p:cNvSpPr/>
          <p:nvPr/>
        </p:nvSpPr>
        <p:spPr>
          <a:xfrm>
            <a:off x="3681717" y="3846681"/>
            <a:ext cx="482523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11: https://www.hpcwire.com/aiwire/2026/05/19/cohere-acquires-reliant-ai-to-expand-sovereign-enterprise-ai-for-global-biopharma-and-healthcare-sectors/">
            <a:hlinkClick r:id="rId17"/>
          </p:cNvPr>
          <p:cNvSpPr/>
          <p:nvPr/>
        </p:nvSpPr>
        <p:spPr>
          <a:xfrm>
            <a:off x="3446995" y="4135759"/>
            <a:ext cx="104712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1: https://www.hpcwire.com/aiwire/2026/05/19/cohere-acquires-reliant-ai-to-expand-sovereign-enterprise-ai-for-global-biopharma-and-healthcare-sectors/">
            <a:hlinkClick r:id="rId17"/>
          </p:cNvPr>
          <p:cNvSpPr/>
          <p:nvPr/>
        </p:nvSpPr>
        <p:spPr>
          <a:xfrm>
            <a:off x="5445233" y="4135759"/>
            <a:ext cx="166400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11: https://www.hpcwire.com/aiwire/2026/05/19/cohere-acquires-reliant-ai-to-expand-sovereign-enterprise-ai-for-global-biopharma-and-healthcare-sectors/">
            <a:hlinkClick r:id="rId17"/>
          </p:cNvPr>
          <p:cNvSpPr/>
          <p:nvPr/>
        </p:nvSpPr>
        <p:spPr>
          <a:xfrm>
            <a:off x="3446995" y="4263914"/>
            <a:ext cx="263958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1: https://www.fiercebiotech.com/biotech/anthropic-acquires-stealth-ai-startup-coefficient-bio-400m-deal">
            <a:hlinkClick r:id="rId18"/>
          </p:cNvPr>
          <p:cNvSpPr/>
          <p:nvPr/>
        </p:nvSpPr>
        <p:spPr>
          <a:xfrm>
            <a:off x="3446995" y="4417635"/>
            <a:ext cx="147516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11: https://www.rdworldonline.com/anthropics-400m-acquisition-of-coefficient-bio-signals-a-deeper-push-into-drug-discovery/">
            <a:hlinkClick r:id="rId19"/>
          </p:cNvPr>
          <p:cNvSpPr/>
          <p:nvPr/>
        </p:nvSpPr>
        <p:spPr>
          <a:xfrm>
            <a:off x="6115685" y="4417635"/>
            <a:ext cx="69156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7429613" y="5499669"/>
            <a:ext cx="2055641" cy="1558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11: https://www.veeva.com/resources/new-veeva-study-builder-agent-to-configure-clinical-studies-in-as-little-as-one-day/">
            <a:hlinkClick r:id="rId20"/>
          </p:cNvPr>
          <p:cNvSpPr/>
          <p:nvPr/>
        </p:nvSpPr>
        <p:spPr>
          <a:xfrm>
            <a:off x="1280160" y="5667436"/>
            <a:ext cx="2779527" cy="1558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KEY ASSUMPTIONS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Four assumptions shape this view, and each can be tested with internal evidence</a:t>
            </a:r>
            <a:endParaRPr lang="en-US" sz="22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4571998"/>
        </p:xfrm>
        <a:graphic>
          <a:graphicData uri="http://schemas.openxmlformats.org/drawingml/2006/table">
            <a:tbl>
              <a:tblPr/>
              <a:tblGrid>
                <a:gridCol w="3154680"/>
                <a:gridCol w="3886200"/>
                <a:gridCol w="4050791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WHY IT MATTERS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HOW TO TEST IT (WHO HOLDS THE EVIDENCE)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Optum LS is developing or evaluating conversational AI it doesn’t yet market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If not, the four choices become a decision about whether to build at all, not design choices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roadmap (product, technology)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Conversational AI influences what customers buy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It decides whether this is a revenue question or a feature question, and it’s the basis for any dollar estimate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Win/loss notes, RFP requirements, pricing (commercial, finance); customer interviews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Vendor claims hold up in practice</a:t>
                      </a: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 (27% prep time, 6-week studies)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These claims set the bar an Optum LS offering would be measured against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Customer references, independent tests (data and analytics). IQVIA’s own benchmark shows the limits.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LLM providers remain suppliers more than rivals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Partnering for the model could create a future competitor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Partnership terms (strategy and enterprise development); see the LLM providers slide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METHODOLOGY</a:t>
            </a:r>
            <a:endParaRPr lang="en-US" sz="1000" dirty="0"/>
          </a:p>
        </p:txBody>
      </p:sp>
      <p:sp>
        <p:nvSpPr>
          <p:cNvPr id="3" name="1. sources"/>
          <p:cNvSpPr/>
          <p:nvPr/>
        </p:nvSpPr>
        <p:spPr>
          <a:xfrm>
            <a:off x="548640" y="1481328"/>
            <a:ext cx="11091672" cy="6583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label"/>
          <p:cNvSpPr txBox="1"/>
          <p:nvPr/>
        </p:nvSpPr>
        <p:spPr>
          <a:xfrm>
            <a:off x="777240" y="1673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1. SOURCES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705356"/>
            <a:ext cx="7754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Official vendor pages and announcements, reviewed through October 13, 2026.</a:t>
            </a:r>
            <a:endParaRPr lang="en-US" sz="1000" dirty="0"/>
          </a:p>
        </p:txBody>
      </p:sp>
      <p:sp>
        <p:nvSpPr>
          <p:cNvPr id="6" name="2. domains"/>
          <p:cNvSpPr/>
          <p:nvPr/>
        </p:nvSpPr>
        <p:spPr>
          <a:xfrm>
            <a:off x="548640" y="2276856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label"/>
          <p:cNvSpPr txBox="1"/>
          <p:nvPr/>
        </p:nvSpPr>
        <p:spPr>
          <a:xfrm>
            <a:off x="7772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2. DOMAINS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500884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Five customer-task areas where Optum LS publicly markets offerings and competitors sell comparable ones. They classify the research; they are not Optum LS’s own business categories.</a:t>
            </a:r>
            <a:endParaRPr lang="en-US" sz="1000" dirty="0"/>
          </a:p>
        </p:txBody>
      </p:sp>
      <p:sp>
        <p:nvSpPr>
          <p:cNvPr id="9" name="3. qualification"/>
          <p:cNvSpPr/>
          <p:nvPr/>
        </p:nvSpPr>
        <p:spPr>
          <a:xfrm>
            <a:off x="548640" y="3255264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label"/>
          <p:cNvSpPr txBox="1"/>
          <p:nvPr/>
        </p:nvSpPr>
        <p:spPr>
          <a:xfrm>
            <a:off x="777240" y="3538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3. QUALIFICATION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479292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 offering qualified only if its public materials describe a conversational interface for a biopharma customer task; general AI or agentic claims did not.</a:t>
            </a:r>
            <a:endParaRPr lang="en-US" sz="1000" dirty="0"/>
          </a:p>
        </p:txBody>
      </p:sp>
      <p:sp>
        <p:nvSpPr>
          <p:cNvPr id="15" name="4. counts"/>
          <p:cNvSpPr/>
          <p:nvPr/>
        </p:nvSpPr>
        <p:spPr>
          <a:xfrm>
            <a:off x="548640" y="4233672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77240" y="4517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4. COUNTS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457700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43 U.S. competitor groups screened; 15 market 23 qualifying offerings. Domain counts overlap. Screens are not exhaustive. Fourteen international screens add eight examples; their percentages aren’t national adoption rates.</a:t>
            </a:r>
            <a:endParaRPr lang="en-US" sz="1000" dirty="0"/>
          </a:p>
        </p:txBody>
      </p:sp>
      <p:sp>
        <p:nvSpPr>
          <p:cNvPr id="18" name="5. comparison and ai use"/>
          <p:cNvSpPr/>
          <p:nvPr/>
        </p:nvSpPr>
        <p:spPr>
          <a:xfrm>
            <a:off x="548640" y="5212080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77240" y="54955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5. COMPARISON AND AI USE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5436108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Offerings were compared by customer task, not assumed to be equivalent. Vendor metrics are reported as claims. LLM-provider developments sit outside the counts. AI tools assisted the research and drafting.</a:t>
            </a:r>
            <a:endParaRPr lang="en-US" sz="1000" dirty="0"/>
          </a:p>
        </p:txBody>
      </p:sp>
      <p:sp>
        <p:nvSpPr>
          <p:cNvPr id="21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Findings reflect public positioning, not tested performance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APPENDIX: INTERNATIONAL COMPANY SCREENS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International screens add eight examples; none shows a higher screened share than the U.S.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COMPARABLE COMPANIES MARKETING CONVERSATIONAL AI</a:t>
            </a:r>
            <a:endParaRPr lang="en-US" sz="1000" dirty="0"/>
          </a:p>
        </p:txBody>
      </p:sp>
      <p:sp>
        <p:nvSpPr>
          <p:cNvPr id="5" name="table header"/>
          <p:cNvSpPr/>
          <p:nvPr/>
        </p:nvSpPr>
        <p:spPr>
          <a:xfrm>
            <a:off x="548640" y="1792224"/>
            <a:ext cx="7635240" cy="51206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79222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International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847088" y="1792224"/>
            <a:ext cx="461814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Companies marketing conversational AI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Total comparable companies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74961" y="1792224"/>
            <a:ext cx="16089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Screened-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company share</a:t>
            </a:r>
            <a:endParaRPr lang="en-US" sz="900" dirty="0"/>
          </a:p>
        </p:txBody>
      </p:sp>
      <p:graphicFrame>
        <p:nvGraphicFramePr>
          <p:cNvPr id="9" name="screened-company share chart" descr=""/>
          <p:cNvGraphicFramePr/>
          <p:nvPr/>
        </p:nvGraphicFramePr>
        <p:xfrm>
          <a:off x="1847088" y="2432304"/>
          <a:ext cx="4572000" cy="36850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2432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United States</a:t>
            </a:r>
            <a:endParaRPr lang="en-US" sz="900" dirty="0"/>
          </a:p>
        </p:txBody>
      </p:sp>
      <p:sp>
        <p:nvSpPr>
          <p:cNvPr id="11" name="fraction United States"/>
          <p:cNvSpPr txBox="1"/>
          <p:nvPr/>
        </p:nvSpPr>
        <p:spPr>
          <a:xfrm>
            <a:off x="5898305" y="2432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15</a:t>
            </a:r>
            <a:r>
              <a:rPr lang="en-US" sz="900" dirty="0">
                <a:solidFill>
                  <a:schemeClr val="tx1"/>
                </a:solidFill>
              </a:rPr>
              <a:t> / 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574961" y="2432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34.9%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660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China</a:t>
            </a:r>
            <a:endParaRPr lang="en-US" sz="900" dirty="0"/>
          </a:p>
        </p:txBody>
      </p:sp>
      <p:sp>
        <p:nvSpPr>
          <p:cNvPr id="14" name="fraction China"/>
          <p:cNvSpPr txBox="1"/>
          <p:nvPr/>
        </p:nvSpPr>
        <p:spPr>
          <a:xfrm>
            <a:off x="4187952" y="2660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4</a:t>
            </a:r>
            <a:r>
              <a:rPr lang="en-US" sz="900" dirty="0">
                <a:solidFill>
                  <a:schemeClr val="tx1"/>
                </a:solidFill>
              </a:rPr>
              <a:t> / 20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574961" y="2660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20.0%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889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Spain</a:t>
            </a:r>
            <a:endParaRPr lang="en-US" sz="900" dirty="0"/>
          </a:p>
        </p:txBody>
      </p:sp>
      <p:sp>
        <p:nvSpPr>
          <p:cNvPr id="17" name="fraction Spain"/>
          <p:cNvSpPr txBox="1"/>
          <p:nvPr/>
        </p:nvSpPr>
        <p:spPr>
          <a:xfrm>
            <a:off x="3928155" y="2889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574961" y="2889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17.6%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118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Israel</a:t>
            </a:r>
            <a:endParaRPr lang="en-US" sz="900" dirty="0"/>
          </a:p>
        </p:txBody>
      </p:sp>
      <p:sp>
        <p:nvSpPr>
          <p:cNvPr id="20" name="fraction Israel"/>
          <p:cNvSpPr txBox="1"/>
          <p:nvPr/>
        </p:nvSpPr>
        <p:spPr>
          <a:xfrm>
            <a:off x="3435096" y="3118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574961" y="3118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13.3%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346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France</a:t>
            </a:r>
            <a:endParaRPr lang="en-US" sz="900" dirty="0"/>
          </a:p>
        </p:txBody>
      </p:sp>
      <p:sp>
        <p:nvSpPr>
          <p:cNvPr id="23" name="fraction France"/>
          <p:cNvSpPr txBox="1"/>
          <p:nvPr/>
        </p:nvSpPr>
        <p:spPr>
          <a:xfrm>
            <a:off x="3255802" y="3346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574961" y="3346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575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Nordics</a:t>
            </a:r>
            <a:endParaRPr lang="en-US" sz="900" dirty="0"/>
          </a:p>
        </p:txBody>
      </p:sp>
      <p:sp>
        <p:nvSpPr>
          <p:cNvPr id="26" name="fraction Nordics"/>
          <p:cNvSpPr txBox="1"/>
          <p:nvPr/>
        </p:nvSpPr>
        <p:spPr>
          <a:xfrm>
            <a:off x="3255802" y="3575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574961" y="3575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803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India</a:t>
            </a:r>
            <a:endParaRPr lang="en-US" sz="900" dirty="0"/>
          </a:p>
        </p:txBody>
      </p:sp>
      <p:sp>
        <p:nvSpPr>
          <p:cNvPr id="29" name="fraction India"/>
          <p:cNvSpPr txBox="1"/>
          <p:nvPr/>
        </p:nvSpPr>
        <p:spPr>
          <a:xfrm>
            <a:off x="2982659" y="3803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32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574961" y="3803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9.4%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032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Netherlands</a:t>
            </a:r>
            <a:endParaRPr lang="en-US" sz="900" dirty="0"/>
          </a:p>
        </p:txBody>
      </p:sp>
      <p:sp>
        <p:nvSpPr>
          <p:cNvPr id="32" name="fraction Netherlands"/>
          <p:cNvSpPr txBox="1"/>
          <p:nvPr/>
        </p:nvSpPr>
        <p:spPr>
          <a:xfrm>
            <a:off x="2950187" y="4032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6574961" y="4032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9.1%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61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Australia</a:t>
            </a:r>
            <a:endParaRPr lang="en-US" sz="900" dirty="0"/>
          </a:p>
        </p:txBody>
      </p:sp>
      <p:sp>
        <p:nvSpPr>
          <p:cNvPr id="35" name="fraction Australia"/>
          <p:cNvSpPr txBox="1"/>
          <p:nvPr/>
        </p:nvSpPr>
        <p:spPr>
          <a:xfrm>
            <a:off x="2727525" y="4261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14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6574961" y="4261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7.1%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489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South Korea</a:t>
            </a:r>
            <a:endParaRPr lang="en-US" sz="900" dirty="0"/>
          </a:p>
        </p:txBody>
      </p:sp>
      <p:sp>
        <p:nvSpPr>
          <p:cNvPr id="38" name="fraction South Korea"/>
          <p:cNvSpPr txBox="1"/>
          <p:nvPr/>
        </p:nvSpPr>
        <p:spPr>
          <a:xfrm>
            <a:off x="2583449" y="4489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6574961" y="4489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5.9%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4718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Belgium</a:t>
            </a:r>
            <a:endParaRPr lang="en-US" sz="900" dirty="0"/>
          </a:p>
        </p:txBody>
      </p:sp>
      <p:sp>
        <p:nvSpPr>
          <p:cNvPr id="41" name="fraction Belgium"/>
          <p:cNvSpPr txBox="1"/>
          <p:nvPr/>
        </p:nvSpPr>
        <p:spPr>
          <a:xfrm>
            <a:off x="2546096" y="4718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6574961" y="4718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4946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United Kingdom</a:t>
            </a:r>
            <a:endParaRPr lang="en-US" sz="900" dirty="0"/>
          </a:p>
        </p:txBody>
      </p:sp>
      <p:sp>
        <p:nvSpPr>
          <p:cNvPr id="44" name="fraction United Kingdom"/>
          <p:cNvSpPr txBox="1"/>
          <p:nvPr/>
        </p:nvSpPr>
        <p:spPr>
          <a:xfrm>
            <a:off x="2546096" y="4946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6574961" y="4946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5175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Canada</a:t>
            </a:r>
            <a:endParaRPr lang="en-US" sz="900" dirty="0"/>
          </a:p>
        </p:txBody>
      </p:sp>
      <p:sp>
        <p:nvSpPr>
          <p:cNvPr id="47" name="fraction Canada"/>
          <p:cNvSpPr txBox="1"/>
          <p:nvPr/>
        </p:nvSpPr>
        <p:spPr>
          <a:xfrm>
            <a:off x="1911096" y="5175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6574961" y="5175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5404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Germany</a:t>
            </a:r>
            <a:endParaRPr lang="en-US" sz="900" dirty="0"/>
          </a:p>
        </p:txBody>
      </p:sp>
      <p:sp>
        <p:nvSpPr>
          <p:cNvPr id="50" name="fraction Germany"/>
          <p:cNvSpPr txBox="1"/>
          <p:nvPr/>
        </p:nvSpPr>
        <p:spPr>
          <a:xfrm>
            <a:off x="1911096" y="5404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13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6574961" y="5404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548640" y="5632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Japan</a:t>
            </a:r>
            <a:endParaRPr lang="en-US" sz="900" dirty="0"/>
          </a:p>
        </p:txBody>
      </p:sp>
      <p:sp>
        <p:nvSpPr>
          <p:cNvPr id="53" name="fraction Japan"/>
          <p:cNvSpPr txBox="1"/>
          <p:nvPr/>
        </p:nvSpPr>
        <p:spPr>
          <a:xfrm>
            <a:off x="1911096" y="5632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6574961" y="5632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5" name="how to read card"/>
          <p:cNvSpPr/>
          <p:nvPr/>
        </p:nvSpPr>
        <p:spPr>
          <a:xfrm>
            <a:off x="8412480" y="1792224"/>
            <a:ext cx="3227832" cy="178308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8613648" y="1988820"/>
            <a:ext cx="2825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HOW TO READ THE COMPARISON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8613648" y="2555748"/>
            <a:ext cx="2825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Each bar shows the share of screened comparable companies that market conversational AI. International counts exclude companies already represented in the U.S. inventory.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tum LS Strategy">
  <a:themeElements>
    <a:clrScheme name="Optum LS Strategy">
      <a:dk1>
        <a:srgbClr val="4B4D4F"/>
      </a:dk1>
      <a:lt1>
        <a:srgbClr val="FFFFFF"/>
      </a:lt1>
      <a:dk2>
        <a:srgbClr val="002677"/>
      </a:dk2>
      <a:lt2>
        <a:srgbClr val="FAF8F2"/>
      </a:lt2>
      <a:accent1>
        <a:srgbClr val="002677"/>
      </a:accent1>
      <a:accent2>
        <a:srgbClr val="FF612B"/>
      </a:accent2>
      <a:accent3>
        <a:srgbClr val="D9D4C7"/>
      </a:accent3>
      <a:accent4>
        <a:srgbClr val="7A7C7E"/>
      </a:accent4>
      <a:accent5>
        <a:srgbClr val="E6ECF5"/>
      </a:accent5>
      <a:accent6>
        <a:srgbClr val="196ECF"/>
      </a:accent6>
      <a:hlink>
        <a:srgbClr val="196ECF"/>
      </a:hlink>
      <a:folHlink>
        <a:srgbClr val="7A7C7E"/>
      </a:folHlink>
    </a:clrScheme>
    <a:fontScheme name="Optum LS Strateg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Conversational AI in Biopharma — Independent Competitive Intelligence Work Sample</dc:title>
  <dc:subject>Verified public-source links embedded invisibly over existing product and company names</dc:subject>
  <dc:creator>Joseph Marino</dc:creator>
  <cp:lastModifiedBy>Joseph Marino</cp:lastModifiedBy>
  <cp:revision>1</cp:revision>
  <dcterms:created xsi:type="dcterms:W3CDTF">2026-10-14T02:26:17Z</dcterms:created>
  <dcterms:modified xsi:type="dcterms:W3CDTF">2026-10-14T02:26:17Z</dcterms:modified>
</cp:coreProperties>
</file>