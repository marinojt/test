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19"/>
    <p:sldId id="256" r:id="rId2"/>
    <p:sldId id="257" r:id="rId3"/>
    <p:sldId id="258" r:id="rId4"/>
    <p:sldId id="260" r:id="rId6"/>
    <p:sldId id="261" r:id="rId7"/>
    <p:sldId id="262" r:id="rId8"/>
    <p:sldId id="263" r:id="rId9"/>
    <p:sldId id="264" r:id="rId10"/>
    <p:sldId id="270" r:id="rId20"/>
    <p:sldId id="265" r:id="rId11"/>
    <p:sldId id="269" r:id="rId13"/>
    <p:sldId id="266" r:id="rId12"/>
    <p:sldId id="259" r:id="rId5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xecutive summary" id="{24a83ca0-fbf1-5aa1-231e-0e9ee1b3a55d}">
          <p14:sldIdLst>
            <p14:sldId id="256"/>
          </p14:sldIdLst>
        </p14:section>
        <p14:section name="Research catalyst" id="{a3ae336b-83b3-7ccf-6aee-cd2831e1ba46}">
          <p14:sldIdLst>
            <p14:sldId id="257"/>
          </p14:sldIdLst>
        </p14:section>
        <p14:section name="U.S. competitive landscape" id="{94ea1914-a217-df21-74d7-d7894557f7aa}">
          <p14:sldIdLst>
            <p14:sldId id="258"/>
          </p14:sldIdLst>
        </p14:section>
        <p14:section name="International competitor screens" id="{5c2e99d5-36e9-0a01-e587-5d607015bf90}">
          <p14:sldIdLst>
            <p14:sldId id="259"/>
          </p14:sldIdLst>
        </p14:section>
        <p14:section name="Workflow deep dives" id="{8ddf841b-5ded-34d4-2bec-e63798bae4f9}">
          <p14:sldIdLst>
            <p14:sldId id="260"/>
            <p14:sldId id="261"/>
            <p14:sldId id="262"/>
            <p14:sldId id="263"/>
            <p14:sldId id="264"/>
          </p14:sldIdLst>
        </p14:section>
        <p14:section name="AI suppliers" id="{8ce88946-6d30-3dca-4f63-319bce2eeb93}">
          <p14:sldIdLst>
            <p14:sldId id="265"/>
          </p14:sldIdLst>
        </p14:section>
        <p14:section name="Methodology note" id="{195c6e09-c7e0-6bdb-94e4-1e5d4c03ac7f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1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3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.xml"/><Relationship Id="rId20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Marketing qualifying chat</c:v>
                </c:pt>
              </c:strCache>
            </c:strRef>
          </c:tx>
          <c:spPr>
            <a:solidFill>
              <a:srgbClr val="0026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RWE</c:v>
                  </c:pt>
                  <c:pt idx="1">
                    <c:v>Commercial Intelligence</c:v>
                  </c:pt>
                  <c:pt idx="2">
                    <c:v>Medical / Regulatory Research</c:v>
                  </c:pt>
                  <c:pt idx="3">
                    <c:v>Clinical Trials</c:v>
                  </c:pt>
                  <c:pt idx="4">
                    <c:v>Market Access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3</c:v>
                </c:pt>
                <c:pt idx="2">
                  <c:v>3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Remaining comparable</c:v>
                </c:pt>
              </c:strCache>
            </c:strRef>
          </c:tx>
          <c:spPr>
            <a:solidFill>
              <a:srgbClr val="D9D4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RWE</c:v>
                  </c:pt>
                  <c:pt idx="1">
                    <c:v>Commercial Intelligence</c:v>
                  </c:pt>
                  <c:pt idx="2">
                    <c:v>Medical / Regulatory Research</c:v>
                  </c:pt>
                  <c:pt idx="3">
                    <c:v>Clinical Trials</c:v>
                  </c:pt>
                  <c:pt idx="4">
                    <c:v>Market Access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</c:v>
                </c:pt>
                <c:pt idx="1">
                  <c:v>20</c:v>
                </c:pt>
                <c:pt idx="2">
                  <c:v>15</c:v>
                </c:pt>
                <c:pt idx="3">
                  <c:v>24</c:v>
                </c:pt>
                <c:pt idx="4">
                  <c:v>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axMin"/>
          <c:max val="3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930521091811414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Screened-company share</c:v>
                </c:pt>
              </c:strCache>
            </c:strRef>
          </c:tx>
          <c:spPr>
            <a:solidFill>
              <a:srgbClr val="8FA3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FA3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A3C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FA3C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FA3C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FA3C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FA3C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FA3C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FA3C4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FA3C4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8FA3C4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8FA3C4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8FA3C4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8FA3C4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8FA3C4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002677"/>
              </a:solidFill>
              <a:effectLst/>
            </c:spPr>
          </c:dPt>
          <c:cat>
            <c:strRef>
              <c:f>Sheet1!$A$2:$A$16</c:f>
              <c:strCache>
                <c:ptCount val="15"/>
                <c:pt idx="0">
                  <c:v>Japan</c:v>
                </c:pt>
                <c:pt idx="1">
                  <c:v>Germany</c:v>
                </c:pt>
                <c:pt idx="2">
                  <c:v>Canada</c:v>
                </c:pt>
                <c:pt idx="3">
                  <c:v>United Kingdom</c:v>
                </c:pt>
                <c:pt idx="4">
                  <c:v>Belgium</c:v>
                </c:pt>
                <c:pt idx="5">
                  <c:v>South Korea</c:v>
                </c:pt>
                <c:pt idx="6">
                  <c:v>Australia</c:v>
                </c:pt>
                <c:pt idx="7">
                  <c:v>Netherlands</c:v>
                </c:pt>
                <c:pt idx="8">
                  <c:v>India</c:v>
                </c:pt>
                <c:pt idx="9">
                  <c:v>Nordics</c:v>
                </c:pt>
                <c:pt idx="10">
                  <c:v>France</c:v>
                </c:pt>
                <c:pt idx="11">
                  <c:v>Israel</c:v>
                </c:pt>
                <c:pt idx="12">
                  <c:v>Spain</c:v>
                </c:pt>
                <c:pt idx="13">
                  <c:v>China</c:v>
                </c:pt>
                <c:pt idx="14">
                  <c:v>United States</c:v>
                </c:pt>
              </c:strCache>
            </c:strRef>
          </c:cat>
          <c:val>
            <c:numRef>
              <c:f>Sheet1!$B$2:$B$16</c:f>
              <c:numCache>
                <c:formatCode>0%</c:formatCode>
                <c:ptCount val="15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0.05555555555555555</c:v>
                </c:pt>
                <c:pt idx="4">
                  <c:v>0.05555555555555555</c:v>
                </c:pt>
                <c:pt idx="5">
                  <c:v>0.058823529411764705</c:v>
                </c:pt>
                <c:pt idx="6">
                  <c:v>0.07142857142857142</c:v>
                </c:pt>
                <c:pt idx="7">
                  <c:v>0.09090909090909091</c:v>
                </c:pt>
                <c:pt idx="8">
                  <c:v>0.09375</c:v>
                </c:pt>
                <c:pt idx="9">
                  <c:v>0.11764705882352941</c:v>
                </c:pt>
                <c:pt idx="10">
                  <c:v>0.11764705882352941</c:v>
                </c:pt>
                <c:pt idx="11">
                  <c:v>0.13333333333333333</c:v>
                </c:pt>
                <c:pt idx="12">
                  <c:v>0.17647058823529413</c:v>
                </c:pt>
                <c:pt idx="13">
                  <c:v>0.2</c:v>
                </c:pt>
                <c:pt idx="14">
                  <c:v>0.3488372093023256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b"/>
        <c:majorGridlines>
          <c:spPr>
            <a:ln w="6350" cap="flat">
              <a:solidFill>
                <a:srgbClr val="E3DED3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7C7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36208"/>
            <a:ext cx="1109167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3093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Candidate work sample — outside-in research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1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640080"/>
            <a:ext cx="11091672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09360"/>
            <a:ext cx="9144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09360"/>
            <a:ext cx="9144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inkedin.com/in/joseph-marino-995651183/" TargetMode="External"/><Relationship Id="rId3" Type="http://schemas.openxmlformats.org/officeDocument/2006/relationships/hyperlink" Target="mailto:marinojoe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investors.tempus.com/node/6451/pdf" TargetMode="External"/><Relationship Id="rId4" Type="http://schemas.openxmlformats.org/officeDocument/2006/relationships/hyperlink" Target="https://www.komodohealth.com/press/komodo-health-unveils-new-generative-ai-offerings-to-enable-real-time-insights-across-330-million-patient-journeys/" TargetMode="External"/><Relationship Id="rId5" Type="http://schemas.openxmlformats.org/officeDocument/2006/relationships/hyperlink" Target="https://www.komodohealth.com/press/komodo-health-introduces-marmot-the-ai-built-to-accelerate-healthcare-innovation/" TargetMode="External"/><Relationship Id="rId6" Type="http://schemas.openxmlformats.org/officeDocument/2006/relationships/hyperlink" Target="https://www.truveta.com/blog/announcement/truveta-unveils-truveta-intelligence/" TargetMode="External"/><Relationship Id="rId7" Type="http://schemas.openxmlformats.org/officeDocument/2006/relationships/hyperlink" Target="https://resources.flatiron.com/press/flatiron-health-launches-flatiron-telescope-a-new-ai-platform-delivering-oncology-insights-in-minutes" TargetMode="External"/><Relationship Id="rId8" Type="http://schemas.openxmlformats.org/officeDocument/2006/relationships/hyperlink" Target="https://veranahealth.com/verana-health-introduces-new-ai-agents-to-expedite-and-streamline-rd-tasks/" TargetMode="External"/><Relationship Id="rId9" Type="http://schemas.openxmlformats.org/officeDocument/2006/relationships/hyperlink" Target="https://www.norstella.com/press-releases/launches-real-world-data-agentic-platform-first-agent-replace-manual-cohort-building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merative.com/newsroom/truven-launches-marketscan-snapshot-an-ai-powered-tool-to-evaluate-fit-for-purpose-real-world-data-in-minutes" TargetMode="External"/><Relationship Id="rId4" Type="http://schemas.openxmlformats.org/officeDocument/2006/relationships/hyperlink" Target="https://healthverity.com/news/announcing-healthverity-exos/" TargetMode="External"/><Relationship Id="rId8" Type="http://schemas.openxmlformats.org/officeDocument/2006/relationships/hyperlink" Target="https://www.komodohealth.com/product/marmot/" TargetMode="External"/><Relationship Id="rId9" Type="http://schemas.openxmlformats.org/officeDocument/2006/relationships/hyperlink" Target="https://www.komodohealth.com/press/komodo-health-unveils-new-generative-ai-offerings-to-enable-real-time-insights-across-330-million-patient-journeys/" TargetMode="External"/><Relationship Id="rId10" Type="http://schemas.openxmlformats.org/officeDocument/2006/relationships/hyperlink" Target="https://www.truveta.com/blog/announcement/truveta-unveils-truveta-intelligence/" TargetMode="External"/><Relationship Id="rId11" Type="http://schemas.openxmlformats.org/officeDocument/2006/relationships/hyperlink" Target="https://briya.com/aire-population-agent/" TargetMode="External"/><Relationship Id="rId15" Type="http://schemas.openxmlformats.org/officeDocument/2006/relationships/hyperlink" Target="https://panalgo.com/ella/" TargetMode="External"/><Relationship Id="rId16" Type="http://schemas.openxmlformats.org/officeDocument/2006/relationships/hyperlink" Target="https://www.bcplatforms.com/bc-catalyst" TargetMode="External"/><Relationship Id="rId18" Type="http://schemas.openxmlformats.org/officeDocument/2006/relationships/hyperlink" Target="https://healthverity.com/exos/" TargetMode="External"/><Relationship Id="rId19" Type="http://schemas.openxmlformats.org/officeDocument/2006/relationships/hyperlink" Target="https://www.norstella.com/press-releases/panalgo-revolutionizes-real-world-data-launch-linqnotes-ella-ai/" TargetMode="External"/><Relationship Id="rId20" Type="http://schemas.openxmlformats.org/officeDocument/2006/relationships/hyperlink" Target="https://www.prnewswire.com/news-releases/truven-launches-marketscan-snapshot-an-ai-powered-tool-to-evaluate-fit-for-purpose-real-world-data-in-minutes-302892187.html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resources.flatiron.com/press/flatiron-health-launches-flatiron-telescope-a-new-ai-platform-delivering-oncology-insights-in-minutes" TargetMode="External"/><Relationship Id="rId4" Type="http://schemas.openxmlformats.org/officeDocument/2006/relationships/hyperlink" Target="https://www.tempus.com/solutions/lens/" TargetMode="External"/><Relationship Id="rId7" Type="http://schemas.openxmlformats.org/officeDocument/2006/relationships/hyperlink" Target="https://www.concertai.com/precision-explorer" TargetMode="External"/><Relationship Id="rId8" Type="http://schemas.openxmlformats.org/officeDocument/2006/relationships/hyperlink" Target="https://veranahealth.com/verana-health-introduces-new-ai-agents-to-expedite-and-streamline-rd-tasks/" TargetMode="External"/><Relationship Id="rId11" Type="http://schemas.openxmlformats.org/officeDocument/2006/relationships/hyperlink" Target="https://mdclone.com/meet-copilot/" TargetMode="External"/><Relationship Id="rId14" Type="http://schemas.openxmlformats.org/officeDocument/2006/relationships/hyperlink" Target="https://www.prnewswire.com/news-releases/verana-health-introduces-new-ai-agents-to-expedite-and-streamline-rd-302888122.html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iqvia.com/solutions/commercialization/iqvia-commercial-agentic-ai" TargetMode="External"/><Relationship Id="rId4" Type="http://schemas.openxmlformats.org/officeDocument/2006/relationships/hyperlink" Target="https://www.gbihealth.com.cn/en/products/gbi-bot" TargetMode="External"/><Relationship Id="rId5" Type="http://schemas.openxmlformats.org/officeDocument/2006/relationships/hyperlink" Target="https://support.prospection.com/en_US/530415-using-progpt/8351360445583" TargetMode="External"/><Relationship Id="rId7" Type="http://schemas.openxmlformats.org/officeDocument/2006/relationships/hyperlink" Target="https://zaidyn.zs.com/products/zaidyn-commercial/conversational-ai" TargetMode="External"/><Relationship Id="rId8" Type="http://schemas.openxmlformats.org/officeDocument/2006/relationships/hyperlink" Target="https://close-upinternational.com/es/crm-farmaceutico-nativo-en-ia-de-los-datos-a-las-decisiones-unificadas-2/" TargetMode="External"/><Relationship Id="rId9" Type="http://schemas.openxmlformats.org/officeDocument/2006/relationships/hyperlink" Target="https://trinitylifesciences.com/products/insightsedge-digital-twins/" TargetMode="External"/><Relationship Id="rId10" Type="http://schemas.openxmlformats.org/officeDocument/2006/relationships/hyperlink" Target="https://www.ipsos.com/en/healthcare/healthcare-personabot" TargetMode="External"/><Relationship Id="rId11" Type="http://schemas.openxmlformats.org/officeDocument/2006/relationships/hyperlink" Target="https://www.evaluate.com/ask-ella/" TargetMode="External"/><Relationship Id="rId12" Type="http://schemas.openxmlformats.org/officeDocument/2006/relationships/hyperlink" Target="https://www.iqvia.com/solutions/commercialization/commercial-analytics/omnichannel-engagement-and-insights/field-force-agent" TargetMode="External"/><Relationship Id="rId13" Type="http://schemas.openxmlformats.org/officeDocument/2006/relationships/hyperlink" Target="https://trinitylifesciences.com/company/press-releases/trinity-launches-insightsedge-digital-twins/" TargetMode="External"/><Relationship Id="rId14" Type="http://schemas.openxmlformats.org/officeDocument/2006/relationships/hyperlink" Target="https://www.ipsos.com/en/launch-ipsos-personabot-groundbreaking-ai-powered-solution-enhance-segmentation-research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iqvia.com/solutions/innovative-models/artificial-intelligence-and-machine-learning/iqvia-ai-platform" TargetMode="External"/><Relationship Id="rId5" Type="http://schemas.openxmlformats.org/officeDocument/2006/relationships/hyperlink" Target="https://zaidyn.zs.com/products/zaidyn-medical/conversational-ai-for-medical" TargetMode="External"/><Relationship Id="rId6" Type="http://schemas.openxmlformats.org/officeDocument/2006/relationships/hyperlink" Target="https://evidenze.com/" TargetMode="External"/><Relationship Id="rId8" Type="http://schemas.openxmlformats.org/officeDocument/2006/relationships/hyperlink" Target="https://platform.veevavault.help/en/lr/950642" TargetMode="External"/><Relationship Id="rId9" Type="http://schemas.openxmlformats.org/officeDocument/2006/relationships/hyperlink" Target="https://zaidyn.zs.com/products/zaidyn-medical/patient-outcome-intelligence" TargetMode="External"/><Relationship Id="rId10" Type="http://schemas.openxmlformats.org/officeDocument/2006/relationships/hyperlink" Target="https://www.iqvia.com/blogs/2025/12/introducing-iqvia-med-r1-deep-research-agent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6" Type="http://schemas.openxmlformats.org/officeDocument/2006/relationships/hyperlink" Target="https://www.navlin.com/products/tender" TargetMode="External"/><Relationship Id="rId10" Type="http://schemas.openxmlformats.org/officeDocument/2006/relationships/hyperlink" Target="https://trinetx.com/press-releases/trinetx-unveils-conversational-ai-interface-and-enhanced-api-capabilities/" TargetMode="External"/><Relationship Id="rId11" Type="http://schemas.openxmlformats.org/officeDocument/2006/relationships/hyperlink" Target="https://citeline.com/plus" TargetMode="External"/><Relationship Id="rId12" Type="http://schemas.openxmlformats.org/officeDocument/2006/relationships/hyperlink" Target="https://clinicaldata.veevavault.help/en/lr/rn/limited-releases/26r3/new-features" TargetMode="External"/><Relationship Id="rId13" Type="http://schemas.openxmlformats.org/officeDocument/2006/relationships/hyperlink" Target="https://www.mmitnetwork.com/mosaic/" TargetMode="External"/><Relationship Id="rId14" Type="http://schemas.openxmlformats.org/officeDocument/2006/relationships/hyperlink" Target="https://www.eversana.com/insights/from-ai-answers-to-decision-grade-market-access/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veeva.com/products/vault-ai/" TargetMode="External"/><Relationship Id="rId3" Type="http://schemas.openxmlformats.org/officeDocument/2006/relationships/hyperlink" Target="https://www.iqvia.com/newsroom/2026/03/iqvia-unveils-iqvia-ai-a-unified-agentic-ai-platform" TargetMode="External"/><Relationship Id="rId4" Type="http://schemas.openxmlformats.org/officeDocument/2006/relationships/hyperlink" Target="https://www.iqvia.com/blogs/2025/12/introducing-iqvia-med-r1-deep-research-agent" TargetMode="External"/><Relationship Id="rId5" Type="http://schemas.openxmlformats.org/officeDocument/2006/relationships/hyperlink" Target="https://lens.tempus.com/" TargetMode="External"/><Relationship Id="rId6" Type="http://schemas.openxmlformats.org/officeDocument/2006/relationships/hyperlink" Target="https://www.komodohealth.com/product/healthcare-map/" TargetMode="External"/><Relationship Id="rId7" Type="http://schemas.openxmlformats.org/officeDocument/2006/relationships/hyperlink" Target="https://www.komodohealth.com/press/komodo-health-introduces-marmot-the-ai-built-to-accelerate-healthcare-innovation/" TargetMode="External"/><Relationship Id="rId8" Type="http://schemas.openxmlformats.org/officeDocument/2006/relationships/hyperlink" Target="https://www.truveta.com/blog/data/approach-to-real-world-data-quality/" TargetMode="External"/><Relationship Id="rId9" Type="http://schemas.openxmlformats.org/officeDocument/2006/relationships/hyperlink" Target="https://www.norstella.com/press-releases/norstella-introduces-norstellalinq/" TargetMode="External"/><Relationship Id="rId10" Type="http://schemas.openxmlformats.org/officeDocument/2006/relationships/hyperlink" Target="https://www.komodohealth.com/perspectives/building-the-framework-for-trusted-ai-in-healthcare/" TargetMode="External"/><Relationship Id="rId11" Type="http://schemas.openxmlformats.org/officeDocument/2006/relationships/hyperlink" Target="https://healthverity.com/exos/" TargetMode="External"/><Relationship Id="rId12" Type="http://schemas.openxmlformats.org/officeDocument/2006/relationships/hyperlink" Target="https://clinicaldata.veevavault.help/en/lr/rn/limited-releases/26r3/new-features/" TargetMode="External"/><Relationship Id="rId13" Type="http://schemas.openxmlformats.org/officeDocument/2006/relationships/hyperlink" Target="https://veranahealth.com/verana-health-introduces-new-ai-agents-to-expedite-and-streamline-rd-tasks/" TargetMode="External"/><Relationship Id="rId14" Type="http://schemas.openxmlformats.org/officeDocument/2006/relationships/hyperlink" Target="https://www.zs.com/about/newsroom/zs-press-salesforce-zaidyn-crm" TargetMode="External"/><Relationship Id="rId15" Type="http://schemas.openxmlformats.org/officeDocument/2006/relationships/hyperlink" Target="https://trinetx.com/blog/trinetx-named-best-of-show-finalist-at-scope-advancing-clinical-trial-planning-with-conversational-ai-and-enhanced-api-capabilities/" TargetMode="External"/><Relationship Id="rId16" Type="http://schemas.openxmlformats.org/officeDocument/2006/relationships/hyperlink" Target="https://healthverity.com/news/announcing-healthverity-exos/" TargetMode="External"/><Relationship Id="rId17" Type="http://schemas.openxmlformats.org/officeDocument/2006/relationships/hyperlink" Target="https://medeloop.ai/analytics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Relationship Id="rId4" Type="http://schemas.openxmlformats.org/officeDocument/2006/relationships/hyperlink" Target="https://www.anthropic.com/news/claude-for-life-sciences" TargetMode="External"/><Relationship Id="rId5" Type="http://schemas.openxmlformats.org/officeDocument/2006/relationships/hyperlink" Target="https://www.anthropic.com/news/healthcare-life-sciences" TargetMode="External"/><Relationship Id="rId6" Type="http://schemas.openxmlformats.org/officeDocument/2006/relationships/hyperlink" Target="https://www.datavant.com/blog/how-ai-is-powering-smarter-privacy-preserving-data-discovery-for-life-sciences" TargetMode="External"/><Relationship Id="rId7" Type="http://schemas.openxmlformats.org/officeDocument/2006/relationships/hyperlink" Target="https://openai.com/index/introducing-gpt-rosalind/" TargetMode="External"/><Relationship Id="rId8" Type="http://schemas.openxmlformats.org/officeDocument/2006/relationships/hyperlink" Target="https://cohere.com/blog/cohere-acquires-reliant-ai-expand-sovereign-enterprise-ai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 kicker"/>
          <p:cNvSpPr txBox="1"/>
          <p:nvPr/>
        </p:nvSpPr>
        <p:spPr>
          <a:xfrm>
            <a:off x="822960" y="1362455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150">
                <a:solidFill>
                  <a:srgbClr val="FF612B"/>
                </a:solidFill>
                <a:latin typeface="Arial"/>
              </a:rPr>
              <a:t>INDEPENDENT COMPETITIVE INTELLIGENCE WORK SAMPLE</a:t>
            </a:r>
          </a:p>
        </p:txBody>
      </p:sp>
      <p:sp>
        <p:nvSpPr>
          <p:cNvPr id="3" name="cover title"/>
          <p:cNvSpPr txBox="1"/>
          <p:nvPr/>
        </p:nvSpPr>
        <p:spPr>
          <a:xfrm>
            <a:off x="822960" y="1773935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02677"/>
                </a:solidFill>
                <a:latin typeface="Arial"/>
              </a:rPr>
              <a:t>Conversational AI in Life Sciences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822960" y="255117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02677"/>
                </a:solidFill>
                <a:latin typeface="Arial"/>
              </a:rPr>
              <a:t>Competitive landscape and implications for Optum Life Sciences</a:t>
            </a:r>
          </a:p>
        </p:txBody>
      </p:sp>
      <p:sp>
        <p:nvSpPr>
          <p:cNvPr id="10" name="cover scope"/>
          <p:cNvSpPr txBox="1"/>
          <p:nvPr/>
        </p:nvSpPr>
        <p:spPr>
          <a:xfrm>
            <a:off x="822960" y="3072384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4D4F"/>
                </a:solidFill>
                <a:latin typeface="Arial"/>
              </a:rPr>
              <a:t>An outside-in assessment of publicly marketed conversational AI offerings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3621024"/>
            <a:ext cx="10543032" cy="0"/>
          </a:xfrm>
          <a:prstGeom prst="line">
            <a:avLst/>
          </a:prstGeom>
          <a:ln w="9525">
            <a:solidFill>
              <a:srgbClr val="D9D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ver author"/>
          <p:cNvSpPr txBox="1"/>
          <p:nvPr/>
        </p:nvSpPr>
        <p:spPr>
          <a:xfrm>
            <a:off x="822960" y="380390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2677"/>
                </a:solidFill>
                <a:latin typeface="Arial"/>
              </a:rPr>
              <a:t>Prepared by Joseph Marino</a:t>
            </a:r>
          </a:p>
        </p:txBody>
      </p:sp>
      <p:sp>
        <p:nvSpPr>
          <p:cNvPr id="13" name="cover date"/>
          <p:cNvSpPr txBox="1"/>
          <p:nvPr/>
        </p:nvSpPr>
        <p:spPr>
          <a:xfrm>
            <a:off x="822960" y="412394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4D4F"/>
                </a:solidFill>
                <a:latin typeface="Arial"/>
              </a:rPr>
              <a:t>October 2026  ·  Public sources reviewed as of October 13, 2026</a:t>
            </a:r>
          </a:p>
        </p:txBody>
      </p:sp>
      <p:sp>
        <p:nvSpPr>
          <p:cNvPr id="14" name="cover disclaimer"/>
          <p:cNvSpPr txBox="1"/>
          <p:nvPr/>
        </p:nvSpPr>
        <p:spPr>
          <a:xfrm>
            <a:off x="822960" y="4992624"/>
            <a:ext cx="105430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7C7E"/>
                </a:solidFill>
                <a:latin typeface="Arial"/>
              </a:rPr>
              <a:t>Independent work sample based solely on publicly available information. Not affiliated with, commissioned by or endorsed by Optum or UnitedHealth Group.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7A7C7E"/>
                </a:solidFill>
                <a:latin typeface="Arial"/>
              </a:rPr>
              <a:t>Research and drafting were assisted by AI tools; the analysis and conclusions are the author’s own.</a:t>
            </a:r>
          </a:p>
        </p:txBody>
      </p:sp>
      <p:sp>
        <p:nvSpPr>
          <p:cNvPr id="15" name="cover contact"/>
          <p:cNvSpPr txBox="1"/>
          <p:nvPr/>
        </p:nvSpPr>
        <p:spPr>
          <a:xfrm>
            <a:off x="822960" y="44165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u="none">
                <a:solidFill>
                  <a:srgbClr val="002677"/>
                </a:solidFill>
                <a:latin typeface="Arial"/>
                <a:hlinkClick r:id="rId2"/>
              </a:rPr>
              <a:t>linkedin.com/in/joseph-marino-995651183</a:t>
            </a:r>
            <a:r>
              <a:rPr sz="1200">
                <a:solidFill>
                  <a:srgbClr val="7A7C7E"/>
                </a:solidFill>
                <a:latin typeface="Arial"/>
              </a:rPr>
              <a:t>  ·  </a:t>
            </a:r>
            <a:r>
              <a:rPr sz="1200" u="none">
                <a:solidFill>
                  <a:srgbClr val="002677"/>
                </a:solidFill>
                <a:latin typeface="Arial"/>
                <a:hlinkClick r:id="rId3"/>
              </a:rPr>
              <a:t>marinojoe@gmail.com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EXECUTIVE SUMMARY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Competitors’ conversational AI points to four choices for any Optum LS offering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09360"/>
            <a:ext cx="9144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label"/>
          <p:cNvSpPr txBox="1"/>
          <p:nvPr/>
        </p:nvSpPr>
        <p:spPr>
          <a:xfrm>
            <a:off x="548640" y="116128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THE FOUR CHOICES</a:t>
            </a:r>
            <a:endParaRPr lang="en-US" sz="1000" dirty="0"/>
          </a:p>
        </p:txBody>
      </p:sp>
      <p:sp>
        <p:nvSpPr>
          <p:cNvPr id="27" name="choice tile 1"/>
          <p:cNvSpPr/>
          <p:nvPr/>
        </p:nvSpPr>
        <p:spPr>
          <a:xfrm>
            <a:off x="548640" y="1417320"/>
            <a:ext cx="2670048" cy="1005840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28" name="card label"/>
          <p:cNvSpPr txBox="1"/>
          <p:nvPr/>
        </p:nvSpPr>
        <p:spPr>
          <a:xfrm>
            <a:off x="694944" y="152704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02677"/>
                </a:solidFill>
              </a:rPr>
              <a:t>1. WHERE IT SITS</a:t>
            </a:r>
            <a:endParaRPr lang="en-US" sz="1300" dirty="0"/>
          </a:p>
        </p:txBody>
      </p:sp>
      <p:sp>
        <p:nvSpPr>
          <p:cNvPr id="29" name="Text 29"/>
          <p:cNvSpPr txBox="1"/>
          <p:nvPr/>
        </p:nvSpPr>
        <p:spPr>
          <a:xfrm>
            <a:off x="694944" y="176479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4B4D4F"/>
                </a:solidFill>
              </a:rPr>
              <a:t>Before purchase, in place of analyst requests, inside CRM, or across a portfolio</a:t>
            </a:r>
            <a:endParaRPr lang="en-US" sz="1100" dirty="0"/>
          </a:p>
        </p:txBody>
      </p:sp>
      <p:sp>
        <p:nvSpPr>
          <p:cNvPr id="30" name="Text 29"/>
          <p:cNvSpPr txBox="1"/>
          <p:nvPr/>
        </p:nvSpPr>
        <p:spPr>
          <a:xfrm>
            <a:off x="694944" y="2176272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900" dirty="0" b="1">
                <a:solidFill>
                  <a:srgbClr val="7A7C7E"/>
                </a:solidFill>
              </a:rPr>
              <a:t>Seen in: </a:t>
            </a:r>
            <a:r>
              <a:rPr lang="en-US" sz="900" dirty="0">
                <a:solidFill>
                  <a:srgbClr val="7A7C7E"/>
                </a:solidFill>
              </a:rPr>
              <a:t>Truven, Flatiron, IQVIA, Norstella</a:t>
            </a:r>
            <a:endParaRPr lang="en-US" sz="1100" dirty="0"/>
          </a:p>
        </p:txBody>
      </p:sp>
      <p:sp>
        <p:nvSpPr>
          <p:cNvPr id="31" name="choice tile 2"/>
          <p:cNvSpPr/>
          <p:nvPr/>
        </p:nvSpPr>
        <p:spPr>
          <a:xfrm>
            <a:off x="3355848" y="1417320"/>
            <a:ext cx="2670048" cy="1005840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32" name="card label"/>
          <p:cNvSpPr txBox="1"/>
          <p:nvPr/>
        </p:nvSpPr>
        <p:spPr>
          <a:xfrm>
            <a:off x="3502152" y="152704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02677"/>
                </a:solidFill>
              </a:rPr>
              <a:t>2. HOW IT SHOWS ITS WORK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3502152" y="176479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4B4D4F"/>
                </a:solidFill>
              </a:rPr>
              <a:t>Sources and assumptions kept visible; limits published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3502152" y="2176272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900" dirty="0" b="1">
                <a:solidFill>
                  <a:srgbClr val="7A7C7E"/>
                </a:solidFill>
              </a:rPr>
              <a:t>Seen in: </a:t>
            </a:r>
            <a:r>
              <a:rPr lang="en-US" sz="900" dirty="0">
                <a:solidFill>
                  <a:srgbClr val="7A7C7E"/>
                </a:solidFill>
              </a:rPr>
              <a:t>EVERSANA, IQVIA</a:t>
            </a:r>
            <a:endParaRPr lang="en-US" sz="1100" dirty="0"/>
          </a:p>
        </p:txBody>
      </p:sp>
      <p:sp>
        <p:nvSpPr>
          <p:cNvPr id="35" name="choice tile 3"/>
          <p:cNvSpPr/>
          <p:nvPr/>
        </p:nvSpPr>
        <p:spPr>
          <a:xfrm>
            <a:off x="6163056" y="1417320"/>
            <a:ext cx="2670048" cy="1005840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36" name="card label"/>
          <p:cNvSpPr txBox="1"/>
          <p:nvPr/>
        </p:nvSpPr>
        <p:spPr>
          <a:xfrm>
            <a:off x="6309360" y="152704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02677"/>
                </a:solidFill>
              </a:rPr>
              <a:t>3. HOW MUCH AUTONOMY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6309360" y="176479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4B4D4F"/>
                </a:solidFill>
              </a:rPr>
              <a:t>Highest in RWE analysis; narrower in medical and regulatory work</a:t>
            </a:r>
            <a:endParaRPr lang="en-US" sz="1100" dirty="0"/>
          </a:p>
        </p:txBody>
      </p:sp>
      <p:sp>
        <p:nvSpPr>
          <p:cNvPr id="38" name="Text 29"/>
          <p:cNvSpPr txBox="1"/>
          <p:nvPr/>
        </p:nvSpPr>
        <p:spPr>
          <a:xfrm>
            <a:off x="6309360" y="2176272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900" dirty="0" b="1">
                <a:solidFill>
                  <a:srgbClr val="7A7C7E"/>
                </a:solidFill>
              </a:rPr>
              <a:t>Seen in: </a:t>
            </a:r>
            <a:r>
              <a:rPr lang="en-US" sz="900" dirty="0">
                <a:solidFill>
                  <a:srgbClr val="7A7C7E"/>
                </a:solidFill>
              </a:rPr>
              <a:t>Flatiron, Verana, ZS, Veeva</a:t>
            </a:r>
            <a:endParaRPr lang="en-US" sz="1100" dirty="0"/>
          </a:p>
        </p:txBody>
      </p:sp>
      <p:sp>
        <p:nvSpPr>
          <p:cNvPr id="39" name="choice tile 4"/>
          <p:cNvSpPr/>
          <p:nvPr/>
        </p:nvSpPr>
        <p:spPr>
          <a:xfrm>
            <a:off x="8970264" y="1417320"/>
            <a:ext cx="2670048" cy="1005840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40" name="card label"/>
          <p:cNvSpPr txBox="1"/>
          <p:nvPr/>
        </p:nvSpPr>
        <p:spPr>
          <a:xfrm>
            <a:off x="9116568" y="152704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02677"/>
                </a:solidFill>
              </a:rPr>
              <a:t>4. BUILT OR PARTNERED</a:t>
            </a:r>
            <a:endParaRPr lang="en-US" sz="1300" dirty="0"/>
          </a:p>
        </p:txBody>
      </p:sp>
      <p:sp>
        <p:nvSpPr>
          <p:cNvPr id="41" name="Text 29"/>
          <p:cNvSpPr txBox="1"/>
          <p:nvPr/>
        </p:nvSpPr>
        <p:spPr>
          <a:xfrm>
            <a:off x="9116568" y="176479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4B4D4F"/>
                </a:solidFill>
              </a:rPr>
              <a:t>LLM providers supply competitors and sell their own products</a:t>
            </a:r>
            <a:endParaRPr lang="en-US" sz="1100" dirty="0"/>
          </a:p>
        </p:txBody>
      </p:sp>
      <p:sp>
        <p:nvSpPr>
          <p:cNvPr id="42" name="Text 29"/>
          <p:cNvSpPr txBox="1"/>
          <p:nvPr/>
        </p:nvSpPr>
        <p:spPr>
          <a:xfrm>
            <a:off x="9116568" y="2176272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900" dirty="0" b="1">
                <a:solidFill>
                  <a:srgbClr val="7A7C7E"/>
                </a:solidFill>
              </a:rPr>
              <a:t>Seen in: </a:t>
            </a:r>
            <a:r>
              <a:rPr lang="en-US" sz="900" dirty="0">
                <a:solidFill>
                  <a:srgbClr val="7A7C7E"/>
                </a:solidFill>
              </a:rPr>
              <a:t>Anthropic, OpenAI, Cohere</a:t>
            </a:r>
            <a:endParaRPr lang="en-US" sz="1100" dirty="0"/>
          </a:p>
        </p:txBody>
      </p:sp>
      <p:sp>
        <p:nvSpPr>
          <p:cNvPr id="43" name="key findings card"/>
          <p:cNvSpPr/>
          <p:nvPr/>
        </p:nvSpPr>
        <p:spPr>
          <a:xfrm>
            <a:off x="548640" y="2578608"/>
            <a:ext cx="3026664" cy="1810512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4" name="card label"/>
          <p:cNvSpPr txBox="1"/>
          <p:nvPr/>
        </p:nvSpPr>
        <p:spPr>
          <a:xfrm>
            <a:off x="731520" y="2706624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612B"/>
                </a:solidFill>
              </a:rPr>
              <a:t>KEY FINDINGS</a:t>
            </a:r>
            <a:endParaRPr lang="en-US" sz="1300" dirty="0"/>
          </a:p>
        </p:txBody>
      </p:sp>
      <p:sp>
        <p:nvSpPr>
          <p:cNvPr id="45" name="hero 19"/>
          <p:cNvSpPr txBox="1"/>
          <p:nvPr/>
        </p:nvSpPr>
        <p:spPr>
          <a:xfrm>
            <a:off x="621792" y="305409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ctr">
              <a:buNone/>
            </a:pPr>
            <a:r>
              <a:rPr lang="en-US" sz="2400" b="1" dirty="0">
                <a:solidFill>
                  <a:srgbClr val="FF612B"/>
                </a:solidFill>
              </a:rPr>
              <a:t>23</a:t>
            </a:r>
            <a:endParaRPr lang="en-US" sz="3400" dirty="0"/>
          </a:p>
        </p:txBody>
      </p:sp>
      <p:sp>
        <p:nvSpPr>
          <p:cNvPr id="46" name="Text 29"/>
          <p:cNvSpPr txBox="1"/>
          <p:nvPr/>
        </p:nvSpPr>
        <p:spPr>
          <a:xfrm>
            <a:off x="1207007" y="309067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950" dirty="0" b="1">
                <a:solidFill>
                  <a:srgbClr val="4B4D4F"/>
                </a:solidFill>
              </a:rPr>
              <a:t>conversational AI offerings</a:t>
            </a:r>
            <a:r>
              <a:rPr lang="en-US" sz="950" dirty="0">
                <a:solidFill>
                  <a:srgbClr val="4B4D4F"/>
                </a:solidFill>
              </a:rPr>
              <a:t>, marketed by </a:t>
            </a:r>
            <a:r>
              <a:rPr lang="en-US" sz="950" dirty="0" b="1">
                <a:solidFill>
                  <a:srgbClr val="4B4D4F"/>
                </a:solidFill>
              </a:rPr>
              <a:t>15 of 43 U.S. competitors</a:t>
            </a:r>
            <a:endParaRPr lang="en-US" sz="1100" dirty="0"/>
          </a:p>
        </p:txBody>
      </p:sp>
      <p:sp>
        <p:nvSpPr>
          <p:cNvPr id="47" name="hero 19"/>
          <p:cNvSpPr txBox="1"/>
          <p:nvPr/>
        </p:nvSpPr>
        <p:spPr>
          <a:xfrm>
            <a:off x="621792" y="369417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ctr">
              <a:buNone/>
            </a:pPr>
            <a:r>
              <a:rPr lang="en-US" sz="2400" b="1" dirty="0">
                <a:solidFill>
                  <a:srgbClr val="FF612B"/>
                </a:solidFill>
              </a:rPr>
              <a:t>9</a:t>
            </a:r>
            <a:endParaRPr lang="en-US" sz="3400" dirty="0"/>
          </a:p>
        </p:txBody>
      </p:sp>
      <p:sp>
        <p:nvSpPr>
          <p:cNvPr id="48" name="Text 29"/>
          <p:cNvSpPr txBox="1"/>
          <p:nvPr/>
        </p:nvSpPr>
        <p:spPr>
          <a:xfrm>
            <a:off x="1207007" y="373075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950" dirty="0" b="1">
                <a:solidFill>
                  <a:srgbClr val="4B4D4F"/>
                </a:solidFill>
              </a:rPr>
              <a:t>of 34 RWE competitors</a:t>
            </a:r>
            <a:r>
              <a:rPr lang="en-US" sz="950" dirty="0">
                <a:solidFill>
                  <a:srgbClr val="4B4D4F"/>
                </a:solidFill>
              </a:rPr>
              <a:t> market one, the highest share of any domain</a:t>
            </a:r>
            <a:endParaRPr lang="en-US" sz="1100" dirty="0"/>
          </a:p>
        </p:txBody>
      </p:sp>
      <p:sp>
        <p:nvSpPr>
          <p:cNvPr id="49" name="optum ls positioning card"/>
          <p:cNvSpPr/>
          <p:nvPr/>
        </p:nvSpPr>
        <p:spPr>
          <a:xfrm>
            <a:off x="3758184" y="2578608"/>
            <a:ext cx="7882127" cy="1810512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0" name="card label"/>
          <p:cNvSpPr txBox="1"/>
          <p:nvPr/>
        </p:nvSpPr>
        <p:spPr>
          <a:xfrm>
            <a:off x="3959352" y="28117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612B"/>
                </a:solidFill>
              </a:rPr>
              <a:t>OPTUM LS POSITIONING</a:t>
            </a:r>
            <a:endParaRPr lang="en-US" sz="1300" dirty="0"/>
          </a:p>
        </p:txBody>
      </p:sp>
      <p:sp>
        <p:nvSpPr>
          <p:cNvPr id="51" name="Text 29"/>
          <p:cNvSpPr txBox="1"/>
          <p:nvPr/>
        </p:nvSpPr>
        <p:spPr>
          <a:xfrm>
            <a:off x="3959352" y="3282696"/>
            <a:ext cx="7479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100" dirty="0" b="1">
                <a:solidFill>
                  <a:srgbClr val="1A1A1A"/>
                </a:solidFill>
              </a:rPr>
              <a:t>Optum LS publicly emphasizes linked healthcare data, AI-enabled research tools and scientific expertise.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 b="1">
                <a:solidFill>
                  <a:srgbClr val="1A1A1A"/>
                </a:solidFill>
              </a:rPr>
              <a:t>Several competitors lead with conversational AI for comparable tasks.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002677"/>
                </a:solidFill>
              </a:rPr>
              <a:t>This analysis assumes Optum LS is developing or evaluating its own.</a:t>
            </a:r>
            <a:endParaRPr lang="en-US" sz="1100" dirty="0"/>
          </a:p>
        </p:txBody>
      </p:sp>
      <p:sp>
        <p:nvSpPr>
          <p:cNvPr id="52" name="research scope card"/>
          <p:cNvSpPr/>
          <p:nvPr/>
        </p:nvSpPr>
        <p:spPr>
          <a:xfrm>
            <a:off x="3758184" y="4544568"/>
            <a:ext cx="7882127" cy="1508759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3" name="card label"/>
          <p:cNvSpPr txBox="1"/>
          <p:nvPr/>
        </p:nvSpPr>
        <p:spPr>
          <a:xfrm>
            <a:off x="3959352" y="4672584"/>
            <a:ext cx="7479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612B"/>
                </a:solidFill>
              </a:rPr>
              <a:t>RESEARCH SCOPE</a:t>
            </a:r>
            <a:endParaRPr lang="en-US" sz="1300" dirty="0"/>
          </a:p>
        </p:txBody>
      </p:sp>
      <p:sp>
        <p:nvSpPr>
          <p:cNvPr id="54" name="Text 29"/>
          <p:cNvSpPr txBox="1"/>
          <p:nvPr/>
        </p:nvSpPr>
        <p:spPr>
          <a:xfrm>
            <a:off x="3959352" y="5047488"/>
            <a:ext cx="7479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4B4D4F"/>
                </a:solidFill>
              </a:rPr>
              <a:t>Competitor products were sorted by customer task rather than by vendor, to match each with a specific Optum LS offering.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4B4D4F"/>
                </a:solidFill>
              </a:rPr>
              <a:t>Those tasks were then grouped into five domains where both Optum LS and its competitors publicly market products:</a:t>
            </a:r>
            <a:endParaRPr lang="en-US" sz="1100" dirty="0"/>
          </a:p>
        </p:txBody>
      </p:sp>
      <p:sp>
        <p:nvSpPr>
          <p:cNvPr id="9" name="workflow chip RWE"/>
          <p:cNvSpPr/>
          <p:nvPr/>
        </p:nvSpPr>
        <p:spPr>
          <a:xfrm>
            <a:off x="3959352" y="5623559"/>
            <a:ext cx="422727" cy="24688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3959352" y="5623559"/>
            <a:ext cx="42272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1"/>
                </a:solidFill>
              </a:rPr>
              <a:t>RWE</a:t>
            </a:r>
            <a:endParaRPr lang="en-US" sz="950" dirty="0"/>
          </a:p>
        </p:txBody>
      </p:sp>
      <p:sp>
        <p:nvSpPr>
          <p:cNvPr id="11" name="workflow chip Commercial Intelligence"/>
          <p:cNvSpPr/>
          <p:nvPr/>
        </p:nvSpPr>
        <p:spPr>
          <a:xfrm>
            <a:off x="4473519" y="5623559"/>
            <a:ext cx="1777868" cy="24688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4473519" y="5623559"/>
            <a:ext cx="17778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1"/>
                </a:solidFill>
              </a:rPr>
              <a:t>Commercial Intelligence</a:t>
            </a:r>
            <a:endParaRPr lang="en-US" sz="950" dirty="0"/>
          </a:p>
        </p:txBody>
      </p:sp>
      <p:sp>
        <p:nvSpPr>
          <p:cNvPr id="13" name="workflow chip Medical / Regulatory Research"/>
          <p:cNvSpPr/>
          <p:nvPr/>
        </p:nvSpPr>
        <p:spPr>
          <a:xfrm>
            <a:off x="6342827" y="5623559"/>
            <a:ext cx="2184410" cy="24688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342827" y="5623559"/>
            <a:ext cx="218441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1"/>
                </a:solidFill>
              </a:rPr>
              <a:t>Medical / Regulatory Research</a:t>
            </a:r>
            <a:endParaRPr lang="en-US" sz="950" dirty="0"/>
          </a:p>
        </p:txBody>
      </p:sp>
      <p:sp>
        <p:nvSpPr>
          <p:cNvPr id="15" name="workflow chip Clinical Trials"/>
          <p:cNvSpPr/>
          <p:nvPr/>
        </p:nvSpPr>
        <p:spPr>
          <a:xfrm>
            <a:off x="8618677" y="5623559"/>
            <a:ext cx="1235812" cy="24688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8618677" y="5623559"/>
            <a:ext cx="12358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1"/>
                </a:solidFill>
              </a:rPr>
              <a:t>Clinical Trials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9945929" y="5623559"/>
            <a:ext cx="310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and</a:t>
            </a:r>
            <a:endParaRPr lang="en-US" sz="1000" dirty="0"/>
          </a:p>
        </p:txBody>
      </p:sp>
      <p:sp>
        <p:nvSpPr>
          <p:cNvPr id="18" name="workflow chip Market Access"/>
          <p:cNvSpPr/>
          <p:nvPr/>
        </p:nvSpPr>
        <p:spPr>
          <a:xfrm>
            <a:off x="10311689" y="5623559"/>
            <a:ext cx="1100298" cy="24688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10311689" y="5623559"/>
            <a:ext cx="11002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1"/>
                </a:solidFill>
              </a:rPr>
              <a:t>Market Access</a:t>
            </a:r>
            <a:endParaRPr lang="en-US" sz="950" dirty="0"/>
          </a:p>
        </p:txBody>
      </p:sp>
      <p:sp>
        <p:nvSpPr>
          <p:cNvPr id="55" name="aside rule"/>
          <p:cNvSpPr/>
          <p:nvPr/>
        </p:nvSpPr>
        <p:spPr>
          <a:xfrm>
            <a:off x="548640" y="4672584"/>
            <a:ext cx="32004" cy="1252727"/>
          </a:xfrm>
          <a:prstGeom prst="rect">
            <a:avLst/>
          </a:prstGeom>
          <a:solidFill>
            <a:srgbClr val="D9D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ard label"/>
          <p:cNvSpPr txBox="1"/>
          <p:nvPr/>
        </p:nvSpPr>
        <p:spPr>
          <a:xfrm>
            <a:off x="694944" y="4672584"/>
            <a:ext cx="2843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A7C7E"/>
                </a:solidFill>
              </a:rPr>
              <a:t>WHAT COUNTS AS CONVERSATIONAL AI?</a:t>
            </a:r>
            <a:endParaRPr lang="en-US" sz="1300" dirty="0"/>
          </a:p>
        </p:txBody>
      </p:sp>
      <p:sp>
        <p:nvSpPr>
          <p:cNvPr id="57" name="Text 29"/>
          <p:cNvSpPr txBox="1"/>
          <p:nvPr/>
        </p:nvSpPr>
        <p:spPr>
          <a:xfrm>
            <a:off x="694944" y="5001768"/>
            <a:ext cx="2843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7A7C7E"/>
                </a:solidFill>
              </a:rPr>
              <a:t>A publicly marketed interface that lets life-sciences customers use natural language to interact with data, research or business workflows. Excludes patient-facing chatbots, clinician scribes and AI without a natural-language interface.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RESEARCH CATALYST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Seven RWE AI launches since 2024 warrant a wider look across life sciences</a:t>
            </a:r>
            <a:endParaRPr lang="en-US" sz="2200" dirty="0"/>
          </a:p>
        </p:txBody>
      </p:sp>
      <p:sp>
        <p:nvSpPr>
          <p:cNvPr id="4" name="label"/>
          <p:cNvSpPr txBox="1"/>
          <p:nvPr/>
        </p:nvSpPr>
        <p:spPr>
          <a:xfrm>
            <a:off x="548640" y="13898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SELECTED PUBLIC PRODUCT ANNOUNCEMENTS</a:t>
            </a:r>
            <a:endParaRPr lang="en-US" sz="1000" dirty="0"/>
          </a:p>
        </p:txBody>
      </p:sp>
      <p:sp>
        <p:nvSpPr>
          <p:cNvPr id="5" name="timeline"/>
          <p:cNvSpPr/>
          <p:nvPr/>
        </p:nvSpPr>
        <p:spPr>
          <a:xfrm>
            <a:off x="548640" y="2450592"/>
            <a:ext cx="11091672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2590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2024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03120"/>
            <a:ext cx="25900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Precedents</a:t>
            </a:r>
            <a:endParaRPr lang="en-US" sz="1000" dirty="0"/>
          </a:p>
        </p:txBody>
      </p:sp>
      <p:sp>
        <p:nvSpPr>
          <p:cNvPr id="8" name="milestone"/>
          <p:cNvSpPr/>
          <p:nvPr/>
        </p:nvSpPr>
        <p:spPr>
          <a:xfrm>
            <a:off x="548640" y="2368296"/>
            <a:ext cx="164592" cy="16459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48640" y="2615184"/>
            <a:ext cx="25443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 u="sng">
                <a:solidFill>
                  <a:srgbClr val="002677"/>
                </a:solidFill>
                <a:uFill>
                  <a:solidFill>
                    <a:srgbClr val="9AA8CC"/>
                  </a:solidFill>
                </a:uFill>
              </a:rPr>
              <a:t>Tempus’s </a:t>
            </a:r>
            <a:r>
              <a:rPr lang="en-US" sz="1050" b="1" dirty="0" u="sng">
                <a:solidFill>
                  <a:srgbClr val="002677"/>
                </a:solidFill>
                <a:uFill>
                  <a:solidFill>
                    <a:srgbClr val="9AA8CC"/>
                  </a:solidFill>
                </a:uFill>
              </a:rPr>
              <a:t>Tempus One / Lens</a:t>
            </a:r>
            <a:r>
              <a:rPr lang="en-US" sz="1050" dirty="0">
                <a:solidFill>
                  <a:schemeClr val="tx1"/>
                </a:solidFill>
              </a:rPr>
              <a:t> — AI-assisted research and cohort exploration (February)</a:t>
            </a:r>
            <a:endParaRPr lang="en-US" sz="105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050" dirty="0" u="sng">
                <a:solidFill>
                  <a:srgbClr val="002677"/>
                </a:solidFill>
                <a:uFill>
                  <a:solidFill>
                    <a:srgbClr val="9AA8CC"/>
                  </a:solidFill>
                </a:uFill>
              </a:rPr>
              <a:t>Komodo Health’s </a:t>
            </a:r>
            <a:r>
              <a:rPr lang="en-US" sz="1050" b="1" dirty="0" u="sng">
                <a:solidFill>
                  <a:srgbClr val="002677"/>
                </a:solidFill>
                <a:uFill>
                  <a:solidFill>
                    <a:srgbClr val="9AA8CC"/>
                  </a:solidFill>
                </a:uFill>
              </a:rPr>
              <a:t>MapAI</a:t>
            </a:r>
            <a:r>
              <a:rPr lang="en-US" sz="1050" dirty="0">
                <a:solidFill>
                  <a:schemeClr val="tx1"/>
                </a:solidFill>
              </a:rPr>
              <a:t> — conversational healthcare analytics (September)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321558" y="1828800"/>
            <a:ext cx="2590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August 2025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321558" y="2103120"/>
            <a:ext cx="25900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Platform expansion</a:t>
            </a:r>
            <a:endParaRPr lang="en-US" sz="1000" dirty="0"/>
          </a:p>
        </p:txBody>
      </p:sp>
      <p:sp>
        <p:nvSpPr>
          <p:cNvPr id="12" name="milestone"/>
          <p:cNvSpPr/>
          <p:nvPr/>
        </p:nvSpPr>
        <p:spPr>
          <a:xfrm>
            <a:off x="3321558" y="2368296"/>
            <a:ext cx="164592" cy="16459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3321558" y="2615184"/>
            <a:ext cx="25443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 u="sng">
                <a:solidFill>
                  <a:srgbClr val="002677"/>
                </a:solidFill>
                <a:uFill>
                  <a:solidFill>
                    <a:srgbClr val="9AA8CC"/>
                  </a:solidFill>
                </a:uFill>
              </a:rPr>
              <a:t>Komodo Health’s </a:t>
            </a:r>
            <a:r>
              <a:rPr lang="en-US" sz="1050" b="1" dirty="0" u="sng">
                <a:solidFill>
                  <a:srgbClr val="002677"/>
                </a:solidFill>
                <a:uFill>
                  <a:solidFill>
                    <a:srgbClr val="9AA8CC"/>
                  </a:solidFill>
                </a:uFill>
              </a:rPr>
              <a:t>Marmot</a:t>
            </a:r>
            <a:r>
              <a:rPr lang="en-US" sz="1050" dirty="0">
                <a:solidFill>
                  <a:schemeClr val="tx1"/>
                </a:solidFill>
              </a:rPr>
              <a:t> — AI-powered healthcare analytics and research workflows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094476" y="1828800"/>
            <a:ext cx="2590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April–May 2026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094476" y="2103120"/>
            <a:ext cx="25900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Research-interface launches</a:t>
            </a:r>
            <a:endParaRPr lang="en-US" sz="1000" dirty="0"/>
          </a:p>
        </p:txBody>
      </p:sp>
      <p:sp>
        <p:nvSpPr>
          <p:cNvPr id="16" name="milestone"/>
          <p:cNvSpPr/>
          <p:nvPr/>
        </p:nvSpPr>
        <p:spPr>
          <a:xfrm>
            <a:off x="6094476" y="2368296"/>
            <a:ext cx="164592" cy="16459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094476" y="2615184"/>
            <a:ext cx="25443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 u="sng">
                <a:solidFill>
                  <a:srgbClr val="002677"/>
                </a:solidFill>
                <a:uFill>
                  <a:solidFill>
                    <a:srgbClr val="9AA8CC"/>
                  </a:solidFill>
                </a:uFill>
              </a:rPr>
              <a:t>Truveta’s </a:t>
            </a:r>
            <a:r>
              <a:rPr lang="en-US" sz="1050" b="1" dirty="0" u="sng">
                <a:solidFill>
                  <a:srgbClr val="002677"/>
                </a:solidFill>
                <a:uFill>
                  <a:solidFill>
                    <a:srgbClr val="9AA8CC"/>
                  </a:solidFill>
                </a:uFill>
              </a:rPr>
              <a:t>Truveta Intelligence</a:t>
            </a:r>
            <a:r>
              <a:rPr lang="en-US" sz="1050" dirty="0">
                <a:solidFill>
                  <a:schemeClr val="tx1"/>
                </a:solidFill>
              </a:rPr>
              <a:t> — natural-language RWE research questions</a:t>
            </a:r>
            <a:endParaRPr lang="en-US" sz="105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050" dirty="0" u="sng">
                <a:solidFill>
                  <a:srgbClr val="002677"/>
                </a:solidFill>
                <a:uFill>
                  <a:solidFill>
                    <a:srgbClr val="9AA8CC"/>
                  </a:solidFill>
                </a:uFill>
              </a:rPr>
              <a:t>Flatiron Health’s </a:t>
            </a:r>
            <a:r>
              <a:rPr lang="en-US" sz="1050" b="1" dirty="0" u="sng">
                <a:solidFill>
                  <a:srgbClr val="002677"/>
                </a:solidFill>
                <a:uFill>
                  <a:solidFill>
                    <a:srgbClr val="9AA8CC"/>
                  </a:solidFill>
                </a:uFill>
              </a:rPr>
              <a:t>Telescope</a:t>
            </a:r>
            <a:r>
              <a:rPr lang="en-US" sz="1050" dirty="0">
                <a:solidFill>
                  <a:schemeClr val="tx1"/>
                </a:solidFill>
              </a:rPr>
              <a:t> — conversational oncology cohort exploration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867394" y="1828800"/>
            <a:ext cx="2590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September 2026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867394" y="2103120"/>
            <a:ext cx="25900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New releases</a:t>
            </a:r>
            <a:endParaRPr lang="en-US" sz="1000" dirty="0"/>
          </a:p>
        </p:txBody>
      </p:sp>
      <p:sp>
        <p:nvSpPr>
          <p:cNvPr id="20" name="milestone"/>
          <p:cNvSpPr/>
          <p:nvPr/>
        </p:nvSpPr>
        <p:spPr>
          <a:xfrm>
            <a:off x="8867394" y="2368296"/>
            <a:ext cx="164592" cy="164592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8867394" y="2615184"/>
            <a:ext cx="25443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 u="sng">
                <a:solidFill>
                  <a:srgbClr val="002677"/>
                </a:solidFill>
                <a:uFill>
                  <a:solidFill>
                    <a:srgbClr val="9AA8CC"/>
                  </a:solidFill>
                </a:uFill>
              </a:rPr>
              <a:t>Verana Health’s </a:t>
            </a:r>
            <a:r>
              <a:rPr lang="en-US" sz="1050" b="1" dirty="0" u="sng">
                <a:solidFill>
                  <a:srgbClr val="002677"/>
                </a:solidFill>
                <a:uFill>
                  <a:solidFill>
                    <a:srgbClr val="9AA8CC"/>
                  </a:solidFill>
                </a:uFill>
              </a:rPr>
              <a:t>Agent Claire</a:t>
            </a:r>
            <a:r>
              <a:rPr lang="en-US" sz="1050" dirty="0">
                <a:solidFill>
                  <a:schemeClr val="tx1"/>
                </a:solidFill>
              </a:rPr>
              <a:t> — conversational specialty-data research</a:t>
            </a:r>
            <a:endParaRPr lang="en-US" sz="105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050" dirty="0" u="sng">
                <a:solidFill>
                  <a:srgbClr val="002677"/>
                </a:solidFill>
                <a:uFill>
                  <a:solidFill>
                    <a:srgbClr val="9AA8CC"/>
                  </a:solidFill>
                </a:uFill>
              </a:rPr>
              <a:t>Norstella’s </a:t>
            </a:r>
            <a:r>
              <a:rPr lang="en-US" sz="1050" b="1" dirty="0" u="sng">
                <a:solidFill>
                  <a:srgbClr val="002677"/>
                </a:solidFill>
                <a:uFill>
                  <a:solidFill>
                    <a:srgbClr val="9AA8CC"/>
                  </a:solidFill>
                </a:uFill>
              </a:rPr>
              <a:t>Atlas Patient Analytics</a:t>
            </a:r>
            <a:r>
              <a:rPr lang="en-US" sz="1050" dirty="0">
                <a:solidFill>
                  <a:schemeClr val="tx1"/>
                </a:solidFill>
              </a:rPr>
              <a:t> — agentic, managed cohort analytics</a:t>
            </a:r>
            <a:endParaRPr lang="en-US" sz="1050" dirty="0"/>
          </a:p>
        </p:txBody>
      </p:sp>
      <p:sp>
        <p:nvSpPr>
          <p:cNvPr id="22" name="the broader competitive question card"/>
          <p:cNvSpPr/>
          <p:nvPr/>
        </p:nvSpPr>
        <p:spPr>
          <a:xfrm>
            <a:off x="548640" y="4114800"/>
            <a:ext cx="7589520" cy="192024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label"/>
          <p:cNvSpPr txBox="1"/>
          <p:nvPr/>
        </p:nvSpPr>
        <p:spPr>
          <a:xfrm>
            <a:off x="749808" y="4389120"/>
            <a:ext cx="7187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2"/>
                </a:solidFill>
              </a:rPr>
              <a:t>THE BROADER COMPETITIVE QUESTIONS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" y="4754880"/>
            <a:ext cx="71871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1. How widely are life-sciences vendors marketing conversational AI, and in which domains?</a:t>
            </a:r>
            <a:endParaRPr lang="en-US" sz="12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2. Which customer tasks does it target, and what do vendors promise?</a:t>
            </a:r>
            <a:endParaRPr lang="en-US" sz="12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3. Who supplies the underlying AI, and could those suppliers become competitors?</a:t>
            </a:r>
            <a:endParaRPr lang="en-US" sz="12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4. What does that positioning suggest for an Optum LS offering?</a:t>
            </a:r>
            <a:endParaRPr lang="en-US" sz="1200" dirty="0"/>
          </a:p>
        </p:txBody>
      </p:sp>
      <p:sp>
        <p:nvSpPr>
          <p:cNvPr id="25" name="our research response card"/>
          <p:cNvSpPr/>
          <p:nvPr/>
        </p:nvSpPr>
        <p:spPr>
          <a:xfrm>
            <a:off x="8321040" y="4114800"/>
            <a:ext cx="3319272" cy="192024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label"/>
          <p:cNvSpPr txBox="1"/>
          <p:nvPr/>
        </p:nvSpPr>
        <p:spPr>
          <a:xfrm>
            <a:off x="8522208" y="438912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2"/>
                </a:solidFill>
              </a:rPr>
              <a:t>RESEARCH APPROACH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522208" y="4754880"/>
            <a:ext cx="2916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Vendors’ public product claims show what competitors choose to promise customers. That makes them direct evidence of competitive positioning—though not of performance, adoption or revenue.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09360"/>
            <a:ext cx="9144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8" name="link legend"/>
          <p:cNvSpPr txBox="1"/>
          <p:nvPr/>
        </p:nvSpPr>
        <p:spPr>
          <a:xfrm>
            <a:off x="2944368" y="630936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00">
                <a:solidFill>
                  <a:schemeClr val="accent4"/>
                </a:solidFill>
              </a:rPr>
              <a:t>·  Underlined text links to public sources</a:t>
            </a:r>
          </a:p>
        </p:txBody>
      </p:sp>
      <p:sp>
        <p:nvSpPr>
          <p:cNvPr id="9728" name="Invisible source link 3: https://investors.tempus.com/node/6451/pdf">
            <a:hlinkClick r:id="rId3"/>
          </p:cNvPr>
          <p:cNvSpPr/>
          <p:nvPr/>
        </p:nvSpPr>
        <p:spPr>
          <a:xfrm>
            <a:off x="548284" y="2627342"/>
            <a:ext cx="1804859" cy="1486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9" name="Invisible source link 3: https://www.komodohealth.com/press/komodo-health-unveils-new-generative-ai-offerings-to-enable-real-time-insights-across-330-million-patient-journeys/">
            <a:hlinkClick r:id="rId4"/>
          </p:cNvPr>
          <p:cNvSpPr/>
          <p:nvPr/>
        </p:nvSpPr>
        <p:spPr>
          <a:xfrm>
            <a:off x="548284" y="3208380"/>
            <a:ext cx="1439854" cy="1486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0" name="Invisible source link 3: https://www.komodohealth.com/press/komodo-health-introduces-marmot-the-ai-built-to-accelerate-healthcare-innovation/">
            <a:hlinkClick r:id="rId5"/>
          </p:cNvPr>
          <p:cNvSpPr/>
          <p:nvPr/>
        </p:nvSpPr>
        <p:spPr>
          <a:xfrm>
            <a:off x="3321354" y="2627342"/>
            <a:ext cx="1522182" cy="1486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1" name="Invisible source link 3: https://www.truveta.com/blog/announcement/truveta-unveils-truveta-intelligence/">
            <a:hlinkClick r:id="rId6"/>
          </p:cNvPr>
          <p:cNvSpPr/>
          <p:nvPr/>
        </p:nvSpPr>
        <p:spPr>
          <a:xfrm>
            <a:off x="6094082" y="2627342"/>
            <a:ext cx="1809568" cy="1486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2" name="Invisible source link 3: https://resources.flatiron.com/press/flatiron-health-launches-flatiron-telescope-a-new-ai-platform-delivering-oncology-insights-in-minutes">
            <a:hlinkClick r:id="rId7"/>
          </p:cNvPr>
          <p:cNvSpPr/>
          <p:nvPr/>
        </p:nvSpPr>
        <p:spPr>
          <a:xfrm>
            <a:off x="6094082" y="3048537"/>
            <a:ext cx="1629113" cy="1486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3" name="Invisible source link 3: https://veranahealth.com/verana-health-introduces-new-ai-agents-to-expedite-and-streamline-rd-tasks/">
            <a:hlinkClick r:id="rId8"/>
          </p:cNvPr>
          <p:cNvSpPr/>
          <p:nvPr/>
        </p:nvSpPr>
        <p:spPr>
          <a:xfrm>
            <a:off x="8867165" y="2627342"/>
            <a:ext cx="1749116" cy="1486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4" name="Invisible source link 3: https://www.norstella.com/press-releases/launches-real-world-data-agentic-platform-first-agent-replace-manual-cohort-building/">
            <a:hlinkClick r:id="rId9"/>
          </p:cNvPr>
          <p:cNvSpPr/>
          <p:nvPr/>
        </p:nvSpPr>
        <p:spPr>
          <a:xfrm>
            <a:off x="8867165" y="3048537"/>
            <a:ext cx="2074594" cy="1486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U.S. COMPETITIVE LANDSCAPE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Conversational AI is most visible in RWE, where competitors</a:t>
            </a:r>
            <a:br>
              <a:rPr lang="en-US" sz="2200" b="1" dirty="0">
                <a:solidFill>
                  <a:schemeClr val="accent1"/>
                </a:solidFill>
              </a:rPr>
            </a:br>
            <a:r>
              <a:rPr lang="en-US" sz="2200" b="1" dirty="0">
                <a:solidFill>
                  <a:schemeClr val="accent1"/>
                </a:solidFill>
              </a:rPr>
              <a:t>market new access points to tasks Optum LS already serves</a:t>
            </a:r>
            <a:endParaRPr lang="en-US" sz="2200" dirty="0"/>
          </a:p>
        </p:txBody>
      </p:sp>
      <p:sp>
        <p:nvSpPr>
          <p:cNvPr id="4" name="kpi tile 45"/>
          <p:cNvSpPr/>
          <p:nvPr/>
        </p:nvSpPr>
        <p:spPr>
          <a:xfrm>
            <a:off x="548640" y="4846320"/>
            <a:ext cx="3937217" cy="1207008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53" name="scope note"/>
          <p:cNvSpPr txBox="1"/>
          <p:nvPr/>
        </p:nvSpPr>
        <p:spPr>
          <a:xfrm>
            <a:off x="548640" y="4526280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chemeClr val="accent4"/>
                </a:solidFill>
              </a:rPr>
              <a:t>Scope note: Offerings are organized by their primary domain; supporting data and analytics capabilities may serve more than one domain.</a:t>
            </a:r>
            <a:endParaRPr lang="en-US" sz="800" dirty="0"/>
          </a:p>
        </p:txBody>
      </p:sp>
      <p:sp>
        <p:nvSpPr>
          <p:cNvPr id="55" name="key takeaway card"/>
          <p:cNvSpPr/>
          <p:nvPr/>
        </p:nvSpPr>
        <p:spPr>
          <a:xfrm>
            <a:off x="4668737" y="4846320"/>
            <a:ext cx="6971574" cy="1207008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6" name="label"/>
          <p:cNvSpPr txBox="1"/>
          <p:nvPr/>
        </p:nvSpPr>
        <p:spPr>
          <a:xfrm>
            <a:off x="4869905" y="49743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chemeClr val="accent2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57" name="Text 54"/>
          <p:cNvSpPr txBox="1"/>
          <p:nvPr/>
        </p:nvSpPr>
        <p:spPr>
          <a:xfrm>
            <a:off x="4869905" y="5349240"/>
            <a:ext cx="65692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250" b="1" dirty="0">
                <a:solidFill>
                  <a:schemeClr val="tx1"/>
                </a:solidFill>
              </a:rPr>
              <a:t>RWE has the highest concentration (9 of 34); market access the lowest (2 of 24).</a:t>
            </a:r>
            <a:endParaRPr lang="en-US" sz="1050" dirty="0"/>
          </a:p>
          <a:p>
            <a:pPr indent="0" marL="0" algn="l">
              <a:spcBef>
                <a:spcPts val="800"/>
              </a:spcBef>
              <a:buNone/>
            </a:pPr>
            <a:r>
              <a:rPr lang="en-US" sz="1250" b="1" dirty="0">
                <a:solidFill>
                  <a:schemeClr val="tx1"/>
                </a:solidFill>
              </a:rPr>
              <a:t>Norstella alone markets Ella-branded assistants in four of five domains.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09360"/>
            <a:ext cx="9144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graphicFrame>
        <p:nvGraphicFramePr>
          <p:cNvPr id="58" name="tas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1" cy="2971799"/>
        </p:xfrm>
        <a:graphic>
          <a:graphicData uri="http://schemas.openxmlformats.org/drawingml/2006/table">
            <a:tbl>
              <a:tblPr/>
              <a:tblGrid>
                <a:gridCol w="1619997"/>
                <a:gridCol w="3793465"/>
                <a:gridCol w="2835756"/>
                <a:gridCol w="2842453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chemeClr val="bg1"/>
                          </a:solidFill>
                        </a:rPr>
                        <a:t>DOMAIN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chemeClr val="bg1"/>
                          </a:solidFill>
                        </a:rPr>
                        <a:t>WHO’S COMPETING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chemeClr val="bg1"/>
                          </a:solidFill>
                        </a:rPr>
                        <a:t>WHAT THEY PITCH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chemeClr val="bg1"/>
                          </a:solidFill>
                        </a:rPr>
                        <a:t>RELEVANT OPTUM LS OFFERINGS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52852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RWE</a:t>
                      </a:r>
                      <a:endParaRPr lang="en-US" sz="105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chemeClr val="accent1"/>
                          </a:solidFill>
                        </a:rPr>
                        <a:t>(most active)</a:t>
                      </a:r>
                      <a:endParaRPr lang="en-US" sz="10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4D4F"/>
                          </a:solidFill>
                        </a:rPr>
                        <a:t>Komodo, Truveta, Flatiron, Tempus, HealthVerity, Norstella, Truven, ConcertAI, Verana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4D4F"/>
                          </a:solidFill>
                        </a:rPr>
                        <a:t>Pre-sale data previews; self-service analysis; packaged studies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4D4F"/>
                          </a:solidFill>
                        </a:rPr>
                        <a:t>Analytics on Demand; epidemiology research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852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Commercial</a:t>
                      </a:r>
                      <a:br>
                        <a:rPr lang="en-US" sz="1050" b="1" dirty="0">
                          <a:solidFill>
                            <a:schemeClr val="accent1"/>
                          </a:solidFill>
                        </a:rPr>
                      </a:b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Intelligence</a:t>
                      </a:r>
                      <a:endParaRPr lang="en-US" sz="10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4D4F"/>
                          </a:solidFill>
                        </a:rPr>
                        <a:t>IQVIA, ZS, Trinity, Norstella (Evaluate)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4D4F"/>
                          </a:solidFill>
                        </a:rPr>
                        <a:t>AI inside the rep’s CRM; simulated stakeholders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4D4F"/>
                          </a:solidFill>
                        </a:rPr>
                        <a:t>Market Clarity: portfolio and patient/prescriber analytics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852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Medical / Regulatory</a:t>
                      </a:r>
                      <a:br>
                        <a:rPr lang="en-US" sz="1050" b="1" dirty="0">
                          <a:solidFill>
                            <a:schemeClr val="accent1"/>
                          </a:solidFill>
                        </a:rPr>
                      </a:b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Research</a:t>
                      </a:r>
                      <a:endParaRPr lang="en-US" sz="10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4D4F"/>
                          </a:solidFill>
                        </a:rPr>
                        <a:t>IQVIA, ZS, Veeva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4D4F"/>
                          </a:solidFill>
                        </a:rPr>
                        <a:t>Narrowly scoped tools; published limits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4D4F"/>
                          </a:solidFill>
                        </a:rPr>
                        <a:t>Postapproval safety studies; Market Clarity medical affairs insights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852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Clinical</a:t>
                      </a:r>
                      <a:br>
                        <a:rPr lang="en-US" sz="1050" b="1" dirty="0">
                          <a:solidFill>
                            <a:schemeClr val="accent1"/>
                          </a:solidFill>
                        </a:rPr>
                      </a:b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Trials</a:t>
                      </a:r>
                      <a:endParaRPr lang="en-US" sz="10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4D4F"/>
                          </a:solidFill>
                        </a:rPr>
                        <a:t>TriNetX, Norstella (Citeline), Veeva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4D4F"/>
                          </a:solidFill>
                        </a:rPr>
                        <a:t>Site selection; data-bounded EDC chat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4D4F"/>
                          </a:solidFill>
                        </a:rPr>
                        <a:t>Prospector; Digital Research Network; True Source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852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Market</a:t>
                      </a:r>
                      <a:br>
                        <a:rPr lang="en-US" sz="1050" b="1" dirty="0">
                          <a:solidFill>
                            <a:schemeClr val="accent1"/>
                          </a:solidFill>
                        </a:rPr>
                      </a:b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Access</a:t>
                      </a:r>
                      <a:endParaRPr lang="en-US" sz="10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4D4F"/>
                          </a:solidFill>
                        </a:rPr>
                        <a:t>EVERSANA, Norstella (MMIT)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4D4F"/>
                          </a:solidFill>
                        </a:rPr>
                        <a:t>Moving past chat answers; queryable payer feedback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4D4F"/>
                          </a:solidFill>
                        </a:rPr>
                        <a:t>HEOR/value evidence; Evidence Engine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3"/>
          <p:cNvSpPr txBox="1"/>
          <p:nvPr/>
        </p:nvSpPr>
        <p:spPr>
          <a:xfrm>
            <a:off x="685800" y="4937759"/>
            <a:ext cx="1593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43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5449824"/>
            <a:ext cx="159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U.S. competitors</a:t>
            </a:r>
            <a:br>
              <a:rPr lang="en-US" sz="1100" b="1" dirty="0">
                <a:solidFill>
                  <a:schemeClr val="accent1"/>
                </a:solidFill>
              </a:rPr>
            </a:br>
            <a:r>
              <a:rPr lang="en-US" sz="1100" b="1" dirty="0">
                <a:solidFill>
                  <a:schemeClr val="accent1"/>
                </a:solidFill>
              </a:rPr>
              <a:t>screened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754992" y="4937759"/>
            <a:ext cx="1593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15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754992" y="5449824"/>
            <a:ext cx="159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competitors marketing</a:t>
            </a:r>
            <a:br>
              <a:rPr lang="en-US" sz="1100" b="1" dirty="0">
                <a:solidFill>
                  <a:schemeClr val="accent1"/>
                </a:solidFill>
              </a:rPr>
            </a:br>
            <a:r>
              <a:rPr lang="en-US" sz="1100" b="1" dirty="0">
                <a:solidFill>
                  <a:schemeClr val="accent1"/>
                </a:solidFill>
              </a:rPr>
              <a:t>conversational AI</a:t>
            </a:r>
            <a:endParaRPr lang="en-US" sz="1100" dirty="0"/>
          </a:p>
        </p:txBody>
      </p:sp>
      <p:sp>
        <p:nvSpPr>
          <p:cNvPr id="7" name="flow arrow"/>
          <p:cNvSpPr/>
          <p:nvPr/>
        </p:nvSpPr>
        <p:spPr>
          <a:xfrm>
            <a:off x="2325224" y="5065776"/>
            <a:ext cx="384048" cy="219456"/>
          </a:xfrm>
          <a:prstGeom prst="rightArrow">
            <a:avLst/>
          </a:prstGeom>
          <a:solidFill>
            <a:schemeClr val="accent4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CONVERSATIONAL AI IN RWE</a:t>
            </a:r>
            <a:endParaRPr lang="en-US" sz="1000" dirty="0"/>
          </a:p>
        </p:txBody>
      </p:sp>
      <p:sp>
        <p:nvSpPr>
          <p:cNvPr id="3" name="tracker RWE"/>
          <p:cNvSpPr/>
          <p:nvPr/>
        </p:nvSpPr>
        <p:spPr>
          <a:xfrm>
            <a:off x="5657393" y="365760"/>
            <a:ext cx="386791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657393" y="365760"/>
            <a:ext cx="3867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bg1"/>
                </a:solidFill>
              </a:rPr>
              <a:t>RWE</a:t>
            </a:r>
            <a:endParaRPr lang="en-US" sz="750" dirty="0"/>
          </a:p>
        </p:txBody>
      </p:sp>
      <p:sp>
        <p:nvSpPr>
          <p:cNvPr id="5" name="tracker Commercial Intelligence"/>
          <p:cNvSpPr/>
          <p:nvPr/>
        </p:nvSpPr>
        <p:spPr>
          <a:xfrm>
            <a:off x="6108192" y="365760"/>
            <a:ext cx="1502359" cy="23774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108192" y="365760"/>
            <a:ext cx="15023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accent4"/>
                </a:solidFill>
              </a:rPr>
              <a:t>Commercial Intelligence</a:t>
            </a:r>
            <a:endParaRPr lang="en-US" sz="750" dirty="0"/>
          </a:p>
        </p:txBody>
      </p:sp>
      <p:sp>
        <p:nvSpPr>
          <p:cNvPr id="7" name="tracker Medical / Regulatory Research"/>
          <p:cNvSpPr/>
          <p:nvPr/>
        </p:nvSpPr>
        <p:spPr>
          <a:xfrm>
            <a:off x="7674559" y="365760"/>
            <a:ext cx="1837030" cy="23774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674559" y="365760"/>
            <a:ext cx="18370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accent4"/>
                </a:solidFill>
              </a:rPr>
              <a:t>Medical / Regulatory Research</a:t>
            </a:r>
            <a:endParaRPr lang="en-US" sz="750" dirty="0"/>
          </a:p>
        </p:txBody>
      </p:sp>
      <p:sp>
        <p:nvSpPr>
          <p:cNvPr id="9" name="tracker Clinical Trials"/>
          <p:cNvSpPr/>
          <p:nvPr/>
        </p:nvSpPr>
        <p:spPr>
          <a:xfrm>
            <a:off x="9575597" y="365760"/>
            <a:ext cx="1056132" cy="23774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9575597" y="365760"/>
            <a:ext cx="10561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accent4"/>
                </a:solidFill>
              </a:rPr>
              <a:t>Clinical Trials</a:t>
            </a:r>
            <a:endParaRPr lang="en-US" sz="750" dirty="0"/>
          </a:p>
        </p:txBody>
      </p:sp>
      <p:sp>
        <p:nvSpPr>
          <p:cNvPr id="11" name="tracker Market Access"/>
          <p:cNvSpPr/>
          <p:nvPr/>
        </p:nvSpPr>
        <p:spPr>
          <a:xfrm>
            <a:off x="10695737" y="365760"/>
            <a:ext cx="944575" cy="23774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695737" y="365760"/>
            <a:ext cx="944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accent4"/>
                </a:solidFill>
              </a:rPr>
              <a:t>Market Access</a:t>
            </a:r>
            <a:endParaRPr lang="en-US" sz="750" dirty="0"/>
          </a:p>
        </p:txBody>
      </p:sp>
      <p:sp>
        <p:nvSpPr>
          <p:cNvPr id="13" name="Text 2"/>
          <p:cNvSpPr/>
          <p:nvPr>
            <p:ph idx="103" type="title" hasCustomPrompt="1"/>
          </p:nvPr>
        </p:nvSpPr>
        <p:spPr>
          <a:xfrm>
            <a:off x="548640" y="64008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In RWE, conversational AI now spans the workflow, from pre-sale data previews to analyses traditionally handled by specialists</a:t>
            </a:r>
            <a:endParaRPr lang="en-US" sz="2200" dirty="0"/>
          </a:p>
        </p:txBody>
      </p:sp>
      <p:graphicFrame>
        <p:nvGraphicFramePr>
          <p:cNvPr id="6" name="tas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3008375"/>
        </p:xfrm>
        <a:graphic>
          <a:graphicData uri="http://schemas.openxmlformats.org/drawingml/2006/table">
            <a:tbl>
              <a:tblPr/>
              <a:tblGrid>
                <a:gridCol w="2286000"/>
                <a:gridCol w="5760720"/>
                <a:gridCol w="304495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chemeClr val="bg1"/>
                          </a:solidFill>
                        </a:rPr>
                        <a:t>CUSTOMER TASK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chemeClr val="bg1"/>
                          </a:solidFill>
                        </a:rPr>
                        <a:t>CONVERSATIONAL AI OFFERINGS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chemeClr val="bg1"/>
                          </a:solidFill>
                        </a:rPr>
                        <a:t>RELEVANT OPTUM LS OFFERINGS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8647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Identify and assess</a:t>
                      </a:r>
                      <a:br/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suitable data</a:t>
                      </a:r>
                      <a:endParaRPr lang="en-US" sz="10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Truven’s </a:t>
                      </a:r>
                      <a:r>
                        <a:rPr lang="en-US" sz="950" b="1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MarketScan Snapshot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: Natural-language assessment of MarketScan data suitability;</a:t>
                      </a:r>
                      <a:endParaRPr lang="en-US" sz="950" dirty="0"/>
                    </a:p>
                    <a:p>
                      <a:pPr indent="0" marL="0">
                        <a:spcBef>
                          <a:spcPts val="400"/>
                        </a:spcBef>
                        <a:buNone/>
                      </a:pPr>
                      <a:r>
                        <a:rPr lang="en-US" sz="95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Norstella’s </a:t>
                      </a:r>
                      <a:r>
                        <a:rPr lang="en-US" sz="950" b="1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Ella AI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: Conversational dataset recommendations (along with cohort construction and documented RWE analysis)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 b="1">
                          <a:solidFill>
                            <a:schemeClr val="tx1"/>
                          </a:solidFill>
                        </a:rPr>
                        <a:t>Market Clarity Data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 (linked claims/EHR)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; </a:t>
                      </a:r>
                      <a:r>
                        <a:rPr lang="en-US" sz="950" dirty="0" b="1">
                          <a:solidFill>
                            <a:schemeClr val="tx1"/>
                          </a:solidFill>
                        </a:rPr>
                        <a:t>Enriched Clinical Data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 (NLP-extracted clinical variables)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96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Explore patient</a:t>
                      </a:r>
                      <a:br/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populations and cohorts</a:t>
                      </a:r>
                      <a:endParaRPr lang="en-US" sz="10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Komodo Health’s </a:t>
                      </a:r>
                      <a:r>
                        <a:rPr lang="en-US" sz="950" b="1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Marmot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 and </a:t>
                      </a:r>
                      <a:r>
                        <a:rPr lang="en-US" sz="950" b="1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MapAI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: conversational healthcare analytics and cohort exploration;</a:t>
                      </a:r>
                      <a:endParaRPr lang="en-US" sz="950" dirty="0"/>
                    </a:p>
                    <a:p>
                      <a:pPr indent="0" marL="0">
                        <a:spcBef>
                          <a:spcPts val="400"/>
                        </a:spcBef>
                        <a:buNone/>
                      </a:pPr>
                      <a:r>
                        <a:rPr lang="en-US" sz="95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Truveta’s </a:t>
                      </a:r>
                      <a:r>
                        <a:rPr lang="en-US" sz="950" b="1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Truveta Intelligence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: natural-language research questions over longitudinal clinical data;</a:t>
                      </a:r>
                      <a:endParaRPr lang="en-US" sz="950" dirty="0"/>
                    </a:p>
                    <a:p>
                      <a:pPr indent="0" marL="0">
                        <a:spcBef>
                          <a:spcPts val="400"/>
                        </a:spcBef>
                        <a:buNone/>
                      </a:pPr>
                      <a:r>
                        <a:rPr lang="en-US" sz="95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Briya’s </a:t>
                      </a:r>
                      <a:r>
                        <a:rPr lang="en-US" sz="950" b="1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AIRE Population Agent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(Israel)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: natural-language cohort eligibility and feasibility assessment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 b="1">
                          <a:solidFill>
                            <a:schemeClr val="tx1"/>
                          </a:solidFill>
                        </a:rPr>
                        <a:t>Analytics on Demand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 (advanced statistical models)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; </a:t>
                      </a:r>
                      <a:r>
                        <a:rPr lang="en-US" sz="950" dirty="0" b="1">
                          <a:solidFill>
                            <a:schemeClr val="tx1"/>
                          </a:solidFill>
                        </a:rPr>
                        <a:t>Clinical Notes Lab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 (NLP/LLMs, custom AI models)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; </a:t>
                      </a:r>
                      <a:r>
                        <a:rPr lang="en-US" sz="950" dirty="0" b="1">
                          <a:solidFill>
                            <a:schemeClr val="tx1"/>
                          </a:solidFill>
                        </a:rPr>
                        <a:t>Prospector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 (no-code cohort building, attrition analysis)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47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Investigate broader</a:t>
                      </a:r>
                      <a:br/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RWE questions</a:t>
                      </a:r>
                      <a:endParaRPr lang="en-US" sz="10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HealthVerity’s </a:t>
                      </a:r>
                      <a:r>
                        <a:rPr lang="en-US" sz="950" b="1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eXOs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: Conversational data feasibility, cohort design and auditable RWE analysis;</a:t>
                      </a:r>
                      <a:endParaRPr lang="en-US" sz="950" dirty="0"/>
                    </a:p>
                    <a:p>
                      <a:pPr indent="0" marL="0">
                        <a:spcBef>
                          <a:spcPts val="400"/>
                        </a:spcBef>
                        <a:buNone/>
                      </a:pPr>
                      <a:r>
                        <a:rPr lang="en-US" sz="95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BC Platforms’ </a:t>
                      </a:r>
                      <a:r>
                        <a:rPr lang="en-US" sz="950" b="1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BC Catalyst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(Finland)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: prompt-based cohort building and clinical/genomic research exploration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 b="1">
                          <a:solidFill>
                            <a:schemeClr val="tx1"/>
                          </a:solidFill>
                        </a:rPr>
                        <a:t>Analytics on Demand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 (statistical modeling, decision trees)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; 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epidemiology research services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 (advanced study methods, scientific review)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end-to-end conversational rwe card"/>
          <p:cNvSpPr/>
          <p:nvPr/>
        </p:nvSpPr>
        <p:spPr>
          <a:xfrm>
            <a:off x="548640" y="4672584"/>
            <a:ext cx="5454396" cy="1380744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label"/>
          <p:cNvSpPr txBox="1"/>
          <p:nvPr/>
        </p:nvSpPr>
        <p:spPr>
          <a:xfrm>
            <a:off x="749808" y="4855464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2"/>
                </a:solidFill>
              </a:rPr>
              <a:t>END-TO-END CONVERSATIONAL RWE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49808" y="5202936"/>
            <a:ext cx="50520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 u="sng">
                <a:solidFill>
                  <a:srgbClr val="002677"/>
                </a:solidFill>
                <a:uFill>
                  <a:solidFill>
                    <a:srgbClr val="9AA8CC"/>
                  </a:solidFill>
                </a:uFill>
              </a:rPr>
              <a:t>HealthVerity’s eXOs</a:t>
            </a:r>
            <a:r>
              <a:rPr lang="en-US" sz="1050" b="1" dirty="0">
                <a:solidFill>
                  <a:schemeClr val="tx1"/>
                </a:solidFill>
              </a:rPr>
              <a:t> and </a:t>
            </a:r>
            <a:r>
              <a:rPr lang="en-US" sz="1050" b="1" dirty="0" u="sng">
                <a:solidFill>
                  <a:srgbClr val="002677"/>
                </a:solidFill>
                <a:uFill>
                  <a:solidFill>
                    <a:srgbClr val="9AA8CC"/>
                  </a:solidFill>
                </a:uFill>
              </a:rPr>
              <a:t>Norstella’s Ella</a:t>
            </a:r>
            <a:r>
              <a:rPr lang="en-US" sz="1050" b="1" dirty="0">
                <a:solidFill>
                  <a:schemeClr val="tx1"/>
                </a:solidFill>
              </a:rPr>
              <a:t> market conversational AI as a multi-step workflow, not just search. HealthVerity’s eXOs advertises data feasibility, cohort design and RWE analysis, while Norstella’s Ella offers dataset recommendations, cohort construction and analytics.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09360"/>
            <a:ext cx="9144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sp>
        <p:nvSpPr>
          <p:cNvPr id="9903" name="pre-engagement data evaluation card"/>
          <p:cNvSpPr/>
          <p:nvPr/>
        </p:nvSpPr>
        <p:spPr>
          <a:xfrm>
            <a:off x="6185916" y="4672584"/>
            <a:ext cx="5454396" cy="1380744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904" name="label"/>
          <p:cNvSpPr txBox="1"/>
          <p:nvPr/>
        </p:nvSpPr>
        <p:spPr>
          <a:xfrm>
            <a:off x="6387084" y="4855464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2"/>
                </a:solidFill>
              </a:rPr>
              <a:t>PRE-ENGAGEMENT DATA EVALUATION</a:t>
            </a:r>
            <a:endParaRPr lang="en-US" sz="1300" dirty="0"/>
          </a:p>
        </p:txBody>
      </p:sp>
      <p:sp>
        <p:nvSpPr>
          <p:cNvPr id="9905" name="Text 14"/>
          <p:cNvSpPr txBox="1"/>
          <p:nvPr/>
        </p:nvSpPr>
        <p:spPr>
          <a:xfrm>
            <a:off x="6387084" y="5202936"/>
            <a:ext cx="50520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Truven also uses its conversational AI as a sales tool, offering qualified prospects free </a:t>
            </a:r>
            <a:r>
              <a:rPr lang="en-US" sz="1050" b="1" dirty="0" u="sng">
                <a:solidFill>
                  <a:srgbClr val="002677"/>
                </a:solidFill>
                <a:uFill>
                  <a:solidFill>
                    <a:srgbClr val="9AA8CC"/>
                  </a:solidFill>
                </a:uFill>
              </a:rPr>
              <a:t>MarketScan Snapshot</a:t>
            </a:r>
            <a:r>
              <a:rPr lang="en-US" sz="1050" b="1" dirty="0">
                <a:solidFill>
                  <a:schemeClr val="tx1"/>
                </a:solidFill>
              </a:rPr>
              <a:t> access to cohort counts and summary statistics before they commit to a full RWE analysis.</a:t>
            </a:r>
            <a:endParaRPr lang="en-US" sz="1050" dirty="0"/>
          </a:p>
        </p:txBody>
      </p:sp>
      <p:sp>
        <p:nvSpPr>
          <p:cNvPr id="9906" name="link legend"/>
          <p:cNvSpPr txBox="1"/>
          <p:nvPr/>
        </p:nvSpPr>
        <p:spPr>
          <a:xfrm>
            <a:off x="2944368" y="630936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00">
                <a:solidFill>
                  <a:schemeClr val="accent4"/>
                </a:solidFill>
              </a:rPr>
              <a:t>·  Underlined text links to public sources</a:t>
            </a:r>
          </a:p>
        </p:txBody>
      </p:sp>
      <p:sp>
        <p:nvSpPr>
          <p:cNvPr id="9721" name="Invisible source link 6: https://www.merative.com/newsroom/truven-launches-marketscan-snapshot-an-ai-powered-tool-to-evaluate-fit-for-purpose-real-world-data-in-minutes">
            <a:hlinkClick r:id="rId3"/>
          </p:cNvPr>
          <p:cNvSpPr/>
          <p:nvPr/>
        </p:nvSpPr>
        <p:spPr>
          <a:xfrm>
            <a:off x="2944075" y="2014500"/>
            <a:ext cx="1778690" cy="1345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2" name="Invisible source link 6: https://panalgo.com/ella/">
            <a:hlinkClick r:id="rId15"/>
          </p:cNvPr>
          <p:cNvSpPr/>
          <p:nvPr/>
        </p:nvSpPr>
        <p:spPr>
          <a:xfrm>
            <a:off x="2944075" y="2200975"/>
            <a:ext cx="989207" cy="1345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3" name="Invisible source link 6: https://www.komodohealth.com/product/marmot/">
            <a:hlinkClick r:id="rId8"/>
          </p:cNvPr>
          <p:cNvSpPr/>
          <p:nvPr/>
        </p:nvSpPr>
        <p:spPr>
          <a:xfrm>
            <a:off x="2944075" y="2896134"/>
            <a:ext cx="1380961" cy="1345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4" name="Invisible source link 6: https://www.komodohealth.com/press/komodo-health-unveils-new-generative-ai-offerings-to-enable-real-time-insights-across-330-million-patient-journeys/">
            <a:hlinkClick r:id="rId9"/>
          </p:cNvPr>
          <p:cNvSpPr/>
          <p:nvPr/>
        </p:nvSpPr>
        <p:spPr>
          <a:xfrm>
            <a:off x="4593234" y="2896134"/>
            <a:ext cx="394492" cy="1345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5" name="Invisible source link 6: https://www.truveta.com/blog/announcement/truveta-unveils-truveta-intelligence/">
            <a:hlinkClick r:id="rId10"/>
          </p:cNvPr>
          <p:cNvSpPr/>
          <p:nvPr/>
        </p:nvSpPr>
        <p:spPr>
          <a:xfrm>
            <a:off x="2944075" y="3082621"/>
            <a:ext cx="1677890" cy="1345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6" name="Invisible source link 6: https://briya.com/aire-population-agent/">
            <a:hlinkClick r:id="rId11"/>
          </p:cNvPr>
          <p:cNvSpPr/>
          <p:nvPr/>
        </p:nvSpPr>
        <p:spPr>
          <a:xfrm>
            <a:off x="2944075" y="3269095"/>
            <a:ext cx="1703197" cy="1345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7" name="Invisible source link 6: https://healthverity.com/news/announcing-healthverity-exos/">
            <a:hlinkClick r:id="rId4"/>
          </p:cNvPr>
          <p:cNvSpPr/>
          <p:nvPr/>
        </p:nvSpPr>
        <p:spPr>
          <a:xfrm>
            <a:off x="2944075" y="3828899"/>
            <a:ext cx="1107648" cy="1345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8" name="Invisible source link 6: https://www.bcplatforms.com/bc-catalyst">
            <a:hlinkClick r:id="rId16"/>
          </p:cNvPr>
          <p:cNvSpPr/>
          <p:nvPr/>
        </p:nvSpPr>
        <p:spPr>
          <a:xfrm>
            <a:off x="2944075" y="4015373"/>
            <a:ext cx="1438555" cy="1345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9" name="Invisible source link 6: https://healthverity.com/exos/">
            <a:hlinkClick r:id="rId18"/>
          </p:cNvPr>
          <p:cNvSpPr/>
          <p:nvPr/>
        </p:nvSpPr>
        <p:spPr>
          <a:xfrm>
            <a:off x="749515" y="5215373"/>
            <a:ext cx="1245930" cy="1486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0" name="Invisible source link 6: https://www.norstella.com/press-releases/panalgo-revolutionizes-real-world-data-launch-linqnotes-ella-ai/">
            <a:hlinkClick r:id="rId19"/>
          </p:cNvPr>
          <p:cNvSpPr/>
          <p:nvPr/>
        </p:nvSpPr>
        <p:spPr>
          <a:xfrm>
            <a:off x="2305443" y="5215373"/>
            <a:ext cx="943971" cy="1486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1" name="Invisible source link 6: https://www.prnewswire.com/news-releases/truven-launches-marketscan-snapshot-an-ai-powered-tool-to-evaluate-fit-for-purpose-real-world-data-in-minutes-302892187.html">
            <a:hlinkClick r:id="rId20"/>
          </p:cNvPr>
          <p:cNvSpPr/>
          <p:nvPr/>
        </p:nvSpPr>
        <p:spPr>
          <a:xfrm>
            <a:off x="7336078" y="5375216"/>
            <a:ext cx="1382191" cy="1486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SPECIALIZED RWE AND EVIDENCE GENERATION</a:t>
            </a:r>
            <a:endParaRPr lang="en-US" sz="1000" dirty="0"/>
          </a:p>
        </p:txBody>
      </p:sp>
      <p:sp>
        <p:nvSpPr>
          <p:cNvPr id="3" name="tracker RWE"/>
          <p:cNvSpPr/>
          <p:nvPr/>
        </p:nvSpPr>
        <p:spPr>
          <a:xfrm>
            <a:off x="5657393" y="365760"/>
            <a:ext cx="386791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657393" y="365760"/>
            <a:ext cx="3867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bg1"/>
                </a:solidFill>
              </a:rPr>
              <a:t>RWE</a:t>
            </a:r>
            <a:endParaRPr lang="en-US" sz="750" dirty="0"/>
          </a:p>
        </p:txBody>
      </p:sp>
      <p:sp>
        <p:nvSpPr>
          <p:cNvPr id="5" name="tracker Commercial Intelligence"/>
          <p:cNvSpPr/>
          <p:nvPr/>
        </p:nvSpPr>
        <p:spPr>
          <a:xfrm>
            <a:off x="6108192" y="365760"/>
            <a:ext cx="1502359" cy="23774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108192" y="365760"/>
            <a:ext cx="15023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accent4"/>
                </a:solidFill>
              </a:rPr>
              <a:t>Commercial Intelligence</a:t>
            </a:r>
            <a:endParaRPr lang="en-US" sz="750" dirty="0"/>
          </a:p>
        </p:txBody>
      </p:sp>
      <p:sp>
        <p:nvSpPr>
          <p:cNvPr id="7" name="tracker Medical / Regulatory Research"/>
          <p:cNvSpPr/>
          <p:nvPr/>
        </p:nvSpPr>
        <p:spPr>
          <a:xfrm>
            <a:off x="7674559" y="365760"/>
            <a:ext cx="1837030" cy="23774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674559" y="365760"/>
            <a:ext cx="18370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accent4"/>
                </a:solidFill>
              </a:rPr>
              <a:t>Medical / Regulatory Research</a:t>
            </a:r>
            <a:endParaRPr lang="en-US" sz="750" dirty="0"/>
          </a:p>
        </p:txBody>
      </p:sp>
      <p:sp>
        <p:nvSpPr>
          <p:cNvPr id="9" name="tracker Clinical Trials"/>
          <p:cNvSpPr/>
          <p:nvPr/>
        </p:nvSpPr>
        <p:spPr>
          <a:xfrm>
            <a:off x="9575597" y="365760"/>
            <a:ext cx="1056132" cy="23774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9575597" y="365760"/>
            <a:ext cx="10561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accent4"/>
                </a:solidFill>
              </a:rPr>
              <a:t>Clinical Trials</a:t>
            </a:r>
            <a:endParaRPr lang="en-US" sz="750" dirty="0"/>
          </a:p>
        </p:txBody>
      </p:sp>
      <p:sp>
        <p:nvSpPr>
          <p:cNvPr id="11" name="tracker Market Access"/>
          <p:cNvSpPr/>
          <p:nvPr/>
        </p:nvSpPr>
        <p:spPr>
          <a:xfrm>
            <a:off x="10695737" y="365760"/>
            <a:ext cx="944575" cy="23774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695737" y="365760"/>
            <a:ext cx="944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accent4"/>
                </a:solidFill>
              </a:rPr>
              <a:t>Market Access</a:t>
            </a:r>
            <a:endParaRPr lang="en-US" sz="750" dirty="0"/>
          </a:p>
        </p:txBody>
      </p:sp>
      <p:sp>
        <p:nvSpPr>
          <p:cNvPr id="13" name="Text 2"/>
          <p:cNvSpPr/>
          <p:nvPr>
            <p:ph idx="103" type="title" hasCustomPrompt="1"/>
          </p:nvPr>
        </p:nvSpPr>
        <p:spPr>
          <a:xfrm>
            <a:off x="548640" y="64008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In oncology and specialty data, vendors pitch conversational AI as a substitute for some routine analyst work</a:t>
            </a:r>
            <a:endParaRPr lang="en-US" sz="2200" dirty="0"/>
          </a:p>
        </p:txBody>
      </p:sp>
      <p:graphicFrame>
        <p:nvGraphicFramePr>
          <p:cNvPr id="7" name="tas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3008375"/>
        </p:xfrm>
        <a:graphic>
          <a:graphicData uri="http://schemas.openxmlformats.org/drawingml/2006/table">
            <a:tbl>
              <a:tblPr/>
              <a:tblGrid>
                <a:gridCol w="2286000"/>
                <a:gridCol w="5760720"/>
                <a:gridCol w="304495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chemeClr val="bg1"/>
                          </a:solidFill>
                        </a:rPr>
                        <a:t>CUSTOMER TASK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chemeClr val="bg1"/>
                          </a:solidFill>
                        </a:rPr>
                        <a:t>CONVERSATIONAL AI OFFERINGS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chemeClr val="bg1"/>
                          </a:solidFill>
                        </a:rPr>
                        <a:t>RELEVANT OPTUM LS OFFERINGS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8478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Explore oncology and</a:t>
                      </a:r>
                      <a:br/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specialty cohorts</a:t>
                      </a:r>
                      <a:endParaRPr lang="en-US" sz="10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Flatiron Health’s </a:t>
                      </a:r>
                      <a:r>
                        <a:rPr lang="en-US" sz="950" b="1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Telescope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: conversational oncology cohort exploration;</a:t>
                      </a:r>
                      <a:endParaRPr lang="en-US" sz="950" dirty="0"/>
                    </a:p>
                    <a:p>
                      <a:pPr indent="0" marL="0">
                        <a:spcBef>
                          <a:spcPts val="400"/>
                        </a:spcBef>
                        <a:buNone/>
                      </a:pPr>
                      <a:r>
                        <a:rPr lang="en-US" sz="95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Tempus’s </a:t>
                      </a:r>
                      <a:r>
                        <a:rPr lang="en-US" sz="950" b="1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Lens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: clinical and molecular research exploration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 b="1">
                          <a:solidFill>
                            <a:schemeClr val="tx1"/>
                          </a:solidFill>
                        </a:rPr>
                        <a:t>Enriched Clinical Data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 (NLP-derived disease attributes)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; 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clinicogenomics datasets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 (linked clinical/genomic data)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78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Investigate specialty-</a:t>
                      </a:r>
                      <a:br/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disease evidence</a:t>
                      </a:r>
                      <a:endParaRPr lang="en-US" sz="10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ConcertAI’s </a:t>
                      </a:r>
                      <a:r>
                        <a:rPr lang="en-US" sz="950" b="1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Precision Explorer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: oncology research analytics;</a:t>
                      </a:r>
                      <a:endParaRPr lang="en-US" sz="950" dirty="0"/>
                    </a:p>
                    <a:p>
                      <a:pPr indent="0" marL="0">
                        <a:spcBef>
                          <a:spcPts val="400"/>
                        </a:spcBef>
                        <a:buNone/>
                      </a:pPr>
                      <a:r>
                        <a:rPr lang="en-US" sz="95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Verana Health’s </a:t>
                      </a:r>
                      <a:r>
                        <a:rPr lang="en-US" sz="950" b="1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Agent Claire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: conversational specialty-data research;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 b="1">
                          <a:solidFill>
                            <a:schemeClr val="tx1"/>
                          </a:solidFill>
                        </a:rPr>
                        <a:t>Clinical Notes Lab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 (NLP/LLMs, custom AI models)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; 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epidemiology and observational research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 (study design, comparative effectiveness)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35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Analyze curated</a:t>
                      </a:r>
                      <a:br/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research datasets</a:t>
                      </a:r>
                      <a:endParaRPr lang="en-US" sz="10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MDClone’s </a:t>
                      </a:r>
                      <a:r>
                        <a:rPr lang="en-US" sz="950" b="1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ADAMS Copilot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(Israel)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: conversational statistical analysis and visualization within controlled research datasets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 b="1">
                          <a:solidFill>
                            <a:schemeClr val="tx1"/>
                          </a:solidFill>
                        </a:rPr>
                        <a:t>Analytics on Demand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 (advanced statistical modeling, survival analysis)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; 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research data and study environments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 (curated data, analytical workspaces)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packaged outcomes studies card"/>
          <p:cNvSpPr/>
          <p:nvPr/>
        </p:nvSpPr>
        <p:spPr>
          <a:xfrm>
            <a:off x="548640" y="4672584"/>
            <a:ext cx="5454396" cy="1380744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label"/>
          <p:cNvSpPr txBox="1"/>
          <p:nvPr/>
        </p:nvSpPr>
        <p:spPr>
          <a:xfrm>
            <a:off x="749808" y="4855464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2"/>
                </a:solidFill>
              </a:rPr>
              <a:t>PACKAGED OUTCOMES STUDIES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49808" y="5202936"/>
            <a:ext cx="50520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ConcertAI markets named Precision Explorer agents for guideline concordance, real-world outcomes and comorbidity analysis; it claims projects can shrink “</a:t>
            </a:r>
            <a:r>
              <a:rPr lang="en-US" sz="1050" b="1" dirty="0" u="sng">
                <a:solidFill>
                  <a:srgbClr val="002677"/>
                </a:solidFill>
                <a:uFill>
                  <a:solidFill>
                    <a:srgbClr val="9AA8CC"/>
                  </a:solidFill>
                </a:uFill>
              </a:rPr>
              <a:t>from 10-20 weeks to as little as 6 weeks</a:t>
            </a:r>
            <a:r>
              <a:rPr lang="en-US" sz="1050" b="1" dirty="0">
                <a:solidFill>
                  <a:schemeClr val="tx1"/>
                </a:solidFill>
              </a:rPr>
              <a:t>.”</a:t>
            </a:r>
            <a:endParaRPr lang="en-US" sz="1050" dirty="0"/>
          </a:p>
        </p:txBody>
      </p:sp>
      <p:sp>
        <p:nvSpPr>
          <p:cNvPr id="18" name="self-service analysis card"/>
          <p:cNvSpPr/>
          <p:nvPr/>
        </p:nvSpPr>
        <p:spPr>
          <a:xfrm>
            <a:off x="6185916" y="4672584"/>
            <a:ext cx="5454396" cy="1380744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label"/>
          <p:cNvSpPr txBox="1"/>
          <p:nvPr/>
        </p:nvSpPr>
        <p:spPr>
          <a:xfrm>
            <a:off x="6387084" y="4855464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2"/>
                </a:solidFill>
              </a:rPr>
              <a:t>SELF-SERVICE ANALYSIS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387084" y="5202936"/>
            <a:ext cx="50520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Specialty-data vendors market conversational AI as a way to supplant routine work by analysts: Flatiron’s Telescope delivers survival analyses on demand, “</a:t>
            </a:r>
            <a:r>
              <a:rPr lang="en-US" sz="1050" b="1" dirty="0" u="sng">
                <a:solidFill>
                  <a:srgbClr val="002677"/>
                </a:solidFill>
                <a:uFill>
                  <a:solidFill>
                    <a:srgbClr val="9AA8CC"/>
                  </a:solidFill>
                </a:uFill>
              </a:rPr>
              <a:t>eliminating the need to wait in analyst queues</a:t>
            </a:r>
            <a:r>
              <a:rPr lang="en-US" sz="1050" b="1" dirty="0">
                <a:solidFill>
                  <a:schemeClr val="tx1"/>
                </a:solidFill>
              </a:rPr>
              <a:t>,” while Verana’s Agent Claire offers data access “</a:t>
            </a:r>
            <a:r>
              <a:rPr lang="en-US" sz="1050" b="1" dirty="0" u="sng">
                <a:solidFill>
                  <a:srgbClr val="002677"/>
                </a:solidFill>
                <a:uFill>
                  <a:solidFill>
                    <a:srgbClr val="9AA8CC"/>
                  </a:solidFill>
                </a:uFill>
              </a:rPr>
              <a:t>without needing programming skills or analyst assistance</a:t>
            </a:r>
            <a:r>
              <a:rPr lang="en-US" sz="1050" b="1" dirty="0">
                <a:solidFill>
                  <a:schemeClr val="tx1"/>
                </a:solidFill>
              </a:rPr>
              <a:t>.”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09360"/>
            <a:ext cx="9144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sp>
        <p:nvSpPr>
          <p:cNvPr id="26" name="link legend"/>
          <p:cNvSpPr txBox="1"/>
          <p:nvPr/>
        </p:nvSpPr>
        <p:spPr>
          <a:xfrm>
            <a:off x="2944368" y="630936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00">
                <a:solidFill>
                  <a:schemeClr val="accent4"/>
                </a:solidFill>
              </a:rPr>
              <a:t>·  Underlined text links to public sources</a:t>
            </a:r>
          </a:p>
        </p:txBody>
      </p:sp>
      <p:sp>
        <p:nvSpPr>
          <p:cNvPr id="9721" name="Invisible source link 7: https://resources.flatiron.com/press/flatiron-health-launches-flatiron-telescope-a-new-ai-platform-delivering-oncology-insights-in-minutes">
            <a:hlinkClick r:id="rId3"/>
          </p:cNvPr>
          <p:cNvSpPr/>
          <p:nvPr/>
        </p:nvSpPr>
        <p:spPr>
          <a:xfrm>
            <a:off x="2944075" y="2073898"/>
            <a:ext cx="1513375" cy="1345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2" name="Invisible source link 7: https://www.tempus.com/solutions/lens/">
            <a:hlinkClick r:id="rId4"/>
          </p:cNvPr>
          <p:cNvSpPr/>
          <p:nvPr/>
        </p:nvSpPr>
        <p:spPr>
          <a:xfrm>
            <a:off x="2944075" y="2260372"/>
            <a:ext cx="853495" cy="1345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3" name="Invisible source link 7: https://www.concertai.com/precision-explorer">
            <a:hlinkClick r:id="rId7"/>
          </p:cNvPr>
          <p:cNvSpPr/>
          <p:nvPr/>
        </p:nvSpPr>
        <p:spPr>
          <a:xfrm>
            <a:off x="2944075" y="2921700"/>
            <a:ext cx="1749531" cy="1345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4" name="Invisible source link 7: https://veranahealth.com/verana-health-introduces-new-ai-agents-to-expedite-and-streamline-rd-tasks/">
            <a:hlinkClick r:id="rId8"/>
          </p:cNvPr>
          <p:cNvSpPr/>
          <p:nvPr/>
        </p:nvSpPr>
        <p:spPr>
          <a:xfrm>
            <a:off x="2944075" y="3108174"/>
            <a:ext cx="1623166" cy="1345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5" name="Invisible source link 7: https://mdclone.com/meet-copilot/">
            <a:hlinkClick r:id="rId11"/>
          </p:cNvPr>
          <p:cNvSpPr/>
          <p:nvPr/>
        </p:nvSpPr>
        <p:spPr>
          <a:xfrm>
            <a:off x="2944075" y="3862731"/>
            <a:ext cx="1507058" cy="1345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6" name="Invisible source link 7: https://www.concertai.com/precision-explorer">
            <a:hlinkClick r:id="rId7"/>
          </p:cNvPr>
          <p:cNvSpPr/>
          <p:nvPr/>
        </p:nvSpPr>
        <p:spPr>
          <a:xfrm>
            <a:off x="749515" y="5535058"/>
            <a:ext cx="2658874" cy="1486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7" name="Invisible source link 7: https://resources.flatiron.com/press/flatiron-health-launches-flatiron-telescope-a-new-ai-platform-delivering-oncology-insights-in-minutes">
            <a:hlinkClick r:id="rId3"/>
          </p:cNvPr>
          <p:cNvSpPr/>
          <p:nvPr/>
        </p:nvSpPr>
        <p:spPr>
          <a:xfrm>
            <a:off x="6386753" y="5535058"/>
            <a:ext cx="3056676" cy="1486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8" name="Invisible source link 7: https://www.prnewswire.com/news-releases/verana-health-introduces-new-ai-agents-to-expedite-and-streamline-rd-302888122.html">
            <a:hlinkClick r:id="rId14"/>
          </p:cNvPr>
          <p:cNvSpPr/>
          <p:nvPr/>
        </p:nvSpPr>
        <p:spPr>
          <a:xfrm>
            <a:off x="7578472" y="5694900"/>
            <a:ext cx="3823361" cy="1486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CONVERSATIONAL AI IN COMMERCIAL INTELLIGENCE</a:t>
            </a:r>
            <a:endParaRPr lang="en-US" sz="1000" dirty="0"/>
          </a:p>
        </p:txBody>
      </p:sp>
      <p:sp>
        <p:nvSpPr>
          <p:cNvPr id="3" name="tracker RWE"/>
          <p:cNvSpPr/>
          <p:nvPr/>
        </p:nvSpPr>
        <p:spPr>
          <a:xfrm>
            <a:off x="5657393" y="365760"/>
            <a:ext cx="386791" cy="23774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657393" y="365760"/>
            <a:ext cx="3867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accent4"/>
                </a:solidFill>
              </a:rPr>
              <a:t>RWE</a:t>
            </a:r>
            <a:endParaRPr lang="en-US" sz="750" dirty="0"/>
          </a:p>
        </p:txBody>
      </p:sp>
      <p:sp>
        <p:nvSpPr>
          <p:cNvPr id="5" name="tracker Commercial Intelligence"/>
          <p:cNvSpPr/>
          <p:nvPr/>
        </p:nvSpPr>
        <p:spPr>
          <a:xfrm>
            <a:off x="6108192" y="365760"/>
            <a:ext cx="1502359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108192" y="365760"/>
            <a:ext cx="15023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bg1"/>
                </a:solidFill>
              </a:rPr>
              <a:t>Commercial Intelligence</a:t>
            </a:r>
            <a:endParaRPr lang="en-US" sz="750" dirty="0"/>
          </a:p>
        </p:txBody>
      </p:sp>
      <p:sp>
        <p:nvSpPr>
          <p:cNvPr id="7" name="tracker Medical / Regulatory Research"/>
          <p:cNvSpPr/>
          <p:nvPr/>
        </p:nvSpPr>
        <p:spPr>
          <a:xfrm>
            <a:off x="7674559" y="365760"/>
            <a:ext cx="1837030" cy="23774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674559" y="365760"/>
            <a:ext cx="18370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accent4"/>
                </a:solidFill>
              </a:rPr>
              <a:t>Medical / Regulatory Research</a:t>
            </a:r>
            <a:endParaRPr lang="en-US" sz="750" dirty="0"/>
          </a:p>
        </p:txBody>
      </p:sp>
      <p:sp>
        <p:nvSpPr>
          <p:cNvPr id="9" name="tracker Clinical Trials"/>
          <p:cNvSpPr/>
          <p:nvPr/>
        </p:nvSpPr>
        <p:spPr>
          <a:xfrm>
            <a:off x="9575597" y="365760"/>
            <a:ext cx="1056132" cy="23774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9575597" y="365760"/>
            <a:ext cx="10561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accent4"/>
                </a:solidFill>
              </a:rPr>
              <a:t>Clinical Trials</a:t>
            </a:r>
            <a:endParaRPr lang="en-US" sz="750" dirty="0"/>
          </a:p>
        </p:txBody>
      </p:sp>
      <p:sp>
        <p:nvSpPr>
          <p:cNvPr id="11" name="tracker Market Access"/>
          <p:cNvSpPr/>
          <p:nvPr/>
        </p:nvSpPr>
        <p:spPr>
          <a:xfrm>
            <a:off x="10695737" y="365760"/>
            <a:ext cx="944575" cy="23774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695737" y="365760"/>
            <a:ext cx="944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accent4"/>
                </a:solidFill>
              </a:rPr>
              <a:t>Market Access</a:t>
            </a:r>
            <a:endParaRPr lang="en-US" sz="750" dirty="0"/>
          </a:p>
        </p:txBody>
      </p:sp>
      <p:sp>
        <p:nvSpPr>
          <p:cNvPr id="13" name="Text 2"/>
          <p:cNvSpPr/>
          <p:nvPr>
            <p:ph idx="103" type="title" hasCustomPrompt="1"/>
          </p:nvPr>
        </p:nvSpPr>
        <p:spPr>
          <a:xfrm>
            <a:off x="548640" y="64008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In commercial intelligence, conversational AI reaches into reps’ daily workflow and simulated market research</a:t>
            </a:r>
            <a:endParaRPr lang="en-US" sz="2200" dirty="0"/>
          </a:p>
        </p:txBody>
      </p:sp>
      <p:graphicFrame>
        <p:nvGraphicFramePr>
          <p:cNvPr id="8" name="tas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3008374"/>
        </p:xfrm>
        <a:graphic>
          <a:graphicData uri="http://schemas.openxmlformats.org/drawingml/2006/table">
            <a:tbl>
              <a:tblPr/>
              <a:tblGrid>
                <a:gridCol w="2286000"/>
                <a:gridCol w="5760720"/>
                <a:gridCol w="304495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chemeClr val="bg1"/>
                          </a:solidFill>
                        </a:rPr>
                        <a:t>CUSTOMER TASK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chemeClr val="bg1"/>
                          </a:solidFill>
                        </a:rPr>
                        <a:t>CONVERSATIONAL AI OFFERINGS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chemeClr val="bg1"/>
                          </a:solidFill>
                        </a:rPr>
                        <a:t>RELEVANT OPTUM LS OFFERINGS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10059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Pharmaceutical market and portfolio intelligence</a:t>
                      </a:r>
                      <a:endParaRPr lang="en-US" sz="10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IQVIA’s </a:t>
                      </a:r>
                      <a:r>
                        <a:rPr lang="en-US" sz="950" b="1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GMI Agent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: global market insights;</a:t>
                      </a:r>
                      <a:endParaRPr lang="en-US" sz="950" dirty="0"/>
                    </a:p>
                    <a:p>
                      <a:pPr indent="0" marL="0">
                        <a:spcBef>
                          <a:spcPts val="400"/>
                        </a:spcBef>
                        <a:buNone/>
                      </a:pPr>
                      <a:r>
                        <a:rPr lang="en-US" sz="95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Norstella’s </a:t>
                      </a:r>
                      <a:r>
                        <a:rPr lang="en-US" sz="950" dirty="0" b="1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Evaluate Ella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: plain-English questions on pharma markets, deals and forecasts;</a:t>
                      </a:r>
                      <a:endParaRPr lang="en-US" sz="950" dirty="0"/>
                    </a:p>
                    <a:p>
                      <a:pPr indent="0" marL="0">
                        <a:spcBef>
                          <a:spcPts val="400"/>
                        </a:spcBef>
                        <a:buNone/>
                      </a:pPr>
                      <a:r>
                        <a:rPr lang="en-US" sz="95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GBI Health’s </a:t>
                      </a:r>
                      <a:r>
                        <a:rPr lang="en-US" sz="950" b="1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GBI BOT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(China)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: pharmaceutical database Q&amp;A and competitive intelligence;</a:t>
                      </a:r>
                      <a:endParaRPr lang="en-US" sz="950" dirty="0"/>
                    </a:p>
                    <a:p>
                      <a:pPr indent="0" marL="0">
                        <a:spcBef>
                          <a:spcPts val="400"/>
                        </a:spcBef>
                        <a:buNone/>
                      </a:pPr>
                      <a:r>
                        <a:rPr lang="en-US" sz="95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Prospection’s </a:t>
                      </a:r>
                      <a:r>
                        <a:rPr lang="en-US" sz="950" b="1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ProGPT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(Australia)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: conversational patient and market insights for brand planning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 b="1">
                          <a:solidFill>
                            <a:schemeClr val="tx1"/>
                          </a:solidFill>
                        </a:rPr>
                        <a:t>Market Clarity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 (linked claims/EHR data, market attractiveness and portfolio analytics)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52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Commercial field and prescribing decisions</a:t>
                      </a:r>
                      <a:endParaRPr lang="en-US" sz="10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IQVIA’s </a:t>
                      </a:r>
                      <a:r>
                        <a:rPr lang="en-US" sz="950" b="1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Field Force Agent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: commercial field support;</a:t>
                      </a:r>
                      <a:endParaRPr lang="en-US" sz="950" dirty="0"/>
                    </a:p>
                    <a:p>
                      <a:pPr indent="0" marL="0">
                        <a:spcBef>
                          <a:spcPts val="400"/>
                        </a:spcBef>
                        <a:buNone/>
                      </a:pPr>
                      <a:r>
                        <a:rPr lang="en-US" sz="95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ZS’s </a:t>
                      </a:r>
                      <a:r>
                        <a:rPr lang="en-US" sz="950" b="1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ZAIDYN Conversational AI for Commercial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: commercial information and decision support;</a:t>
                      </a:r>
                      <a:endParaRPr lang="en-US" sz="950" dirty="0"/>
                    </a:p>
                    <a:p>
                      <a:pPr indent="0" marL="0">
                        <a:spcBef>
                          <a:spcPts val="400"/>
                        </a:spcBef>
                        <a:buNone/>
                      </a:pPr>
                      <a:r>
                        <a:rPr lang="en-US" sz="95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Close-Up International’s </a:t>
                      </a:r>
                      <a:r>
                        <a:rPr lang="en-US" sz="950" b="1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Xplora AI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(Spain)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: AI-enabled pharmaceutical CRM and commercial intelligence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 b="1">
                          <a:solidFill>
                            <a:schemeClr val="tx1"/>
                          </a:solidFill>
                        </a:rPr>
                        <a:t>Market Clarity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 (patient/prescriber segmentation, treatment patterns, market analytics)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79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Simulated stakeholder research</a:t>
                      </a:r>
                      <a:endParaRPr lang="en-US" sz="10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Trinity Life Sciences’ </a:t>
                      </a:r>
                      <a:r>
                        <a:rPr lang="en-US" sz="950" b="1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InsightsEDGE Digital Twins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: conversational simulated personas;</a:t>
                      </a:r>
                      <a:endParaRPr lang="en-US" sz="950" dirty="0"/>
                    </a:p>
                    <a:p>
                      <a:pPr indent="0" marL="0">
                        <a:spcBef>
                          <a:spcPts val="400"/>
                        </a:spcBef>
                        <a:buNone/>
                      </a:pPr>
                      <a:r>
                        <a:rPr lang="en-US" sz="95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Ipsos’s </a:t>
                      </a:r>
                      <a:r>
                        <a:rPr lang="en-US" sz="950" b="1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Healthcare PersonaBot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(France)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: interaction with simulated healthcare stakeholders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 b="1">
                          <a:solidFill>
                            <a:schemeClr val="tx1"/>
                          </a:solidFill>
                        </a:rPr>
                        <a:t>Market Clarity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 (observed patient/prescriber insights)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; 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no comparable simulated-persona offering established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from insight to field action card"/>
          <p:cNvSpPr/>
          <p:nvPr/>
        </p:nvSpPr>
        <p:spPr>
          <a:xfrm>
            <a:off x="548640" y="4672584"/>
            <a:ext cx="5454396" cy="1380744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label"/>
          <p:cNvSpPr txBox="1"/>
          <p:nvPr/>
        </p:nvSpPr>
        <p:spPr>
          <a:xfrm>
            <a:off x="749808" y="4855464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2"/>
                </a:solidFill>
              </a:rPr>
              <a:t>FROM INSIGHT TO FIELD ACTION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49808" y="5202936"/>
            <a:ext cx="50520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IQVIA’s Field Force Agent uses CRM activity and call notes to recommend next best actions, with a claimed </a:t>
            </a:r>
            <a:r>
              <a:rPr lang="en-US" sz="1050" b="1" dirty="0" u="sng">
                <a:solidFill>
                  <a:srgbClr val="002677"/>
                </a:solidFill>
                <a:uFill>
                  <a:solidFill>
                    <a:srgbClr val="9AA8CC"/>
                  </a:solidFill>
                </a:uFill>
              </a:rPr>
              <a:t>prep-time reduction of up to 27%</a:t>
            </a:r>
            <a:r>
              <a:rPr lang="en-US" sz="1050" b="1" dirty="0">
                <a:solidFill>
                  <a:schemeClr val="tx1"/>
                </a:solidFill>
              </a:rPr>
              <a:t>. ZS’s commercial assistant </a:t>
            </a:r>
            <a:r>
              <a:rPr lang="en-US" sz="1050" b="1" dirty="0" u="sng">
                <a:solidFill>
                  <a:srgbClr val="002677"/>
                </a:solidFill>
                <a:uFill>
                  <a:solidFill>
                    <a:srgbClr val="9AA8CC"/>
                  </a:solidFill>
                </a:uFill>
              </a:rPr>
              <a:t>generates call plans and draft emails</a:t>
            </a:r>
            <a:r>
              <a:rPr lang="en-US" sz="1050" b="1" dirty="0">
                <a:solidFill>
                  <a:schemeClr val="tx1"/>
                </a:solidFill>
              </a:rPr>
              <a:t>.</a:t>
            </a:r>
            <a:endParaRPr lang="en-US" sz="1050" dirty="0"/>
          </a:p>
        </p:txBody>
      </p:sp>
      <p:sp>
        <p:nvSpPr>
          <p:cNvPr id="18" name="synthetic stakeholder research card"/>
          <p:cNvSpPr/>
          <p:nvPr/>
        </p:nvSpPr>
        <p:spPr>
          <a:xfrm>
            <a:off x="6185916" y="4672584"/>
            <a:ext cx="5454396" cy="1380744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label"/>
          <p:cNvSpPr txBox="1"/>
          <p:nvPr/>
        </p:nvSpPr>
        <p:spPr>
          <a:xfrm>
            <a:off x="6387084" y="4855464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2"/>
                </a:solidFill>
              </a:rPr>
              <a:t>SYNTHETIC STAKEHOLDER RESEARCH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387084" y="5202936"/>
            <a:ext cx="50520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Trinity’s data-grounded digital twins simulate HCP, patient and payer responses to test messages “</a:t>
            </a:r>
            <a:r>
              <a:rPr lang="en-US" sz="1050" b="1" dirty="0" u="sng">
                <a:solidFill>
                  <a:srgbClr val="002677"/>
                </a:solidFill>
                <a:uFill>
                  <a:solidFill>
                    <a:srgbClr val="9AA8CC"/>
                  </a:solidFill>
                </a:uFill>
              </a:rPr>
              <a:t>without commissioning a new study every time</a:t>
            </a:r>
            <a:r>
              <a:rPr lang="en-US" sz="1050" b="1" dirty="0">
                <a:solidFill>
                  <a:schemeClr val="tx1"/>
                </a:solidFill>
              </a:rPr>
              <a:t>”; Ipsos’s PersonaBot hosts a “</a:t>
            </a:r>
            <a:r>
              <a:rPr lang="en-US" sz="1050" b="1" dirty="0" u="sng">
                <a:solidFill>
                  <a:srgbClr val="002677"/>
                </a:solidFill>
                <a:uFill>
                  <a:solidFill>
                    <a:srgbClr val="9AA8CC"/>
                  </a:solidFill>
                </a:uFill>
              </a:rPr>
              <a:t>focus group</a:t>
            </a:r>
            <a:r>
              <a:rPr lang="en-US" sz="1050" b="1" dirty="0">
                <a:solidFill>
                  <a:schemeClr val="tx1"/>
                </a:solidFill>
              </a:rPr>
              <a:t>” of personas drawn from clients’ existing research.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09360"/>
            <a:ext cx="9144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26" name="link legend"/>
          <p:cNvSpPr txBox="1"/>
          <p:nvPr/>
        </p:nvSpPr>
        <p:spPr>
          <a:xfrm>
            <a:off x="2944368" y="630936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00">
                <a:solidFill>
                  <a:schemeClr val="accent4"/>
                </a:solidFill>
              </a:rPr>
              <a:t>·  Underlined text links to public sources</a:t>
            </a:r>
          </a:p>
        </p:txBody>
      </p:sp>
      <p:sp>
        <p:nvSpPr>
          <p:cNvPr id="9721" name="Invisible source link 8: https://www.iqvia.com/solutions/commercialization/iqvia-commercial-agentic-ai">
            <a:hlinkClick r:id="rId3"/>
          </p:cNvPr>
          <p:cNvSpPr/>
          <p:nvPr/>
        </p:nvSpPr>
        <p:spPr>
          <a:xfrm>
            <a:off x="2944075" y="1966253"/>
            <a:ext cx="1060493" cy="1345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2" name="Invisible source link 8: https://www.gbihealth.com.cn/en/products/gbi-bot">
            <a:hlinkClick r:id="rId4"/>
          </p:cNvPr>
          <p:cNvSpPr/>
          <p:nvPr/>
        </p:nvSpPr>
        <p:spPr>
          <a:xfrm>
            <a:off x="2944075" y="2339214"/>
            <a:ext cx="1205482" cy="1345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3" name="Invisible source link 8: https://support.prospection.com/en_US/530415-using-progpt/8351360445583">
            <a:hlinkClick r:id="rId5"/>
          </p:cNvPr>
          <p:cNvSpPr/>
          <p:nvPr/>
        </p:nvSpPr>
        <p:spPr>
          <a:xfrm>
            <a:off x="2944075" y="2525701"/>
            <a:ext cx="1199225" cy="1345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4" name="Invisible source link 8: https://www.iqvia.com/solutions/commercialization/iqvia-commercial-agentic-ai">
            <a:hlinkClick r:id="rId3"/>
          </p:cNvPr>
          <p:cNvSpPr/>
          <p:nvPr/>
        </p:nvSpPr>
        <p:spPr>
          <a:xfrm>
            <a:off x="2944075" y="2972093"/>
            <a:ext cx="1475211" cy="1345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5" name="Invisible source link 8: https://zaidyn.zs.com/products/zaidyn-commercial/conversational-ai">
            <a:hlinkClick r:id="rId7"/>
          </p:cNvPr>
          <p:cNvSpPr/>
          <p:nvPr/>
        </p:nvSpPr>
        <p:spPr>
          <a:xfrm>
            <a:off x="2944075" y="3158580"/>
            <a:ext cx="2721894" cy="1345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6" name="Invisible source link 8: https://close-upinternational.com/es/crm-farmaceutico-nativo-en-ia-de-los-datos-a-las-decisiones-unificadas-2/">
            <a:hlinkClick r:id="rId8"/>
          </p:cNvPr>
          <p:cNvSpPr/>
          <p:nvPr/>
        </p:nvSpPr>
        <p:spPr>
          <a:xfrm>
            <a:off x="2944075" y="3345054"/>
            <a:ext cx="1837400" cy="1345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7" name="Invisible source link 8: https://www.evaluate.com/ask-ella/">
            <a:hlinkClick r:id="rId11"/>
          </p:cNvPr>
          <p:cNvSpPr/>
          <p:nvPr/>
        </p:nvSpPr>
        <p:spPr>
          <a:xfrm>
            <a:off x="2944075" y="2152740"/>
            <a:ext cx="1368645" cy="1345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8" name="Invisible source link 8: https://trinitylifesciences.com/products/insightsedge-digital-twins/">
            <a:hlinkClick r:id="rId9"/>
          </p:cNvPr>
          <p:cNvSpPr/>
          <p:nvPr/>
        </p:nvSpPr>
        <p:spPr>
          <a:xfrm>
            <a:off x="2944075" y="3969653"/>
            <a:ext cx="2730885" cy="1345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9" name="Invisible source link 8: https://www.ipsos.com/en/healthcare/healthcare-personabot">
            <a:hlinkClick r:id="rId10"/>
          </p:cNvPr>
          <p:cNvSpPr/>
          <p:nvPr/>
        </p:nvSpPr>
        <p:spPr>
          <a:xfrm>
            <a:off x="2944075" y="4156140"/>
            <a:ext cx="1728934" cy="1345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0" name="Invisible source link 8: https://www.iqvia.com/solutions/commercialization/commercial-analytics/omnichannel-engagement-and-insights/field-force-agent">
            <a:hlinkClick r:id="rId12"/>
          </p:cNvPr>
          <p:cNvSpPr/>
          <p:nvPr/>
        </p:nvSpPr>
        <p:spPr>
          <a:xfrm>
            <a:off x="2538717" y="5375216"/>
            <a:ext cx="2106538" cy="1486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1" name="Invisible source link 8: https://zaidyn.zs.com/products/zaidyn-commercial/conversational-ai">
            <a:hlinkClick r:id="rId7"/>
          </p:cNvPr>
          <p:cNvSpPr/>
          <p:nvPr/>
        </p:nvSpPr>
        <p:spPr>
          <a:xfrm>
            <a:off x="1360805" y="5535058"/>
            <a:ext cx="2357808" cy="1486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2" name="Invisible source link 8: https://trinitylifesciences.com/company/press-releases/trinity-launches-insightsedge-digital-twins/">
            <a:hlinkClick r:id="rId13"/>
          </p:cNvPr>
          <p:cNvSpPr/>
          <p:nvPr/>
        </p:nvSpPr>
        <p:spPr>
          <a:xfrm>
            <a:off x="7497222" y="5375216"/>
            <a:ext cx="3146128" cy="1486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3" name="Invisible source link 8: https://www.ipsos.com/en/launch-ipsos-personabot-groundbreaking-ai-powered-solution-enhance-segmentation-research">
            <a:hlinkClick r:id="rId14"/>
          </p:cNvPr>
          <p:cNvSpPr/>
          <p:nvPr/>
        </p:nvSpPr>
        <p:spPr>
          <a:xfrm>
            <a:off x="7666782" y="5535058"/>
            <a:ext cx="898694" cy="1486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CONVERSATIONAL AI IN MEDICAL / REGULATORY RESEARCH</a:t>
            </a:r>
            <a:endParaRPr lang="en-US" sz="1000" dirty="0"/>
          </a:p>
        </p:txBody>
      </p:sp>
      <p:sp>
        <p:nvSpPr>
          <p:cNvPr id="3" name="tracker RWE"/>
          <p:cNvSpPr/>
          <p:nvPr/>
        </p:nvSpPr>
        <p:spPr>
          <a:xfrm>
            <a:off x="5657393" y="365760"/>
            <a:ext cx="386791" cy="23774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657393" y="365760"/>
            <a:ext cx="3867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accent4"/>
                </a:solidFill>
              </a:rPr>
              <a:t>RWE</a:t>
            </a:r>
            <a:endParaRPr lang="en-US" sz="750" dirty="0"/>
          </a:p>
        </p:txBody>
      </p:sp>
      <p:sp>
        <p:nvSpPr>
          <p:cNvPr id="5" name="tracker Commercial Intelligence"/>
          <p:cNvSpPr/>
          <p:nvPr/>
        </p:nvSpPr>
        <p:spPr>
          <a:xfrm>
            <a:off x="6108192" y="365760"/>
            <a:ext cx="1502359" cy="23774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108192" y="365760"/>
            <a:ext cx="15023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accent4"/>
                </a:solidFill>
              </a:rPr>
              <a:t>Commercial Intelligence</a:t>
            </a:r>
            <a:endParaRPr lang="en-US" sz="750" dirty="0"/>
          </a:p>
        </p:txBody>
      </p:sp>
      <p:sp>
        <p:nvSpPr>
          <p:cNvPr id="7" name="tracker Medical / Regulatory Research"/>
          <p:cNvSpPr/>
          <p:nvPr/>
        </p:nvSpPr>
        <p:spPr>
          <a:xfrm>
            <a:off x="7674559" y="365760"/>
            <a:ext cx="1837030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674559" y="365760"/>
            <a:ext cx="18370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bg1"/>
                </a:solidFill>
              </a:rPr>
              <a:t>Medical / Regulatory Research</a:t>
            </a:r>
            <a:endParaRPr lang="en-US" sz="750" dirty="0"/>
          </a:p>
        </p:txBody>
      </p:sp>
      <p:sp>
        <p:nvSpPr>
          <p:cNvPr id="9" name="tracker Clinical Trials"/>
          <p:cNvSpPr/>
          <p:nvPr/>
        </p:nvSpPr>
        <p:spPr>
          <a:xfrm>
            <a:off x="9575597" y="365760"/>
            <a:ext cx="1056132" cy="23774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9575597" y="365760"/>
            <a:ext cx="10561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accent4"/>
                </a:solidFill>
              </a:rPr>
              <a:t>Clinical Trials</a:t>
            </a:r>
            <a:endParaRPr lang="en-US" sz="750" dirty="0"/>
          </a:p>
        </p:txBody>
      </p:sp>
      <p:sp>
        <p:nvSpPr>
          <p:cNvPr id="11" name="tracker Market Access"/>
          <p:cNvSpPr/>
          <p:nvPr/>
        </p:nvSpPr>
        <p:spPr>
          <a:xfrm>
            <a:off x="10695737" y="365760"/>
            <a:ext cx="944575" cy="23774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695737" y="365760"/>
            <a:ext cx="944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accent4"/>
                </a:solidFill>
              </a:rPr>
              <a:t>Market Access</a:t>
            </a:r>
            <a:endParaRPr lang="en-US" sz="750" dirty="0"/>
          </a:p>
        </p:txBody>
      </p:sp>
      <p:sp>
        <p:nvSpPr>
          <p:cNvPr id="13" name="Text 2"/>
          <p:cNvSpPr/>
          <p:nvPr>
            <p:ph idx="103" type="title" hasCustomPrompt="1"/>
          </p:nvPr>
        </p:nvSpPr>
        <p:spPr>
          <a:xfrm>
            <a:off x="548640" y="64008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In medical and regulatory work, conversational AI operates within tighter bounds, and one vendor publishes where it fails</a:t>
            </a:r>
            <a:endParaRPr lang="en-US" sz="2200" dirty="0"/>
          </a:p>
        </p:txBody>
      </p:sp>
      <p:graphicFrame>
        <p:nvGraphicFramePr>
          <p:cNvPr id="9" name="tas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2848354"/>
        </p:xfrm>
        <a:graphic>
          <a:graphicData uri="http://schemas.openxmlformats.org/drawingml/2006/table">
            <a:tbl>
              <a:tblPr/>
              <a:tblGrid>
                <a:gridCol w="2286000"/>
                <a:gridCol w="5760720"/>
                <a:gridCol w="304495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chemeClr val="bg1"/>
                          </a:solidFill>
                        </a:rPr>
                        <a:t>CUSTOMER TASK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chemeClr val="bg1"/>
                          </a:solidFill>
                        </a:rPr>
                        <a:t>CONVERSATIONAL AI OFFERINGS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chemeClr val="bg1"/>
                          </a:solidFill>
                        </a:rPr>
                        <a:t>RELEVANT OPTUM LS OFFERINGS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77756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Search and synthesize</a:t>
                      </a:r>
                      <a:br/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scientific evidence</a:t>
                      </a:r>
                      <a:endParaRPr lang="en-US" sz="10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IQVIA’s </a:t>
                      </a:r>
                      <a:r>
                        <a:rPr lang="en-US" sz="950" b="1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Med-R1 Deep Research Agent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: synthesizes biomedical, clinical and regulatory sources to answer complex research questions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Epidemiology research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 (study design, RWE generation)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; 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postapproval safety and comparative-effectiveness studies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 (statistical analysis)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4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Explore medical insights and</a:t>
                      </a:r>
                      <a:br/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support scientific engagement</a:t>
                      </a:r>
                      <a:endParaRPr lang="en-US" sz="10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ZS’s </a:t>
                      </a:r>
                      <a:r>
                        <a:rPr lang="en-US" sz="950" b="1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ZAIDYN Conversational AI for Medical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: natural-language analysis of care gaps, scientific insights and opinion-leader information;</a:t>
                      </a:r>
                      <a:endParaRPr lang="en-US" sz="950" dirty="0"/>
                    </a:p>
                    <a:p>
                      <a:pPr indent="0" marL="0">
                        <a:spcBef>
                          <a:spcPts val="400"/>
                        </a:spcBef>
                        <a:buNone/>
                      </a:pPr>
                      <a:r>
                        <a:rPr lang="en-US" sz="95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Evidenze’s </a:t>
                      </a:r>
                      <a:r>
                        <a:rPr lang="en-US" sz="950" b="1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AI medical-education chatbots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(Spain)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: conversational medical education and knowledge support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 b="1">
                          <a:solidFill>
                            <a:schemeClr val="tx1"/>
                          </a:solidFill>
                        </a:rPr>
                        <a:t>Market Clarity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 (medical affairs evidence, MSL insights, HCP analytics)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56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Question and navigate</a:t>
                      </a:r>
                      <a:br/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regulated documents</a:t>
                      </a:r>
                      <a:endParaRPr lang="en-US" sz="10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Veeva’s </a:t>
                      </a:r>
                      <a:r>
                        <a:rPr lang="en-US" sz="950" b="1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Vault AI Chat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: questions, summaries and follow-up interactions within authorized Vault documents and records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Safety and evidence-research services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 (scientific analysis)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; 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no comparable regulated-document assistant established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racking medical affairs impact card"/>
          <p:cNvSpPr/>
          <p:nvPr/>
        </p:nvSpPr>
        <p:spPr>
          <a:xfrm>
            <a:off x="548640" y="4512564"/>
            <a:ext cx="5454396" cy="1540764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label"/>
          <p:cNvSpPr txBox="1"/>
          <p:nvPr/>
        </p:nvSpPr>
        <p:spPr>
          <a:xfrm>
            <a:off x="749808" y="4695444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2"/>
                </a:solidFill>
              </a:rPr>
              <a:t>TRACKING MEDICAL AFFAIRS IMPACT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49808" y="5042916"/>
            <a:ext cx="505206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ZS positions its medical-affairs analytics as the answer to “</a:t>
            </a:r>
            <a:r>
              <a:rPr lang="en-US" sz="1050" b="1" dirty="0" u="sng">
                <a:solidFill>
                  <a:srgbClr val="002677"/>
                </a:solidFill>
                <a:uFill>
                  <a:solidFill>
                    <a:srgbClr val="9AA8CC"/>
                  </a:solidFill>
                </a:uFill>
              </a:rPr>
              <a:t>what is medical affairs actually achieving?</a:t>
            </a:r>
            <a:r>
              <a:rPr lang="en-US" sz="1050" b="1" dirty="0">
                <a:solidFill>
                  <a:schemeClr val="tx1"/>
                </a:solidFill>
              </a:rPr>
              <a:t>” The suite tracks care gaps in patient-level claims data and compares engaged and non-engaged populations over time; a conversational assistant lets teams query the results.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09360"/>
            <a:ext cx="9144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sp>
        <p:nvSpPr>
          <p:cNvPr id="26" name="limits in the open card"/>
          <p:cNvSpPr/>
          <p:nvPr/>
        </p:nvSpPr>
        <p:spPr>
          <a:xfrm>
            <a:off x="6185916" y="4512564"/>
            <a:ext cx="5454396" cy="1540764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7" name="label"/>
          <p:cNvSpPr txBox="1"/>
          <p:nvPr/>
        </p:nvSpPr>
        <p:spPr>
          <a:xfrm>
            <a:off x="6387084" y="4695444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2"/>
                </a:solidFill>
              </a:rPr>
              <a:t>LIMITS IN THE OPEN</a:t>
            </a:r>
            <a:endParaRPr lang="en-US" sz="1300" dirty="0"/>
          </a:p>
        </p:txBody>
      </p:sp>
      <p:sp>
        <p:nvSpPr>
          <p:cNvPr id="28" name="Text 14"/>
          <p:cNvSpPr txBox="1"/>
          <p:nvPr/>
        </p:nvSpPr>
        <p:spPr>
          <a:xfrm>
            <a:off x="6387084" y="5042916"/>
            <a:ext cx="505206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IQVIA says its small Med-R1 research agent can “</a:t>
            </a:r>
            <a:r>
              <a:rPr lang="en-US" sz="1050" b="1" dirty="0" u="sng">
                <a:solidFill>
                  <a:srgbClr val="002677"/>
                </a:solidFill>
                <a:uFill>
                  <a:solidFill>
                    <a:srgbClr val="9AA8CC"/>
                  </a:solidFill>
                </a:uFill>
              </a:rPr>
              <a:t>outperform much larger general-purpose models</a:t>
            </a:r>
            <a:r>
              <a:rPr lang="en-US" sz="1050" b="1" dirty="0">
                <a:solidFill>
                  <a:schemeClr val="tx1"/>
                </a:solidFill>
              </a:rPr>
              <a:t>,” while conceding that multi-step biomedical reasoning remains unsolved. In its December 2025 benchmark, Med-R1 answered 21 of 50 questions—and none of the 10 hardest, where OpenAI’s and Google’s agents managed one between them.</a:t>
            </a:r>
            <a:endParaRPr lang="en-US" sz="1050" dirty="0"/>
          </a:p>
        </p:txBody>
      </p:sp>
      <p:sp>
        <p:nvSpPr>
          <p:cNvPr id="29" name="link legend"/>
          <p:cNvSpPr txBox="1"/>
          <p:nvPr/>
        </p:nvSpPr>
        <p:spPr>
          <a:xfrm>
            <a:off x="2944368" y="630936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00">
                <a:solidFill>
                  <a:schemeClr val="accent4"/>
                </a:solidFill>
              </a:rPr>
              <a:t>·  Underlined text links to public sources</a:t>
            </a:r>
          </a:p>
        </p:txBody>
      </p:sp>
      <p:sp>
        <p:nvSpPr>
          <p:cNvPr id="9721" name="Invisible source link 9: https://www.iqvia.com/solutions/innovative-models/artificial-intelligence-and-machine-learning/iqvia-ai-platform">
            <a:hlinkClick r:id="rId3"/>
          </p:cNvPr>
          <p:cNvSpPr/>
          <p:nvPr/>
        </p:nvSpPr>
        <p:spPr>
          <a:xfrm>
            <a:off x="2944075" y="2063815"/>
            <a:ext cx="2170015" cy="1345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2" name="Invisible source link 9: https://zaidyn.zs.com/products/zaidyn-medical/conversational-ai-for-medical">
            <a:hlinkClick r:id="rId5"/>
          </p:cNvPr>
          <p:cNvSpPr/>
          <p:nvPr/>
        </p:nvSpPr>
        <p:spPr>
          <a:xfrm>
            <a:off x="2944075" y="2773376"/>
            <a:ext cx="2473495" cy="1345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3" name="Invisible source link 9: https://evidenze.com/">
            <a:hlinkClick r:id="rId6"/>
          </p:cNvPr>
          <p:cNvSpPr/>
          <p:nvPr/>
        </p:nvSpPr>
        <p:spPr>
          <a:xfrm>
            <a:off x="2944075" y="3095575"/>
            <a:ext cx="2356226" cy="1345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4" name="Invisible source link 9: https://platform.veevavault.help/en/lr/950642">
            <a:hlinkClick r:id="rId8"/>
          </p:cNvPr>
          <p:cNvSpPr/>
          <p:nvPr/>
        </p:nvSpPr>
        <p:spPr>
          <a:xfrm>
            <a:off x="2944075" y="3804781"/>
            <a:ext cx="1223573" cy="1345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5" name="Invisible source link 9: https://zaidyn.zs.com/products/zaidyn-medical/patient-outcome-intelligence">
            <a:hlinkClick r:id="rId9"/>
          </p:cNvPr>
          <p:cNvSpPr/>
          <p:nvPr/>
        </p:nvSpPr>
        <p:spPr>
          <a:xfrm>
            <a:off x="4420308" y="5055531"/>
            <a:ext cx="1049396" cy="1486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7" name="Invisible source link 9: https://zaidyn.zs.com/products/zaidyn-medical/patient-outcome-intelligence">
            <a:hlinkClick r:id="rId9"/>
          </p:cNvPr>
          <p:cNvSpPr/>
          <p:nvPr/>
        </p:nvSpPr>
        <p:spPr>
          <a:xfrm>
            <a:off x="749515" y="5215373"/>
            <a:ext cx="1723326" cy="1486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7" name="Invisible source link 9: https://www.iqvia.com/blogs/2025/12/introducing-iqvia-med-r1-deep-research-agent">
            <a:hlinkClick r:id="rId10"/>
          </p:cNvPr>
          <p:cNvSpPr/>
          <p:nvPr/>
        </p:nvSpPr>
        <p:spPr>
          <a:xfrm>
            <a:off x="9434314" y="5055531"/>
            <a:ext cx="1571140" cy="1486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9" name="Invisible source link 9: https://www.iqvia.com/blogs/2025/12/introducing-iqvia-med-r1-deep-research-agent">
            <a:hlinkClick r:id="rId10"/>
          </p:cNvPr>
          <p:cNvSpPr/>
          <p:nvPr/>
        </p:nvSpPr>
        <p:spPr>
          <a:xfrm>
            <a:off x="6386753" y="5215373"/>
            <a:ext cx="1642595" cy="1486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CONVERSATIONAL AI IN CLINICAL TRIALS AND MARKET ACCESS</a:t>
            </a:r>
            <a:endParaRPr lang="en-US" sz="1000" dirty="0"/>
          </a:p>
        </p:txBody>
      </p:sp>
      <p:sp>
        <p:nvSpPr>
          <p:cNvPr id="3" name="tracker RWE"/>
          <p:cNvSpPr/>
          <p:nvPr/>
        </p:nvSpPr>
        <p:spPr>
          <a:xfrm>
            <a:off x="5657393" y="365760"/>
            <a:ext cx="386791" cy="23774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657393" y="365760"/>
            <a:ext cx="3867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accent4"/>
                </a:solidFill>
              </a:rPr>
              <a:t>RWE</a:t>
            </a:r>
            <a:endParaRPr lang="en-US" sz="750" dirty="0"/>
          </a:p>
        </p:txBody>
      </p:sp>
      <p:sp>
        <p:nvSpPr>
          <p:cNvPr id="5" name="tracker Commercial Intelligence"/>
          <p:cNvSpPr/>
          <p:nvPr/>
        </p:nvSpPr>
        <p:spPr>
          <a:xfrm>
            <a:off x="6108192" y="365760"/>
            <a:ext cx="1502359" cy="23774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108192" y="365760"/>
            <a:ext cx="15023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accent4"/>
                </a:solidFill>
              </a:rPr>
              <a:t>Commercial Intelligence</a:t>
            </a:r>
            <a:endParaRPr lang="en-US" sz="750" dirty="0"/>
          </a:p>
        </p:txBody>
      </p:sp>
      <p:sp>
        <p:nvSpPr>
          <p:cNvPr id="7" name="tracker Medical / Regulatory Research"/>
          <p:cNvSpPr/>
          <p:nvPr/>
        </p:nvSpPr>
        <p:spPr>
          <a:xfrm>
            <a:off x="7674559" y="365760"/>
            <a:ext cx="1837030" cy="23774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674559" y="365760"/>
            <a:ext cx="18370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accent4"/>
                </a:solidFill>
              </a:rPr>
              <a:t>Medical / Regulatory Research</a:t>
            </a:r>
            <a:endParaRPr lang="en-US" sz="750" dirty="0"/>
          </a:p>
        </p:txBody>
      </p:sp>
      <p:sp>
        <p:nvSpPr>
          <p:cNvPr id="9" name="tracker Clinical Trials"/>
          <p:cNvSpPr/>
          <p:nvPr/>
        </p:nvSpPr>
        <p:spPr>
          <a:xfrm>
            <a:off x="9575597" y="365760"/>
            <a:ext cx="1056132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9575597" y="365760"/>
            <a:ext cx="10561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bg1"/>
                </a:solidFill>
              </a:rPr>
              <a:t>Clinical Trials</a:t>
            </a:r>
            <a:endParaRPr lang="en-US" sz="750" dirty="0"/>
          </a:p>
        </p:txBody>
      </p:sp>
      <p:sp>
        <p:nvSpPr>
          <p:cNvPr id="11" name="tracker Market Access"/>
          <p:cNvSpPr/>
          <p:nvPr/>
        </p:nvSpPr>
        <p:spPr>
          <a:xfrm>
            <a:off x="10695737" y="365760"/>
            <a:ext cx="944575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695737" y="365760"/>
            <a:ext cx="944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bg1"/>
                </a:solidFill>
              </a:rPr>
              <a:t>Market Access</a:t>
            </a:r>
            <a:endParaRPr lang="en-US" sz="750" dirty="0"/>
          </a:p>
        </p:txBody>
      </p:sp>
      <p:sp>
        <p:nvSpPr>
          <p:cNvPr id="13" name="Text 2"/>
          <p:cNvSpPr/>
          <p:nvPr>
            <p:ph idx="103" type="title" hasCustomPrompt="1"/>
          </p:nvPr>
        </p:nvSpPr>
        <p:spPr>
          <a:xfrm>
            <a:off x="548640" y="64008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In trials and market access, vendors limit what conversational AI can see and how far its answers go</a:t>
            </a:r>
            <a:endParaRPr lang="en-US" sz="2200" dirty="0"/>
          </a:p>
        </p:txBody>
      </p:sp>
      <p:graphicFrame>
        <p:nvGraphicFramePr>
          <p:cNvPr id="10" name="tas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3008374"/>
        </p:xfrm>
        <a:graphic>
          <a:graphicData uri="http://schemas.openxmlformats.org/drawingml/2006/table">
            <a:tbl>
              <a:tblPr/>
              <a:tblGrid>
                <a:gridCol w="2286000"/>
                <a:gridCol w="5760720"/>
                <a:gridCol w="304495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chemeClr val="bg1"/>
                          </a:solidFill>
                        </a:rPr>
                        <a:t>CUSTOMER TASK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spc="100" kern="0" dirty="0">
                          <a:solidFill>
                            <a:srgbClr val="FF612B"/>
                          </a:solidFill>
                        </a:rPr>
                        <a:t>CLINICAL TRIALS: </a:t>
                      </a:r>
                      <a:r>
                        <a:rPr lang="en-US" sz="900" b="1" spc="100" kern="0" dirty="0">
                          <a:solidFill>
                            <a:schemeClr val="bg1"/>
                          </a:solidFill>
                        </a:rPr>
                        <a:t>CONVERSATIONAL AI OFFERINGS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chemeClr val="bg1"/>
                          </a:solidFill>
                        </a:rPr>
                        <a:t>RELEVANT OPTUM LS OFFERINGS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6529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Trial feasibility, site and investigator identification</a:t>
                      </a:r>
                      <a:endParaRPr lang="en-US" sz="10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TriNetX’s </a:t>
                      </a:r>
                      <a:r>
                        <a:rPr lang="en-US" sz="950" dirty="0" b="1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LIVE Conversational AI + Terrain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: Natural-language protocol feasibility, clinical-code generation and site/investigator intelligence;</a:t>
                      </a:r>
                      <a:endParaRPr lang="en-US" sz="950" dirty="0"/>
                    </a:p>
                    <a:p>
                      <a:pPr indent="0" marL="0">
                        <a:spcBef>
                          <a:spcPts val="400"/>
                        </a:spcBef>
                        <a:buNone/>
                      </a:pPr>
                      <a:r>
                        <a:rPr lang="en-US" sz="95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Norstella’s </a:t>
                      </a:r>
                      <a:r>
                        <a:rPr lang="en-US" sz="950" dirty="0" b="1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Citeline Ella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: trial and site search strategies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 b="1">
                          <a:solidFill>
                            <a:schemeClr val="tx1"/>
                          </a:solidFill>
                        </a:rPr>
                        <a:t>Prospector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 (no-code cohort building, attrition funnels)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; </a:t>
                      </a:r>
                      <a:r>
                        <a:rPr lang="en-US" sz="950" dirty="0" b="1">
                          <a:solidFill>
                            <a:schemeClr val="tx1"/>
                          </a:solidFill>
                        </a:rPr>
                        <a:t>Digital Research Network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 (patient identification, recruitment infrastructure)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4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Clinical-data operations</a:t>
                      </a:r>
                      <a:endParaRPr lang="en-US" sz="10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Veeva’s </a:t>
                      </a:r>
                      <a:r>
                        <a:rPr lang="en-US" sz="950" dirty="0" b="1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EDC AI Tab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: questions on study operational data and help content, excluding site-entered casebook data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 b="1">
                          <a:solidFill>
                            <a:schemeClr val="tx1"/>
                          </a:solidFill>
                        </a:rPr>
                        <a:t>True Source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 (electronic source-data capture); no comparable conversational assistant established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chemeClr val="bg1"/>
                          </a:solidFill>
                        </a:rPr>
                        <a:t>CUSTOMER TASK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spc="100" kern="0" dirty="0">
                          <a:solidFill>
                            <a:srgbClr val="FF612B"/>
                          </a:solidFill>
                        </a:rPr>
                        <a:t>MARKET ACCESS: </a:t>
                      </a:r>
                      <a:r>
                        <a:rPr lang="en-US" sz="900" b="1" spc="100" kern="0" dirty="0">
                          <a:solidFill>
                            <a:schemeClr val="bg1"/>
                          </a:solidFill>
                        </a:rPr>
                        <a:t>CONVERSATIONAL AI OFFERINGS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chemeClr val="bg1"/>
                          </a:solidFill>
                        </a:rPr>
                        <a:t>RELEVANT OPTUM LS OFFERINGS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7378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Pharmaceutical pricing and market-access intelligence</a:t>
                      </a:r>
                      <a:endParaRPr lang="en-US" sz="10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EVERSANA’s </a:t>
                      </a:r>
                      <a:r>
                        <a:rPr lang="en-US" sz="950" b="1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Ask NAVLIN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: conversational access to pricing, reimbursement and market-access information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HEOR/value evidence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 (outcomes research, economic analysis)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; </a:t>
                      </a:r>
                      <a:r>
                        <a:rPr lang="en-US" sz="950" dirty="0" b="1">
                          <a:solidFill>
                            <a:schemeClr val="tx1"/>
                          </a:solidFill>
                        </a:rPr>
                        <a:t>Evidence Engine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 (evidence-generation support)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; 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health economic and budget impact modeling</a:t>
                      </a:r>
                      <a:r>
                        <a:rPr lang="en-US" sz="950" dirty="0" b="0">
                          <a:solidFill>
                            <a:schemeClr val="tx1"/>
                          </a:solidFill>
                        </a:rPr>
                        <a:t> (cost and budget scenarios)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7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Payer feedback and coverage intelligence</a:t>
                      </a:r>
                      <a:endParaRPr lang="en-US" sz="10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Norstella’s </a:t>
                      </a:r>
                      <a:r>
                        <a:rPr lang="en-US" sz="950" dirty="0" b="1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MMIT Ella</a:t>
                      </a: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: plain-language answers grounded in formulary, coverage and payer-feedback data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No comparable offering established</a:t>
                      </a:r>
                      <a:endParaRPr lang="en-US" sz="9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defined data boundaries card"/>
          <p:cNvSpPr/>
          <p:nvPr/>
        </p:nvSpPr>
        <p:spPr>
          <a:xfrm>
            <a:off x="548640" y="4672584"/>
            <a:ext cx="5454396" cy="1380744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label"/>
          <p:cNvSpPr txBox="1"/>
          <p:nvPr/>
        </p:nvSpPr>
        <p:spPr>
          <a:xfrm>
            <a:off x="749808" y="4855464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2"/>
                </a:solidFill>
              </a:rPr>
              <a:t>DEFINED DATA BOUNDARIES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749808" y="5202936"/>
            <a:ext cx="50520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Veeva draws an explicit line around its new trial assistant: the EDC AI Tab answers questions from study operational data and help pages, but “</a:t>
            </a:r>
            <a:r>
              <a:rPr lang="en-US" sz="1050" b="1" dirty="0" u="sng">
                <a:solidFill>
                  <a:srgbClr val="002677"/>
                </a:solidFill>
                <a:uFill>
                  <a:solidFill>
                    <a:srgbClr val="9AA8CC"/>
                  </a:solidFill>
                </a:uFill>
              </a:rPr>
              <a:t>no site-entered casebook data is referenced by the AI agent</a:t>
            </a:r>
            <a:r>
              <a:rPr lang="en-US" sz="1050" b="1" dirty="0">
                <a:solidFill>
                  <a:schemeClr val="tx1"/>
                </a:solidFill>
              </a:rPr>
              <a:t>.”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09360"/>
            <a:ext cx="9144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sp>
        <p:nvSpPr>
          <p:cNvPr id="26" name="from answers to workflows card"/>
          <p:cNvSpPr/>
          <p:nvPr/>
        </p:nvSpPr>
        <p:spPr>
          <a:xfrm>
            <a:off x="6185916" y="4672584"/>
            <a:ext cx="5454396" cy="1380744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7" name="label"/>
          <p:cNvSpPr txBox="1"/>
          <p:nvPr/>
        </p:nvSpPr>
        <p:spPr>
          <a:xfrm>
            <a:off x="6387084" y="4855464"/>
            <a:ext cx="5052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2"/>
                </a:solidFill>
              </a:rPr>
              <a:t>FROM ANSWERS TO WORKFLOWS</a:t>
            </a:r>
            <a:endParaRPr lang="en-US" sz="1300" dirty="0"/>
          </a:p>
        </p:txBody>
      </p:sp>
      <p:sp>
        <p:nvSpPr>
          <p:cNvPr id="28" name="Text 16"/>
          <p:cNvSpPr txBox="1"/>
          <p:nvPr/>
        </p:nvSpPr>
        <p:spPr>
          <a:xfrm>
            <a:off x="6387084" y="5202936"/>
            <a:ext cx="50520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EVERSANA is moving market-access AI past chat answers. While offering Ask NAVLIN over pricing data from 100+ countries, it says “</a:t>
            </a:r>
            <a:r>
              <a:rPr lang="en-US" sz="1050" b="1" dirty="0" u="sng">
                <a:solidFill>
                  <a:srgbClr val="002677"/>
                </a:solidFill>
                <a:uFill>
                  <a:solidFill>
                    <a:srgbClr val="9AA8CC"/>
                  </a:solidFill>
                </a:uFill>
              </a:rPr>
              <a:t>for important decisions, a good-looking AI answer is rarely enough</a:t>
            </a:r>
            <a:r>
              <a:rPr lang="en-US" sz="1050" b="1" dirty="0">
                <a:solidFill>
                  <a:schemeClr val="tx1"/>
                </a:solidFill>
              </a:rPr>
              <a:t>” and is building early workflows where “</a:t>
            </a:r>
            <a:r>
              <a:rPr lang="en-US" sz="1050" b="1" dirty="0" u="sng">
                <a:solidFill>
                  <a:srgbClr val="002677"/>
                </a:solidFill>
                <a:uFill>
                  <a:solidFill>
                    <a:srgbClr val="9AA8CC"/>
                  </a:solidFill>
                </a:uFill>
              </a:rPr>
              <a:t>sources and assumptions remain visible</a:t>
            </a:r>
            <a:r>
              <a:rPr lang="en-US" sz="1050" b="1" dirty="0">
                <a:solidFill>
                  <a:schemeClr val="tx1"/>
                </a:solidFill>
              </a:rPr>
              <a:t>” for expert review.</a:t>
            </a:r>
            <a:endParaRPr lang="en-US" sz="1050" dirty="0"/>
          </a:p>
        </p:txBody>
      </p:sp>
      <p:sp>
        <p:nvSpPr>
          <p:cNvPr id="29" name="link legend"/>
          <p:cNvSpPr txBox="1"/>
          <p:nvPr/>
        </p:nvSpPr>
        <p:spPr>
          <a:xfrm>
            <a:off x="2944368" y="630936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00">
                <a:solidFill>
                  <a:schemeClr val="accent4"/>
                </a:solidFill>
              </a:rPr>
              <a:t>·  Underlined text links to public sources</a:t>
            </a:r>
          </a:p>
        </p:txBody>
      </p:sp>
      <p:sp>
        <p:nvSpPr>
          <p:cNvPr id="9721" name="Invisible source link 10: https://trinetx.com/press-releases/trinetx-unveils-conversational-ai-interface-and-enhanced-api-capabilities/">
            <a:hlinkClick r:id="rId10"/>
          </p:cNvPr>
          <p:cNvSpPr/>
          <p:nvPr/>
        </p:nvSpPr>
        <p:spPr>
          <a:xfrm>
            <a:off x="2944075" y="1908303"/>
            <a:ext cx="2410845" cy="1345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2" name="Invisible source link 10: https://www.navlin.com/products/tender">
            <a:hlinkClick r:id="rId6"/>
          </p:cNvPr>
          <p:cNvSpPr/>
          <p:nvPr/>
        </p:nvSpPr>
        <p:spPr>
          <a:xfrm>
            <a:off x="2944075" y="3491942"/>
            <a:ext cx="1490324" cy="1345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3" name="Invisible source link 10: https://citeline.com/plus">
            <a:hlinkClick r:id="rId11"/>
          </p:cNvPr>
          <p:cNvSpPr/>
          <p:nvPr/>
        </p:nvSpPr>
        <p:spPr>
          <a:xfrm>
            <a:off x="2944075" y="2230502"/>
            <a:ext cx="1307444" cy="1345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4" name="Invisible source link 10: https://clinicaldata.veevavault.help/en/lr/rn/limited-releases/26r3/new-features">
            <a:hlinkClick r:id="rId12"/>
          </p:cNvPr>
          <p:cNvSpPr/>
          <p:nvPr/>
        </p:nvSpPr>
        <p:spPr>
          <a:xfrm>
            <a:off x="2944075" y="2560981"/>
            <a:ext cx="1127447" cy="1345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5" name="Invisible source link 10: https://www.mmitnetwork.com/mosaic/">
            <a:hlinkClick r:id="rId13"/>
          </p:cNvPr>
          <p:cNvSpPr/>
          <p:nvPr/>
        </p:nvSpPr>
        <p:spPr>
          <a:xfrm>
            <a:off x="2944075" y="4107181"/>
            <a:ext cx="1181092" cy="1345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6" name="Invisible source link 10: https://clinicaldata.veevavault.help/en/lr/rn/limited-releases/26r3/new-features">
            <a:hlinkClick r:id="rId12"/>
          </p:cNvPr>
          <p:cNvSpPr/>
          <p:nvPr/>
        </p:nvSpPr>
        <p:spPr>
          <a:xfrm>
            <a:off x="5037945" y="5375216"/>
            <a:ext cx="542086" cy="1486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8" name="Invisible source link 10: https://clinicaldata.veevavault.help/en/lr/rn/limited-releases/26r3/new-features">
            <a:hlinkClick r:id="rId12"/>
          </p:cNvPr>
          <p:cNvSpPr/>
          <p:nvPr/>
        </p:nvSpPr>
        <p:spPr>
          <a:xfrm>
            <a:off x="749515" y="5535058"/>
            <a:ext cx="3384273" cy="1486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8" name="Invisible source link 10: https://www.eversana.com/insights/from-ai-answers-to-decision-grade-market-access/">
            <a:hlinkClick r:id="rId14"/>
          </p:cNvPr>
          <p:cNvSpPr/>
          <p:nvPr/>
        </p:nvSpPr>
        <p:spPr>
          <a:xfrm>
            <a:off x="9793548" y="5375216"/>
            <a:ext cx="1577539" cy="1486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0" name="Invisible source link 10: https://www.eversana.com/insights/from-ai-answers-to-decision-grade-market-access/">
            <a:hlinkClick r:id="rId14"/>
          </p:cNvPr>
          <p:cNvSpPr/>
          <p:nvPr/>
        </p:nvSpPr>
        <p:spPr>
          <a:xfrm>
            <a:off x="6386753" y="5535058"/>
            <a:ext cx="2735287" cy="1486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0" name="Invisible source link 10: https://www.eversana.com/insights/from-ai-answers-to-decision-grade-market-access/">
            <a:hlinkClick r:id="rId14"/>
          </p:cNvPr>
          <p:cNvSpPr/>
          <p:nvPr/>
        </p:nvSpPr>
        <p:spPr>
          <a:xfrm>
            <a:off x="6805393" y="5694900"/>
            <a:ext cx="2689608" cy="1486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ACROSS ALL FIVE DOMAINS: HOW THE PRODUCTS ARE BUILT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Behind the products, competitors lead with their data and controls; the model, and even the interface, can come from outside</a:t>
            </a:r>
            <a:endParaRPr lang="en-US" sz="2200" dirty="0"/>
          </a:p>
        </p:txBody>
      </p:sp>
      <p:sp>
        <p:nvSpPr>
          <p:cNvPr id="4" name="label"/>
          <p:cNvSpPr txBox="1"/>
          <p:nvPr/>
        </p:nvSpPr>
        <p:spPr>
          <a:xfrm>
            <a:off x="548640" y="14813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FOUR LAYERS OF A CONVERSATIONAL AI PRODUCT</a:t>
            </a:r>
            <a:endParaRPr lang="en-US" sz="1000" dirty="0"/>
          </a:p>
        </p:txBody>
      </p:sp>
      <p:graphicFrame>
        <p:nvGraphicFramePr>
          <p:cNvPr id="11" name="tas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55648"/>
          <a:ext cx="11091672" cy="2743199"/>
        </p:xfrm>
        <a:graphic>
          <a:graphicData uri="http://schemas.openxmlformats.org/drawingml/2006/table">
            <a:tbl>
              <a:tblPr/>
              <a:tblGrid>
                <a:gridCol w="2011680"/>
                <a:gridCol w="6537960"/>
                <a:gridCol w="254203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chemeClr val="bg1"/>
                          </a:solidFill>
                        </a:rPr>
                        <a:t>LAYER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chemeClr val="bg1"/>
                          </a:solidFill>
                        </a:rPr>
                        <a:t>WHAT COMPETITORS SHOW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chemeClr val="bg1"/>
                          </a:solidFill>
                        </a:rPr>
                        <a:t>TAKEAWAY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433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Model</a:t>
                      </a:r>
                      <a:endParaRPr lang="en-US" sz="10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Veeva uses Anthropic and Amazon models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; </a:t>
                      </a:r>
                      <a:r>
                        <a:rPr lang="en-US" sz="100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IQVIA.ai uses NVIDIA Nemotron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, while IQVIA separately </a:t>
                      </a:r>
                      <a:r>
                        <a:rPr lang="en-US" sz="100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developed Med-R1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; </a:t>
                      </a:r>
                      <a:r>
                        <a:rPr lang="en-US" sz="100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Tempus pairs frontier LLMs with its own oncology models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2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 b="1">
                          <a:solidFill>
                            <a:srgbClr val="002677"/>
                          </a:solidFill>
                        </a:rPr>
                        <a:t>Often sourced or adapted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2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18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Data and domain intelligence</a:t>
                      </a:r>
                      <a:endParaRPr lang="en-US" sz="10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 b="1">
                          <a:solidFill>
                            <a:schemeClr val="tx1"/>
                          </a:solidFill>
                        </a:rPr>
                        <a:t>Komodo: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its </a:t>
                      </a:r>
                      <a:r>
                        <a:rPr lang="en-US" sz="100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Healthcare Map of de-identified patient journeys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, plus </a:t>
                      </a:r>
                      <a:r>
                        <a:rPr lang="en-US" sz="100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a knowledge graph built from prior analyses</a:t>
                      </a:r>
                      <a:endParaRPr lang="en-US" sz="900" dirty="0"/>
                    </a:p>
                    <a:p>
                      <a:pPr indent="0" marL="0">
                        <a:spcBef>
                          <a:spcPts val="300"/>
                        </a:spcBef>
                        <a:buNone/>
                      </a:pPr>
                      <a:r>
                        <a:rPr lang="en-US" sz="1000" dirty="0" b="1">
                          <a:solidFill>
                            <a:schemeClr val="tx1"/>
                          </a:solidFill>
                        </a:rPr>
                        <a:t>Truveta: </a:t>
                      </a:r>
                      <a:r>
                        <a:rPr lang="en-US" sz="100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continuously refreshed EHR data from member health systems</a:t>
                      </a:r>
                      <a:endParaRPr lang="en-US" sz="900" dirty="0"/>
                    </a:p>
                    <a:p>
                      <a:pPr indent="0" marL="0">
                        <a:spcBef>
                          <a:spcPts val="300"/>
                        </a:spcBef>
                        <a:buNone/>
                      </a:pPr>
                      <a:r>
                        <a:rPr lang="en-US" sz="1000" dirty="0" b="1">
                          <a:solidFill>
                            <a:schemeClr val="tx1"/>
                          </a:solidFill>
                        </a:rPr>
                        <a:t>Norstella: </a:t>
                      </a:r>
                      <a:r>
                        <a:rPr lang="en-US" sz="100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NorstellaLinQ patient data, plus Citeline trial, Evaluate commercial and MMIT payer intelligence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2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 b="1">
                          <a:solidFill>
                            <a:srgbClr val="002677"/>
                          </a:solidFill>
                        </a:rPr>
                        <a:t>What launches lead with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2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18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Execution and controls</a:t>
                      </a:r>
                      <a:endParaRPr lang="en-US" sz="10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 b="1">
                          <a:solidFill>
                            <a:schemeClr val="tx1"/>
                          </a:solidFill>
                        </a:rPr>
                        <a:t>Komodo: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en-US" sz="100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The LLM never touches numbers.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”</a:t>
                      </a:r>
                      <a:endParaRPr lang="en-US" sz="900" dirty="0"/>
                    </a:p>
                    <a:p>
                      <a:pPr indent="0" marL="0">
                        <a:spcBef>
                          <a:spcPts val="300"/>
                        </a:spcBef>
                        <a:buNone/>
                      </a:pPr>
                      <a:r>
                        <a:rPr lang="en-US" sz="1000" dirty="0" b="1">
                          <a:solidFill>
                            <a:schemeClr val="tx1"/>
                          </a:solidFill>
                        </a:rPr>
                        <a:t>HealthVerity’s eXOs: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en-US" sz="100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nothing runs until you review, edit and approve it.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”</a:t>
                      </a:r>
                      <a:endParaRPr lang="en-US" sz="900" dirty="0"/>
                    </a:p>
                    <a:p>
                      <a:pPr indent="0" marL="0">
                        <a:spcBef>
                          <a:spcPts val="300"/>
                        </a:spcBef>
                        <a:buNone/>
                      </a:pPr>
                      <a:r>
                        <a:rPr lang="en-US" sz="100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Veeva’s EDC assistant reads no site-entered casebook data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2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 b="1">
                          <a:solidFill>
                            <a:srgbClr val="002677"/>
                          </a:solidFill>
                        </a:rPr>
                        <a:t>How AI work is constrained and checked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2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Interface</a:t>
                      </a:r>
                      <a:endParaRPr lang="en-US" sz="10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Most build chat into their own products; some also design for other companies’ assistants, platforms or APIs (</a:t>
                      </a:r>
                      <a:r>
                        <a:rPr lang="en-US" sz="100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Verana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00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ZS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00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TriNetX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2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 b="1">
                          <a:solidFill>
                            <a:srgbClr val="002677"/>
                          </a:solidFill>
                        </a:rPr>
                        <a:t>Not always the vendor’s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2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09360"/>
            <a:ext cx="9144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sp>
        <p:nvSpPr>
          <p:cNvPr id="26" name="build card 1"/>
          <p:cNvSpPr/>
          <p:nvPr/>
        </p:nvSpPr>
        <p:spPr>
          <a:xfrm>
            <a:off x="3749039" y="4681728"/>
            <a:ext cx="3854196" cy="137160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7" name="build label 1"/>
          <p:cNvSpPr txBox="1"/>
          <p:nvPr/>
        </p:nvSpPr>
        <p:spPr>
          <a:xfrm>
            <a:off x="3931920" y="4846320"/>
            <a:ext cx="34884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chemeClr val="accent2"/>
                </a:solidFill>
              </a:rPr>
              <a:t>SUPPLIER AND SELLER</a:t>
            </a:r>
            <a:endParaRPr lang="en-US" sz="1300" dirty="0"/>
          </a:p>
        </p:txBody>
      </p:sp>
      <p:sp>
        <p:nvSpPr>
          <p:cNvPr id="28" name="build body 1"/>
          <p:cNvSpPr txBox="1"/>
          <p:nvPr/>
        </p:nvSpPr>
        <p:spPr>
          <a:xfrm>
            <a:off x="3931920" y="5157216"/>
            <a:ext cx="34884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 u="sng">
                <a:solidFill>
                  <a:srgbClr val="002677"/>
                </a:solidFill>
                <a:uFill>
                  <a:solidFill>
                    <a:srgbClr val="9AA8CC"/>
                  </a:solidFill>
                </a:uFill>
              </a:rPr>
              <a:t>Medeloop powers HealthVerity’s eXOs</a:t>
            </a:r>
            <a:r>
              <a:rPr lang="en-US" sz="1000" b="1" dirty="0">
                <a:solidFill>
                  <a:schemeClr val="tx1"/>
                </a:solidFill>
              </a:rPr>
              <a:t> and also sells its own analytics platform, preloaded with “</a:t>
            </a:r>
            <a:r>
              <a:rPr lang="en-US" sz="1000" b="1" dirty="0" u="sng">
                <a:solidFill>
                  <a:srgbClr val="002677"/>
                </a:solidFill>
                <a:uFill>
                  <a:solidFill>
                    <a:srgbClr val="9AA8CC"/>
                  </a:solidFill>
                </a:uFill>
              </a:rPr>
              <a:t>38 million de-identified patients from HealthVerity’s all-payer claims dataset</a:t>
            </a:r>
            <a:r>
              <a:rPr lang="en-US" sz="1000" b="1" dirty="0">
                <a:solidFill>
                  <a:schemeClr val="tx1"/>
                </a:solidFill>
              </a:rPr>
              <a:t>.”</a:t>
            </a:r>
            <a:endParaRPr lang="en-US" sz="1050" dirty="0"/>
          </a:p>
        </p:txBody>
      </p:sp>
      <p:sp>
        <p:nvSpPr>
          <p:cNvPr id="29" name="build card 2"/>
          <p:cNvSpPr/>
          <p:nvPr/>
        </p:nvSpPr>
        <p:spPr>
          <a:xfrm>
            <a:off x="7786116" y="4681728"/>
            <a:ext cx="3854196" cy="137160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0" name="build label 2"/>
          <p:cNvSpPr txBox="1"/>
          <p:nvPr/>
        </p:nvSpPr>
        <p:spPr>
          <a:xfrm>
            <a:off x="7968996" y="4846320"/>
            <a:ext cx="34884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chemeClr val="accent2"/>
                </a:solidFill>
              </a:rPr>
              <a:t>THE INTERFACE ISN’T ALWAYS THE VENDOR’S</a:t>
            </a:r>
            <a:endParaRPr lang="en-US" sz="1300" dirty="0"/>
          </a:p>
        </p:txBody>
      </p:sp>
      <p:sp>
        <p:nvSpPr>
          <p:cNvPr id="31" name="build body 2"/>
          <p:cNvSpPr txBox="1"/>
          <p:nvPr/>
        </p:nvSpPr>
        <p:spPr>
          <a:xfrm>
            <a:off x="7968996" y="5157216"/>
            <a:ext cx="34884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Verana markets Agent Claire as </a:t>
            </a:r>
            <a:r>
              <a:rPr lang="en-US" sz="1000" b="1" dirty="0" u="sng">
                <a:solidFill>
                  <a:srgbClr val="002677"/>
                </a:solidFill>
                <a:uFill>
                  <a:solidFill>
                    <a:srgbClr val="9AA8CC"/>
                  </a:solidFill>
                </a:uFill>
              </a:rPr>
              <a:t>callable from Claude, Gemini and Copilot</a:t>
            </a:r>
            <a:r>
              <a:rPr lang="en-US" sz="1000" b="1" dirty="0">
                <a:solidFill>
                  <a:schemeClr val="tx1"/>
                </a:solidFill>
              </a:rPr>
              <a:t>; ZS has announced it is bringing ZAIDYN “</a:t>
            </a:r>
            <a:r>
              <a:rPr lang="en-US" sz="1000" b="1" dirty="0" u="sng">
                <a:solidFill>
                  <a:srgbClr val="002677"/>
                </a:solidFill>
                <a:uFill>
                  <a:solidFill>
                    <a:srgbClr val="9AA8CC"/>
                  </a:solidFill>
                </a:uFill>
              </a:rPr>
              <a:t>directly into Salesforce’s Agentforce Life Sciences</a:t>
            </a:r>
            <a:r>
              <a:rPr lang="en-US" sz="1000" b="1" dirty="0">
                <a:solidFill>
                  <a:schemeClr val="tx1"/>
                </a:solidFill>
              </a:rPr>
              <a:t>.”</a:t>
            </a:r>
            <a:endParaRPr lang="en-US" sz="1050" dirty="0"/>
          </a:p>
        </p:txBody>
      </p:sp>
      <p:sp>
        <p:nvSpPr>
          <p:cNvPr id="32" name="aside rule"/>
          <p:cNvSpPr/>
          <p:nvPr/>
        </p:nvSpPr>
        <p:spPr>
          <a:xfrm>
            <a:off x="548640" y="4791456"/>
            <a:ext cx="32004" cy="1152144"/>
          </a:xfrm>
          <a:prstGeom prst="rect">
            <a:avLst/>
          </a:prstGeom>
          <a:solidFill>
            <a:srgbClr val="D9D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side label"/>
          <p:cNvSpPr txBox="1"/>
          <p:nvPr/>
        </p:nvSpPr>
        <p:spPr>
          <a:xfrm>
            <a:off x="694944" y="479145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A7C7E"/>
                </a:solidFill>
              </a:rPr>
              <a:t>COMPANIES REVIEWED</a:t>
            </a:r>
            <a:endParaRPr lang="en-US" sz="1300" dirty="0"/>
          </a:p>
        </p:txBody>
      </p:sp>
      <p:sp>
        <p:nvSpPr>
          <p:cNvPr id="34" name="aside body"/>
          <p:cNvSpPr txBox="1"/>
          <p:nvPr/>
        </p:nvSpPr>
        <p:spPr>
          <a:xfrm>
            <a:off x="694944" y="504748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A7C7E"/>
                </a:solidFill>
              </a:rPr>
              <a:t>U.S.: </a:t>
            </a:r>
            <a:r>
              <a:rPr lang="en-US" sz="900" dirty="0">
                <a:solidFill>
                  <a:srgbClr val="7A7C7E"/>
                </a:solidFill>
              </a:rPr>
              <a:t>Komodo · Truveta · Flatiron · Tempus · HealthVerity · Norstella · Truven · ConcertAI · Verana · IQVIA · ZS · Trinity · Veeva · TriNetX · EVERSANA</a:t>
            </a:r>
            <a:endParaRPr lang="en-US" sz="10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00" b="1" dirty="0">
                <a:solidFill>
                  <a:srgbClr val="7A7C7E"/>
                </a:solidFill>
              </a:rPr>
              <a:t>International: </a:t>
            </a:r>
            <a:r>
              <a:rPr lang="en-US" sz="900" dirty="0">
                <a:solidFill>
                  <a:srgbClr val="7A7C7E"/>
                </a:solidFill>
              </a:rPr>
              <a:t>Briya · BC Platforms · MDClone · GBI Health · Prospection · Close-Up International · Ipsos · Evidenze</a:t>
            </a:r>
            <a:endParaRPr lang="en-US" sz="1050" dirty="0"/>
          </a:p>
        </p:txBody>
      </p:sp>
      <p:sp>
        <p:nvSpPr>
          <p:cNvPr id="35" name="link legend"/>
          <p:cNvSpPr txBox="1"/>
          <p:nvPr/>
        </p:nvSpPr>
        <p:spPr>
          <a:xfrm>
            <a:off x="2944368" y="630936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00">
                <a:solidFill>
                  <a:schemeClr val="accent4"/>
                </a:solidFill>
              </a:rPr>
              <a:t>·  Underlined text links to public sources</a:t>
            </a:r>
          </a:p>
        </p:txBody>
      </p:sp>
      <p:sp>
        <p:nvSpPr>
          <p:cNvPr id="9715" name="Invisible source link 14: https://www.veeva.com/products/vault-ai/">
            <a:hlinkClick r:id="rId2"/>
          </p:cNvPr>
          <p:cNvSpPr/>
          <p:nvPr/>
        </p:nvSpPr>
        <p:spPr>
          <a:xfrm>
            <a:off x="2669755" y="2232197"/>
            <a:ext cx="2432439" cy="1418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6" name="Invisible source link 14: https://www.iqvia.com/newsroom/2026/03/iqvia-unveils-iqvia-ai-a-unified-agentic-ai-platform">
            <a:hlinkClick r:id="rId3"/>
          </p:cNvPr>
          <p:cNvSpPr/>
          <p:nvPr/>
        </p:nvSpPr>
        <p:spPr>
          <a:xfrm>
            <a:off x="5137200" y="2232197"/>
            <a:ext cx="1848874" cy="1418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7" name="Invisible source link 14: https://www.iqvia.com/blogs/2025/12/introducing-iqvia-med-r1-deep-research-agent">
            <a:hlinkClick r:id="rId4"/>
          </p:cNvPr>
          <p:cNvSpPr/>
          <p:nvPr/>
        </p:nvSpPr>
        <p:spPr>
          <a:xfrm>
            <a:off x="8328596" y="2232197"/>
            <a:ext cx="582898" cy="1418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9" name="Invisible source link 14: https://www.iqvia.com/blogs/2025/12/introducing-iqvia-med-r1-deep-research-agent">
            <a:hlinkClick r:id="rId4"/>
          </p:cNvPr>
          <p:cNvSpPr/>
          <p:nvPr/>
        </p:nvSpPr>
        <p:spPr>
          <a:xfrm>
            <a:off x="2669755" y="2374030"/>
            <a:ext cx="484843" cy="1418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9" name="Invisible source link 14: https://lens.tempus.com/">
            <a:hlinkClick r:id="rId5"/>
          </p:cNvPr>
          <p:cNvSpPr/>
          <p:nvPr/>
        </p:nvSpPr>
        <p:spPr>
          <a:xfrm>
            <a:off x="3189605" y="2374030"/>
            <a:ext cx="3198507" cy="1418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0" name="Invisible source link 14: https://www.komodohealth.com/product/healthcare-map/">
            <a:hlinkClick r:id="rId6"/>
          </p:cNvPr>
          <p:cNvSpPr/>
          <p:nvPr/>
        </p:nvSpPr>
        <p:spPr>
          <a:xfrm>
            <a:off x="3421075" y="2665635"/>
            <a:ext cx="2720450" cy="1418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1" name="Invisible source link 14: https://www.komodohealth.com/press/komodo-health-introduces-marmot-the-ai-built-to-accelerate-healthcare-innovation/">
            <a:hlinkClick r:id="rId7"/>
          </p:cNvPr>
          <p:cNvSpPr/>
          <p:nvPr/>
        </p:nvSpPr>
        <p:spPr>
          <a:xfrm>
            <a:off x="6443281" y="2665635"/>
            <a:ext cx="2447360" cy="1418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2" name="Invisible source link 14: https://www.truveta.com/blog/data/approach-to-real-world-data-quality/">
            <a:hlinkClick r:id="rId8"/>
          </p:cNvPr>
          <p:cNvSpPr/>
          <p:nvPr/>
        </p:nvSpPr>
        <p:spPr>
          <a:xfrm>
            <a:off x="3195713" y="2845632"/>
            <a:ext cx="3521916" cy="1418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3" name="Invisible source link 14: https://www.norstella.com/press-releases/norstella-introduces-norstellalinq/">
            <a:hlinkClick r:id="rId9"/>
          </p:cNvPr>
          <p:cNvSpPr/>
          <p:nvPr/>
        </p:nvSpPr>
        <p:spPr>
          <a:xfrm>
            <a:off x="3287153" y="3025629"/>
            <a:ext cx="5327542" cy="1418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4" name="Invisible source link 14: https://www.komodohealth.com/perspectives/building-the-framework-for-trusted-ai-in-healthcare/">
            <a:hlinkClick r:id="rId10"/>
          </p:cNvPr>
          <p:cNvSpPr/>
          <p:nvPr/>
        </p:nvSpPr>
        <p:spPr>
          <a:xfrm>
            <a:off x="3259442" y="3317234"/>
            <a:ext cx="1974799" cy="1418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5" name="Invisible source link 14: https://healthverity.com/exos/">
            <a:hlinkClick r:id="rId11"/>
          </p:cNvPr>
          <p:cNvSpPr/>
          <p:nvPr/>
        </p:nvSpPr>
        <p:spPr>
          <a:xfrm>
            <a:off x="3936237" y="3497231"/>
            <a:ext cx="2825114" cy="1418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6" name="Invisible source link 14: https://clinicaldata.veevavault.help/en/lr/rn/limited-releases/26r3/new-features/">
            <a:hlinkClick r:id="rId12"/>
          </p:cNvPr>
          <p:cNvSpPr/>
          <p:nvPr/>
        </p:nvSpPr>
        <p:spPr>
          <a:xfrm>
            <a:off x="2669755" y="3677241"/>
            <a:ext cx="3365486" cy="1418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7" name="Invisible source link 14: https://veranahealth.com/verana-health-introduces-new-ai-agents-to-expedite-and-streamline-rd-tasks/">
            <a:hlinkClick r:id="rId13"/>
          </p:cNvPr>
          <p:cNvSpPr/>
          <p:nvPr/>
        </p:nvSpPr>
        <p:spPr>
          <a:xfrm>
            <a:off x="2669755" y="4195630"/>
            <a:ext cx="476918" cy="1418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8" name="Invisible source link 14: https://www.zs.com/about/newsroom/zs-press-salesforce-zaidyn-crm">
            <a:hlinkClick r:id="rId14"/>
          </p:cNvPr>
          <p:cNvSpPr/>
          <p:nvPr/>
        </p:nvSpPr>
        <p:spPr>
          <a:xfrm>
            <a:off x="3181680" y="4195630"/>
            <a:ext cx="196845" cy="1418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9" name="Invisible source link 14: https://trinetx.com/blog/trinetx-named-best-of-show-finalist-at-scope-advancing-clinical-trial-planning-with-conversational-ai-and-enhanced-api-capabilities/">
            <a:hlinkClick r:id="rId15"/>
          </p:cNvPr>
          <p:cNvSpPr/>
          <p:nvPr/>
        </p:nvSpPr>
        <p:spPr>
          <a:xfrm>
            <a:off x="3413518" y="4195630"/>
            <a:ext cx="466039" cy="1418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0" name="Invisible source link 14: https://healthverity.com/news/announcing-healthverity-exos/">
            <a:hlinkClick r:id="rId16"/>
          </p:cNvPr>
          <p:cNvSpPr/>
          <p:nvPr/>
        </p:nvSpPr>
        <p:spPr>
          <a:xfrm>
            <a:off x="3931564" y="5169440"/>
            <a:ext cx="2293852" cy="1418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1" name="Invisible source link 14: https://medeloop.ai/analytics">
            <a:hlinkClick r:id="rId17"/>
          </p:cNvPr>
          <p:cNvSpPr/>
          <p:nvPr/>
        </p:nvSpPr>
        <p:spPr>
          <a:xfrm>
            <a:off x="6299121" y="5322081"/>
            <a:ext cx="870474" cy="1418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3" name="Invisible source link 14: https://medeloop.ai/analytics">
            <a:hlinkClick r:id="rId17"/>
          </p:cNvPr>
          <p:cNvSpPr/>
          <p:nvPr/>
        </p:nvSpPr>
        <p:spPr>
          <a:xfrm>
            <a:off x="3931564" y="5474710"/>
            <a:ext cx="3249592" cy="1418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5" name="Invisible source link 14: https://medeloop.ai/analytics">
            <a:hlinkClick r:id="rId17"/>
          </p:cNvPr>
          <p:cNvSpPr/>
          <p:nvPr/>
        </p:nvSpPr>
        <p:spPr>
          <a:xfrm>
            <a:off x="3931564" y="5627351"/>
            <a:ext cx="540558" cy="1418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4" name="Invisible source link 14: https://veranahealth.com/verana-health-introduces-new-ai-agents-to-expedite-and-streamline-rd-tasks/">
            <a:hlinkClick r:id="rId13"/>
          </p:cNvPr>
          <p:cNvSpPr/>
          <p:nvPr/>
        </p:nvSpPr>
        <p:spPr>
          <a:xfrm>
            <a:off x="9890277" y="5169440"/>
            <a:ext cx="1271143" cy="1418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6" name="Invisible source link 14: https://veranahealth.com/verana-health-introduces-new-ai-agents-to-expedite-and-streamline-rd-tasks/">
            <a:hlinkClick r:id="rId13"/>
          </p:cNvPr>
          <p:cNvSpPr/>
          <p:nvPr/>
        </p:nvSpPr>
        <p:spPr>
          <a:xfrm>
            <a:off x="7968602" y="5322081"/>
            <a:ext cx="1200429" cy="1418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6" name="Invisible source link 14: https://www.zs.com/about/newsroom/zs-press-salesforce-zaidyn-crm">
            <a:hlinkClick r:id="rId14"/>
          </p:cNvPr>
          <p:cNvSpPr/>
          <p:nvPr/>
        </p:nvSpPr>
        <p:spPr>
          <a:xfrm>
            <a:off x="8474492" y="5474710"/>
            <a:ext cx="2513086" cy="1418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8" name="Invisible source link 14: https://www.zs.com/about/newsroom/zs-press-salesforce-zaidyn-crm">
            <a:hlinkClick r:id="rId14"/>
          </p:cNvPr>
          <p:cNvSpPr/>
          <p:nvPr/>
        </p:nvSpPr>
        <p:spPr>
          <a:xfrm>
            <a:off x="7968602" y="5627351"/>
            <a:ext cx="645676" cy="1418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ADDITIONAL COMPETITIVE DYNAMIC: LLM PROVIDERS EXPAND INTO LIFE SCIENCES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LLM providers now supply, build and buy their way into life sciences, making them potential partners and rivals</a:t>
            </a:r>
            <a:endParaRPr lang="en-US" sz="2200" dirty="0"/>
          </a:p>
        </p:txBody>
      </p:sp>
      <p:sp>
        <p:nvSpPr>
          <p:cNvPr id="4" name="label"/>
          <p:cNvSpPr txBox="1"/>
          <p:nvPr/>
        </p:nvSpPr>
        <p:spPr>
          <a:xfrm>
            <a:off x="548640" y="14813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THREE OBSERVED APPROACHES TO ENTERING LIFE SCIENCES</a:t>
            </a:r>
            <a:endParaRPr lang="en-US" sz="1000" dirty="0"/>
          </a:p>
        </p:txBody>
      </p:sp>
      <p:graphicFrame>
        <p:nvGraphicFramePr>
          <p:cNvPr id="11" name="tas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3017518"/>
        </p:xfrm>
        <a:graphic>
          <a:graphicData uri="http://schemas.openxmlformats.org/drawingml/2006/table">
            <a:tbl>
              <a:tblPr/>
              <a:tblGrid>
                <a:gridCol w="1965960"/>
                <a:gridCol w="5349240"/>
                <a:gridCol w="377647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0" kern="0" dirty="0">
                          <a:solidFill>
                            <a:schemeClr val="bg1"/>
                          </a:solidFill>
                        </a:rPr>
                        <a:t>LLM PROVIDER APPROACH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chemeClr val="bg1"/>
                          </a:solidFill>
                        </a:rPr>
                        <a:t>SELECTED PUBLIC DEVELOPMENTS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chemeClr val="bg1"/>
                          </a:solidFill>
                        </a:rPr>
                        <a:t>COMPETITIVE SIGNIFICANCE FOR OPTUM LS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10506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Partner with established life-sciences vendors</a:t>
                      </a:r>
                      <a:endParaRPr lang="en-US" sz="10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Anthropic + Komodo Health</a:t>
                      </a: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A documented partnership supporting AI-enabled healthcare analytics;</a:t>
                      </a:r>
                      <a:endParaRPr lang="en-US" sz="900" dirty="0"/>
                    </a:p>
                    <a:p>
                      <a:pPr indent="0" marL="0">
                        <a:spcBef>
                          <a:spcPts val="400"/>
                        </a:spcBef>
                        <a:buNone/>
                      </a:pPr>
                      <a:r>
                        <a:rPr lang="en-US" sz="900" b="1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Anthropic + Veeva</a:t>
                      </a: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Claude incorporated into Veeva’s industry-specific AI offerings;</a:t>
                      </a:r>
                      <a:endParaRPr lang="en-US" sz="900" dirty="0"/>
                    </a:p>
                    <a:p>
                      <a:pPr indent="0" marL="0">
                        <a:spcBef>
                          <a:spcPts val="400"/>
                        </a:spcBef>
                        <a:buNone/>
                      </a:pPr>
                      <a:r>
                        <a:rPr lang="en-US" sz="900" b="1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AWS + Datavant</a:t>
                      </a: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90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Explore Assistant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, publicly described in February 2026, uses Bedrock and AWS Clean Rooms to support natural-language assessment of healthcare datasets and research feasibility.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2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LLM providers supply the model while partners keep the data, applications and customer relationships; Komodo and Veeva already appear in this analysis.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2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17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Develop their own life-sciences-specific products and tools</a:t>
                      </a:r>
                      <a:endParaRPr lang="en-US" sz="10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Anthropic’s Claude for Life Sciences</a:t>
                      </a: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Specialized scientific tools and integrations supporting research, clinical trials and regulatory workflows;</a:t>
                      </a:r>
                      <a:endParaRPr lang="en-US" sz="900" dirty="0"/>
                    </a:p>
                    <a:p>
                      <a:pPr indent="0" marL="0">
                        <a:spcBef>
                          <a:spcPts val="400"/>
                        </a:spcBef>
                        <a:buNone/>
                      </a:pPr>
                      <a:r>
                        <a:rPr lang="en-US" sz="900" b="1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OpenAI’s GPT-Rosalind</a:t>
                      </a: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A purpose-built model for biology, drug discovery and translational research, with access expanded to eligible organizations in September 2026.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LLM providers are building products aimed directly at life-sciences users, reaching into workflows adjacent to Optum LS’s RWE and healthcare-data offerings.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28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Acquire specialized life-sciences capabilities</a:t>
                      </a:r>
                      <a:endParaRPr lang="en-US" sz="10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Cohere + Reliant AI</a:t>
                      </a: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In May 2026, Cohere acquired a biopharma AI company offering literature review, competitive landscaping and scientific/regulatory information extraction. The acquisition supports development of </a:t>
                      </a:r>
                      <a:r>
                        <a:rPr lang="en-US" sz="900" dirty="0" u="sng">
                          <a:solidFill>
                            <a:srgbClr val="002677"/>
                          </a:solidFill>
                          <a:uFill>
                            <a:solidFill>
                              <a:srgbClr val="9AA8CC"/>
                            </a:solidFill>
                          </a:uFill>
                        </a:rPr>
                        <a:t>North for Pharma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, a planned specialized agentic offering.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Acquisitions give LLM providers industry-specific technology, expertise and pharmaceutical customer relationships in one step.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trategic question card"/>
          <p:cNvSpPr/>
          <p:nvPr/>
        </p:nvSpPr>
        <p:spPr>
          <a:xfrm>
            <a:off x="548640" y="4937760"/>
            <a:ext cx="11091672" cy="1115568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icon circle"/>
          <p:cNvSpPr/>
          <p:nvPr/>
        </p:nvSpPr>
        <p:spPr>
          <a:xfrm>
            <a:off x="749808" y="5010912"/>
            <a:ext cx="402336" cy="402336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p/>
        </p:txBody>
      </p:sp>
      <p:pic>
        <p:nvPicPr>
          <p:cNvPr id="8" name="icon MdOutlineLightbulb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322" y="5099426"/>
            <a:ext cx="225308" cy="225308"/>
          </a:xfrm>
          <a:prstGeom prst="rect">
            <a:avLst/>
          </a:prstGeom>
        </p:spPr>
      </p:pic>
      <p:sp>
        <p:nvSpPr>
          <p:cNvPr id="9" name="label"/>
          <p:cNvSpPr txBox="1"/>
          <p:nvPr/>
        </p:nvSpPr>
        <p:spPr>
          <a:xfrm>
            <a:off x="1280160" y="501091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2"/>
                </a:solidFill>
              </a:rPr>
              <a:t>PARTNER, SUPPLIER OR RIVAL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280160" y="5486400"/>
            <a:ext cx="10131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Anthropic already works with two competitors in this deck (Komodo and Veeva) while selling its own Claude for Life Sciences; Cohere bought its way in. For any Optum LS offering, the model provider may also be pursuing the same pharmaceutical customers.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09360"/>
            <a:ext cx="9144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sp>
        <p:nvSpPr>
          <p:cNvPr id="26" name="link legend"/>
          <p:cNvSpPr txBox="1"/>
          <p:nvPr/>
        </p:nvSpPr>
        <p:spPr>
          <a:xfrm>
            <a:off x="2944368" y="630936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00">
                <a:solidFill>
                  <a:schemeClr val="accent4"/>
                </a:solidFill>
              </a:rPr>
              <a:t>·  Underlined text links to public sources</a:t>
            </a:r>
          </a:p>
        </p:txBody>
      </p:sp>
      <p:sp>
        <p:nvSpPr>
          <p:cNvPr id="9711" name="Invisible source link 11: https://www.anthropic.com/news/claude-for-life-sciences">
            <a:hlinkClick r:id="rId4"/>
          </p:cNvPr>
          <p:cNvSpPr/>
          <p:nvPr/>
        </p:nvSpPr>
        <p:spPr>
          <a:xfrm>
            <a:off x="2624035" y="2293636"/>
            <a:ext cx="1551567" cy="12775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2" name="Invisible source link 11: https://www.anthropic.com/news/healthcare-life-sciences">
            <a:hlinkClick r:id="rId5"/>
          </p:cNvPr>
          <p:cNvSpPr/>
          <p:nvPr/>
        </p:nvSpPr>
        <p:spPr>
          <a:xfrm>
            <a:off x="2624035" y="2472554"/>
            <a:ext cx="1031731" cy="12775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3" name="Invisible source link 11: https://www.datavant.com/blog/how-ai-is-powering-smarter-privacy-preserving-data-discovery-for-life-sciences">
            <a:hlinkClick r:id="rId6"/>
          </p:cNvPr>
          <p:cNvSpPr/>
          <p:nvPr/>
        </p:nvSpPr>
        <p:spPr>
          <a:xfrm>
            <a:off x="2624035" y="2651472"/>
            <a:ext cx="911487" cy="12775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4" name="Invisible source link 11: https://www.datavant.com/blog/how-ai-is-powering-smarter-privacy-preserving-data-discovery-for-life-sciences">
            <a:hlinkClick r:id="rId6"/>
          </p:cNvPr>
          <p:cNvSpPr/>
          <p:nvPr/>
        </p:nvSpPr>
        <p:spPr>
          <a:xfrm>
            <a:off x="3564724" y="2651472"/>
            <a:ext cx="907946" cy="12775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5" name="Invisible source link 11: https://www.anthropic.com/news/claude-for-life-sciences">
            <a:hlinkClick r:id="rId4"/>
          </p:cNvPr>
          <p:cNvSpPr/>
          <p:nvPr/>
        </p:nvSpPr>
        <p:spPr>
          <a:xfrm>
            <a:off x="2624035" y="3344117"/>
            <a:ext cx="2027118" cy="12775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6" name="Invisible source link 11: https://openai.com/index/introducing-gpt-rosalind/">
            <a:hlinkClick r:id="rId7"/>
          </p:cNvPr>
          <p:cNvSpPr/>
          <p:nvPr/>
        </p:nvSpPr>
        <p:spPr>
          <a:xfrm>
            <a:off x="2624035" y="3651203"/>
            <a:ext cx="1315410" cy="12775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7" name="Invisible source link 11: https://cohere.com/blog/cohere-acquires-reliant-ai-expand-sovereign-enterprise-ai">
            <a:hlinkClick r:id="rId8"/>
          </p:cNvPr>
          <p:cNvSpPr/>
          <p:nvPr/>
        </p:nvSpPr>
        <p:spPr>
          <a:xfrm>
            <a:off x="2624035" y="4215680"/>
            <a:ext cx="1083559" cy="12775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8" name="Invisible source link 11: https://cohere.com/blog/cohere-acquires-reliant-ai-expand-sovereign-enterprise-ai">
            <a:hlinkClick r:id="rId8"/>
          </p:cNvPr>
          <p:cNvSpPr/>
          <p:nvPr/>
        </p:nvSpPr>
        <p:spPr>
          <a:xfrm>
            <a:off x="3907078" y="4471991"/>
            <a:ext cx="907946" cy="12775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KEY ASSUMPTIONS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Four assumptions shape this view, and each can be tested with internal evidence</a:t>
            </a:r>
            <a:endParaRPr lang="en-US" sz="2200" dirty="0"/>
          </a:p>
        </p:txBody>
      </p:sp>
      <p:graphicFrame>
        <p:nvGraphicFramePr>
          <p:cNvPr id="11" name="tas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1" cy="4571998"/>
        </p:xfrm>
        <a:graphic>
          <a:graphicData uri="http://schemas.openxmlformats.org/drawingml/2006/table">
            <a:tbl>
              <a:tblPr/>
              <a:tblGrid>
                <a:gridCol w="3154680"/>
                <a:gridCol w="3886200"/>
                <a:gridCol w="4050791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chemeClr val="bg1"/>
                          </a:solidFill>
                        </a:rPr>
                        <a:t>ASSUMPTION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chemeClr val="bg1"/>
                          </a:solidFill>
                        </a:rPr>
                        <a:t>WHY IT MATTERS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chemeClr val="bg1"/>
                          </a:solidFill>
                        </a:rPr>
                        <a:t>HOW TO TEST IT (WHO HOLDS THE EVIDENCE)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10424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Optum LS is developing or evaluating conversational AI it doesn’t yet market</a:t>
                      </a:r>
                      <a:endParaRPr lang="en-US" sz="10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If not, the four choices become a decision about whether to build at all, not design choices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2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Product roadmap (product, technology)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2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24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Conversational AI influences what customers buy</a:t>
                      </a:r>
                      <a:endParaRPr lang="en-US" sz="10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It decides whether this is a revenue question or a feature question, and it’s the basis for any dollar estimate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2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Win/loss notes, RFP requirements, pricing (commercial, finance); customer interviews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2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24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Vendor claims hold up in practice</a:t>
                      </a:r>
                      <a:r>
                        <a:rPr lang="en-US" sz="1100" dirty="0">
                          <a:solidFill>
                            <a:schemeClr val="accent1"/>
                          </a:solidFill>
                        </a:rPr>
                        <a:t> (27% prep time, 6-week studies)</a:t>
                      </a:r>
                      <a:endParaRPr lang="en-US" sz="10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These claims set the bar an Optum LS offering would be measured against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2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Customer references, independent tests (data and analytics). IQVIA’s own benchmark shows the limits.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2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24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LLM providers remain suppliers more than rivals</a:t>
                      </a:r>
                      <a:endParaRPr lang="en-US" sz="105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Partnering for the model could create a future competitor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2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Partnership terms (strategy and enterprise development); see the LLM providers slide</a:t>
                      </a:r>
                      <a:endParaRPr lang="en-US" sz="9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2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09360"/>
            <a:ext cx="9144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METHODOLOGY</a:t>
            </a:r>
            <a:endParaRPr lang="en-US" sz="1000" dirty="0"/>
          </a:p>
        </p:txBody>
      </p:sp>
      <p:sp>
        <p:nvSpPr>
          <p:cNvPr id="3" name="1. sources"/>
          <p:cNvSpPr/>
          <p:nvPr/>
        </p:nvSpPr>
        <p:spPr>
          <a:xfrm>
            <a:off x="548640" y="1481328"/>
            <a:ext cx="11091672" cy="658368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" name="label"/>
          <p:cNvSpPr txBox="1"/>
          <p:nvPr/>
        </p:nvSpPr>
        <p:spPr>
          <a:xfrm>
            <a:off x="777240" y="1673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1. SOURCES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1705356"/>
            <a:ext cx="7754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Official vendor pages and announcements, reviewed through October 13, 2026.</a:t>
            </a:r>
            <a:endParaRPr lang="en-US" sz="1000" dirty="0"/>
          </a:p>
        </p:txBody>
      </p:sp>
      <p:sp>
        <p:nvSpPr>
          <p:cNvPr id="6" name="2. domains"/>
          <p:cNvSpPr/>
          <p:nvPr/>
        </p:nvSpPr>
        <p:spPr>
          <a:xfrm>
            <a:off x="548640" y="2276856"/>
            <a:ext cx="11091672" cy="841248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label"/>
          <p:cNvSpPr txBox="1"/>
          <p:nvPr/>
        </p:nvSpPr>
        <p:spPr>
          <a:xfrm>
            <a:off x="77724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2. DOMAINS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2500884"/>
            <a:ext cx="7754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Five customer-task areas where Optum LS publicly markets offerings and competitors sell comparable ones. They classify the research; they are not Optum LS’s own business categories.</a:t>
            </a:r>
            <a:endParaRPr lang="en-US" sz="1000" dirty="0"/>
          </a:p>
        </p:txBody>
      </p:sp>
      <p:sp>
        <p:nvSpPr>
          <p:cNvPr id="9" name="3. qualification"/>
          <p:cNvSpPr/>
          <p:nvPr/>
        </p:nvSpPr>
        <p:spPr>
          <a:xfrm>
            <a:off x="548640" y="3255264"/>
            <a:ext cx="11091672" cy="841248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label"/>
          <p:cNvSpPr txBox="1"/>
          <p:nvPr/>
        </p:nvSpPr>
        <p:spPr>
          <a:xfrm>
            <a:off x="777240" y="3538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3. QUALIFICATION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479292"/>
            <a:ext cx="7754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An offering qualified only if its public materials describe a conversational interface for a biopharma customer task; general AI or agentic claims did not.</a:t>
            </a:r>
            <a:endParaRPr lang="en-US" sz="1000" dirty="0"/>
          </a:p>
        </p:txBody>
      </p:sp>
      <p:sp>
        <p:nvSpPr>
          <p:cNvPr id="15" name="4. counts"/>
          <p:cNvSpPr/>
          <p:nvPr/>
        </p:nvSpPr>
        <p:spPr>
          <a:xfrm>
            <a:off x="548640" y="4233672"/>
            <a:ext cx="11091672" cy="841248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label"/>
          <p:cNvSpPr txBox="1"/>
          <p:nvPr/>
        </p:nvSpPr>
        <p:spPr>
          <a:xfrm>
            <a:off x="777240" y="45171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4. COUNTS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4457700"/>
            <a:ext cx="7754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43 U.S. competitor groups screened; 15 market 23 qualifying offerings. Domain counts overlap. Screens are not exhaustive. Fourteen international screens add eight examples; their percentages aren’t national adoption rates.</a:t>
            </a:r>
            <a:endParaRPr lang="en-US" sz="1000" dirty="0"/>
          </a:p>
        </p:txBody>
      </p:sp>
      <p:sp>
        <p:nvSpPr>
          <p:cNvPr id="18" name="5. comparison and ai use"/>
          <p:cNvSpPr/>
          <p:nvPr/>
        </p:nvSpPr>
        <p:spPr>
          <a:xfrm>
            <a:off x="548640" y="5212080"/>
            <a:ext cx="11091672" cy="841248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label"/>
          <p:cNvSpPr txBox="1"/>
          <p:nvPr/>
        </p:nvSpPr>
        <p:spPr>
          <a:xfrm>
            <a:off x="777240" y="54955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5. COMPARISON AND AI USE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5436108"/>
            <a:ext cx="7754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Offerings were compared by customer task, not assumed to be equivalent. Vendor metrics are reported as claims. LLM-provider developments sit outside the counts. AI tools assisted the research and drafting.</a:t>
            </a:r>
            <a:endParaRPr lang="en-US" sz="1000" dirty="0"/>
          </a:p>
        </p:txBody>
      </p:sp>
      <p:sp>
        <p:nvSpPr>
          <p:cNvPr id="21" name="Text 2"/>
          <p:cNvSpPr/>
          <p:nvPr>
            <p:ph idx="103" type="title" hasCustomPrompt="1"/>
          </p:nvPr>
        </p:nvSpPr>
        <p:spPr>
          <a:xfrm>
            <a:off x="548640" y="64008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Findings reflect public positioning, not tested performance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09360"/>
            <a:ext cx="9144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APPENDIX: INTERNATIONAL COMPANY SCREENS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International screens add eight examples; none shows a higher screened share than the U.S.</a:t>
            </a:r>
            <a:endParaRPr lang="en-US" sz="2200" dirty="0"/>
          </a:p>
        </p:txBody>
      </p:sp>
      <p:sp>
        <p:nvSpPr>
          <p:cNvPr id="4" name="label"/>
          <p:cNvSpPr txBox="1"/>
          <p:nvPr/>
        </p:nvSpPr>
        <p:spPr>
          <a:xfrm>
            <a:off x="548640" y="148132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COMPARABLE COMPANIES MARKETING CONVERSATIONAL AI</a:t>
            </a:r>
            <a:endParaRPr lang="en-US" sz="1000" dirty="0"/>
          </a:p>
        </p:txBody>
      </p:sp>
      <p:sp>
        <p:nvSpPr>
          <p:cNvPr id="5" name="table header"/>
          <p:cNvSpPr/>
          <p:nvPr/>
        </p:nvSpPr>
        <p:spPr>
          <a:xfrm>
            <a:off x="548640" y="1792224"/>
            <a:ext cx="7635240" cy="51206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548640" y="179222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International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Screen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847088" y="1792224"/>
            <a:ext cx="461814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Companies marketing conversational AI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Total comparable companies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574961" y="1792224"/>
            <a:ext cx="160891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Screened-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company share</a:t>
            </a:r>
            <a:endParaRPr lang="en-US" sz="900" dirty="0"/>
          </a:p>
        </p:txBody>
      </p:sp>
      <p:graphicFrame>
        <p:nvGraphicFramePr>
          <p:cNvPr id="9" name="screened-company share chart" descr=""/>
          <p:cNvGraphicFramePr/>
          <p:nvPr/>
        </p:nvGraphicFramePr>
        <p:xfrm>
          <a:off x="1847088" y="2432304"/>
          <a:ext cx="4572000" cy="36850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48640" y="243230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United States</a:t>
            </a:r>
            <a:endParaRPr lang="en-US" sz="900" dirty="0"/>
          </a:p>
        </p:txBody>
      </p:sp>
      <p:sp>
        <p:nvSpPr>
          <p:cNvPr id="11" name="fraction United States"/>
          <p:cNvSpPr txBox="1"/>
          <p:nvPr/>
        </p:nvSpPr>
        <p:spPr>
          <a:xfrm>
            <a:off x="5898305" y="24323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15</a:t>
            </a:r>
            <a:r>
              <a:rPr lang="en-US" sz="900" dirty="0">
                <a:solidFill>
                  <a:schemeClr val="tx1"/>
                </a:solidFill>
              </a:rPr>
              <a:t> / 43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6574961" y="2432304"/>
            <a:ext cx="16089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34.9%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266090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China</a:t>
            </a:r>
            <a:endParaRPr lang="en-US" sz="900" dirty="0"/>
          </a:p>
        </p:txBody>
      </p:sp>
      <p:sp>
        <p:nvSpPr>
          <p:cNvPr id="14" name="fraction China"/>
          <p:cNvSpPr txBox="1"/>
          <p:nvPr/>
        </p:nvSpPr>
        <p:spPr>
          <a:xfrm>
            <a:off x="4187952" y="26609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4</a:t>
            </a:r>
            <a:r>
              <a:rPr lang="en-US" sz="900" dirty="0">
                <a:solidFill>
                  <a:schemeClr val="tx1"/>
                </a:solidFill>
              </a:rPr>
              <a:t> / 20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574961" y="2660904"/>
            <a:ext cx="16089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20.0%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288950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Spain</a:t>
            </a:r>
            <a:endParaRPr lang="en-US" sz="900" dirty="0"/>
          </a:p>
        </p:txBody>
      </p:sp>
      <p:sp>
        <p:nvSpPr>
          <p:cNvPr id="17" name="fraction Spain"/>
          <p:cNvSpPr txBox="1"/>
          <p:nvPr/>
        </p:nvSpPr>
        <p:spPr>
          <a:xfrm>
            <a:off x="3928155" y="28895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3</a:t>
            </a:r>
            <a:r>
              <a:rPr lang="en-US" sz="900" dirty="0">
                <a:solidFill>
                  <a:schemeClr val="tx1"/>
                </a:solidFill>
              </a:rPr>
              <a:t> / 17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574961" y="2889504"/>
            <a:ext cx="16089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17.6%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311810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Israel</a:t>
            </a:r>
            <a:endParaRPr lang="en-US" sz="900" dirty="0"/>
          </a:p>
        </p:txBody>
      </p:sp>
      <p:sp>
        <p:nvSpPr>
          <p:cNvPr id="20" name="fraction Israel"/>
          <p:cNvSpPr txBox="1"/>
          <p:nvPr/>
        </p:nvSpPr>
        <p:spPr>
          <a:xfrm>
            <a:off x="3435096" y="31181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2</a:t>
            </a:r>
            <a:r>
              <a:rPr lang="en-US" sz="900" dirty="0">
                <a:solidFill>
                  <a:schemeClr val="tx1"/>
                </a:solidFill>
              </a:rPr>
              <a:t> / 15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574961" y="3118104"/>
            <a:ext cx="16089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13.3%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334670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France</a:t>
            </a:r>
            <a:endParaRPr lang="en-US" sz="900" dirty="0"/>
          </a:p>
        </p:txBody>
      </p:sp>
      <p:sp>
        <p:nvSpPr>
          <p:cNvPr id="23" name="fraction France"/>
          <p:cNvSpPr txBox="1"/>
          <p:nvPr/>
        </p:nvSpPr>
        <p:spPr>
          <a:xfrm>
            <a:off x="3255802" y="33467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2</a:t>
            </a:r>
            <a:r>
              <a:rPr lang="en-US" sz="900" dirty="0">
                <a:solidFill>
                  <a:schemeClr val="tx1"/>
                </a:solidFill>
              </a:rPr>
              <a:t> / 17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574961" y="3346704"/>
            <a:ext cx="16089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11.8%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357530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Nordics</a:t>
            </a:r>
            <a:endParaRPr lang="en-US" sz="900" dirty="0"/>
          </a:p>
        </p:txBody>
      </p:sp>
      <p:sp>
        <p:nvSpPr>
          <p:cNvPr id="26" name="fraction Nordics"/>
          <p:cNvSpPr txBox="1"/>
          <p:nvPr/>
        </p:nvSpPr>
        <p:spPr>
          <a:xfrm>
            <a:off x="3255802" y="35753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2</a:t>
            </a:r>
            <a:r>
              <a:rPr lang="en-US" sz="900" dirty="0">
                <a:solidFill>
                  <a:schemeClr val="tx1"/>
                </a:solidFill>
              </a:rPr>
              <a:t> / 17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6574961" y="3575304"/>
            <a:ext cx="16089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11.8%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380390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India</a:t>
            </a:r>
            <a:endParaRPr lang="en-US" sz="900" dirty="0"/>
          </a:p>
        </p:txBody>
      </p:sp>
      <p:sp>
        <p:nvSpPr>
          <p:cNvPr id="29" name="fraction India"/>
          <p:cNvSpPr txBox="1"/>
          <p:nvPr/>
        </p:nvSpPr>
        <p:spPr>
          <a:xfrm>
            <a:off x="2982659" y="38039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3</a:t>
            </a:r>
            <a:r>
              <a:rPr lang="en-US" sz="900" dirty="0">
                <a:solidFill>
                  <a:schemeClr val="tx1"/>
                </a:solidFill>
              </a:rPr>
              <a:t> / 32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6574961" y="3803904"/>
            <a:ext cx="16089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9.4%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403250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Netherlands</a:t>
            </a:r>
            <a:endParaRPr lang="en-US" sz="900" dirty="0"/>
          </a:p>
        </p:txBody>
      </p:sp>
      <p:sp>
        <p:nvSpPr>
          <p:cNvPr id="32" name="fraction Netherlands"/>
          <p:cNvSpPr txBox="1"/>
          <p:nvPr/>
        </p:nvSpPr>
        <p:spPr>
          <a:xfrm>
            <a:off x="2950187" y="40325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1</a:t>
            </a:r>
            <a:r>
              <a:rPr lang="en-US" sz="900" dirty="0">
                <a:solidFill>
                  <a:schemeClr val="tx1"/>
                </a:solidFill>
              </a:rPr>
              <a:t> / 11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6574961" y="4032504"/>
            <a:ext cx="16089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9.1%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426110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Australia</a:t>
            </a:r>
            <a:endParaRPr lang="en-US" sz="900" dirty="0"/>
          </a:p>
        </p:txBody>
      </p:sp>
      <p:sp>
        <p:nvSpPr>
          <p:cNvPr id="35" name="fraction Australia"/>
          <p:cNvSpPr txBox="1"/>
          <p:nvPr/>
        </p:nvSpPr>
        <p:spPr>
          <a:xfrm>
            <a:off x="2727525" y="42611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1</a:t>
            </a:r>
            <a:r>
              <a:rPr lang="en-US" sz="900" dirty="0">
                <a:solidFill>
                  <a:schemeClr val="tx1"/>
                </a:solidFill>
              </a:rPr>
              <a:t> / 14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6574961" y="4261104"/>
            <a:ext cx="16089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7.1%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448970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South Korea</a:t>
            </a:r>
            <a:endParaRPr lang="en-US" sz="900" dirty="0"/>
          </a:p>
        </p:txBody>
      </p:sp>
      <p:sp>
        <p:nvSpPr>
          <p:cNvPr id="38" name="fraction South Korea"/>
          <p:cNvSpPr txBox="1"/>
          <p:nvPr/>
        </p:nvSpPr>
        <p:spPr>
          <a:xfrm>
            <a:off x="2583449" y="44897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1</a:t>
            </a:r>
            <a:r>
              <a:rPr lang="en-US" sz="900" dirty="0">
                <a:solidFill>
                  <a:schemeClr val="tx1"/>
                </a:solidFill>
              </a:rPr>
              <a:t> / 17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6574961" y="4489704"/>
            <a:ext cx="16089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5.9%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471830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Belgium</a:t>
            </a:r>
            <a:endParaRPr lang="en-US" sz="900" dirty="0"/>
          </a:p>
        </p:txBody>
      </p:sp>
      <p:sp>
        <p:nvSpPr>
          <p:cNvPr id="41" name="fraction Belgium"/>
          <p:cNvSpPr txBox="1"/>
          <p:nvPr/>
        </p:nvSpPr>
        <p:spPr>
          <a:xfrm>
            <a:off x="2546096" y="47183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1</a:t>
            </a:r>
            <a:r>
              <a:rPr lang="en-US" sz="900" dirty="0">
                <a:solidFill>
                  <a:schemeClr val="tx1"/>
                </a:solidFill>
              </a:rPr>
              <a:t> / 18</a:t>
            </a:r>
            <a:endParaRPr lang="en-US" sz="900" dirty="0"/>
          </a:p>
        </p:txBody>
      </p:sp>
      <p:sp>
        <p:nvSpPr>
          <p:cNvPr id="42" name="Text 39"/>
          <p:cNvSpPr txBox="1"/>
          <p:nvPr/>
        </p:nvSpPr>
        <p:spPr>
          <a:xfrm>
            <a:off x="6574961" y="4718304"/>
            <a:ext cx="16089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5.6%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548640" y="494690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United Kingdom</a:t>
            </a:r>
            <a:endParaRPr lang="en-US" sz="900" dirty="0"/>
          </a:p>
        </p:txBody>
      </p:sp>
      <p:sp>
        <p:nvSpPr>
          <p:cNvPr id="44" name="fraction United Kingdom"/>
          <p:cNvSpPr txBox="1"/>
          <p:nvPr/>
        </p:nvSpPr>
        <p:spPr>
          <a:xfrm>
            <a:off x="2546096" y="49469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1</a:t>
            </a:r>
            <a:r>
              <a:rPr lang="en-US" sz="900" dirty="0">
                <a:solidFill>
                  <a:schemeClr val="tx1"/>
                </a:solidFill>
              </a:rPr>
              <a:t> / 18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6574961" y="4946904"/>
            <a:ext cx="16089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5.6%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548640" y="517550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Canada</a:t>
            </a:r>
            <a:endParaRPr lang="en-US" sz="900" dirty="0"/>
          </a:p>
        </p:txBody>
      </p:sp>
      <p:sp>
        <p:nvSpPr>
          <p:cNvPr id="47" name="fraction Canada"/>
          <p:cNvSpPr txBox="1"/>
          <p:nvPr/>
        </p:nvSpPr>
        <p:spPr>
          <a:xfrm>
            <a:off x="1911096" y="51755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0</a:t>
            </a:r>
            <a:r>
              <a:rPr lang="en-US" sz="900" dirty="0">
                <a:solidFill>
                  <a:schemeClr val="tx1"/>
                </a:solidFill>
              </a:rPr>
              <a:t> / 11</a:t>
            </a:r>
            <a:endParaRPr lang="en-US" sz="900" dirty="0"/>
          </a:p>
        </p:txBody>
      </p:sp>
      <p:sp>
        <p:nvSpPr>
          <p:cNvPr id="48" name="Text 45"/>
          <p:cNvSpPr txBox="1"/>
          <p:nvPr/>
        </p:nvSpPr>
        <p:spPr>
          <a:xfrm>
            <a:off x="6574961" y="5175504"/>
            <a:ext cx="16089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0.0%</a:t>
            </a:r>
            <a:endParaRPr lang="en-US" sz="900" dirty="0"/>
          </a:p>
        </p:txBody>
      </p:sp>
      <p:sp>
        <p:nvSpPr>
          <p:cNvPr id="49" name="Text 46"/>
          <p:cNvSpPr txBox="1"/>
          <p:nvPr/>
        </p:nvSpPr>
        <p:spPr>
          <a:xfrm>
            <a:off x="548640" y="540410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Germany</a:t>
            </a:r>
            <a:endParaRPr lang="en-US" sz="900" dirty="0"/>
          </a:p>
        </p:txBody>
      </p:sp>
      <p:sp>
        <p:nvSpPr>
          <p:cNvPr id="50" name="fraction Germany"/>
          <p:cNvSpPr txBox="1"/>
          <p:nvPr/>
        </p:nvSpPr>
        <p:spPr>
          <a:xfrm>
            <a:off x="1911096" y="54041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0</a:t>
            </a:r>
            <a:r>
              <a:rPr lang="en-US" sz="900" dirty="0">
                <a:solidFill>
                  <a:schemeClr val="tx1"/>
                </a:solidFill>
              </a:rPr>
              <a:t> / 13</a:t>
            </a:r>
            <a:endParaRPr lang="en-US" sz="900" dirty="0"/>
          </a:p>
        </p:txBody>
      </p:sp>
      <p:sp>
        <p:nvSpPr>
          <p:cNvPr id="51" name="Text 48"/>
          <p:cNvSpPr txBox="1"/>
          <p:nvPr/>
        </p:nvSpPr>
        <p:spPr>
          <a:xfrm>
            <a:off x="6574961" y="5404104"/>
            <a:ext cx="16089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0.0%</a:t>
            </a:r>
            <a:endParaRPr lang="en-US" sz="900" dirty="0"/>
          </a:p>
        </p:txBody>
      </p:sp>
      <p:sp>
        <p:nvSpPr>
          <p:cNvPr id="52" name="Text 49"/>
          <p:cNvSpPr txBox="1"/>
          <p:nvPr/>
        </p:nvSpPr>
        <p:spPr>
          <a:xfrm>
            <a:off x="548640" y="563270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Japan</a:t>
            </a:r>
            <a:endParaRPr lang="en-US" sz="900" dirty="0"/>
          </a:p>
        </p:txBody>
      </p:sp>
      <p:sp>
        <p:nvSpPr>
          <p:cNvPr id="53" name="fraction Japan"/>
          <p:cNvSpPr txBox="1"/>
          <p:nvPr/>
        </p:nvSpPr>
        <p:spPr>
          <a:xfrm>
            <a:off x="1911096" y="56327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0</a:t>
            </a:r>
            <a:r>
              <a:rPr lang="en-US" sz="900" dirty="0">
                <a:solidFill>
                  <a:schemeClr val="tx1"/>
                </a:solidFill>
              </a:rPr>
              <a:t> / 15</a:t>
            </a:r>
            <a:endParaRPr lang="en-US" sz="900" dirty="0"/>
          </a:p>
        </p:txBody>
      </p:sp>
      <p:sp>
        <p:nvSpPr>
          <p:cNvPr id="54" name="Text 51"/>
          <p:cNvSpPr txBox="1"/>
          <p:nvPr/>
        </p:nvSpPr>
        <p:spPr>
          <a:xfrm>
            <a:off x="6574961" y="5632704"/>
            <a:ext cx="16089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0.0%</a:t>
            </a:r>
            <a:endParaRPr lang="en-US" sz="900" dirty="0"/>
          </a:p>
        </p:txBody>
      </p:sp>
      <p:sp>
        <p:nvSpPr>
          <p:cNvPr id="55" name="how to read card"/>
          <p:cNvSpPr/>
          <p:nvPr/>
        </p:nvSpPr>
        <p:spPr>
          <a:xfrm>
            <a:off x="8412480" y="1792224"/>
            <a:ext cx="3227832" cy="178308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6" name="label"/>
          <p:cNvSpPr txBox="1"/>
          <p:nvPr/>
        </p:nvSpPr>
        <p:spPr>
          <a:xfrm>
            <a:off x="8613648" y="1988820"/>
            <a:ext cx="2825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2"/>
                </a:solidFill>
              </a:rPr>
              <a:t>HOW TO READ THE COMPARISON</a:t>
            </a:r>
            <a:endParaRPr lang="en-US" sz="1300" dirty="0"/>
          </a:p>
        </p:txBody>
      </p:sp>
      <p:sp>
        <p:nvSpPr>
          <p:cNvPr id="57" name="Text 54"/>
          <p:cNvSpPr txBox="1"/>
          <p:nvPr/>
        </p:nvSpPr>
        <p:spPr>
          <a:xfrm>
            <a:off x="8613648" y="2555748"/>
            <a:ext cx="2825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Each bar shows the share of screened comparable companies that market conversational AI. International counts exclude companies already represented in the U.S. inventory.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09360"/>
            <a:ext cx="9144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tum LS Strategy">
  <a:themeElements>
    <a:clrScheme name="Optum LS Strategy">
      <a:dk1>
        <a:srgbClr val="4B4D4F"/>
      </a:dk1>
      <a:lt1>
        <a:srgbClr val="FFFFFF"/>
      </a:lt1>
      <a:dk2>
        <a:srgbClr val="002677"/>
      </a:dk2>
      <a:lt2>
        <a:srgbClr val="FAF8F2"/>
      </a:lt2>
      <a:accent1>
        <a:srgbClr val="002677"/>
      </a:accent1>
      <a:accent2>
        <a:srgbClr val="FF612B"/>
      </a:accent2>
      <a:accent3>
        <a:srgbClr val="D9D4C7"/>
      </a:accent3>
      <a:accent4>
        <a:srgbClr val="7A7C7E"/>
      </a:accent4>
      <a:accent5>
        <a:srgbClr val="E6ECF5"/>
      </a:accent5>
      <a:accent6>
        <a:srgbClr val="196ECF"/>
      </a:accent6>
      <a:hlink>
        <a:srgbClr val="196ECF"/>
      </a:hlink>
      <a:folHlink>
        <a:srgbClr val="7A7C7E"/>
      </a:folHlink>
    </a:clrScheme>
    <a:fontScheme name="Optum LS Strategy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Conversational AI in Biopharma — Independent Competitive Intelligence Work Sample</dc:title>
  <dc:subject>Verified public-source links embedded invisibly over existing product and company names</dc:subject>
  <dc:creator>Joseph Marino</dc:creator>
  <cp:lastModifiedBy>Joseph Marino</cp:lastModifiedBy>
  <cp:revision>1</cp:revision>
  <dcterms:created xsi:type="dcterms:W3CDTF">2026-10-14T02:26:17Z</dcterms:created>
  <dcterms:modified xsi:type="dcterms:W3CDTF">2026-10-14T02:26:17Z</dcterms:modified>
</cp:coreProperties>
</file>