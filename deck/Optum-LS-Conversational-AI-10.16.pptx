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8" r:id="rId19"/>
    <p:sldId id="256" r:id="rId2"/>
    <p:sldId id="257" r:id="rId3"/>
    <p:sldId id="258" r:id="rId4"/>
    <p:sldId id="260" r:id="rId6"/>
    <p:sldId id="261" r:id="rId7"/>
    <p:sldId id="262" r:id="rId8"/>
    <p:sldId id="263" r:id="rId9"/>
    <p:sldId id="264" r:id="rId10"/>
    <p:sldId id="270" r:id="rId20"/>
    <p:sldId id="265" r:id="rId11"/>
    <p:sldId id="269" r:id="rId13"/>
    <p:sldId id="266" r:id="rId12"/>
    <p:sldId id="259" r:id="rId5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cutive summary" id="{24a83ca0-fbf1-5aa1-231e-0e9ee1b3a55d}">
          <p14:sldIdLst>
            <p14:sldId id="256"/>
          </p14:sldIdLst>
        </p14:section>
        <p14:section name="Research catalyst" id="{a3ae336b-83b3-7ccf-6aee-cd2831e1ba46}">
          <p14:sldIdLst>
            <p14:sldId id="257"/>
          </p14:sldIdLst>
        </p14:section>
        <p14:section name="U.S. competitive landscape" id="{94ea1914-a217-df21-74d7-d7894557f7aa}">
          <p14:sldIdLst>
            <p14:sldId id="258"/>
          </p14:sldIdLst>
        </p14:section>
        <p14:section name="International competitor screens" id="{5c2e99d5-36e9-0a01-e587-5d607015bf90}">
          <p14:sldIdLst>
            <p14:sldId id="259"/>
          </p14:sldIdLst>
        </p14:section>
        <p14:section name="Workflow deep dives" id="{8ddf841b-5ded-34d4-2bec-e63798bae4f9}">
          <p14:sldIdLst>
            <p14:sldId id="260"/>
            <p14:sldId id="261"/>
            <p14:sldId id="262"/>
            <p14:sldId id="263"/>
            <p14:sldId id="264"/>
          </p14:sldIdLst>
        </p14:section>
        <p14:section name="AI suppliers" id="{8ce88946-6d30-3dca-4f63-319bce2eeb93}">
          <p14:sldIdLst>
            <p14:sldId id="265"/>
          </p14:sldIdLst>
        </p14:section>
        <p14:section name="Methodology note" id="{195c6e09-c7e0-6bdb-94e4-1e5d4c03ac7f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1.xml"/><Relationship Id="rId12" Type="http://schemas.openxmlformats.org/officeDocument/2006/relationships/slide" Target="slides/slide13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.xml"/><Relationship Id="rId20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Marketing qualifying chat</c:v>
                </c:pt>
              </c:strCache>
            </c:strRef>
          </c:tx>
          <c:spPr>
            <a:solidFill>
              <a:srgbClr val="00267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</c:v>
                </c:pt>
                <c:pt idx="1">
                  <c:v>3</c:v>
                </c:pt>
                <c:pt idx="2">
                  <c:v>3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Remaining comparable</c:v>
                </c:pt>
              </c:strCache>
            </c:strRef>
          </c:tx>
          <c:spPr>
            <a:solidFill>
              <a:srgbClr val="D9D4C7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RWE</c:v>
                  </c:pt>
                  <c:pt idx="1">
                    <c:v>Commercial Intelligence</c:v>
                  </c:pt>
                  <c:pt idx="2">
                    <c:v>Medical / Regulatory Research</c:v>
                  </c:pt>
                  <c:pt idx="3">
                    <c:v>Clinical Trials</c:v>
                  </c:pt>
                  <c:pt idx="4">
                    <c:v>Market Access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20</c:v>
                </c:pt>
                <c:pt idx="2">
                  <c:v>15</c:v>
                </c:pt>
                <c:pt idx="3">
                  <c:v>24</c:v>
                </c:pt>
                <c:pt idx="4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axMin"/>
          <c:max val="34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>
        <c:manualLayout>
          <c:layoutTarget val="inner"/>
          <c:xMode val="edge"/>
          <c:yMode val="edge"/>
          <c:x val="0"/>
          <c:y val="0"/>
          <c:w val="1"/>
          <c:h val="0.9305210918114143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Screened-company share</c:v>
                </c:pt>
              </c:strCache>
            </c:strRef>
          </c:tx>
          <c:spPr>
            <a:solidFill>
              <a:srgbClr val="8FA3C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8FA3C4"/>
              </a:solidFill>
              <a:effectLst/>
            </c:spPr>
          </c:dPt>
          <c:dPt>
            <c:idx val="14"/>
            <c:invertIfNegative val="0"/>
            <c:bubble3D val="0"/>
            <c:spPr>
              <a:solidFill>
                <a:srgbClr val="002677"/>
              </a:solidFill>
              <a:effectLst/>
            </c:spPr>
          </c:dPt>
          <c:cat>
            <c:strRef>
              <c:f>Sheet1!$A$2:$A$16</c:f>
              <c:strCache>
                <c:ptCount val="15"/>
                <c:pt idx="0">
                  <c:v>Japan</c:v>
                </c:pt>
                <c:pt idx="1">
                  <c:v>Germany</c:v>
                </c:pt>
                <c:pt idx="2">
                  <c:v>Canada</c:v>
                </c:pt>
                <c:pt idx="3">
                  <c:v>United Kingdom</c:v>
                </c:pt>
                <c:pt idx="4">
                  <c:v>Belgium</c:v>
                </c:pt>
                <c:pt idx="5">
                  <c:v>South Korea</c:v>
                </c:pt>
                <c:pt idx="6">
                  <c:v>Australia</c:v>
                </c:pt>
                <c:pt idx="7">
                  <c:v>Netherlands</c:v>
                </c:pt>
                <c:pt idx="8">
                  <c:v>India</c:v>
                </c:pt>
                <c:pt idx="9">
                  <c:v>Nordics</c:v>
                </c:pt>
                <c:pt idx="10">
                  <c:v>France</c:v>
                </c:pt>
                <c:pt idx="11">
                  <c:v>Israel</c:v>
                </c:pt>
                <c:pt idx="12">
                  <c:v>Spain</c:v>
                </c:pt>
                <c:pt idx="13">
                  <c:v>China</c:v>
                </c:pt>
                <c:pt idx="14">
                  <c:v>United States</c:v>
                </c:pt>
              </c:strCache>
            </c:strRef>
          </c:cat>
          <c:val>
            <c:numRef>
              <c:f>Sheet1!$B$2:$B$16</c:f>
              <c:numCache>
                <c:formatCode>0%</c:formatCode>
                <c:ptCount val="15"/>
                <c:pt idx="0">
                  <c:v>0.0</c:v>
                </c:pt>
                <c:pt idx="1">
                  <c:v>0.0</c:v>
                </c:pt>
                <c:pt idx="2">
                  <c:v>0.0</c:v>
                </c:pt>
                <c:pt idx="3">
                  <c:v>0.05555555555555555</c:v>
                </c:pt>
                <c:pt idx="4">
                  <c:v>0.05555555555555555</c:v>
                </c:pt>
                <c:pt idx="5">
                  <c:v>0.058823529411764705</c:v>
                </c:pt>
                <c:pt idx="6">
                  <c:v>0.07142857142857142</c:v>
                </c:pt>
                <c:pt idx="7">
                  <c:v>0.09090909090909091</c:v>
                </c:pt>
                <c:pt idx="8">
                  <c:v>0.09375</c:v>
                </c:pt>
                <c:pt idx="9">
                  <c:v>0.11764705882352941</c:v>
                </c:pt>
                <c:pt idx="10">
                  <c:v>0.11764705882352941</c:v>
                </c:pt>
                <c:pt idx="11">
                  <c:v>0.13333333333333333</c:v>
                </c:pt>
                <c:pt idx="12">
                  <c:v>0.17647058823529413</c:v>
                </c:pt>
                <c:pt idx="13">
                  <c:v>0.2</c:v>
                </c:pt>
                <c:pt idx="14">
                  <c:v>0.3488372093023256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1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"/>
          <c:min val="0"/>
        </c:scaling>
        <c:delete val="0"/>
        <c:axPos val="b"/>
        <c:majorGridlines>
          <c:spPr>
            <a:ln w="6350" cap="flat">
              <a:solidFill>
                <a:srgbClr val="E3DED3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7A7C7E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236208"/>
            <a:ext cx="11091672" cy="0"/>
          </a:xfrm>
          <a:prstGeom prst="line">
            <a:avLst/>
          </a:prstGeom>
          <a:noFill/>
          <a:ln w="9525">
            <a:solidFill>
              <a:schemeClr val="accent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30936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Candidate work sample — outside-in research</a:t>
            </a:r>
            <a:endParaRPr lang="en-US" sz="900" dirty="0"/>
          </a:p>
        </p:txBody>
      </p:sp>
      <p:sp>
        <p:nvSpPr>
          <p:cNvPr id="4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000" b="1" spc="100" kern="0" dirty="0">
                <a:solidFill>
                  <a:schemeClr val="accent2"/>
                </a:solidFill>
              </a:defRPr>
            </a:lvl1pPr>
          </a:lstStyle>
          <a:p>
            <a:pPr indent="0" marL="0">
              <a:buNone/>
            </a:pPr>
            <a:endParaRPr lang="en-US" sz="1000" dirty="0"/>
          </a:p>
        </p:txBody>
      </p:sp>
      <p:sp>
        <p:nvSpPr>
          <p:cNvPr id="5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2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linkedin.com/in/joseph-marino-995651183/" TargetMode="External"/><Relationship Id="rId3" Type="http://schemas.openxmlformats.org/officeDocument/2006/relationships/hyperlink" Target="mailto:marinojoe@gmail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hyperlink" Target="https://investors.tempus.com/node/6451/pdf" TargetMode="External"/><Relationship Id="rId4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5" Type="http://schemas.openxmlformats.org/officeDocument/2006/relationships/hyperlink" Target="https://www.komodohealth.com/press/komodo-health-introduces-marmot-the-ai-built-to-accelerate-healthcare-innovation/" TargetMode="External"/><Relationship Id="rId6" Type="http://schemas.openxmlformats.org/officeDocument/2006/relationships/hyperlink" Target="https://www.truveta.com/blog/announcement/truveta-unveils-truveta-intelligence/" TargetMode="External"/><Relationship Id="rId7" Type="http://schemas.openxmlformats.org/officeDocument/2006/relationships/hyperlink" Target="https://resources.flatiron.com/press/flatiron-health-launches-flatiron-telescope-a-new-ai-platform-delivering-oncology-insights-in-minutes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9" Type="http://schemas.openxmlformats.org/officeDocument/2006/relationships/hyperlink" Target="https://www.norstella.com/press-releases/launches-real-world-data-agentic-platform-first-agent-replace-manual-cohort-building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merative.com/newsroom/truven-launches-marketscan-snapshot-an-ai-powered-tool-to-evaluate-fit-for-purpose-real-world-data-in-minutes" TargetMode="External"/><Relationship Id="rId4" Type="http://schemas.openxmlformats.org/officeDocument/2006/relationships/hyperlink" Target="https://healthverity.com/news/announcing-healthverity-exos/" TargetMode="External"/><Relationship Id="rId8" Type="http://schemas.openxmlformats.org/officeDocument/2006/relationships/hyperlink" Target="https://www.komodohealth.com/product/marmot/" TargetMode="External"/><Relationship Id="rId9" Type="http://schemas.openxmlformats.org/officeDocument/2006/relationships/hyperlink" Target="https://www.komodohealth.com/press/komodo-health-unveils-new-generative-ai-offerings-to-enable-real-time-insights-across-330-million-patient-journeys/" TargetMode="External"/><Relationship Id="rId10" Type="http://schemas.openxmlformats.org/officeDocument/2006/relationships/hyperlink" Target="https://www.truveta.com/blog/announcement/truveta-unveils-truveta-intelligence/" TargetMode="External"/><Relationship Id="rId11" Type="http://schemas.openxmlformats.org/officeDocument/2006/relationships/hyperlink" Target="https://briya.com/aire-population-agent/" TargetMode="External"/><Relationship Id="rId15" Type="http://schemas.openxmlformats.org/officeDocument/2006/relationships/hyperlink" Target="https://panalgo.com/ella/" TargetMode="External"/><Relationship Id="rId16" Type="http://schemas.openxmlformats.org/officeDocument/2006/relationships/hyperlink" Target="https://www.bcplatforms.com/bc-catalyst" TargetMode="External"/><Relationship Id="rId18" Type="http://schemas.openxmlformats.org/officeDocument/2006/relationships/hyperlink" Target="https://healthverity.com/exos/" TargetMode="External"/><Relationship Id="rId19" Type="http://schemas.openxmlformats.org/officeDocument/2006/relationships/hyperlink" Target="https://www.norstella.com/press-releases/panalgo-revolutionizes-real-world-data-launch-linqnotes-ella-ai/" TargetMode="External"/><Relationship Id="rId20" Type="http://schemas.openxmlformats.org/officeDocument/2006/relationships/hyperlink" Target="https://www.prnewswire.com/news-releases/truven-launches-marketscan-snapshot-an-ai-powered-tool-to-evaluate-fit-for-purpose-real-world-data-in-minutes-302892187.html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resources.flatiron.com/press/flatiron-health-launches-flatiron-telescope-a-new-ai-platform-delivering-oncology-insights-in-minutes" TargetMode="External"/><Relationship Id="rId4" Type="http://schemas.openxmlformats.org/officeDocument/2006/relationships/hyperlink" Target="https://www.tempus.com/solutions/lens/" TargetMode="External"/><Relationship Id="rId7" Type="http://schemas.openxmlformats.org/officeDocument/2006/relationships/hyperlink" Target="https://www.concertai.com/precision-explorer" TargetMode="External"/><Relationship Id="rId8" Type="http://schemas.openxmlformats.org/officeDocument/2006/relationships/hyperlink" Target="https://veranahealth.com/verana-health-introduces-new-ai-agents-to-expedite-and-streamline-rd-tasks/" TargetMode="External"/><Relationship Id="rId11" Type="http://schemas.openxmlformats.org/officeDocument/2006/relationships/hyperlink" Target="https://mdclone.com/meet-copilot/" TargetMode="External"/><Relationship Id="rId14" Type="http://schemas.openxmlformats.org/officeDocument/2006/relationships/hyperlink" Target="https://www.prnewswire.com/news-releases/verana-health-introduces-new-ai-agents-to-expedite-and-streamline-rd-302888122.html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ww.iqvia.com/solutions/commercialization/iqvia-commercial-agentic-ai" TargetMode="External"/><Relationship Id="rId4" Type="http://schemas.openxmlformats.org/officeDocument/2006/relationships/hyperlink" Target="https://www.gbihealth.com.cn/en/products/gbi-bot" TargetMode="External"/><Relationship Id="rId5" Type="http://schemas.openxmlformats.org/officeDocument/2006/relationships/hyperlink" Target="https://support.prospection.com/en_US/530415-using-progpt/8351360445583" TargetMode="External"/><Relationship Id="rId7" Type="http://schemas.openxmlformats.org/officeDocument/2006/relationships/hyperlink" Target="https://zaidyn.zs.com/products/zaidyn-commercial/conversational-ai" TargetMode="External"/><Relationship Id="rId8" Type="http://schemas.openxmlformats.org/officeDocument/2006/relationships/hyperlink" Target="https://close-upinternational.com/es/crm-farmaceutico-nativo-en-ia-de-los-datos-a-las-decisiones-unificadas-2/" TargetMode="External"/><Relationship Id="rId9" Type="http://schemas.openxmlformats.org/officeDocument/2006/relationships/hyperlink" Target="https://trinitylifesciences.com/products/insightsedge-digital-twins/" TargetMode="External"/><Relationship Id="rId10" Type="http://schemas.openxmlformats.org/officeDocument/2006/relationships/hyperlink" Target="https://www.ipsos.com/en/healthcare/healthcare-personabot" TargetMode="External"/><Relationship Id="rId11" Type="http://schemas.openxmlformats.org/officeDocument/2006/relationships/hyperlink" Target="https://www.evaluate.com/ask-ella/" TargetMode="External"/><Relationship Id="rId12" Type="http://schemas.openxmlformats.org/officeDocument/2006/relationships/hyperlink" Target="https://www.iqvia.com/solutions/commercialization/commercial-analytics/omnichannel-engagement-and-insights/field-force-agent" TargetMode="External"/><Relationship Id="rId13" Type="http://schemas.openxmlformats.org/officeDocument/2006/relationships/hyperlink" Target="https://trinitylifesciences.com/company/press-releases/trinity-launches-insightsedge-digital-twins/" TargetMode="External"/><Relationship Id="rId14" Type="http://schemas.openxmlformats.org/officeDocument/2006/relationships/hyperlink" Target="https://www.ipsos.com/en/launch-ipsos-personabot-groundbreaking-ai-powered-solution-enhance-segmentation-research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www.iqvia.com/solutions/innovative-models/artificial-intelligence-and-machine-learning/iqvia-ai-platform" TargetMode="External"/><Relationship Id="rId5" Type="http://schemas.openxmlformats.org/officeDocument/2006/relationships/hyperlink" Target="https://zaidyn.zs.com/products/zaidyn-medical/conversational-ai-for-medical" TargetMode="External"/><Relationship Id="rId6" Type="http://schemas.openxmlformats.org/officeDocument/2006/relationships/hyperlink" Target="https://evidenze.com/" TargetMode="External"/><Relationship Id="rId8" Type="http://schemas.openxmlformats.org/officeDocument/2006/relationships/hyperlink" Target="https://platform.veevavault.help/en/lr/950642" TargetMode="External"/><Relationship Id="rId9" Type="http://schemas.openxmlformats.org/officeDocument/2006/relationships/hyperlink" Target="https://zaidyn.zs.com/products/zaidyn-medical/patient-outcome-intelligence" TargetMode="External"/><Relationship Id="rId10" Type="http://schemas.openxmlformats.org/officeDocument/2006/relationships/hyperlink" Target="https://www.iqvia.com/blogs/2025/12/introducing-iqvia-med-r1-deep-research-agent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6" Type="http://schemas.openxmlformats.org/officeDocument/2006/relationships/hyperlink" Target="https://www.navlin.com/products/tender" TargetMode="External"/><Relationship Id="rId10" Type="http://schemas.openxmlformats.org/officeDocument/2006/relationships/hyperlink" Target="https://trinetx.com/press-releases/trinetx-unveils-conversational-ai-interface-and-enhanced-api-capabilities/" TargetMode="External"/><Relationship Id="rId11" Type="http://schemas.openxmlformats.org/officeDocument/2006/relationships/hyperlink" Target="https://citeline.com/plus" TargetMode="External"/><Relationship Id="rId12" Type="http://schemas.openxmlformats.org/officeDocument/2006/relationships/hyperlink" Target="https://clinicaldata.veevavault.help/en/lr/rn/limited-releases/26r3/new-features" TargetMode="External"/><Relationship Id="rId13" Type="http://schemas.openxmlformats.org/officeDocument/2006/relationships/hyperlink" Target="https://www.mmitnetwork.com/mosaic/" TargetMode="External"/><Relationship Id="rId14" Type="http://schemas.openxmlformats.org/officeDocument/2006/relationships/hyperlink" Target="https://www.eversana.com/insights/from-ai-answers-to-decision-grade-market-access/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www.veeva.com/products/vault-ai/" TargetMode="External"/><Relationship Id="rId3" Type="http://schemas.openxmlformats.org/officeDocument/2006/relationships/hyperlink" Target="https://www.iqvia.com/newsroom/2026/03/iqvia-unveils-iqvia-ai-a-unified-agentic-ai-platform" TargetMode="External"/><Relationship Id="rId4" Type="http://schemas.openxmlformats.org/officeDocument/2006/relationships/hyperlink" Target="https://www.iqvia.com/blogs/2025/12/introducing-iqvia-med-r1-deep-research-agent" TargetMode="External"/><Relationship Id="rId5" Type="http://schemas.openxmlformats.org/officeDocument/2006/relationships/hyperlink" Target="https://lens.tempus.com/" TargetMode="External"/><Relationship Id="rId6" Type="http://schemas.openxmlformats.org/officeDocument/2006/relationships/hyperlink" Target="https://www.komodohealth.com/product/healthcare-map/" TargetMode="External"/><Relationship Id="rId7" Type="http://schemas.openxmlformats.org/officeDocument/2006/relationships/hyperlink" Target="https://www.komodohealth.com/press/komodo-health-introduces-marmot-the-ai-built-to-accelerate-healthcare-innovation/" TargetMode="External"/><Relationship Id="rId8" Type="http://schemas.openxmlformats.org/officeDocument/2006/relationships/hyperlink" Target="https://www.truveta.com/blog/data/approach-to-real-world-data-quality/" TargetMode="External"/><Relationship Id="rId9" Type="http://schemas.openxmlformats.org/officeDocument/2006/relationships/hyperlink" Target="https://www.norstella.com/press-releases/norstella-introduces-norstellalinq/" TargetMode="External"/><Relationship Id="rId10" Type="http://schemas.openxmlformats.org/officeDocument/2006/relationships/hyperlink" Target="https://www.komodohealth.com/perspectives/building-the-framework-for-trusted-ai-in-healthcare/" TargetMode="External"/><Relationship Id="rId11" Type="http://schemas.openxmlformats.org/officeDocument/2006/relationships/hyperlink" Target="https://healthverity.com/exos/" TargetMode="External"/><Relationship Id="rId12" Type="http://schemas.openxmlformats.org/officeDocument/2006/relationships/hyperlink" Target="https://clinicaldata.veevavault.help/en/lr/rn/limited-releases/26r3/new-features/" TargetMode="External"/><Relationship Id="rId13" Type="http://schemas.openxmlformats.org/officeDocument/2006/relationships/hyperlink" Target="https://veranahealth.com/verana-health-introduces-new-ai-agents-to-expedite-and-streamline-rd-tasks/" TargetMode="External"/><Relationship Id="rId14" Type="http://schemas.openxmlformats.org/officeDocument/2006/relationships/hyperlink" Target="https://www.zs.com/about/newsroom/zs-press-salesforce-zaidyn-crm" TargetMode="External"/><Relationship Id="rId15" Type="http://schemas.openxmlformats.org/officeDocument/2006/relationships/hyperlink" Target="https://trinetx.com/blog/trinetx-named-best-of-show-finalist-at-scope-advancing-clinical-trial-planning-with-conversational-ai-and-enhanced-api-capabilities/" TargetMode="External"/><Relationship Id="rId16" Type="http://schemas.openxmlformats.org/officeDocument/2006/relationships/hyperlink" Target="https://healthverity.com/news/announcing-healthverity-exos/" TargetMode="External"/><Relationship Id="rId17" Type="http://schemas.openxmlformats.org/officeDocument/2006/relationships/hyperlink" Target="https://medeloop.ai/analytics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Relationship Id="rId4" Type="http://schemas.openxmlformats.org/officeDocument/2006/relationships/hyperlink" Target="https://www.anthropic.com/news/claude-for-life-sciences" TargetMode="External"/><Relationship Id="rId6" Type="http://schemas.openxmlformats.org/officeDocument/2006/relationships/hyperlink" Target="https://www.datavant.com/blog/how-ai-is-powering-smarter-privacy-preserving-data-discovery-for-life-sciences" TargetMode="External"/><Relationship Id="rId9" Type="http://schemas.openxmlformats.org/officeDocument/2006/relationships/hyperlink" Target="https://www.veeva.com/products/veeva-ai/" TargetMode="External"/><Relationship Id="rId10" Type="http://schemas.openxmlformats.org/officeDocument/2006/relationships/hyperlink" Target="https://www.anthropic.com/news/claude-science-ai-workbench" TargetMode="External"/><Relationship Id="rId11" Type="http://schemas.openxmlformats.org/officeDocument/2006/relationships/hyperlink" Target="https://openai.com/index/introducing-gpt-rosalind" TargetMode="External"/><Relationship Id="rId12" Type="http://schemas.openxmlformats.org/officeDocument/2006/relationships/hyperlink" Target="https://azure.microsoft.com/en-us/blog/announcing-microsoft-discovery-general-availability-and-microsoft-discovery-app-preview/" TargetMode="External"/><Relationship Id="rId13" Type="http://schemas.openxmlformats.org/officeDocument/2006/relationships/hyperlink" Target="https://deepmind.google/blog/co-scientist-a-multi-agent-ai-partner-to-accelerate-research/" TargetMode="External"/><Relationship Id="rId14" Type="http://schemas.openxmlformats.org/officeDocument/2006/relationships/hyperlink" Target="https://news.bms.com/news/details/2026/Bristol-Myers-Squibb-Announces-Strategic-Agreement-with-Anthropic-to-Position-Claude-Enterprise-as-the-Shared-Intelligence-Platform-Across-Its-Global-Operations/default.aspx" TargetMode="External"/><Relationship Id="rId15" Type="http://schemas.openxmlformats.org/officeDocument/2006/relationships/hyperlink" Target="https://www.biopharminternational.com/view/novo-nordisk-partners-with-openai-for-drug-discovery" TargetMode="External"/><Relationship Id="rId16" Type="http://schemas.openxmlformats.org/officeDocument/2006/relationships/hyperlink" Target="https://www.novonordisk.com/news-and-media/news-and-ir-materials/news-details.html?id=916768" TargetMode="External"/><Relationship Id="rId17" Type="http://schemas.openxmlformats.org/officeDocument/2006/relationships/hyperlink" Target="https://www.hpcwire.com/aiwire/2026/05/19/cohere-acquires-reliant-ai-to-expand-sovereign-enterprise-ai-for-global-biopharma-and-healthcare-sectors/" TargetMode="External"/><Relationship Id="rId18" Type="http://schemas.openxmlformats.org/officeDocument/2006/relationships/hyperlink" Target="https://www.fiercebiotech.com/biotech/anthropic-acquires-stealth-ai-startup-coefficient-bio-400m-deal" TargetMode="External"/><Relationship Id="rId19" Type="http://schemas.openxmlformats.org/officeDocument/2006/relationships/hyperlink" Target="https://www.rdworldonline.com/anthropics-400m-acquisition-of-coefficient-bio-signals-a-deeper-push-into-drug-discovery/" TargetMode="External"/><Relationship Id="rId20" Type="http://schemas.openxmlformats.org/officeDocument/2006/relationships/hyperlink" Target="https://www.veeva.com/resources/new-veeva-study-builder-agent-to-configure-clinical-studies-in-as-little-as-one-day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image" Target="../media/image-4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over kicker"/>
          <p:cNvSpPr txBox="1"/>
          <p:nvPr/>
        </p:nvSpPr>
        <p:spPr>
          <a:xfrm>
            <a:off x="822960" y="1362455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150">
                <a:solidFill>
                  <a:srgbClr val="FF612B"/>
                </a:solidFill>
                <a:latin typeface="Arial"/>
              </a:rPr>
              <a:t>INDEPENDENT COMPETITIVE INTELLIGENCE WORK SAMPLE</a:t>
            </a:r>
          </a:p>
        </p:txBody>
      </p:sp>
      <p:sp>
        <p:nvSpPr>
          <p:cNvPr id="3" name="cover title"/>
          <p:cNvSpPr txBox="1"/>
          <p:nvPr/>
        </p:nvSpPr>
        <p:spPr>
          <a:xfrm>
            <a:off x="822960" y="1773935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 b="1">
                <a:solidFill>
                  <a:srgbClr val="002677"/>
                </a:solidFill>
                <a:latin typeface="Arial"/>
              </a:rPr>
              <a:t>Conversational AI in Life Sciences</a:t>
            </a:r>
          </a:p>
        </p:txBody>
      </p:sp>
      <p:sp>
        <p:nvSpPr>
          <p:cNvPr id="4" name="cover subtitle"/>
          <p:cNvSpPr txBox="1"/>
          <p:nvPr/>
        </p:nvSpPr>
        <p:spPr>
          <a:xfrm>
            <a:off x="822960" y="2551176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002677"/>
                </a:solidFill>
                <a:latin typeface="Arial"/>
              </a:rPr>
              <a:t>Competitive landscape and implications for Optum Life Sciences</a:t>
            </a:r>
          </a:p>
        </p:txBody>
      </p:sp>
      <p:sp>
        <p:nvSpPr>
          <p:cNvPr id="10" name="cover scope"/>
          <p:cNvSpPr txBox="1"/>
          <p:nvPr/>
        </p:nvSpPr>
        <p:spPr>
          <a:xfrm>
            <a:off x="822960" y="3072384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>
                <a:solidFill>
                  <a:srgbClr val="4B4D4F"/>
                </a:solidFill>
                <a:latin typeface="Arial"/>
              </a:rPr>
              <a:t>An outside-in assessment of publicly marketed conversational AI offerings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621024"/>
            <a:ext cx="10543032" cy="0"/>
          </a:xfrm>
          <a:prstGeom prst="line">
            <a:avLst/>
          </a:prstGeom>
          <a:ln w="9525">
            <a:solidFill>
              <a:srgbClr val="D9D4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ver author"/>
          <p:cNvSpPr txBox="1"/>
          <p:nvPr/>
        </p:nvSpPr>
        <p:spPr>
          <a:xfrm>
            <a:off x="822960" y="380390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>
                <a:solidFill>
                  <a:srgbClr val="002677"/>
                </a:solidFill>
                <a:latin typeface="Arial"/>
              </a:rPr>
              <a:t>Prepared by Joseph Marino</a:t>
            </a:r>
          </a:p>
        </p:txBody>
      </p:sp>
      <p:sp>
        <p:nvSpPr>
          <p:cNvPr id="13" name="cover date"/>
          <p:cNvSpPr txBox="1"/>
          <p:nvPr/>
        </p:nvSpPr>
        <p:spPr>
          <a:xfrm>
            <a:off x="822960" y="4123944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4B4D4F"/>
                </a:solidFill>
                <a:latin typeface="Arial"/>
              </a:rPr>
              <a:t>October 2026  ·  Public sources reviewed as of October 13, 2026</a:t>
            </a:r>
          </a:p>
        </p:txBody>
      </p:sp>
      <p:sp>
        <p:nvSpPr>
          <p:cNvPr id="14" name="cover disclaimer"/>
          <p:cNvSpPr txBox="1"/>
          <p:nvPr/>
        </p:nvSpPr>
        <p:spPr>
          <a:xfrm>
            <a:off x="822960" y="4992624"/>
            <a:ext cx="1054303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7A7C7E"/>
                </a:solidFill>
                <a:latin typeface="Arial"/>
              </a:rPr>
              <a:t>Independent work sample based solely on publicly available information. Not affiliated with, commissioned by or endorsed by Optum or UnitedHealth Group.</a:t>
            </a:r>
          </a:p>
          <a:p>
            <a:pPr algn="l">
              <a:spcBef>
                <a:spcPts val="400"/>
              </a:spcBef>
            </a:pPr>
            <a:r>
              <a:rPr sz="900" b="0">
                <a:solidFill>
                  <a:srgbClr val="7A7C7E"/>
                </a:solidFill>
                <a:latin typeface="Arial"/>
              </a:rPr>
              <a:t>Research and drafting were assisted by AI tools; the analysis and conclusions are the author’s own.</a:t>
            </a:r>
          </a:p>
        </p:txBody>
      </p:sp>
      <p:sp>
        <p:nvSpPr>
          <p:cNvPr id="15" name="cover contact"/>
          <p:cNvSpPr txBox="1"/>
          <p:nvPr/>
        </p:nvSpPr>
        <p:spPr>
          <a:xfrm>
            <a:off x="822960" y="441655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u="none">
                <a:solidFill>
                  <a:srgbClr val="002677"/>
                </a:solidFill>
                <a:latin typeface="Arial"/>
                <a:hlinkClick r:id="rId2"/>
              </a:rPr>
              <a:t>linkedin.com/in/joseph-marino-995651183</a:t>
            </a:r>
            <a:r>
              <a:rPr sz="1200">
                <a:solidFill>
                  <a:srgbClr val="7A7C7E"/>
                </a:solidFill>
                <a:latin typeface="Arial"/>
              </a:rPr>
              <a:t>  ·  </a:t>
            </a:r>
            <a:r>
              <a:rPr sz="1200" u="none">
                <a:solidFill>
                  <a:srgbClr val="002677"/>
                </a:solidFill>
                <a:latin typeface="Arial"/>
                <a:hlinkClick r:id="rId3"/>
              </a:rPr>
              <a:t>marinojoe@gmail.com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EXECUTIVE SUMMARY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Competitors’ conversational AI points to four choices for any Optum LS offering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label"/>
          <p:cNvSpPr txBox="1"/>
          <p:nvPr/>
        </p:nvSpPr>
        <p:spPr>
          <a:xfrm>
            <a:off x="548640" y="116128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FOUR CHOICES</a:t>
            </a:r>
            <a:endParaRPr lang="en-US" sz="1000" dirty="0"/>
          </a:p>
        </p:txBody>
      </p:sp>
      <p:sp>
        <p:nvSpPr>
          <p:cNvPr id="27" name="choice tile 1"/>
          <p:cNvSpPr/>
          <p:nvPr/>
        </p:nvSpPr>
        <p:spPr>
          <a:xfrm>
            <a:off x="548640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28" name="card label"/>
          <p:cNvSpPr txBox="1"/>
          <p:nvPr/>
        </p:nvSpPr>
        <p:spPr>
          <a:xfrm>
            <a:off x="694944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1. WHERE IT SITS</a:t>
            </a:r>
            <a:endParaRPr lang="en-US" sz="1300" dirty="0"/>
          </a:p>
        </p:txBody>
      </p:sp>
      <p:sp>
        <p:nvSpPr>
          <p:cNvPr id="29" name="Text 29"/>
          <p:cNvSpPr txBox="1"/>
          <p:nvPr/>
        </p:nvSpPr>
        <p:spPr>
          <a:xfrm>
            <a:off x="694944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Before purchase, in place of analyst requests, inside CRM, or across a portfolio</a:t>
            </a:r>
            <a:endParaRPr lang="en-US" sz="1100" dirty="0"/>
          </a:p>
        </p:txBody>
      </p:sp>
      <p:sp>
        <p:nvSpPr>
          <p:cNvPr id="30" name="Text 29"/>
          <p:cNvSpPr txBox="1"/>
          <p:nvPr/>
        </p:nvSpPr>
        <p:spPr>
          <a:xfrm>
            <a:off x="694944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Truven, Flatiron, IQVIA, Norstella</a:t>
            </a:r>
            <a:endParaRPr lang="en-US" sz="1100" dirty="0"/>
          </a:p>
        </p:txBody>
      </p:sp>
      <p:sp>
        <p:nvSpPr>
          <p:cNvPr id="31" name="choice tile 2"/>
          <p:cNvSpPr/>
          <p:nvPr/>
        </p:nvSpPr>
        <p:spPr>
          <a:xfrm>
            <a:off x="3355848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2" name="card label"/>
          <p:cNvSpPr txBox="1"/>
          <p:nvPr/>
        </p:nvSpPr>
        <p:spPr>
          <a:xfrm>
            <a:off x="3502152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2. HOW IT SHOWS ITS WORK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3502152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Sources and assumptions kept visible; limits published</a:t>
            </a:r>
            <a:endParaRPr lang="en-US" sz="1100" dirty="0"/>
          </a:p>
        </p:txBody>
      </p:sp>
      <p:sp>
        <p:nvSpPr>
          <p:cNvPr id="34" name="Text 29"/>
          <p:cNvSpPr txBox="1"/>
          <p:nvPr/>
        </p:nvSpPr>
        <p:spPr>
          <a:xfrm>
            <a:off x="3502152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EVERSANA, IQVIA</a:t>
            </a:r>
            <a:endParaRPr lang="en-US" sz="1100" dirty="0"/>
          </a:p>
        </p:txBody>
      </p:sp>
      <p:sp>
        <p:nvSpPr>
          <p:cNvPr id="35" name="choice tile 3"/>
          <p:cNvSpPr/>
          <p:nvPr/>
        </p:nvSpPr>
        <p:spPr>
          <a:xfrm>
            <a:off x="6163056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36" name="card label"/>
          <p:cNvSpPr txBox="1"/>
          <p:nvPr/>
        </p:nvSpPr>
        <p:spPr>
          <a:xfrm>
            <a:off x="6309360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3. HOW MUCH AUTONOMY</a:t>
            </a:r>
            <a:endParaRPr lang="en-US" sz="1300" dirty="0"/>
          </a:p>
        </p:txBody>
      </p:sp>
      <p:sp>
        <p:nvSpPr>
          <p:cNvPr id="37" name="Text 29"/>
          <p:cNvSpPr txBox="1"/>
          <p:nvPr/>
        </p:nvSpPr>
        <p:spPr>
          <a:xfrm>
            <a:off x="6309360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Highest in RWE analysis; narrower in medical and regulatory work</a:t>
            </a:r>
            <a:endParaRPr lang="en-US" sz="1100" dirty="0"/>
          </a:p>
        </p:txBody>
      </p:sp>
      <p:sp>
        <p:nvSpPr>
          <p:cNvPr id="38" name="Text 29"/>
          <p:cNvSpPr txBox="1"/>
          <p:nvPr/>
        </p:nvSpPr>
        <p:spPr>
          <a:xfrm>
            <a:off x="6309360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Flatiron, Verana, ZS, Veeva</a:t>
            </a:r>
            <a:endParaRPr lang="en-US" sz="1100" dirty="0"/>
          </a:p>
        </p:txBody>
      </p:sp>
      <p:sp>
        <p:nvSpPr>
          <p:cNvPr id="39" name="choice tile 4"/>
          <p:cNvSpPr/>
          <p:nvPr/>
        </p:nvSpPr>
        <p:spPr>
          <a:xfrm>
            <a:off x="8970264" y="1417320"/>
            <a:ext cx="2670048" cy="1005840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0" name="card label"/>
          <p:cNvSpPr txBox="1"/>
          <p:nvPr/>
        </p:nvSpPr>
        <p:spPr>
          <a:xfrm>
            <a:off x="9116568" y="1527048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80" kern="0" dirty="0">
                <a:solidFill>
                  <a:srgbClr val="002677"/>
                </a:solidFill>
              </a:rPr>
              <a:t>4. BUILT OR PARTNERED</a:t>
            </a:r>
            <a:endParaRPr lang="en-US" sz="1300" dirty="0"/>
          </a:p>
        </p:txBody>
      </p:sp>
      <p:sp>
        <p:nvSpPr>
          <p:cNvPr id="41" name="Text 29"/>
          <p:cNvSpPr txBox="1"/>
          <p:nvPr/>
        </p:nvSpPr>
        <p:spPr>
          <a:xfrm>
            <a:off x="9116568" y="1764792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4B4D4F"/>
                </a:solidFill>
              </a:rPr>
              <a:t>LLM providers supply competitors and sell their own products</a:t>
            </a:r>
            <a:endParaRPr lang="en-US" sz="1100" dirty="0"/>
          </a:p>
        </p:txBody>
      </p:sp>
      <p:sp>
        <p:nvSpPr>
          <p:cNvPr id="42" name="Text 29"/>
          <p:cNvSpPr txBox="1"/>
          <p:nvPr/>
        </p:nvSpPr>
        <p:spPr>
          <a:xfrm>
            <a:off x="9116568" y="2176272"/>
            <a:ext cx="23957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00" dirty="0" b="1">
                <a:solidFill>
                  <a:srgbClr val="7A7C7E"/>
                </a:solidFill>
              </a:rPr>
              <a:t>Seen in: </a:t>
            </a:r>
            <a:r>
              <a:rPr lang="en-US" sz="900" dirty="0">
                <a:solidFill>
                  <a:srgbClr val="7A7C7E"/>
                </a:solidFill>
              </a:rPr>
              <a:t>Anthropic, OpenAI, Cohere</a:t>
            </a:r>
            <a:endParaRPr lang="en-US" sz="1100" dirty="0"/>
          </a:p>
        </p:txBody>
      </p:sp>
      <p:sp>
        <p:nvSpPr>
          <p:cNvPr id="43" name="key findings card"/>
          <p:cNvSpPr/>
          <p:nvPr/>
        </p:nvSpPr>
        <p:spPr>
          <a:xfrm>
            <a:off x="548640" y="2578608"/>
            <a:ext cx="3026664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4" name="card label"/>
          <p:cNvSpPr txBox="1"/>
          <p:nvPr/>
        </p:nvSpPr>
        <p:spPr>
          <a:xfrm>
            <a:off x="731520" y="2706624"/>
            <a:ext cx="2697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KEY FINDINGS</a:t>
            </a:r>
            <a:endParaRPr lang="en-US" sz="1300" dirty="0"/>
          </a:p>
        </p:txBody>
      </p:sp>
      <p:sp>
        <p:nvSpPr>
          <p:cNvPr id="45" name="hero 19"/>
          <p:cNvSpPr txBox="1"/>
          <p:nvPr/>
        </p:nvSpPr>
        <p:spPr>
          <a:xfrm>
            <a:off x="621792" y="305409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23</a:t>
            </a:r>
            <a:endParaRPr lang="en-US" sz="3400" dirty="0"/>
          </a:p>
        </p:txBody>
      </p:sp>
      <p:sp>
        <p:nvSpPr>
          <p:cNvPr id="46" name="Text 29"/>
          <p:cNvSpPr txBox="1"/>
          <p:nvPr/>
        </p:nvSpPr>
        <p:spPr>
          <a:xfrm>
            <a:off x="1207007" y="309067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conversational AI offerings</a:t>
            </a:r>
            <a:r>
              <a:rPr lang="en-US" sz="950" dirty="0">
                <a:solidFill>
                  <a:srgbClr val="4B4D4F"/>
                </a:solidFill>
              </a:rPr>
              <a:t>, marketed by </a:t>
            </a:r>
            <a:r>
              <a:rPr lang="en-US" sz="950" dirty="0" b="1">
                <a:solidFill>
                  <a:srgbClr val="4B4D4F"/>
                </a:solidFill>
              </a:rPr>
              <a:t>15 of 43 U.S. competitors</a:t>
            </a:r>
            <a:endParaRPr lang="en-US" sz="1100" dirty="0"/>
          </a:p>
        </p:txBody>
      </p:sp>
      <p:sp>
        <p:nvSpPr>
          <p:cNvPr id="47" name="hero 19"/>
          <p:cNvSpPr txBox="1"/>
          <p:nvPr/>
        </p:nvSpPr>
        <p:spPr>
          <a:xfrm>
            <a:off x="621792" y="3694176"/>
            <a:ext cx="5669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2400" b="1" dirty="0">
                <a:solidFill>
                  <a:srgbClr val="FF612B"/>
                </a:solidFill>
              </a:rPr>
              <a:t>9</a:t>
            </a:r>
            <a:endParaRPr lang="en-US" sz="3400" dirty="0"/>
          </a:p>
        </p:txBody>
      </p:sp>
      <p:sp>
        <p:nvSpPr>
          <p:cNvPr id="48" name="Text 29"/>
          <p:cNvSpPr txBox="1"/>
          <p:nvPr/>
        </p:nvSpPr>
        <p:spPr>
          <a:xfrm>
            <a:off x="1207007" y="3730752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950" dirty="0" b="1">
                <a:solidFill>
                  <a:srgbClr val="4B4D4F"/>
                </a:solidFill>
              </a:rPr>
              <a:t>of 34 RWE competitors</a:t>
            </a:r>
            <a:r>
              <a:rPr lang="en-US" sz="950" dirty="0">
                <a:solidFill>
                  <a:srgbClr val="4B4D4F"/>
                </a:solidFill>
              </a:rPr>
              <a:t> market one, the highest share of any domain</a:t>
            </a:r>
            <a:endParaRPr lang="en-US" sz="1100" dirty="0"/>
          </a:p>
        </p:txBody>
      </p:sp>
      <p:sp>
        <p:nvSpPr>
          <p:cNvPr id="49" name="optum ls positioning card"/>
          <p:cNvSpPr/>
          <p:nvPr/>
        </p:nvSpPr>
        <p:spPr>
          <a:xfrm>
            <a:off x="3758184" y="2578608"/>
            <a:ext cx="7882127" cy="1810512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0" name="card label"/>
          <p:cNvSpPr txBox="1"/>
          <p:nvPr/>
        </p:nvSpPr>
        <p:spPr>
          <a:xfrm>
            <a:off x="3959352" y="28117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FF612B"/>
                </a:solidFill>
              </a:rPr>
              <a:t>OPTUM LS POSITIONING</a:t>
            </a:r>
            <a:endParaRPr lang="en-US" sz="1300" dirty="0"/>
          </a:p>
        </p:txBody>
      </p:sp>
      <p:sp>
        <p:nvSpPr>
          <p:cNvPr id="51" name="Text 29"/>
          <p:cNvSpPr txBox="1"/>
          <p:nvPr/>
        </p:nvSpPr>
        <p:spPr>
          <a:xfrm>
            <a:off x="3959352" y="3282696"/>
            <a:ext cx="74797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Optum LS publicly emphasizes linked healthcare data, AI-enabled research tools and scientific expertise.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dirty="0" b="1">
                <a:solidFill>
                  <a:srgbClr val="1A1A1A"/>
                </a:solidFill>
              </a:rPr>
              <a:t>Several competitors lead with conversational AI for comparable tasks.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100" b="1" dirty="0">
                <a:solidFill>
                  <a:srgbClr val="002677"/>
                </a:solidFill>
              </a:rPr>
              <a:t>This analysis assumes Optum LS is developing or evaluating its own.</a:t>
            </a:r>
            <a:endParaRPr lang="en-US" sz="1100" dirty="0"/>
          </a:p>
        </p:txBody>
      </p:sp>
      <p:sp>
        <p:nvSpPr>
          <p:cNvPr id="52" name="research scope card"/>
          <p:cNvSpPr/>
          <p:nvPr/>
        </p:nvSpPr>
        <p:spPr>
          <a:xfrm>
            <a:off x="3758184" y="4544568"/>
            <a:ext cx="7882127" cy="1508759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3" name="card label"/>
          <p:cNvSpPr txBox="1"/>
          <p:nvPr/>
        </p:nvSpPr>
        <p:spPr>
          <a:xfrm>
            <a:off x="3959352" y="4672584"/>
            <a:ext cx="7479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FF612B"/>
                </a:solidFill>
              </a:rPr>
              <a:t>RESEARCH SCOPE</a:t>
            </a:r>
            <a:endParaRPr lang="en-US" sz="1300" dirty="0"/>
          </a:p>
        </p:txBody>
      </p:sp>
      <p:sp>
        <p:nvSpPr>
          <p:cNvPr id="54" name="Text 29"/>
          <p:cNvSpPr txBox="1"/>
          <p:nvPr/>
        </p:nvSpPr>
        <p:spPr>
          <a:xfrm>
            <a:off x="3959352" y="5047488"/>
            <a:ext cx="7479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Competitor products were sorted by customer task rather than by vendor, to match each with a specific Optum LS offering.</a:t>
            </a:r>
            <a:endParaRPr lang="en-US" sz="11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050" dirty="0">
                <a:solidFill>
                  <a:srgbClr val="4B4D4F"/>
                </a:solidFill>
              </a:rPr>
              <a:t>Those tasks were then grouped into five domains where both Optum LS and its competitors publicly market products:</a:t>
            </a:r>
            <a:endParaRPr lang="en-US" sz="1100" dirty="0"/>
          </a:p>
        </p:txBody>
      </p:sp>
      <p:sp>
        <p:nvSpPr>
          <p:cNvPr id="9" name="workflow chip RWE"/>
          <p:cNvSpPr/>
          <p:nvPr/>
        </p:nvSpPr>
        <p:spPr>
          <a:xfrm>
            <a:off x="3959352" y="5623559"/>
            <a:ext cx="422727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3959352" y="5623559"/>
            <a:ext cx="422727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RWE</a:t>
            </a:r>
            <a:endParaRPr lang="en-US" sz="950" dirty="0"/>
          </a:p>
        </p:txBody>
      </p:sp>
      <p:sp>
        <p:nvSpPr>
          <p:cNvPr id="11" name="workflow chip Commercial Intelligence"/>
          <p:cNvSpPr/>
          <p:nvPr/>
        </p:nvSpPr>
        <p:spPr>
          <a:xfrm>
            <a:off x="4473519" y="5623559"/>
            <a:ext cx="177786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 txBox="1"/>
          <p:nvPr/>
        </p:nvSpPr>
        <p:spPr>
          <a:xfrm>
            <a:off x="4473519" y="5623559"/>
            <a:ext cx="17778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Commercial Intelligence</a:t>
            </a:r>
            <a:endParaRPr lang="en-US" sz="950" dirty="0"/>
          </a:p>
        </p:txBody>
      </p:sp>
      <p:sp>
        <p:nvSpPr>
          <p:cNvPr id="13" name="workflow chip Medical / Regulatory Research"/>
          <p:cNvSpPr/>
          <p:nvPr/>
        </p:nvSpPr>
        <p:spPr>
          <a:xfrm>
            <a:off x="6342827" y="5623559"/>
            <a:ext cx="2184410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 txBox="1"/>
          <p:nvPr/>
        </p:nvSpPr>
        <p:spPr>
          <a:xfrm>
            <a:off x="6342827" y="5623559"/>
            <a:ext cx="218441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Medical / Regulatory Research</a:t>
            </a:r>
            <a:endParaRPr lang="en-US" sz="950" dirty="0"/>
          </a:p>
        </p:txBody>
      </p:sp>
      <p:sp>
        <p:nvSpPr>
          <p:cNvPr id="15" name="workflow chip Clinical Trials"/>
          <p:cNvSpPr/>
          <p:nvPr/>
        </p:nvSpPr>
        <p:spPr>
          <a:xfrm>
            <a:off x="8618677" y="5623559"/>
            <a:ext cx="1235812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 txBox="1"/>
          <p:nvPr/>
        </p:nvSpPr>
        <p:spPr>
          <a:xfrm>
            <a:off x="8618677" y="5623559"/>
            <a:ext cx="12358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Clinical Trials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9945929" y="5623559"/>
            <a:ext cx="31089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and</a:t>
            </a:r>
            <a:endParaRPr lang="en-US" sz="1000" dirty="0"/>
          </a:p>
        </p:txBody>
      </p:sp>
      <p:sp>
        <p:nvSpPr>
          <p:cNvPr id="18" name="workflow chip Market Access"/>
          <p:cNvSpPr/>
          <p:nvPr/>
        </p:nvSpPr>
        <p:spPr>
          <a:xfrm>
            <a:off x="10311689" y="5623559"/>
            <a:ext cx="1100298" cy="246888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9525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19" name="Text 16"/>
          <p:cNvSpPr txBox="1"/>
          <p:nvPr/>
        </p:nvSpPr>
        <p:spPr>
          <a:xfrm>
            <a:off x="10311689" y="5623559"/>
            <a:ext cx="110029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accent1"/>
                </a:solidFill>
              </a:rPr>
              <a:t>Market Access</a:t>
            </a:r>
            <a:endParaRPr lang="en-US" sz="950" dirty="0"/>
          </a:p>
        </p:txBody>
      </p:sp>
      <p:sp>
        <p:nvSpPr>
          <p:cNvPr id="55" name="aside rule"/>
          <p:cNvSpPr/>
          <p:nvPr/>
        </p:nvSpPr>
        <p:spPr>
          <a:xfrm>
            <a:off x="548640" y="4672584"/>
            <a:ext cx="32004" cy="1252727"/>
          </a:xfrm>
          <a:prstGeom prst="rect">
            <a:avLst/>
          </a:prstGeom>
          <a:solidFill>
            <a:srgbClr val="D9D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ard label"/>
          <p:cNvSpPr txBox="1"/>
          <p:nvPr/>
        </p:nvSpPr>
        <p:spPr>
          <a:xfrm>
            <a:off x="694944" y="4672584"/>
            <a:ext cx="28437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A7C7E"/>
                </a:solidFill>
              </a:rPr>
              <a:t>WHAT COUNTS AS CONVERSATIONAL AI?</a:t>
            </a:r>
            <a:endParaRPr lang="en-US" sz="1300" dirty="0"/>
          </a:p>
        </p:txBody>
      </p:sp>
      <p:sp>
        <p:nvSpPr>
          <p:cNvPr id="57" name="Text 29"/>
          <p:cNvSpPr txBox="1"/>
          <p:nvPr/>
        </p:nvSpPr>
        <p:spPr>
          <a:xfrm>
            <a:off x="694944" y="5001768"/>
            <a:ext cx="284378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000" dirty="0">
                <a:solidFill>
                  <a:srgbClr val="7A7C7E"/>
                </a:solidFill>
              </a:rPr>
              <a:t>A publicly marketed interface that lets life-sciences customers use natural language to interact with data, research or business workflows. Excludes patient-facing chatbots, clinician scribes and AI without a natural-language interface.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RESEARCH CATALYST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Seven RWE AI launches since 2024 warrant a wider look across life sciences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389888"/>
            <a:ext cx="7315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SELECTED PUBLIC PRODUCT ANNOUNCEMENTS</a:t>
            </a:r>
            <a:endParaRPr lang="en-US" sz="1000" dirty="0"/>
          </a:p>
        </p:txBody>
      </p:sp>
      <p:sp>
        <p:nvSpPr>
          <p:cNvPr id="5" name="timeline"/>
          <p:cNvSpPr/>
          <p:nvPr/>
        </p:nvSpPr>
        <p:spPr>
          <a:xfrm>
            <a:off x="548640" y="2450592"/>
            <a:ext cx="11091672" cy="0"/>
          </a:xfrm>
          <a:prstGeom prst="line">
            <a:avLst/>
          </a:prstGeom>
          <a:noFill/>
          <a:ln w="19050">
            <a:solidFill>
              <a:schemeClr val="accent1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2024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Precedents</a:t>
            </a:r>
            <a:endParaRPr lang="en-US" sz="1000" dirty="0"/>
          </a:p>
        </p:txBody>
      </p:sp>
      <p:sp>
        <p:nvSpPr>
          <p:cNvPr id="8" name="milestone"/>
          <p:cNvSpPr/>
          <p:nvPr/>
        </p:nvSpPr>
        <p:spPr>
          <a:xfrm>
            <a:off x="548640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548640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Tempus One / Lens</a:t>
            </a:r>
            <a:r>
              <a:rPr lang="en-US" sz="1050" dirty="0">
                <a:solidFill>
                  <a:schemeClr val="tx1"/>
                </a:solidFill>
              </a:rPr>
              <a:t> — AI-assisted research and cohort exploration (February)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MapAI</a:t>
            </a:r>
            <a:r>
              <a:rPr lang="en-US" sz="1050" dirty="0">
                <a:solidFill>
                  <a:schemeClr val="tx1"/>
                </a:solidFill>
              </a:rPr>
              <a:t> — conversational healthcare analytics (September)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3321558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August 2025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321558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Platform expansion</a:t>
            </a:r>
            <a:endParaRPr lang="en-US" sz="1000" dirty="0"/>
          </a:p>
        </p:txBody>
      </p:sp>
      <p:sp>
        <p:nvSpPr>
          <p:cNvPr id="12" name="milestone"/>
          <p:cNvSpPr/>
          <p:nvPr/>
        </p:nvSpPr>
        <p:spPr>
          <a:xfrm>
            <a:off x="3321558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321558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Marmot</a:t>
            </a:r>
            <a:r>
              <a:rPr lang="en-US" sz="1050" dirty="0">
                <a:solidFill>
                  <a:schemeClr val="tx1"/>
                </a:solidFill>
              </a:rPr>
              <a:t> — AI-powered healthcare analytics and research workflows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094476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April–May 2026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094476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Research-interface launches</a:t>
            </a:r>
            <a:endParaRPr lang="en-US" sz="1000" dirty="0"/>
          </a:p>
        </p:txBody>
      </p:sp>
      <p:sp>
        <p:nvSpPr>
          <p:cNvPr id="16" name="milestone"/>
          <p:cNvSpPr/>
          <p:nvPr/>
        </p:nvSpPr>
        <p:spPr>
          <a:xfrm>
            <a:off x="6094476" y="2368296"/>
            <a:ext cx="164592" cy="164592"/>
          </a:xfrm>
          <a:prstGeom prst="ellipse">
            <a:avLst/>
          </a:prstGeom>
          <a:solidFill>
            <a:schemeClr val="accent1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094476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Truveta Intelligence</a:t>
            </a:r>
            <a:r>
              <a:rPr lang="en-US" sz="1050" dirty="0">
                <a:solidFill>
                  <a:schemeClr val="tx1"/>
                </a:solidFill>
              </a:rPr>
              <a:t> — natural-language RWE research questions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Flatiron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Telescope</a:t>
            </a:r>
            <a:r>
              <a:rPr lang="en-US" sz="1050" dirty="0">
                <a:solidFill>
                  <a:schemeClr val="tx1"/>
                </a:solidFill>
              </a:rPr>
              <a:t> — conversational oncology cohort exploration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867394" y="1828800"/>
            <a:ext cx="25900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September 2026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867394" y="2103120"/>
            <a:ext cx="259003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New releases</a:t>
            </a:r>
            <a:endParaRPr lang="en-US" sz="1000" dirty="0"/>
          </a:p>
        </p:txBody>
      </p:sp>
      <p:sp>
        <p:nvSpPr>
          <p:cNvPr id="20" name="milestone"/>
          <p:cNvSpPr/>
          <p:nvPr/>
        </p:nvSpPr>
        <p:spPr>
          <a:xfrm>
            <a:off x="8867394" y="2368296"/>
            <a:ext cx="164592" cy="164592"/>
          </a:xfrm>
          <a:prstGeom prst="ellipse">
            <a:avLst/>
          </a:prstGeom>
          <a:solidFill>
            <a:schemeClr val="accent2"/>
          </a:solidFill>
          <a:ln w="19050">
            <a:solidFill>
              <a:schemeClr val="bg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8867394" y="2615184"/>
            <a:ext cx="254431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Verana Health’s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Agent Claire</a:t>
            </a:r>
            <a:r>
              <a:rPr lang="en-US" sz="1050" dirty="0">
                <a:solidFill>
                  <a:schemeClr val="tx1"/>
                </a:solidFill>
              </a:rPr>
              <a:t> — conversational specialty-data research</a:t>
            </a:r>
            <a:endParaRPr lang="en-US" sz="1050" dirty="0"/>
          </a:p>
          <a:p>
            <a:pPr indent="0" marL="0">
              <a:spcBef>
                <a:spcPts val="800"/>
              </a:spcBef>
              <a:buNone/>
            </a:pPr>
            <a:r>
              <a:rPr lang="en-US" sz="1050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Atlas Patient Analytics</a:t>
            </a:r>
            <a:r>
              <a:rPr lang="en-US" sz="1050" dirty="0">
                <a:solidFill>
                  <a:schemeClr val="tx1"/>
                </a:solidFill>
              </a:rPr>
              <a:t> — agentic, managed cohort analytics</a:t>
            </a:r>
            <a:endParaRPr lang="en-US" sz="1050" dirty="0"/>
          </a:p>
        </p:txBody>
      </p:sp>
      <p:sp>
        <p:nvSpPr>
          <p:cNvPr id="22" name="the broader competitive question card"/>
          <p:cNvSpPr/>
          <p:nvPr/>
        </p:nvSpPr>
        <p:spPr>
          <a:xfrm>
            <a:off x="548640" y="4114800"/>
            <a:ext cx="7589520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3" name="label"/>
          <p:cNvSpPr txBox="1"/>
          <p:nvPr/>
        </p:nvSpPr>
        <p:spPr>
          <a:xfrm>
            <a:off x="749808" y="4389120"/>
            <a:ext cx="7187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BROADER COMPETITIVE QUESTIONS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4754880"/>
            <a:ext cx="718718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1. How widely are life-sciences vendors marketing conversational AI, and in which domains?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2. Which customer tasks does it target, and what do vendors promise?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3. Who supplies the underlying AI, and could those suppliers become competitors?</a:t>
            </a:r>
            <a:endParaRPr lang="en-US" sz="1200" dirty="0"/>
          </a:p>
          <a:p>
            <a:pPr indent="0" marL="0">
              <a:spcBef>
                <a:spcPts val="700"/>
              </a:spcBef>
              <a:buNone/>
            </a:pPr>
            <a:r>
              <a:rPr lang="en-US" sz="1200" b="1" dirty="0">
                <a:solidFill>
                  <a:schemeClr val="accent1"/>
                </a:solidFill>
              </a:rPr>
              <a:t>4. What does that positioning suggest for an Optum LS offering?</a:t>
            </a:r>
            <a:endParaRPr lang="en-US" sz="1200" dirty="0"/>
          </a:p>
        </p:txBody>
      </p:sp>
      <p:sp>
        <p:nvSpPr>
          <p:cNvPr id="25" name="our research response card"/>
          <p:cNvSpPr/>
          <p:nvPr/>
        </p:nvSpPr>
        <p:spPr>
          <a:xfrm>
            <a:off x="8321040" y="4114800"/>
            <a:ext cx="3319272" cy="192024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6" name="label"/>
          <p:cNvSpPr txBox="1"/>
          <p:nvPr/>
        </p:nvSpPr>
        <p:spPr>
          <a:xfrm>
            <a:off x="8522208" y="4389120"/>
            <a:ext cx="2916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RESEARCH APPROACH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522208" y="4754880"/>
            <a:ext cx="291693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Vendors’ public product claims show what competitors choose to promise customers. That makes them direct evidence of competitive positioning—though not of performance, adoption or revenue.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8" name="Invisible source link 3: https://investors.tempus.com/node/6451/pdf">
            <a:hlinkClick r:id="rId3"/>
          </p:cNvPr>
          <p:cNvSpPr/>
          <p:nvPr/>
        </p:nvSpPr>
        <p:spPr>
          <a:xfrm>
            <a:off x="548284" y="2627342"/>
            <a:ext cx="180485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3: https://www.komodohealth.com/press/komodo-health-unveils-new-generative-ai-offerings-to-enable-real-time-insights-across-330-million-patient-journeys/">
            <a:hlinkClick r:id="rId4"/>
          </p:cNvPr>
          <p:cNvSpPr/>
          <p:nvPr/>
        </p:nvSpPr>
        <p:spPr>
          <a:xfrm>
            <a:off x="548284" y="3208380"/>
            <a:ext cx="143985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3: https://www.komodohealth.com/press/komodo-health-introduces-marmot-the-ai-built-to-accelerate-healthcare-innovation/">
            <a:hlinkClick r:id="rId5"/>
          </p:cNvPr>
          <p:cNvSpPr/>
          <p:nvPr/>
        </p:nvSpPr>
        <p:spPr>
          <a:xfrm>
            <a:off x="3321354" y="2627342"/>
            <a:ext cx="1522182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3: https://www.truveta.com/blog/announcement/truveta-unveils-truveta-intelligence/">
            <a:hlinkClick r:id="rId6"/>
          </p:cNvPr>
          <p:cNvSpPr/>
          <p:nvPr/>
        </p:nvSpPr>
        <p:spPr>
          <a:xfrm>
            <a:off x="6094082" y="2627342"/>
            <a:ext cx="18095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3: https://resources.flatiron.com/press/flatiron-health-launches-flatiron-telescope-a-new-ai-platform-delivering-oncology-insights-in-minutes">
            <a:hlinkClick r:id="rId7"/>
          </p:cNvPr>
          <p:cNvSpPr/>
          <p:nvPr/>
        </p:nvSpPr>
        <p:spPr>
          <a:xfrm>
            <a:off x="6094082" y="3048537"/>
            <a:ext cx="162911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3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8867165" y="2627342"/>
            <a:ext cx="174911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4" name="Invisible source link 3: https://www.norstella.com/press-releases/launches-real-world-data-agentic-platform-first-agent-replace-manual-cohort-building/">
            <a:hlinkClick r:id="rId9"/>
          </p:cNvPr>
          <p:cNvSpPr/>
          <p:nvPr/>
        </p:nvSpPr>
        <p:spPr>
          <a:xfrm>
            <a:off x="8867165" y="3048537"/>
            <a:ext cx="20745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U.S. COMPETITIVE LANDSCAPE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Conversational AI is most visible in RWE, where competitors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market new access points to tasks Optum LS already serves</a:t>
            </a:r>
            <a:endParaRPr lang="en-US" sz="2200" dirty="0"/>
          </a:p>
        </p:txBody>
      </p:sp>
      <p:sp>
        <p:nvSpPr>
          <p:cNvPr id="4" name="kpi tile 45"/>
          <p:cNvSpPr/>
          <p:nvPr/>
        </p:nvSpPr>
        <p:spPr>
          <a:xfrm>
            <a:off x="548640" y="4846320"/>
            <a:ext cx="3937217" cy="1207008"/>
          </a:xfrm>
          <a:prstGeom prst="rect">
            <a:avLst/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53" name="scope note"/>
          <p:cNvSpPr txBox="1"/>
          <p:nvPr/>
        </p:nvSpPr>
        <p:spPr>
          <a:xfrm>
            <a:off x="548640" y="4526280"/>
            <a:ext cx="8778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chemeClr val="accent4"/>
                </a:solidFill>
              </a:rPr>
              <a:t>Scope note: Offerings are organized by their primary domain; supporting data and analytics capabilities may serve more than one domain.</a:t>
            </a:r>
            <a:endParaRPr lang="en-US" sz="800" dirty="0"/>
          </a:p>
        </p:txBody>
      </p:sp>
      <p:sp>
        <p:nvSpPr>
          <p:cNvPr id="55" name="key takeaway card"/>
          <p:cNvSpPr/>
          <p:nvPr/>
        </p:nvSpPr>
        <p:spPr>
          <a:xfrm>
            <a:off x="4668737" y="4846320"/>
            <a:ext cx="6971574" cy="120700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4869905" y="4974336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spc="150" kern="0" dirty="0">
                <a:solidFill>
                  <a:schemeClr val="accent2"/>
                </a:solidFill>
              </a:rPr>
              <a:t>KEY TAKEAWAY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4869905" y="5349240"/>
            <a:ext cx="65692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l">
              <a:buNone/>
            </a:pPr>
            <a:r>
              <a:rPr lang="en-US" sz="1250" b="1" dirty="0">
                <a:solidFill>
                  <a:schemeClr val="tx1"/>
                </a:solidFill>
              </a:rPr>
              <a:t>RWE has the highest concentration (9 of 34); market access the lowest (2 of 24).</a:t>
            </a:r>
            <a:endParaRPr lang="en-US" sz="1050" dirty="0"/>
          </a:p>
          <a:p>
            <a:pPr indent="0" marL="0" algn="l">
              <a:spcBef>
                <a:spcPts val="800"/>
              </a:spcBef>
              <a:buNone/>
            </a:pPr>
            <a:r>
              <a:rPr lang="en-US" sz="1250" b="1" dirty="0">
                <a:solidFill>
                  <a:schemeClr val="tx1"/>
                </a:solidFill>
              </a:rPr>
              <a:t>Norstella alone markets Ella-branded assistants in four of five domains.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graphicFrame>
        <p:nvGraphicFramePr>
          <p:cNvPr id="5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2971799"/>
        </p:xfrm>
        <a:graphic>
          <a:graphicData uri="http://schemas.openxmlformats.org/drawingml/2006/table">
            <a:tbl>
              <a:tblPr/>
              <a:tblGrid>
                <a:gridCol w="1619997"/>
                <a:gridCol w="3793465"/>
                <a:gridCol w="2835756"/>
                <a:gridCol w="2842453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DOMAIN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WHO’S COMPETING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THEY PITCH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</a:t>
                      </a:r>
                      <a:endParaRPr lang="en-US" sz="1050" dirty="0"/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chemeClr val="accent1"/>
                          </a:solidFill>
                        </a:rPr>
                        <a:t>(most active)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Komodo, Truveta, Flatiron, Tempus, HealthVerity, Norstella, Truven, ConcertAI, Verana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Pre-sale data previews; self-service analysis; packaged studies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Analytics on Demand; epidemiology research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Trinity, Norstella (Evaluate)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AI inside the rep’s CRM; simulated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Market Clarity: portfolio and patient/prescriber analytics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Medical / Regulatory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IQVIA, ZS,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Narrowly scoped tools; published limits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Postapproval safety studies; Market Clarity medical affairs insights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TriNetX, Norstella (Citeline), Veeva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Site selection; data-bounded EDC chat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Prospector; Digital Research Network; True Source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2852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Market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Access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EVERSANA, Norstella (MMIT)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Moving past chat answers; queryable payer feedback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4B4D4F"/>
                          </a:solidFill>
                        </a:rPr>
                        <a:t>HEOR/value evidence; Evidence Engine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3"/>
          <p:cNvSpPr txBox="1"/>
          <p:nvPr/>
        </p:nvSpPr>
        <p:spPr>
          <a:xfrm>
            <a:off x="685800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43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U.S. competitors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screened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2754992" y="4937759"/>
            <a:ext cx="15937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15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2754992" y="5449824"/>
            <a:ext cx="15937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 algn="ctr">
              <a:buNone/>
            </a:pPr>
            <a:r>
              <a:rPr lang="en-US" sz="1100" b="1" dirty="0">
                <a:solidFill>
                  <a:schemeClr val="accent1"/>
                </a:solidFill>
              </a:rPr>
              <a:t>competitors marketing</a:t>
            </a:r>
            <a:br>
              <a:rPr lang="en-US" sz="1100" b="1" dirty="0">
                <a:solidFill>
                  <a:schemeClr val="accent1"/>
                </a:solidFill>
              </a:rPr>
            </a:br>
            <a:r>
              <a:rPr lang="en-US" sz="1100" b="1" dirty="0">
                <a:solidFill>
                  <a:schemeClr val="accent1"/>
                </a:solidFill>
              </a:rPr>
              <a:t>conversational AI</a:t>
            </a:r>
            <a:endParaRPr lang="en-US" sz="1100" dirty="0"/>
          </a:p>
        </p:txBody>
      </p:sp>
      <p:sp>
        <p:nvSpPr>
          <p:cNvPr id="7" name="flow arrow"/>
          <p:cNvSpPr/>
          <p:nvPr/>
        </p:nvSpPr>
        <p:spPr>
          <a:xfrm>
            <a:off x="2325224" y="5065776"/>
            <a:ext cx="384048" cy="219456"/>
          </a:xfrm>
          <a:prstGeom prst="rightArrow">
            <a:avLst/>
          </a:prstGeom>
          <a:solidFill>
            <a:schemeClr val="accent4"/>
          </a:solidFill>
          <a:ln/>
        </p:spPr>
        <p:txBody>
          <a:bodyPr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RWE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RWE, conversational AI now spans the workflow, from pre-sale data previews to analyses traditionally handled by specialists</a:t>
            </a:r>
            <a:endParaRPr lang="en-US" sz="2200" dirty="0"/>
          </a:p>
        </p:txBody>
      </p:sp>
      <p:graphicFrame>
        <p:nvGraphicFramePr>
          <p:cNvPr id="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Identify and assess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suitable data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MarketScan Snapshot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assessment of MarketScan data suitability;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Ella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dataset recommendations (along with cohort construction and documented RWE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(NLP-extracted clinical variables)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4969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patient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populations and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and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MapAI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healthcare analytics and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Intelligence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research questions over longitudinal clinical data;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Briya’s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AIRE Population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cohort eligibility and feasibility assessment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64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broader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RWE questions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data feasibility, cohort design and auditable RWE analysis;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Platforms’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BC Catalyst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(Finland)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prompt-based cohort building and clinical/genomic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modeling, decision trees)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study methods, scientific review)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end-to-end conversational rwe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END-TO-END CONVERSATIONAL RWE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HealthVerity’s eXOs</a:t>
            </a:r>
            <a:r>
              <a:rPr lang="en-US" sz="1050" b="1" dirty="0">
                <a:solidFill>
                  <a:schemeClr val="tx1"/>
                </a:solidFill>
              </a:rPr>
              <a:t> and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Norstella’s Ella</a:t>
            </a:r>
            <a:r>
              <a:rPr lang="en-US" sz="1050" b="1" dirty="0">
                <a:solidFill>
                  <a:schemeClr val="tx1"/>
                </a:solidFill>
              </a:rPr>
              <a:t> market conversational AI as a multi-step workflow, not just search. HealthVerity’s eXOs advertises data feasibility, cohort design and RWE analysis, while Norstella’s Ella offers dataset recommendations, cohort construction and analytics.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9903" name="pre-engagement data evaluation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904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PRE-ENGAGEMENT DATA EVALUATION</a:t>
            </a:r>
            <a:endParaRPr lang="en-US" sz="1300" dirty="0"/>
          </a:p>
        </p:txBody>
      </p:sp>
      <p:sp>
        <p:nvSpPr>
          <p:cNvPr id="9905" name="Text 14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Truven also uses its conversational AI as a sales tool, offering qualified prospects free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MarketScan Snapshot</a:t>
            </a:r>
            <a:r>
              <a:rPr lang="en-US" sz="1050" b="1" dirty="0">
                <a:solidFill>
                  <a:schemeClr val="tx1"/>
                </a:solidFill>
              </a:rPr>
              <a:t> access to cohort counts and summary statistics before they commit to a full RWE analysis.</a:t>
            </a:r>
            <a:endParaRPr lang="en-US" sz="1050" dirty="0"/>
          </a:p>
        </p:txBody>
      </p:sp>
      <p:sp>
        <p:nvSpPr>
          <p:cNvPr id="990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6: https://www.merative.com/newsroom/truven-launches-marketscan-snapshot-an-ai-powered-tool-to-evaluate-fit-for-purpose-real-world-data-in-minutes">
            <a:hlinkClick r:id="rId3"/>
          </p:cNvPr>
          <p:cNvSpPr/>
          <p:nvPr/>
        </p:nvSpPr>
        <p:spPr>
          <a:xfrm>
            <a:off x="2944075" y="2014500"/>
            <a:ext cx="17786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6: https://panalgo.com/ella/">
            <a:hlinkClick r:id="rId15"/>
          </p:cNvPr>
          <p:cNvSpPr/>
          <p:nvPr/>
        </p:nvSpPr>
        <p:spPr>
          <a:xfrm>
            <a:off x="2944075" y="2200975"/>
            <a:ext cx="98920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6: https://www.komodohealth.com/product/marmot/">
            <a:hlinkClick r:id="rId8"/>
          </p:cNvPr>
          <p:cNvSpPr/>
          <p:nvPr/>
        </p:nvSpPr>
        <p:spPr>
          <a:xfrm>
            <a:off x="2944075" y="2896134"/>
            <a:ext cx="138096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6: https://www.komodohealth.com/press/komodo-health-unveils-new-generative-ai-offerings-to-enable-real-time-insights-across-330-million-patient-journeys/">
            <a:hlinkClick r:id="rId9"/>
          </p:cNvPr>
          <p:cNvSpPr/>
          <p:nvPr/>
        </p:nvSpPr>
        <p:spPr>
          <a:xfrm>
            <a:off x="4593234" y="2896134"/>
            <a:ext cx="3944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6: https://www.truveta.com/blog/announcement/truveta-unveils-truveta-intelligence/">
            <a:hlinkClick r:id="rId10"/>
          </p:cNvPr>
          <p:cNvSpPr/>
          <p:nvPr/>
        </p:nvSpPr>
        <p:spPr>
          <a:xfrm>
            <a:off x="2944075" y="3082621"/>
            <a:ext cx="167789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6: https://briya.com/aire-population-agent/">
            <a:hlinkClick r:id="rId11"/>
          </p:cNvPr>
          <p:cNvSpPr/>
          <p:nvPr/>
        </p:nvSpPr>
        <p:spPr>
          <a:xfrm>
            <a:off x="2944075" y="3269095"/>
            <a:ext cx="170319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6: https://healthverity.com/news/announcing-healthverity-exos/">
            <a:hlinkClick r:id="rId4"/>
          </p:cNvPr>
          <p:cNvSpPr/>
          <p:nvPr/>
        </p:nvSpPr>
        <p:spPr>
          <a:xfrm>
            <a:off x="2944075" y="3828899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6: https://www.bcplatforms.com/bc-catalyst">
            <a:hlinkClick r:id="rId16"/>
          </p:cNvPr>
          <p:cNvSpPr/>
          <p:nvPr/>
        </p:nvSpPr>
        <p:spPr>
          <a:xfrm>
            <a:off x="2944075" y="4015373"/>
            <a:ext cx="143855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6: https://healthverity.com/exos/">
            <a:hlinkClick r:id="rId18"/>
          </p:cNvPr>
          <p:cNvSpPr/>
          <p:nvPr/>
        </p:nvSpPr>
        <p:spPr>
          <a:xfrm>
            <a:off x="749515" y="5215373"/>
            <a:ext cx="124593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6: https://www.norstella.com/press-releases/panalgo-revolutionizes-real-world-data-launch-linqnotes-ella-ai/">
            <a:hlinkClick r:id="rId19"/>
          </p:cNvPr>
          <p:cNvSpPr/>
          <p:nvPr/>
        </p:nvSpPr>
        <p:spPr>
          <a:xfrm>
            <a:off x="2305443" y="5215373"/>
            <a:ext cx="94397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6: https://www.prnewswire.com/news-releases/truven-launches-marketscan-snapshot-an-ai-powered-tool-to-evaluate-fit-for-purpose-real-world-data-in-minutes-302892187.html">
            <a:hlinkClick r:id="rId20"/>
          </p:cNvPr>
          <p:cNvSpPr/>
          <p:nvPr/>
        </p:nvSpPr>
        <p:spPr>
          <a:xfrm>
            <a:off x="7336078" y="5375216"/>
            <a:ext cx="138219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SPECIALIZED RWE AND EVIDENCE GENERATION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oncology and specialty data, vendors pitch conversational AI as a substitute for some routine analyst work</a:t>
            </a:r>
            <a:endParaRPr lang="en-US" sz="2200" dirty="0"/>
          </a:p>
        </p:txBody>
      </p:sp>
      <p:graphicFrame>
        <p:nvGraphicFramePr>
          <p:cNvPr id="7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5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478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oncology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specialty cohorts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Flatiron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Telescope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oncology cohort exploration;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clinical and molecular research exploration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Enriched Clinical Data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(NLP-derived disease attributes)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clinicogenomics datasets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clinical/genomic data)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781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Investigate specialty-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disease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ConcertAI’s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Precision Explorer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oncology research analytics;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specialty-data research;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Clinical Notes Lab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(NLP/LLMs, custom AI models)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and observational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comparative effectiveness)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8354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Analyze curated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research datasets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MDClone’s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ADAMS Copilot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(Israel)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statistical analysis and visualization within controlled research datasets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Analytics on Demand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(advanced statistical modeling, survival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research data and study environments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(curated data, analytical workspaces)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packaged outcomes stud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PACKAGED OUTCOMES STUDIES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ConcertAI markets named Precision Explorer agents for guideline concordance, real-world outcomes and comorbidity analysis; it claims projects can shrink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from 10-20 weeks to as little as 6 weeks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18" name="self-service analysi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SELF-SERVICE ANALYSIS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Specialty-data vendors market conversational AI as a way to supplant routine work by analysts: Flatiron’s Telescope delivers survival analyses on demand,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eliminating the need to wait in analyst queues</a:t>
            </a:r>
            <a:r>
              <a:rPr lang="en-US" sz="1050" b="1" dirty="0">
                <a:solidFill>
                  <a:schemeClr val="tx1"/>
                </a:solidFill>
              </a:rPr>
              <a:t>,” while Verana’s Agent Claire offers data access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needing programming skills or analyst assistance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2944075" y="2073898"/>
            <a:ext cx="15133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7: https://www.tempus.com/solutions/lens/">
            <a:hlinkClick r:id="rId4"/>
          </p:cNvPr>
          <p:cNvSpPr/>
          <p:nvPr/>
        </p:nvSpPr>
        <p:spPr>
          <a:xfrm>
            <a:off x="2944075" y="2260372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7: https://www.concertai.com/precision-explorer">
            <a:hlinkClick r:id="rId7"/>
          </p:cNvPr>
          <p:cNvSpPr/>
          <p:nvPr/>
        </p:nvSpPr>
        <p:spPr>
          <a:xfrm>
            <a:off x="2944075" y="2921700"/>
            <a:ext cx="174953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7: https://veranahealth.com/verana-health-introduces-new-ai-agents-to-expedite-and-streamline-rd-tasks/">
            <a:hlinkClick r:id="rId8"/>
          </p:cNvPr>
          <p:cNvSpPr/>
          <p:nvPr/>
        </p:nvSpPr>
        <p:spPr>
          <a:xfrm>
            <a:off x="2944075" y="3108174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7: https://mdclone.com/meet-copilot/">
            <a:hlinkClick r:id="rId11"/>
          </p:cNvPr>
          <p:cNvSpPr/>
          <p:nvPr/>
        </p:nvSpPr>
        <p:spPr>
          <a:xfrm>
            <a:off x="2944075" y="3862731"/>
            <a:ext cx="150705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7: https://www.concertai.com/precision-explorer">
            <a:hlinkClick r:id="rId7"/>
          </p:cNvPr>
          <p:cNvSpPr/>
          <p:nvPr/>
        </p:nvSpPr>
        <p:spPr>
          <a:xfrm>
            <a:off x="749515" y="5535058"/>
            <a:ext cx="265887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7: https://resources.flatiron.com/press/flatiron-health-launches-flatiron-telescope-a-new-ai-platform-delivering-oncology-insights-in-minutes">
            <a:hlinkClick r:id="rId3"/>
          </p:cNvPr>
          <p:cNvSpPr/>
          <p:nvPr/>
        </p:nvSpPr>
        <p:spPr>
          <a:xfrm>
            <a:off x="6386753" y="5535058"/>
            <a:ext cx="305667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7: https://www.prnewswire.com/news-releases/verana-health-introduces-new-ai-agents-to-expedite-and-streamline-rd-302888122.html">
            <a:hlinkClick r:id="rId14"/>
          </p:cNvPr>
          <p:cNvSpPr/>
          <p:nvPr/>
        </p:nvSpPr>
        <p:spPr>
          <a:xfrm>
            <a:off x="7578472" y="5694900"/>
            <a:ext cx="382336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COMMERCIAL INTELLIGENCE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commercial intelligence, conversational AI reaches into reps’ daily workflow and simulated market research</a:t>
            </a:r>
            <a:endParaRPr lang="en-US" sz="2200" dirty="0"/>
          </a:p>
        </p:txBody>
      </p:sp>
      <p:graphicFrame>
        <p:nvGraphicFramePr>
          <p:cNvPr id="8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0599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market and portfolio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GMI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global market insights;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Evaluate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plain-English questions on pharma markets, deals and forecasts;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Health’s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GBI 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(China)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pharmaceutical database Q&amp;A and competitive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Prospection’s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ProGPT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(Australia)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patient and market insights for brand planning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(linked claims/EHR data, market attractiveness and portfolio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5521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Commercial field and prescribing decisions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Field Force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field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Commercial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commercial information and decision support;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Close-Up International’s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Xplora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AI-enabled pharmaceutical CRM and commercial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(patient/prescriber segmentation, treatment patterns, market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179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Simulated stakeholder research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Trinity Life Sciences’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InsightsEDGE Digital Twins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simulated personas;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Ipsos’s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PersonaBot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(France)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interaction with simulated healthcare stakeholders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(observed patient/prescriber insights)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simulated-persona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from insight to field action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INSIGHT TO FIELD ACTION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IQVIA’s Field Force Agent uses CRM activity and call notes to recommend next best actions, with a claimed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prep-time reduction of up to 27%</a:t>
            </a:r>
            <a:r>
              <a:rPr lang="en-US" sz="1050" b="1" dirty="0">
                <a:solidFill>
                  <a:schemeClr val="tx1"/>
                </a:solidFill>
              </a:rPr>
              <a:t>. ZS’s commercial assistant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generates call plans and draft emails</a:t>
            </a:r>
            <a:r>
              <a:rPr lang="en-US" sz="1050" b="1" dirty="0">
                <a:solidFill>
                  <a:schemeClr val="tx1"/>
                </a:solidFill>
              </a:rPr>
              <a:t>.</a:t>
            </a:r>
            <a:endParaRPr lang="en-US" sz="1050" dirty="0"/>
          </a:p>
        </p:txBody>
      </p:sp>
      <p:sp>
        <p:nvSpPr>
          <p:cNvPr id="18" name="synthetic stakeholder research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SYNTHETIC STAKEHOLDER RESEARCH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Trinity’s data-grounded digital twins simulate HCP, patient and payer responses to test messages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without commissioning a new study every time</a:t>
            </a:r>
            <a:r>
              <a:rPr lang="en-US" sz="1050" b="1" dirty="0">
                <a:solidFill>
                  <a:schemeClr val="tx1"/>
                </a:solidFill>
              </a:rPr>
              <a:t>”; Ipsos’s PersonaBot hosts a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focus group</a:t>
            </a:r>
            <a:r>
              <a:rPr lang="en-US" sz="1050" b="1" dirty="0">
                <a:solidFill>
                  <a:schemeClr val="tx1"/>
                </a:solidFill>
              </a:rPr>
              <a:t>” of personas drawn from clients’ existing research.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  <p:sp>
        <p:nvSpPr>
          <p:cNvPr id="26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1966253"/>
            <a:ext cx="106049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8: https://www.gbihealth.com.cn/en/products/gbi-bot">
            <a:hlinkClick r:id="rId4"/>
          </p:cNvPr>
          <p:cNvSpPr/>
          <p:nvPr/>
        </p:nvSpPr>
        <p:spPr>
          <a:xfrm>
            <a:off x="2944075" y="2339214"/>
            <a:ext cx="120548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8: https://support.prospection.com/en_US/530415-using-progpt/8351360445583">
            <a:hlinkClick r:id="rId5"/>
          </p:cNvPr>
          <p:cNvSpPr/>
          <p:nvPr/>
        </p:nvSpPr>
        <p:spPr>
          <a:xfrm>
            <a:off x="2944075" y="2525701"/>
            <a:ext cx="119922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8: https://www.iqvia.com/solutions/commercialization/iqvia-commercial-agentic-ai">
            <a:hlinkClick r:id="rId3"/>
          </p:cNvPr>
          <p:cNvSpPr/>
          <p:nvPr/>
        </p:nvSpPr>
        <p:spPr>
          <a:xfrm>
            <a:off x="2944075" y="2972093"/>
            <a:ext cx="147521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2944075" y="3158580"/>
            <a:ext cx="272189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8: https://close-upinternational.com/es/crm-farmaceutico-nativo-en-ia-de-los-datos-a-las-decisiones-unificadas-2/">
            <a:hlinkClick r:id="rId8"/>
          </p:cNvPr>
          <p:cNvSpPr/>
          <p:nvPr/>
        </p:nvSpPr>
        <p:spPr>
          <a:xfrm>
            <a:off x="2944075" y="3345054"/>
            <a:ext cx="1837400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8: https://www.evaluate.com/ask-ella/">
            <a:hlinkClick r:id="rId11"/>
          </p:cNvPr>
          <p:cNvSpPr/>
          <p:nvPr/>
        </p:nvSpPr>
        <p:spPr>
          <a:xfrm>
            <a:off x="2944075" y="2152740"/>
            <a:ext cx="13686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8: https://trinitylifesciences.com/products/insightsedge-digital-twins/">
            <a:hlinkClick r:id="rId9"/>
          </p:cNvPr>
          <p:cNvSpPr/>
          <p:nvPr/>
        </p:nvSpPr>
        <p:spPr>
          <a:xfrm>
            <a:off x="2944075" y="3969653"/>
            <a:ext cx="2730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8: https://www.ipsos.com/en/healthcare/healthcare-personabot">
            <a:hlinkClick r:id="rId10"/>
          </p:cNvPr>
          <p:cNvSpPr/>
          <p:nvPr/>
        </p:nvSpPr>
        <p:spPr>
          <a:xfrm>
            <a:off x="2944075" y="4156140"/>
            <a:ext cx="172893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8: https://www.iqvia.com/solutions/commercialization/commercial-analytics/omnichannel-engagement-and-insights/field-force-agent">
            <a:hlinkClick r:id="rId12"/>
          </p:cNvPr>
          <p:cNvSpPr/>
          <p:nvPr/>
        </p:nvSpPr>
        <p:spPr>
          <a:xfrm>
            <a:off x="2538717" y="5375216"/>
            <a:ext cx="210653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8: https://zaidyn.zs.com/products/zaidyn-commercial/conversational-ai">
            <a:hlinkClick r:id="rId7"/>
          </p:cNvPr>
          <p:cNvSpPr/>
          <p:nvPr/>
        </p:nvSpPr>
        <p:spPr>
          <a:xfrm>
            <a:off x="1360805" y="5535058"/>
            <a:ext cx="23578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8: https://trinitylifesciences.com/company/press-releases/trinity-launches-insightsedge-digital-twins/">
            <a:hlinkClick r:id="rId13"/>
          </p:cNvPr>
          <p:cNvSpPr/>
          <p:nvPr/>
        </p:nvSpPr>
        <p:spPr>
          <a:xfrm>
            <a:off x="7497222" y="5375216"/>
            <a:ext cx="314612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8: https://www.ipsos.com/en/launch-ipsos-personabot-groundbreaking-ai-powered-solution-enhance-segmentation-research">
            <a:hlinkClick r:id="rId14"/>
          </p:cNvPr>
          <p:cNvSpPr/>
          <p:nvPr/>
        </p:nvSpPr>
        <p:spPr>
          <a:xfrm>
            <a:off x="7666782" y="5535058"/>
            <a:ext cx="898694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MEDICAL / REGULATORY RESEARCH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medical and regulatory work, conversational AI operates within tighter bounds, and one vendor publishes where it fails</a:t>
            </a:r>
            <a:endParaRPr lang="en-US" sz="2200" dirty="0"/>
          </a:p>
        </p:txBody>
      </p:sp>
      <p:graphicFrame>
        <p:nvGraphicFramePr>
          <p:cNvPr id="9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284835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Search and synthesize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scientific evidence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 Deep Research Agent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synthesizes biomedical, clinical and regulatory sources to answer complex research questions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Epidemiology research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(study design, RWE generation)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postapproval safety and comparative-effectiveness studies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(statistical analysis)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964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Explore medical insights and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support scientific engagement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 Conversational AI for Medical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analysis of care gaps, scientific insights and opinion-leader information;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Evidenze’s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AI medical-education chatbots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(Spain)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medical education and knowledge support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Market Clarity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(medical affairs evidence, MSL insights, HCP analytics)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7756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Question and navigate</a:t>
                      </a:r>
                      <a:br/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regulated documents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 Chat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questions, summaries and follow-up interactions within authorized Vault documents and records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Safety and evidence-research services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(scientific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no comparable regulated-document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racking medical affairs impact card"/>
          <p:cNvSpPr/>
          <p:nvPr/>
        </p:nvSpPr>
        <p:spPr>
          <a:xfrm>
            <a:off x="548640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49808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TRACKING MEDICAL AFFAIRS IMPACT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749808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ZS positions its medical-affairs analytics as the answer to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what is medical affairs actually achieving?</a:t>
            </a:r>
            <a:r>
              <a:rPr lang="en-US" sz="1050" b="1" dirty="0">
                <a:solidFill>
                  <a:schemeClr val="tx1"/>
                </a:solidFill>
              </a:rPr>
              <a:t>” The suite tracks care gaps in patient-level claims data and compares engaged and non-engaged populations over time; a conversational assistant lets teams query the results.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26" name="limits in the open card"/>
          <p:cNvSpPr/>
          <p:nvPr/>
        </p:nvSpPr>
        <p:spPr>
          <a:xfrm>
            <a:off x="6185916" y="4512564"/>
            <a:ext cx="5454396" cy="154076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69544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LIMITS IN THE OPEN</a:t>
            </a:r>
            <a:endParaRPr lang="en-US" sz="1300" dirty="0"/>
          </a:p>
        </p:txBody>
      </p:sp>
      <p:sp>
        <p:nvSpPr>
          <p:cNvPr id="28" name="Text 14"/>
          <p:cNvSpPr txBox="1"/>
          <p:nvPr/>
        </p:nvSpPr>
        <p:spPr>
          <a:xfrm>
            <a:off x="6387084" y="5042916"/>
            <a:ext cx="5052060" cy="8275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IQVIA says its small Med-R1 research agent can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outperform much larger general-purpose models</a:t>
            </a:r>
            <a:r>
              <a:rPr lang="en-US" sz="1050" b="1" dirty="0">
                <a:solidFill>
                  <a:schemeClr val="tx1"/>
                </a:solidFill>
              </a:rPr>
              <a:t>,” while conceding that multi-step biomedical reasoning remains unsolved. In its December 2025 benchmark, Med-R1 answered 21 of 50 questions—and none of the 10 hardest, where OpenAI’s and Google’s agents managed one between them.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9: https://www.iqvia.com/solutions/innovative-models/artificial-intelligence-and-machine-learning/iqvia-ai-platform">
            <a:hlinkClick r:id="rId3"/>
          </p:cNvPr>
          <p:cNvSpPr/>
          <p:nvPr/>
        </p:nvSpPr>
        <p:spPr>
          <a:xfrm>
            <a:off x="2944075" y="2063815"/>
            <a:ext cx="217001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9: https://zaidyn.zs.com/products/zaidyn-medical/conversational-ai-for-medical">
            <a:hlinkClick r:id="rId5"/>
          </p:cNvPr>
          <p:cNvSpPr/>
          <p:nvPr/>
        </p:nvSpPr>
        <p:spPr>
          <a:xfrm>
            <a:off x="2944075" y="2773376"/>
            <a:ext cx="247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9: https://evidenze.com/">
            <a:hlinkClick r:id="rId6"/>
          </p:cNvPr>
          <p:cNvSpPr/>
          <p:nvPr/>
        </p:nvSpPr>
        <p:spPr>
          <a:xfrm>
            <a:off x="2944075" y="3095575"/>
            <a:ext cx="235622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9: https://platform.veevavault.help/en/lr/950642">
            <a:hlinkClick r:id="rId8"/>
          </p:cNvPr>
          <p:cNvSpPr/>
          <p:nvPr/>
        </p:nvSpPr>
        <p:spPr>
          <a:xfrm>
            <a:off x="2944075" y="3804781"/>
            <a:ext cx="122357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4420308" y="5055531"/>
            <a:ext cx="104939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zaidyn.zs.com/products/zaidyn-medical/patient-outcome-intelligence">
            <a:hlinkClick r:id="rId9"/>
          </p:cNvPr>
          <p:cNvSpPr/>
          <p:nvPr/>
        </p:nvSpPr>
        <p:spPr>
          <a:xfrm>
            <a:off x="749515" y="5215373"/>
            <a:ext cx="172332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9434314" y="5055531"/>
            <a:ext cx="157114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9: https://www.iqvia.com/blogs/2025/12/introducing-iqvia-med-r1-deep-research-agent">
            <a:hlinkClick r:id="rId10"/>
          </p:cNvPr>
          <p:cNvSpPr/>
          <p:nvPr/>
        </p:nvSpPr>
        <p:spPr>
          <a:xfrm>
            <a:off x="6386753" y="5215373"/>
            <a:ext cx="1642595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CONVERSATIONAL AI IN CLINICAL TRIALS AND MARKET ACCESS</a:t>
            </a:r>
            <a:endParaRPr lang="en-US" sz="1000" dirty="0"/>
          </a:p>
        </p:txBody>
      </p:sp>
      <p:sp>
        <p:nvSpPr>
          <p:cNvPr id="3" name="tracker RWE"/>
          <p:cNvSpPr/>
          <p:nvPr/>
        </p:nvSpPr>
        <p:spPr>
          <a:xfrm>
            <a:off x="5657393" y="365760"/>
            <a:ext cx="386791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657393" y="365760"/>
            <a:ext cx="386791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RWE</a:t>
            </a:r>
            <a:endParaRPr lang="en-US" sz="750" dirty="0"/>
          </a:p>
        </p:txBody>
      </p:sp>
      <p:sp>
        <p:nvSpPr>
          <p:cNvPr id="5" name="tracker Commercial Intelligence"/>
          <p:cNvSpPr/>
          <p:nvPr/>
        </p:nvSpPr>
        <p:spPr>
          <a:xfrm>
            <a:off x="6108192" y="365760"/>
            <a:ext cx="1502359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108192" y="365760"/>
            <a:ext cx="150235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Commercial Intelligence</a:t>
            </a:r>
            <a:endParaRPr lang="en-US" sz="750" dirty="0"/>
          </a:p>
        </p:txBody>
      </p:sp>
      <p:sp>
        <p:nvSpPr>
          <p:cNvPr id="7" name="tracker Medical / Regulatory Research"/>
          <p:cNvSpPr/>
          <p:nvPr/>
        </p:nvSpPr>
        <p:spPr>
          <a:xfrm>
            <a:off x="7674559" y="365760"/>
            <a:ext cx="1837030" cy="237744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7674559" y="365760"/>
            <a:ext cx="183703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accent4"/>
                </a:solidFill>
              </a:rPr>
              <a:t>Medical / Regulatory Research</a:t>
            </a:r>
            <a:endParaRPr lang="en-US" sz="750" dirty="0"/>
          </a:p>
        </p:txBody>
      </p:sp>
      <p:sp>
        <p:nvSpPr>
          <p:cNvPr id="9" name="tracker Clinical Trials"/>
          <p:cNvSpPr/>
          <p:nvPr/>
        </p:nvSpPr>
        <p:spPr>
          <a:xfrm>
            <a:off x="9575597" y="365760"/>
            <a:ext cx="1056132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575597" y="365760"/>
            <a:ext cx="10561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Clinical Trials</a:t>
            </a:r>
            <a:endParaRPr lang="en-US" sz="750" dirty="0"/>
          </a:p>
        </p:txBody>
      </p:sp>
      <p:sp>
        <p:nvSpPr>
          <p:cNvPr id="11" name="tracker Market Access"/>
          <p:cNvSpPr/>
          <p:nvPr/>
        </p:nvSpPr>
        <p:spPr>
          <a:xfrm>
            <a:off x="10695737" y="365760"/>
            <a:ext cx="944575" cy="23774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10695737" y="365760"/>
            <a:ext cx="94457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chemeClr val="bg1"/>
                </a:solidFill>
              </a:rPr>
              <a:t>Market Access</a:t>
            </a:r>
            <a:endParaRPr lang="en-US" sz="750" dirty="0"/>
          </a:p>
        </p:txBody>
      </p:sp>
      <p:sp>
        <p:nvSpPr>
          <p:cNvPr id="1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 trials and market access, vendors limit what conversational AI can see and how far its answers go</a:t>
            </a:r>
            <a:endParaRPr lang="en-US" sz="2200" dirty="0"/>
          </a:p>
        </p:txBody>
      </p:sp>
      <p:graphicFrame>
        <p:nvGraphicFramePr>
          <p:cNvPr id="10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008374"/>
        </p:xfrm>
        <a:graphic>
          <a:graphicData uri="http://schemas.openxmlformats.org/drawingml/2006/table">
            <a:tbl>
              <a:tblPr/>
              <a:tblGrid>
                <a:gridCol w="2286000"/>
                <a:gridCol w="5760720"/>
                <a:gridCol w="304495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CLINICAL TRIALS: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529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Trial feasibility, site and investigator identification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Conversational AI + Terrain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Natural-language protocol feasibility, clinical-code generation and site/investigator intelligence;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Citeline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trial and site search strategies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Prospector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(no-code cohort building, attrition funnels)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Digital Research Network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(patient identification, recruitment infrastructure)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664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Clinical-data operations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questions on study operational data and help content, excluding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True Source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 (electronic source-data capture); no comparable conversational assistant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CUSTOMER TASK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612B"/>
                          </a:solidFill>
                        </a:rPr>
                        <a:t>MARKET ACCESS: </a:t>
                      </a: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CONVERSATIONAL AI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RELEVANT OPTUM LS OFFERINGS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73788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Pharmaceutical pricing and market-access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EVERSANA’s </a:t>
                      </a:r>
                      <a:r>
                        <a:rPr lang="en-US" sz="950" b="1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Ask NAVLIN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access to pricing, reimbursement and market-access information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HEOR/value evidence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(outcomes research, economic analysis)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 b="1">
                          <a:solidFill>
                            <a:schemeClr val="tx1"/>
                          </a:solidFill>
                        </a:rPr>
                        <a:t>Evidence Engine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(evidence-generation support)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; 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health economic and budget impact modeling</a:t>
                      </a:r>
                      <a:r>
                        <a:rPr lang="en-US" sz="950" dirty="0" b="0">
                          <a:solidFill>
                            <a:schemeClr val="tx1"/>
                          </a:solidFill>
                        </a:rPr>
                        <a:t> (cost and budget scenarios)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92747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Payer feedback and coverage 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MMIT Ella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plain-language answers grounded in formulary, coverage and payer-feedback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No comparable offering established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8" name="defined data boundaries card"/>
          <p:cNvSpPr/>
          <p:nvPr/>
        </p:nvSpPr>
        <p:spPr>
          <a:xfrm>
            <a:off x="548640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49808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DEFINED DATA BOUNDARIES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749808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Veeva draws an explicit line around its new trial assistant: the EDC AI Tab answers questions from study operational data and help pages, but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no site-entered casebook data is referenced by the AI agent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26" name="from answers to workflows card"/>
          <p:cNvSpPr/>
          <p:nvPr/>
        </p:nvSpPr>
        <p:spPr>
          <a:xfrm>
            <a:off x="6185916" y="4672584"/>
            <a:ext cx="5454396" cy="138074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label"/>
          <p:cNvSpPr txBox="1"/>
          <p:nvPr/>
        </p:nvSpPr>
        <p:spPr>
          <a:xfrm>
            <a:off x="6387084" y="485546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FROM ANSWERS TO WORKFLOWS</a:t>
            </a:r>
            <a:endParaRPr lang="en-US" sz="1300" dirty="0"/>
          </a:p>
        </p:txBody>
      </p:sp>
      <p:sp>
        <p:nvSpPr>
          <p:cNvPr id="28" name="Text 16"/>
          <p:cNvSpPr txBox="1"/>
          <p:nvPr/>
        </p:nvSpPr>
        <p:spPr>
          <a:xfrm>
            <a:off x="6387084" y="5202936"/>
            <a:ext cx="50520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EVERSANA is moving market-access AI past chat answers. While offering Ask NAVLIN over pricing data from 100+ countries, it says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for important decisions, a good-looking AI answer is rarely enough</a:t>
            </a:r>
            <a:r>
              <a:rPr lang="en-US" sz="1050" b="1" dirty="0">
                <a:solidFill>
                  <a:schemeClr val="tx1"/>
                </a:solidFill>
              </a:rPr>
              <a:t>” and is building early workflows where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sources and assumptions remain visible</a:t>
            </a:r>
            <a:r>
              <a:rPr lang="en-US" sz="1050" b="1" dirty="0">
                <a:solidFill>
                  <a:schemeClr val="tx1"/>
                </a:solidFill>
              </a:rPr>
              <a:t>” for expert review.</a:t>
            </a:r>
            <a:endParaRPr lang="en-US" sz="1050" dirty="0"/>
          </a:p>
        </p:txBody>
      </p:sp>
      <p:sp>
        <p:nvSpPr>
          <p:cNvPr id="29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21" name="Invisible source link 10: https://trinetx.com/press-releases/trinetx-unveils-conversational-ai-interface-and-enhanced-api-capabilities/">
            <a:hlinkClick r:id="rId10"/>
          </p:cNvPr>
          <p:cNvSpPr/>
          <p:nvPr/>
        </p:nvSpPr>
        <p:spPr>
          <a:xfrm>
            <a:off x="2944075" y="1908303"/>
            <a:ext cx="241084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0: https://www.navlin.com/products/tender">
            <a:hlinkClick r:id="rId6"/>
          </p:cNvPr>
          <p:cNvSpPr/>
          <p:nvPr/>
        </p:nvSpPr>
        <p:spPr>
          <a:xfrm>
            <a:off x="2944075" y="3491942"/>
            <a:ext cx="149032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0: https://citeline.com/plus">
            <a:hlinkClick r:id="rId11"/>
          </p:cNvPr>
          <p:cNvSpPr/>
          <p:nvPr/>
        </p:nvSpPr>
        <p:spPr>
          <a:xfrm>
            <a:off x="2944075" y="2230502"/>
            <a:ext cx="1307444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2944075" y="2560981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0: https://www.mmitnetwork.com/mosaic/">
            <a:hlinkClick r:id="rId13"/>
          </p:cNvPr>
          <p:cNvSpPr/>
          <p:nvPr/>
        </p:nvSpPr>
        <p:spPr>
          <a:xfrm>
            <a:off x="2944075" y="4107181"/>
            <a:ext cx="1181092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5037945" y="5375216"/>
            <a:ext cx="5420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clinicaldata.veevavault.help/en/lr/rn/limited-releases/26r3/new-features">
            <a:hlinkClick r:id="rId12"/>
          </p:cNvPr>
          <p:cNvSpPr/>
          <p:nvPr/>
        </p:nvSpPr>
        <p:spPr>
          <a:xfrm>
            <a:off x="749515" y="5535058"/>
            <a:ext cx="338427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9793548" y="5375216"/>
            <a:ext cx="1577539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386753" y="5535058"/>
            <a:ext cx="273528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0: https://www.eversana.com/insights/from-ai-answers-to-decision-grade-market-access/">
            <a:hlinkClick r:id="rId14"/>
          </p:cNvPr>
          <p:cNvSpPr/>
          <p:nvPr/>
        </p:nvSpPr>
        <p:spPr>
          <a:xfrm>
            <a:off x="6805393" y="5694900"/>
            <a:ext cx="268960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ACROSS ALL FIVE DOMAINS: HOW THE PRODUCTS ARE BUILT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Behind the products, competitors lead with their data and controls;</a:t>
            </a:r>
            <a:br>
              <a:rPr lang="en-US" sz="2200" b="1" dirty="0">
                <a:solidFill>
                  <a:schemeClr val="accent1"/>
                </a:solidFill>
              </a:rPr>
            </a:br>
            <a:r>
              <a:rPr lang="en-US" sz="2200" b="1" dirty="0">
                <a:solidFill>
                  <a:schemeClr val="accent1"/>
                </a:solidFill>
              </a:rPr>
              <a:t>the model, and even the interface, can come from outside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  <p:graphicFrame>
        <p:nvGraphicFramePr>
          <p:cNvPr id="26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2" cy="3168395"/>
        </p:xfrm>
        <a:graphic>
          <a:graphicData uri="http://schemas.openxmlformats.org/drawingml/2006/table">
            <a:tbl>
              <a:tblPr/>
              <a:tblGrid>
                <a:gridCol w="1737360"/>
                <a:gridCol w="7086600"/>
                <a:gridCol w="2267712"/>
              </a:tblGrid>
              <a:tr h="32918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LAYER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WHAT COMPETITORS SHOW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TAKEAWAY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Model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Vault 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Anthropic and Amazon models;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IQVIA.ai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NVIDIA Nemotron;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Med-R1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developed separately;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Tempus’s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Lens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frontier LLMs paired with its own oncology models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Often sourced or adapted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Data and domain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intelligence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Healthcare Map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de-identified patient journeys;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a knowledge graph built from prior analyses;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Truveta Data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continuously refreshed EHR data from member health systems;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NorstellaLinQ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patient data, plus Citeline trial, Evaluate commercial and MMIT payer intelligence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What launches lead with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631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Execution and</a:t>
                      </a:r>
                      <a:br>
                        <a:rPr lang="en-US" sz="1050" b="1" dirty="0">
                          <a:solidFill>
                            <a:schemeClr val="accent1"/>
                          </a:solidFill>
                        </a:rPr>
                      </a:b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controls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Komodo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Marmot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“The LLM never touches numbers.”;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HealthVerity’s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eXOs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“nothing runs until you review, edit and approve it.”;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Veeva’s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EDC AI Tab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reads no site-entered casebook data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How AI work is constrained and checked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96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chemeClr val="accent1"/>
                          </a:solidFill>
                        </a:rPr>
                        <a:t>Interface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Most build chat into their own products; some also design for other companies’ assistants, platforms or APIs: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Verana Health’s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Agent Claire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callable from Claude, Gemini and Copilot;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ZS’s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ZAIDYN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brought into Salesforce’s Agentforce Life Sciences;</a:t>
                      </a:r>
                      <a:endParaRPr lang="en-US" sz="950" dirty="0"/>
                    </a:p>
                    <a:p>
                      <a:pPr indent="0" marL="0">
                        <a:spcBef>
                          <a:spcPts val="400"/>
                        </a:spcBef>
                        <a:buNone/>
                      </a:pPr>
                      <a:r>
                        <a:rPr lang="en-US" sz="95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TriNetX’s </a:t>
                      </a:r>
                      <a:r>
                        <a:rPr lang="en-US" sz="95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LIVE API</a:t>
                      </a:r>
                      <a:r>
                        <a:rPr lang="en-US" sz="950" dirty="0">
                          <a:solidFill>
                            <a:schemeClr val="tx1"/>
                          </a:solidFill>
                        </a:rPr>
                        <a:t>: conversational AI integration through enhanced API capabilities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Not always the vendor’s</a:t>
                      </a:r>
                      <a:endParaRPr lang="en-US" sz="9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7" name="supplier and seller card"/>
          <p:cNvSpPr/>
          <p:nvPr/>
        </p:nvSpPr>
        <p:spPr>
          <a:xfrm>
            <a:off x="548640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8" name="label"/>
          <p:cNvSpPr txBox="1"/>
          <p:nvPr/>
        </p:nvSpPr>
        <p:spPr>
          <a:xfrm>
            <a:off x="749808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SUPPLIER AND SELLER</a:t>
            </a:r>
            <a:endParaRPr lang="en-US" sz="1300" dirty="0"/>
          </a:p>
        </p:txBody>
      </p:sp>
      <p:sp>
        <p:nvSpPr>
          <p:cNvPr id="29" name="Text 14"/>
          <p:cNvSpPr txBox="1"/>
          <p:nvPr/>
        </p:nvSpPr>
        <p:spPr>
          <a:xfrm>
            <a:off x="749808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Medeloop powers HealthVerity’s eXOs</a:t>
            </a:r>
            <a:r>
              <a:rPr lang="en-US" sz="1050" b="1" dirty="0">
                <a:solidFill>
                  <a:schemeClr val="tx1"/>
                </a:solidFill>
              </a:rPr>
              <a:t> and also sells its own analytics platform, preloaded with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38 million de-identified patients from HealthVerity’s all-payer claims dataset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0" name="the interface isn’t always the vendor’s card"/>
          <p:cNvSpPr/>
          <p:nvPr/>
        </p:nvSpPr>
        <p:spPr>
          <a:xfrm>
            <a:off x="6185916" y="4832604"/>
            <a:ext cx="5454396" cy="1220724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1" name="label"/>
          <p:cNvSpPr txBox="1"/>
          <p:nvPr/>
        </p:nvSpPr>
        <p:spPr>
          <a:xfrm>
            <a:off x="6387084" y="5015484"/>
            <a:ext cx="50520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INTERFACE ISN’T ALWAYS THE VENDOR’S</a:t>
            </a:r>
            <a:endParaRPr lang="en-US" sz="1300" dirty="0"/>
          </a:p>
        </p:txBody>
      </p:sp>
      <p:sp>
        <p:nvSpPr>
          <p:cNvPr id="32" name="Text 14"/>
          <p:cNvSpPr txBox="1"/>
          <p:nvPr/>
        </p:nvSpPr>
        <p:spPr>
          <a:xfrm>
            <a:off x="6387084" y="5362956"/>
            <a:ext cx="5052060" cy="507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chemeClr val="tx1"/>
                </a:solidFill>
              </a:rPr>
              <a:t>Verana markets Agent Claire as 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callable from Claude, Gemini and Copilot</a:t>
            </a:r>
            <a:r>
              <a:rPr lang="en-US" sz="1050" b="1" dirty="0">
                <a:solidFill>
                  <a:schemeClr val="tx1"/>
                </a:solidFill>
              </a:rPr>
              <a:t>; ZS has announced it is bringing ZAIDYN “</a:t>
            </a:r>
            <a:r>
              <a:rPr lang="en-US" sz="105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directly into Salesforce’s Agentforce Life Sciences</a:t>
            </a:r>
            <a:r>
              <a:rPr lang="en-US" sz="1050" b="1" dirty="0">
                <a:solidFill>
                  <a:schemeClr val="tx1"/>
                </a:solidFill>
              </a:rPr>
              <a:t>.”</a:t>
            </a:r>
            <a:endParaRPr lang="en-US" sz="1050" dirty="0"/>
          </a:p>
        </p:txBody>
      </p:sp>
      <p:sp>
        <p:nvSpPr>
          <p:cNvPr id="33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1" name="Invisible source link 14: https://www.veeva.com/products/vault-ai/">
            <a:hlinkClick r:id="rId2"/>
          </p:cNvPr>
          <p:cNvSpPr/>
          <p:nvPr/>
        </p:nvSpPr>
        <p:spPr>
          <a:xfrm>
            <a:off x="2395435" y="1888135"/>
            <a:ext cx="92188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2" name="Invisible source link 14: https://www.iqvia.com/newsroom/2026/03/iqvia-unveils-iqvia-ai-a-unified-agentic-ai-platform">
            <a:hlinkClick r:id="rId3"/>
          </p:cNvPr>
          <p:cNvSpPr/>
          <p:nvPr/>
        </p:nvSpPr>
        <p:spPr>
          <a:xfrm>
            <a:off x="2395435" y="2074622"/>
            <a:ext cx="92333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3" name="Invisible source link 14: https://www.iqvia.com/blogs/2025/12/introducing-iqvia-med-r1-deep-research-agent">
            <a:hlinkClick r:id="rId4"/>
          </p:cNvPr>
          <p:cNvSpPr/>
          <p:nvPr/>
        </p:nvSpPr>
        <p:spPr>
          <a:xfrm>
            <a:off x="4375073" y="2074622"/>
            <a:ext cx="46793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4: https://lens.tempus.com/">
            <a:hlinkClick r:id="rId5"/>
          </p:cNvPr>
          <p:cNvSpPr/>
          <p:nvPr/>
        </p:nvSpPr>
        <p:spPr>
          <a:xfrm>
            <a:off x="2395435" y="2261096"/>
            <a:ext cx="85349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4: https://www.komodohealth.com/product/healthcare-map/">
            <a:hlinkClick r:id="rId6"/>
          </p:cNvPr>
          <p:cNvSpPr/>
          <p:nvPr/>
        </p:nvSpPr>
        <p:spPr>
          <a:xfrm>
            <a:off x="2395435" y="2551253"/>
            <a:ext cx="186977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4: https://www.komodohealth.com/press/komodo-health-introduces-marmot-the-ai-built-to-accelerate-healthcare-innovation/">
            <a:hlinkClick r:id="rId7"/>
          </p:cNvPr>
          <p:cNvSpPr/>
          <p:nvPr/>
        </p:nvSpPr>
        <p:spPr>
          <a:xfrm>
            <a:off x="5903645" y="2551253"/>
            <a:ext cx="46792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4: https://www.truveta.com/blog/data/approach-to-real-world-data-quality/">
            <a:hlinkClick r:id="rId8"/>
          </p:cNvPr>
          <p:cNvSpPr/>
          <p:nvPr/>
        </p:nvSpPr>
        <p:spPr>
          <a:xfrm>
            <a:off x="2395435" y="2737740"/>
            <a:ext cx="127720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4: https://www.norstella.com/press-releases/norstella-introduces-norstellalinq/">
            <a:hlinkClick r:id="rId9"/>
          </p:cNvPr>
          <p:cNvSpPr/>
          <p:nvPr/>
        </p:nvSpPr>
        <p:spPr>
          <a:xfrm>
            <a:off x="2395435" y="2924214"/>
            <a:ext cx="1414365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4: https://www.komodohealth.com/perspectives/building-the-framework-for-trusted-ai-in-healthcare/">
            <a:hlinkClick r:id="rId10"/>
          </p:cNvPr>
          <p:cNvSpPr/>
          <p:nvPr/>
        </p:nvSpPr>
        <p:spPr>
          <a:xfrm>
            <a:off x="2395435" y="3214371"/>
            <a:ext cx="1415813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4: https://healthverity.com/exos/">
            <a:hlinkClick r:id="rId11"/>
          </p:cNvPr>
          <p:cNvSpPr/>
          <p:nvPr/>
        </p:nvSpPr>
        <p:spPr>
          <a:xfrm>
            <a:off x="2395435" y="3400858"/>
            <a:ext cx="110764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4: https://clinicaldata.veevavault.help/en/lr/rn/limited-releases/26r3/new-features/">
            <a:hlinkClick r:id="rId12"/>
          </p:cNvPr>
          <p:cNvSpPr/>
          <p:nvPr/>
        </p:nvSpPr>
        <p:spPr>
          <a:xfrm>
            <a:off x="2395435" y="3587332"/>
            <a:ext cx="1127447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2395435" y="4063976"/>
            <a:ext cx="1623166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2395435" y="4250462"/>
            <a:ext cx="753051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4: https://trinetx.com/blog/trinetx-named-best-of-show-finalist-at-scope-advancing-clinical-trial-planning-with-conversational-ai-and-enhanced-api-capabilities/">
            <a:hlinkClick r:id="rId15"/>
          </p:cNvPr>
          <p:cNvSpPr/>
          <p:nvPr/>
        </p:nvSpPr>
        <p:spPr>
          <a:xfrm>
            <a:off x="2395435" y="4436937"/>
            <a:ext cx="1051488" cy="13458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4: https://healthverity.com/news/announcing-healthverity-exos/">
            <a:hlinkClick r:id="rId16"/>
          </p:cNvPr>
          <p:cNvSpPr/>
          <p:nvPr/>
        </p:nvSpPr>
        <p:spPr>
          <a:xfrm>
            <a:off x="749515" y="5375216"/>
            <a:ext cx="2400886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4: https://medeloop.ai/analytics">
            <a:hlinkClick r:id="rId17"/>
          </p:cNvPr>
          <p:cNvSpPr/>
          <p:nvPr/>
        </p:nvSpPr>
        <p:spPr>
          <a:xfrm>
            <a:off x="1720659" y="5535058"/>
            <a:ext cx="386406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medeloop.ai/analytics">
            <a:hlinkClick r:id="rId17"/>
          </p:cNvPr>
          <p:cNvSpPr/>
          <p:nvPr/>
        </p:nvSpPr>
        <p:spPr>
          <a:xfrm>
            <a:off x="749515" y="5694900"/>
            <a:ext cx="101619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4: https://veranahealth.com/verana-health-introduces-new-ai-agents-to-expedite-and-streamline-rd-tasks/">
            <a:hlinkClick r:id="rId13"/>
          </p:cNvPr>
          <p:cNvSpPr/>
          <p:nvPr/>
        </p:nvSpPr>
        <p:spPr>
          <a:xfrm>
            <a:off x="8399881" y="5375216"/>
            <a:ext cx="2629147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8754607" y="5535058"/>
            <a:ext cx="2633983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4: https://www.zs.com/about/newsroom/zs-press-salesforce-zaidyn-crm">
            <a:hlinkClick r:id="rId14"/>
          </p:cNvPr>
          <p:cNvSpPr/>
          <p:nvPr/>
        </p:nvSpPr>
        <p:spPr>
          <a:xfrm>
            <a:off x="6386753" y="5694900"/>
            <a:ext cx="677788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THE MODEL SUPPLIERS: LLM PROVIDERS IN LIFE SCIENCES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LLM providers are entering pharma through research workbenches and enterprise deployments, not patient-level data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82880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THREE WAYS LLM PROVIDERS REACH OPTUM LS’S CUSTOMERS</a:t>
            </a:r>
            <a:endParaRPr lang="en-US" sz="10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75688"/>
          <a:ext cx="11091672" cy="2679191"/>
        </p:xfrm>
        <a:graphic>
          <a:graphicData uri="http://schemas.openxmlformats.org/drawingml/2006/table">
            <a:tbl>
              <a:tblPr/>
              <a:tblGrid>
                <a:gridCol w="1554480"/>
                <a:gridCol w="1234440"/>
                <a:gridCol w="5029200"/>
                <a:gridCol w="3273552"/>
              </a:tblGrid>
              <a:tr h="402336"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APPROACH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LAYER REACHED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SELECTED PUBLIC DEVELOPMENTS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850" b="1" spc="100" kern="0" dirty="0">
                          <a:solidFill>
                            <a:schemeClr val="bg1"/>
                          </a:solidFill>
                        </a:rPr>
                        <a:t>COMPETITIVE SIGNIFICANCE FOR OPTUM LS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86023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Own research workbenches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Interface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Anthropic’s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Science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(beta, June 2026):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over 60 curated skills and connectors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,” drawing on public databases such as UniProt and ClinVar plus users’ own data.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OpenAI’s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GPT-Rosalind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trusted access for eligible organizations since September 2026.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Microsoft Discovery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generally available June 2026, with GSK named.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Google’s </a:t>
                      </a: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Co-Scientist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enterprise preview that includes Daiichi Sankyo.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Discovery-stage research on public and customer data; little overlap with RWE, commercial or HEOR.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735681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Become pharma’s enterprise layer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Interface and workflow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BMS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positions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Claude Enterprise as the Shared Intelligence Platform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more than 30,000 employees, including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turning field insights into structured intelligence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for HCP engagement.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>
                          <a:solidFill>
                            <a:schemeClr val="tx1"/>
                          </a:solidFill>
                        </a:rPr>
                        <a:t>Novo Nordisk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: partnered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OpenAI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2026, reaching into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commercial execution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”) and with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(September 2026).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The closest overlap with Optum LS: pharma companies analyze their own data and systems inside the provider’s assistant, including in commercial functions.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09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chemeClr val="accent1"/>
                          </a:solidFill>
                        </a:rPr>
                        <a:t>Acquire research capability and customers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 algn="ctr">
                        <a:buNone/>
                      </a:pPr>
                      <a:r>
                        <a:rPr lang="en-US" sz="950" dirty="0" b="1">
                          <a:solidFill>
                            <a:srgbClr val="1A1A1A"/>
                          </a:solidFill>
                        </a:rPr>
                        <a:t>Domain expertise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Cohere + Reliant AI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(May 2026): adds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proprietary biomedical datasets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 and customers “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including GSK, Medicus Pharma, and Kyowa Kirin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”; North for Pharma is announced.</a:t>
                      </a:r>
                      <a:endParaRPr lang="en-US" sz="900" dirty="0"/>
                    </a:p>
                    <a:p>
                      <a:pPr indent="0" marL="0">
                        <a:spcBef>
                          <a:spcPts val="200"/>
                        </a:spcBef>
                        <a:buNone/>
                      </a:pPr>
                      <a:r>
                        <a:rPr lang="en-US" sz="900" dirty="0" b="1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Anthropic + Coefficient Bio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(April 2026): a team of </a:t>
                      </a:r>
                      <a:r>
                        <a:rPr lang="en-US" sz="900" dirty="0" u="sng">
                          <a:solidFill>
                            <a:srgbClr val="002677"/>
                          </a:solidFill>
                          <a:uFill>
                            <a:solidFill>
                              <a:srgbClr val="9AA8CC"/>
                            </a:solidFill>
                          </a:uFill>
                        </a:rPr>
                        <a:t>fewer than 10</a:t>
                      </a:r>
                      <a:r>
                        <a:rPr lang="en-US" sz="900" dirty="0">
                          <a:solidFill>
                            <a:schemeClr val="tx1"/>
                          </a:solidFill>
                        </a:rPr>
                        <a:t> building biology-specific models.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chemeClr val="tx1"/>
                          </a:solidFill>
                        </a:rPr>
                        <a:t>Research teams, literature-derived data and pharma accounts, not patient-level RWD.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D9D4C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trategic question card"/>
          <p:cNvSpPr/>
          <p:nvPr/>
        </p:nvSpPr>
        <p:spPr>
          <a:xfrm>
            <a:off x="548640" y="4937760"/>
            <a:ext cx="11091672" cy="11155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icon circle"/>
          <p:cNvSpPr/>
          <p:nvPr/>
        </p:nvSpPr>
        <p:spPr>
          <a:xfrm>
            <a:off x="749808" y="5010912"/>
            <a:ext cx="402336" cy="402336"/>
          </a:xfrm>
          <a:prstGeom prst="ellipse">
            <a:avLst/>
          </a:prstGeom>
          <a:solidFill>
            <a:schemeClr val="accent5"/>
          </a:solidFill>
          <a:ln/>
        </p:spPr>
        <p:txBody>
          <a:bodyPr/>
          <a:p/>
        </p:txBody>
      </p:sp>
      <p:pic>
        <p:nvPicPr>
          <p:cNvPr id="8" name="icon MdOutlineLightbulb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322" y="5099426"/>
            <a:ext cx="225308" cy="225308"/>
          </a:xfrm>
          <a:prstGeom prst="rect">
            <a:avLst/>
          </a:prstGeom>
        </p:spPr>
      </p:pic>
      <p:sp>
        <p:nvSpPr>
          <p:cNvPr id="9" name="label"/>
          <p:cNvSpPr txBox="1"/>
          <p:nvPr/>
        </p:nvSpPr>
        <p:spPr>
          <a:xfrm>
            <a:off x="1280160" y="50109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THE OVERLAP IS THE INTERFACE, NOT THE DATA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1280160" y="5486400"/>
            <a:ext cx="10131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chemeClr val="accent1"/>
                </a:solidFill>
              </a:rPr>
              <a:t>None of these products markets patient-level RWD of its own. But BMS is making Claude its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shared intelligence platform</a:t>
            </a:r>
            <a:r>
              <a:rPr lang="en-US" sz="1100" b="1" dirty="0">
                <a:solidFill>
                  <a:schemeClr val="accent1"/>
                </a:solidFill>
              </a:rPr>
              <a:t>,” and Veeva’s newest agent “</a:t>
            </a:r>
            <a:r>
              <a:rPr lang="en-US" sz="1100" b="1" dirty="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is delivered as a Claude Cowork plugin</a:t>
            </a:r>
            <a:r>
              <a:rPr lang="en-US" sz="1100" b="1" dirty="0">
                <a:solidFill>
                  <a:schemeClr val="accent1"/>
                </a:solidFill>
              </a:rPr>
              <a:t>.” The near-term overlap with Optum LS is where pharma teams do the analysis.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  <p:sp>
        <p:nvSpPr>
          <p:cNvPr id="26" name="starting point band"/>
          <p:cNvSpPr/>
          <p:nvPr/>
        </p:nvSpPr>
        <p:spPr>
          <a:xfrm>
            <a:off x="548640" y="1481328"/>
            <a:ext cx="11091672" cy="274320"/>
          </a:xfrm>
          <a:prstGeom prst="rect">
            <a:avLst/>
          </a:prstGeom>
          <a:solidFill>
            <a:srgbClr val="E6EC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starting point"/>
          <p:cNvSpPr txBox="1"/>
          <p:nvPr/>
        </p:nvSpPr>
        <p:spPr>
          <a:xfrm>
            <a:off x="731520" y="1481328"/>
            <a:ext cx="10789920" cy="274320"/>
          </a:xfrm>
          <a:prstGeom prst="rect">
            <a:avLst/>
          </a:prstGeom>
          <a:noFill/>
        </p:spPr>
        <p:txBody>
          <a:bodyPr wrap="square" anchor="ctr" lIns="0" tIns="0" rIns="0" bIns="0">
            <a:spAutoFit/>
          </a:bodyPr>
          <a:lstStyle/>
          <a:p>
            <a:r>
              <a:rPr sz="1050" b="1">
                <a:solidFill>
                  <a:srgbClr val="002677"/>
                </a:solidFill>
              </a:rPr>
              <a:t>STARTING POINT: </a:t>
            </a:r>
            <a:r>
              <a:rPr sz="1050">
                <a:solidFill>
                  <a:srgbClr val="002677"/>
                </a:solidFill>
              </a:rPr>
              <a:t>LLM providers already supply the model to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Veeva</a:t>
            </a:r>
            <a:r>
              <a:rPr sz="1050">
                <a:solidFill>
                  <a:srgbClr val="002677"/>
                </a:solidFill>
              </a:rPr>
              <a:t>,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Komodo</a:t>
            </a:r>
            <a:r>
              <a:rPr sz="1050">
                <a:solidFill>
                  <a:srgbClr val="002677"/>
                </a:solidFill>
              </a:rPr>
              <a:t> and </a:t>
            </a:r>
            <a:r>
              <a:rPr sz="1050" u="sng">
                <a:solidFill>
                  <a:srgbClr val="002677"/>
                </a:solidFill>
                <a:uFill>
                  <a:solidFill>
                    <a:srgbClr val="9AA8CC"/>
                  </a:solidFill>
                </a:uFill>
              </a:rPr>
              <a:t>Datavant</a:t>
            </a:r>
            <a:r>
              <a:rPr sz="1050">
                <a:solidFill>
                  <a:srgbClr val="002677"/>
                </a:solidFill>
              </a:rPr>
              <a:t> (previous slide).</a:t>
            </a:r>
          </a:p>
        </p:txBody>
      </p:sp>
      <p:sp>
        <p:nvSpPr>
          <p:cNvPr id="28" name="link legend"/>
          <p:cNvSpPr txBox="1"/>
          <p:nvPr/>
        </p:nvSpPr>
        <p:spPr>
          <a:xfrm>
            <a:off x="2944368" y="6309360"/>
            <a:ext cx="4572000" cy="2011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r>
              <a:rPr sz="900">
                <a:solidFill>
                  <a:schemeClr val="accent4"/>
                </a:solidFill>
              </a:rPr>
              <a:t>·  Underlined text links to public sources</a:t>
            </a:r>
          </a:p>
        </p:txBody>
      </p:sp>
      <p:sp>
        <p:nvSpPr>
          <p:cNvPr id="9713" name="Invisible source link 11: https://www.veeva.com/products/veeva-ai/">
            <a:hlinkClick r:id="rId9"/>
          </p:cNvPr>
          <p:cNvSpPr/>
          <p:nvPr/>
        </p:nvSpPr>
        <p:spPr>
          <a:xfrm>
            <a:off x="4440605" y="1550941"/>
            <a:ext cx="40409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4" name="Invisible source link 11: https://www.anthropic.com/news/claude-for-life-sciences">
            <a:hlinkClick r:id="rId4"/>
          </p:cNvPr>
          <p:cNvSpPr/>
          <p:nvPr/>
        </p:nvSpPr>
        <p:spPr>
          <a:xfrm>
            <a:off x="4880876" y="1550941"/>
            <a:ext cx="492431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5" name="Invisible source link 11: https://www.datavant.com/blog/how-ai-is-powering-smarter-privacy-preserving-data-discovery-for-life-sciences">
            <a:hlinkClick r:id="rId6"/>
          </p:cNvPr>
          <p:cNvSpPr/>
          <p:nvPr/>
        </p:nvSpPr>
        <p:spPr>
          <a:xfrm>
            <a:off x="5668924" y="1550941"/>
            <a:ext cx="529860" cy="148648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6" name="Invisible source link 11: https://www.anthropic.com/news/claude-science-ai-workbench">
            <a:hlinkClick r:id="rId10"/>
          </p:cNvPr>
          <p:cNvSpPr/>
          <p:nvPr/>
        </p:nvSpPr>
        <p:spPr>
          <a:xfrm>
            <a:off x="4108323" y="2549237"/>
            <a:ext cx="84381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7" name="Invisible source link 11: https://www.anthropic.com/news/claude-science-ai-workbench">
            <a:hlinkClick r:id="rId10"/>
          </p:cNvPr>
          <p:cNvSpPr/>
          <p:nvPr/>
        </p:nvSpPr>
        <p:spPr>
          <a:xfrm>
            <a:off x="5943093" y="2549237"/>
            <a:ext cx="199386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8" name="Invisible source link 11: https://openai.com/index/introducing-gpt-rosalind">
            <a:hlinkClick r:id="rId11"/>
          </p:cNvPr>
          <p:cNvSpPr/>
          <p:nvPr/>
        </p:nvSpPr>
        <p:spPr>
          <a:xfrm>
            <a:off x="3975836" y="2831113"/>
            <a:ext cx="78015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19" name="Invisible source link 11: https://azure.microsoft.com/en-us/blog/announcing-microsoft-discovery-general-availability-and-microsoft-discovery-app-preview/">
            <a:hlinkClick r:id="rId12"/>
          </p:cNvPr>
          <p:cNvSpPr/>
          <p:nvPr/>
        </p:nvSpPr>
        <p:spPr>
          <a:xfrm>
            <a:off x="3446995" y="2984834"/>
            <a:ext cx="112286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0" name="Invisible source link 11: https://deepmind.google/blog/co-scientist-a-multi-agent-ai-partner-to-accelerate-research/">
            <a:hlinkClick r:id="rId13"/>
          </p:cNvPr>
          <p:cNvSpPr/>
          <p:nvPr/>
        </p:nvSpPr>
        <p:spPr>
          <a:xfrm>
            <a:off x="3962158" y="3138555"/>
            <a:ext cx="697711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1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3446995" y="3436636"/>
            <a:ext cx="28479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245682" y="3436636"/>
            <a:ext cx="280092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3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4545868" y="3564792"/>
            <a:ext cx="244601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4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5007597" y="3718513"/>
            <a:ext cx="387049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5" name="Invisible source link 11: https://www.biopharminternational.com/view/novo-nordisk-partners-with-openai-for-drug-discovery">
            <a:hlinkClick r:id="rId15"/>
          </p:cNvPr>
          <p:cNvSpPr/>
          <p:nvPr/>
        </p:nvSpPr>
        <p:spPr>
          <a:xfrm>
            <a:off x="6728156" y="3718513"/>
            <a:ext cx="121775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6" name="Invisible source link 11: https://www.novonordisk.com/news-and-media/news-and-ir-materials/news-details.html?id=916768">
            <a:hlinkClick r:id="rId16"/>
          </p:cNvPr>
          <p:cNvSpPr/>
          <p:nvPr/>
        </p:nvSpPr>
        <p:spPr>
          <a:xfrm>
            <a:off x="3681717" y="3846681"/>
            <a:ext cx="482523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7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144763"/>
            <a:ext cx="1047128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8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5445233" y="4144763"/>
            <a:ext cx="1664006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29" name="Invisible source link 11: https://www.hpcwire.com/aiwire/2026/05/19/cohere-acquires-reliant-ai-to-expand-sovereign-enterprise-ai-for-global-biopharma-and-healthcare-sectors/">
            <a:hlinkClick r:id="rId17"/>
          </p:cNvPr>
          <p:cNvSpPr/>
          <p:nvPr/>
        </p:nvSpPr>
        <p:spPr>
          <a:xfrm>
            <a:off x="3446995" y="4272919"/>
            <a:ext cx="2639585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0" name="Invisible source link 11: https://www.fiercebiotech.com/biotech/anthropic-acquires-stealth-ai-startup-coefficient-bio-400m-deal">
            <a:hlinkClick r:id="rId18"/>
          </p:cNvPr>
          <p:cNvSpPr/>
          <p:nvPr/>
        </p:nvSpPr>
        <p:spPr>
          <a:xfrm>
            <a:off x="3446995" y="4426639"/>
            <a:ext cx="14751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1" name="Invisible source link 11: https://www.rdworldonline.com/anthropics-400m-acquisition-of-coefficient-bio-signals-a-deeper-push-into-drug-discovery/">
            <a:hlinkClick r:id="rId19"/>
          </p:cNvPr>
          <p:cNvSpPr/>
          <p:nvPr/>
        </p:nvSpPr>
        <p:spPr>
          <a:xfrm>
            <a:off x="6115685" y="4426639"/>
            <a:ext cx="691560" cy="127757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2" name="Invisible source link 11: https://news.bms.com/news/details/2026/Bristol-Myers-Squibb-Announces-Strategic-Agreement-with-Anthropic-to-Position-Claude-Enterprise-as-the-Shared-Intelligence-Platform-Across-Its-Global-Operations/default.aspx">
            <a:hlinkClick r:id="rId14"/>
          </p:cNvPr>
          <p:cNvSpPr/>
          <p:nvPr/>
        </p:nvSpPr>
        <p:spPr>
          <a:xfrm>
            <a:off x="7429613" y="5499669"/>
            <a:ext cx="2055641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33" name="Invisible source link 11: https://www.veeva.com/resources/new-veeva-study-builder-agent-to-configure-clinical-studies-in-as-little-as-one-day/">
            <a:hlinkClick r:id="rId20"/>
          </p:cNvPr>
          <p:cNvSpPr/>
          <p:nvPr/>
        </p:nvSpPr>
        <p:spPr>
          <a:xfrm>
            <a:off x="1280160" y="5667436"/>
            <a:ext cx="2779527" cy="155876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KEY ASSUMPTIONS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Four assumptions shape this view, and each can be tested with internal evidence</a:t>
            </a:r>
            <a:endParaRPr lang="en-US" sz="2200" dirty="0"/>
          </a:p>
        </p:txBody>
      </p:sp>
      <p:graphicFrame>
        <p:nvGraphicFramePr>
          <p:cNvPr id="11" name="tas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81328"/>
          <a:ext cx="11091671" cy="4571998"/>
        </p:xfrm>
        <a:graphic>
          <a:graphicData uri="http://schemas.openxmlformats.org/drawingml/2006/table">
            <a:tbl>
              <a:tblPr/>
              <a:tblGrid>
                <a:gridCol w="3154680"/>
                <a:gridCol w="3886200"/>
                <a:gridCol w="4050791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ASSUMPTION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WHY IT MATTERS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spc="100" kern="0" dirty="0">
                          <a:solidFill>
                            <a:schemeClr val="bg1"/>
                          </a:solidFill>
                        </a:rPr>
                        <a:t>HOW TO TEST IT (WHO HOLDS THE EVIDENCE)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chemeClr val="accent1"/>
                    </a:solidFill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Optum LS is developing or evaluating conversational AI it doesn’t yet market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If not, the four choices become a decision about whether to build at all, not design choices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Product roadmap (product, technology)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Conversational AI influences what customers buy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It decides whether this is a revenue question or a feature question, and it’s the basis for any dollar estimate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Win/loss notes, RFP requirements, pricing (commercial, finance); customer interviews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2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Vendor claims hold up in practice</a:t>
                      </a:r>
                      <a:r>
                        <a:rPr lang="en-US" sz="1100" dirty="0">
                          <a:solidFill>
                            <a:schemeClr val="accent1"/>
                          </a:solidFill>
                        </a:rPr>
                        <a:t> (27% prep time, 6-week studies)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These claims set the bar an Optum LS offering would be measured against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Customer references, independent tests (data and analytics). IQVIA’s own benchmark shows the limits.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42409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1"/>
                          </a:solidFill>
                        </a:rPr>
                        <a:t>LLM providers remain suppliers more than rivals</a:t>
                      </a:r>
                      <a:endParaRPr lang="en-US" sz="105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Partnering for the model could create a future competitor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Partnership terms (strategy and enterprise development); see the LLM providers slide</a:t>
                      </a:r>
                      <a:endParaRPr lang="en-US" sz="900" dirty="0"/>
                    </a:p>
                  </a:txBody>
                  <a:tcPr marL="109728" marR="109728" marT="64008" marB="6400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267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METHODOLOGY</a:t>
            </a:r>
            <a:endParaRPr lang="en-US" sz="1000" dirty="0"/>
          </a:p>
        </p:txBody>
      </p:sp>
      <p:sp>
        <p:nvSpPr>
          <p:cNvPr id="3" name="1. sources"/>
          <p:cNvSpPr/>
          <p:nvPr/>
        </p:nvSpPr>
        <p:spPr>
          <a:xfrm>
            <a:off x="548640" y="1481328"/>
            <a:ext cx="11091672" cy="65836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4" name="label"/>
          <p:cNvSpPr txBox="1"/>
          <p:nvPr/>
        </p:nvSpPr>
        <p:spPr>
          <a:xfrm>
            <a:off x="777240" y="16733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1. SOURCES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3657600" y="1705356"/>
            <a:ext cx="775411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Official vendor pages and announcements, reviewed through October 13, 2026.</a:t>
            </a:r>
            <a:endParaRPr lang="en-US" sz="1000" dirty="0"/>
          </a:p>
        </p:txBody>
      </p:sp>
      <p:sp>
        <p:nvSpPr>
          <p:cNvPr id="6" name="2. domains"/>
          <p:cNvSpPr/>
          <p:nvPr/>
        </p:nvSpPr>
        <p:spPr>
          <a:xfrm>
            <a:off x="548640" y="2276856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7" name="label"/>
          <p:cNvSpPr txBox="1"/>
          <p:nvPr/>
        </p:nvSpPr>
        <p:spPr>
          <a:xfrm>
            <a:off x="777240" y="25603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2. DOMAINS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657600" y="2500884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Five customer-task areas where Optum LS publicly markets offerings and competitors sell comparable ones. They classify the research; they are not Optum LS’s own business categories.</a:t>
            </a:r>
            <a:endParaRPr lang="en-US" sz="1000" dirty="0"/>
          </a:p>
        </p:txBody>
      </p:sp>
      <p:sp>
        <p:nvSpPr>
          <p:cNvPr id="9" name="3. qualification"/>
          <p:cNvSpPr/>
          <p:nvPr/>
        </p:nvSpPr>
        <p:spPr>
          <a:xfrm>
            <a:off x="548640" y="3255264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0" name="label"/>
          <p:cNvSpPr txBox="1"/>
          <p:nvPr/>
        </p:nvSpPr>
        <p:spPr>
          <a:xfrm>
            <a:off x="777240" y="35387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3. QUALIFICATION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479292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An offering qualified only if its public materials describe a conversational interface for a biopharma customer task; general AI or agentic claims did not.</a:t>
            </a:r>
            <a:endParaRPr lang="en-US" sz="1000" dirty="0"/>
          </a:p>
        </p:txBody>
      </p:sp>
      <p:sp>
        <p:nvSpPr>
          <p:cNvPr id="15" name="4. counts"/>
          <p:cNvSpPr/>
          <p:nvPr/>
        </p:nvSpPr>
        <p:spPr>
          <a:xfrm>
            <a:off x="548640" y="4233672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label"/>
          <p:cNvSpPr txBox="1"/>
          <p:nvPr/>
        </p:nvSpPr>
        <p:spPr>
          <a:xfrm>
            <a:off x="777240" y="45171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4. COUNTS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3657600" y="4457700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43 U.S. competitor groups screened; 15 market 23 qualifying offerings. Domain counts overlap. Screens are not exhaustive. Fourteen international screens add eight examples; their percentages aren’t national adoption rates.</a:t>
            </a:r>
            <a:endParaRPr lang="en-US" sz="1000" dirty="0"/>
          </a:p>
        </p:txBody>
      </p:sp>
      <p:sp>
        <p:nvSpPr>
          <p:cNvPr id="18" name="5. comparison and ai use"/>
          <p:cNvSpPr/>
          <p:nvPr/>
        </p:nvSpPr>
        <p:spPr>
          <a:xfrm>
            <a:off x="548640" y="5212080"/>
            <a:ext cx="11091672" cy="841248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9" name="label"/>
          <p:cNvSpPr txBox="1"/>
          <p:nvPr/>
        </p:nvSpPr>
        <p:spPr>
          <a:xfrm>
            <a:off x="777240" y="5495544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chemeClr val="accent2"/>
                </a:solidFill>
              </a:rPr>
              <a:t>5. COMPARISON AND AI USE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3657600" y="5436108"/>
            <a:ext cx="775411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Offerings were compared by customer task, not assumed to be equivalent. Vendor metrics are reported as claims. LLM-provider developments sit outside the counts. AI tools assisted the research and drafting.</a:t>
            </a:r>
            <a:endParaRPr lang="en-US" sz="1000" dirty="0"/>
          </a:p>
        </p:txBody>
      </p:sp>
      <p:sp>
        <p:nvSpPr>
          <p:cNvPr id="21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Findings reflect public positioning, not tested performance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2"/>
          <p:cNvSpPr/>
          <p:nvPr>
            <p:ph idx="102" type="body" hasCustomPrompt="1"/>
          </p:nvPr>
        </p:nvSpPr>
        <p:spPr>
          <a:xfrm>
            <a:off x="548640" y="38404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APPENDIX: INTERNATIONAL COMPANY SCREENS</a:t>
            </a:r>
            <a:endParaRPr lang="en-US" sz="1000" dirty="0"/>
          </a:p>
        </p:txBody>
      </p:sp>
      <p:sp>
        <p:nvSpPr>
          <p:cNvPr id="3" name="Text 2"/>
          <p:cNvSpPr/>
          <p:nvPr>
            <p:ph idx="103" type="title" hasCustomPrompt="1"/>
          </p:nvPr>
        </p:nvSpPr>
        <p:spPr>
          <a:xfrm>
            <a:off x="548640" y="640080"/>
            <a:ext cx="1109167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International screens add eight examples; none shows a higher screened share than the U.S.</a:t>
            </a:r>
            <a:endParaRPr lang="en-US" sz="2200" dirty="0"/>
          </a:p>
        </p:txBody>
      </p:sp>
      <p:sp>
        <p:nvSpPr>
          <p:cNvPr id="4" name="label"/>
          <p:cNvSpPr txBox="1"/>
          <p:nvPr/>
        </p:nvSpPr>
        <p:spPr>
          <a:xfrm>
            <a:off x="548640" y="1481328"/>
            <a:ext cx="7680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</a:rPr>
              <a:t>COMPARABLE COMPANIES MARKETING CONVERSATIONAL AI</a:t>
            </a:r>
            <a:endParaRPr lang="en-US" sz="1000" dirty="0"/>
          </a:p>
        </p:txBody>
      </p:sp>
      <p:sp>
        <p:nvSpPr>
          <p:cNvPr id="5" name="table header"/>
          <p:cNvSpPr/>
          <p:nvPr/>
        </p:nvSpPr>
        <p:spPr>
          <a:xfrm>
            <a:off x="548640" y="1792224"/>
            <a:ext cx="7635240" cy="512064"/>
          </a:xfrm>
          <a:prstGeom prst="rect">
            <a:avLst/>
          </a:prstGeom>
          <a:solidFill>
            <a:schemeClr val="accent1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792224"/>
            <a:ext cx="1188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International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847088" y="1792224"/>
            <a:ext cx="4618145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Companies marketing conversational AI /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Total comparable companies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6574961" y="1792224"/>
            <a:ext cx="160891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Screened-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chemeClr val="bg1"/>
                </a:solidFill>
              </a:rPr>
              <a:t>company share</a:t>
            </a:r>
            <a:endParaRPr lang="en-US" sz="900" dirty="0"/>
          </a:p>
        </p:txBody>
      </p:sp>
      <p:graphicFrame>
        <p:nvGraphicFramePr>
          <p:cNvPr id="9" name="screened-company share chart" descr=""/>
          <p:cNvGraphicFramePr/>
          <p:nvPr/>
        </p:nvGraphicFramePr>
        <p:xfrm>
          <a:off x="1847088" y="2432304"/>
          <a:ext cx="4572000" cy="368503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7"/>
          <p:cNvSpPr txBox="1"/>
          <p:nvPr/>
        </p:nvSpPr>
        <p:spPr>
          <a:xfrm>
            <a:off x="548640" y="2432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United States</a:t>
            </a:r>
            <a:endParaRPr lang="en-US" sz="900" dirty="0"/>
          </a:p>
        </p:txBody>
      </p:sp>
      <p:sp>
        <p:nvSpPr>
          <p:cNvPr id="11" name="fraction United States"/>
          <p:cNvSpPr txBox="1"/>
          <p:nvPr/>
        </p:nvSpPr>
        <p:spPr>
          <a:xfrm>
            <a:off x="5898305" y="2432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15</a:t>
            </a:r>
            <a:r>
              <a:rPr lang="en-US" sz="900" dirty="0">
                <a:solidFill>
                  <a:schemeClr val="tx1"/>
                </a:solidFill>
              </a:rPr>
              <a:t> / 43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574961" y="2432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34.9%</a:t>
            </a:r>
            <a:endParaRPr lang="en-US" sz="90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2660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China</a:t>
            </a:r>
            <a:endParaRPr lang="en-US" sz="900" dirty="0"/>
          </a:p>
        </p:txBody>
      </p:sp>
      <p:sp>
        <p:nvSpPr>
          <p:cNvPr id="14" name="fraction China"/>
          <p:cNvSpPr txBox="1"/>
          <p:nvPr/>
        </p:nvSpPr>
        <p:spPr>
          <a:xfrm>
            <a:off x="4187952" y="2660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4</a:t>
            </a:r>
            <a:r>
              <a:rPr lang="en-US" sz="900" dirty="0">
                <a:solidFill>
                  <a:schemeClr val="tx1"/>
                </a:solidFill>
              </a:rPr>
              <a:t> / 20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574961" y="2660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20.0%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2889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Spain</a:t>
            </a:r>
            <a:endParaRPr lang="en-US" sz="900" dirty="0"/>
          </a:p>
        </p:txBody>
      </p:sp>
      <p:sp>
        <p:nvSpPr>
          <p:cNvPr id="17" name="fraction Spain"/>
          <p:cNvSpPr txBox="1"/>
          <p:nvPr/>
        </p:nvSpPr>
        <p:spPr>
          <a:xfrm>
            <a:off x="3928155" y="2889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18" name="Text 15"/>
          <p:cNvSpPr txBox="1"/>
          <p:nvPr/>
        </p:nvSpPr>
        <p:spPr>
          <a:xfrm>
            <a:off x="6574961" y="2889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17.6%</a:t>
            </a:r>
            <a:endParaRPr lang="en-US" sz="900" dirty="0"/>
          </a:p>
        </p:txBody>
      </p:sp>
      <p:sp>
        <p:nvSpPr>
          <p:cNvPr id="19" name="Text 16"/>
          <p:cNvSpPr txBox="1"/>
          <p:nvPr/>
        </p:nvSpPr>
        <p:spPr>
          <a:xfrm>
            <a:off x="548640" y="3118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Israel</a:t>
            </a:r>
            <a:endParaRPr lang="en-US" sz="900" dirty="0"/>
          </a:p>
        </p:txBody>
      </p:sp>
      <p:sp>
        <p:nvSpPr>
          <p:cNvPr id="20" name="fraction Israel"/>
          <p:cNvSpPr txBox="1"/>
          <p:nvPr/>
        </p:nvSpPr>
        <p:spPr>
          <a:xfrm>
            <a:off x="3435096" y="3118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6574961" y="3118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13.3%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3346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France</a:t>
            </a:r>
            <a:endParaRPr lang="en-US" sz="900" dirty="0"/>
          </a:p>
        </p:txBody>
      </p:sp>
      <p:sp>
        <p:nvSpPr>
          <p:cNvPr id="23" name="fraction France"/>
          <p:cNvSpPr txBox="1"/>
          <p:nvPr/>
        </p:nvSpPr>
        <p:spPr>
          <a:xfrm>
            <a:off x="3255802" y="3346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6574961" y="3346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3575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Nordics</a:t>
            </a:r>
            <a:endParaRPr lang="en-US" sz="900" dirty="0"/>
          </a:p>
        </p:txBody>
      </p:sp>
      <p:sp>
        <p:nvSpPr>
          <p:cNvPr id="26" name="fraction Nordics"/>
          <p:cNvSpPr txBox="1"/>
          <p:nvPr/>
        </p:nvSpPr>
        <p:spPr>
          <a:xfrm>
            <a:off x="3255802" y="3575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2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27" name="Text 24"/>
          <p:cNvSpPr txBox="1"/>
          <p:nvPr/>
        </p:nvSpPr>
        <p:spPr>
          <a:xfrm>
            <a:off x="6574961" y="3575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11.8%</a:t>
            </a:r>
            <a:endParaRPr lang="en-US" sz="900" dirty="0"/>
          </a:p>
        </p:txBody>
      </p:sp>
      <p:sp>
        <p:nvSpPr>
          <p:cNvPr id="28" name="Text 25"/>
          <p:cNvSpPr txBox="1"/>
          <p:nvPr/>
        </p:nvSpPr>
        <p:spPr>
          <a:xfrm>
            <a:off x="548640" y="3803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India</a:t>
            </a:r>
            <a:endParaRPr lang="en-US" sz="900" dirty="0"/>
          </a:p>
        </p:txBody>
      </p:sp>
      <p:sp>
        <p:nvSpPr>
          <p:cNvPr id="29" name="fraction India"/>
          <p:cNvSpPr txBox="1"/>
          <p:nvPr/>
        </p:nvSpPr>
        <p:spPr>
          <a:xfrm>
            <a:off x="2982659" y="3803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3</a:t>
            </a:r>
            <a:r>
              <a:rPr lang="en-US" sz="900" dirty="0">
                <a:solidFill>
                  <a:schemeClr val="tx1"/>
                </a:solidFill>
              </a:rPr>
              <a:t> / 32</a:t>
            </a:r>
            <a:endParaRPr lang="en-US" sz="900" dirty="0"/>
          </a:p>
        </p:txBody>
      </p:sp>
      <p:sp>
        <p:nvSpPr>
          <p:cNvPr id="30" name="Text 27"/>
          <p:cNvSpPr txBox="1"/>
          <p:nvPr/>
        </p:nvSpPr>
        <p:spPr>
          <a:xfrm>
            <a:off x="6574961" y="3803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9.4%</a:t>
            </a:r>
            <a:endParaRPr lang="en-US" sz="900" dirty="0"/>
          </a:p>
        </p:txBody>
      </p:sp>
      <p:sp>
        <p:nvSpPr>
          <p:cNvPr id="31" name="Text 28"/>
          <p:cNvSpPr txBox="1"/>
          <p:nvPr/>
        </p:nvSpPr>
        <p:spPr>
          <a:xfrm>
            <a:off x="548640" y="4032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Netherlands</a:t>
            </a:r>
            <a:endParaRPr lang="en-US" sz="900" dirty="0"/>
          </a:p>
        </p:txBody>
      </p:sp>
      <p:sp>
        <p:nvSpPr>
          <p:cNvPr id="32" name="fraction Netherlands"/>
          <p:cNvSpPr txBox="1"/>
          <p:nvPr/>
        </p:nvSpPr>
        <p:spPr>
          <a:xfrm>
            <a:off x="2950187" y="4032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33" name="Text 30"/>
          <p:cNvSpPr txBox="1"/>
          <p:nvPr/>
        </p:nvSpPr>
        <p:spPr>
          <a:xfrm>
            <a:off x="6574961" y="4032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9.1%</a:t>
            </a:r>
            <a:endParaRPr lang="en-US" sz="9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4261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Australia</a:t>
            </a:r>
            <a:endParaRPr lang="en-US" sz="900" dirty="0"/>
          </a:p>
        </p:txBody>
      </p:sp>
      <p:sp>
        <p:nvSpPr>
          <p:cNvPr id="35" name="fraction Australia"/>
          <p:cNvSpPr txBox="1"/>
          <p:nvPr/>
        </p:nvSpPr>
        <p:spPr>
          <a:xfrm>
            <a:off x="2727525" y="4261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14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6574961" y="4261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7.1%</a:t>
            </a:r>
            <a:endParaRPr lang="en-US" sz="900" dirty="0"/>
          </a:p>
        </p:txBody>
      </p:sp>
      <p:sp>
        <p:nvSpPr>
          <p:cNvPr id="37" name="Text 34"/>
          <p:cNvSpPr txBox="1"/>
          <p:nvPr/>
        </p:nvSpPr>
        <p:spPr>
          <a:xfrm>
            <a:off x="548640" y="4489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South Korea</a:t>
            </a:r>
            <a:endParaRPr lang="en-US" sz="900" dirty="0"/>
          </a:p>
        </p:txBody>
      </p:sp>
      <p:sp>
        <p:nvSpPr>
          <p:cNvPr id="38" name="fraction South Korea"/>
          <p:cNvSpPr txBox="1"/>
          <p:nvPr/>
        </p:nvSpPr>
        <p:spPr>
          <a:xfrm>
            <a:off x="2583449" y="4489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17</a:t>
            </a:r>
            <a:endParaRPr lang="en-US" sz="900" dirty="0"/>
          </a:p>
        </p:txBody>
      </p:sp>
      <p:sp>
        <p:nvSpPr>
          <p:cNvPr id="39" name="Text 36"/>
          <p:cNvSpPr txBox="1"/>
          <p:nvPr/>
        </p:nvSpPr>
        <p:spPr>
          <a:xfrm>
            <a:off x="6574961" y="4489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5.9%</a:t>
            </a:r>
            <a:endParaRPr lang="en-US" sz="900" dirty="0"/>
          </a:p>
        </p:txBody>
      </p:sp>
      <p:sp>
        <p:nvSpPr>
          <p:cNvPr id="40" name="Text 37"/>
          <p:cNvSpPr txBox="1"/>
          <p:nvPr/>
        </p:nvSpPr>
        <p:spPr>
          <a:xfrm>
            <a:off x="548640" y="47183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Belgium</a:t>
            </a:r>
            <a:endParaRPr lang="en-US" sz="900" dirty="0"/>
          </a:p>
        </p:txBody>
      </p:sp>
      <p:sp>
        <p:nvSpPr>
          <p:cNvPr id="41" name="fraction Belgium"/>
          <p:cNvSpPr txBox="1"/>
          <p:nvPr/>
        </p:nvSpPr>
        <p:spPr>
          <a:xfrm>
            <a:off x="2546096" y="47183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2" name="Text 39"/>
          <p:cNvSpPr txBox="1"/>
          <p:nvPr/>
        </p:nvSpPr>
        <p:spPr>
          <a:xfrm>
            <a:off x="6574961" y="47183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3" name="Text 40"/>
          <p:cNvSpPr txBox="1"/>
          <p:nvPr/>
        </p:nvSpPr>
        <p:spPr>
          <a:xfrm>
            <a:off x="548640" y="49469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United Kingdom</a:t>
            </a:r>
            <a:endParaRPr lang="en-US" sz="900" dirty="0"/>
          </a:p>
        </p:txBody>
      </p:sp>
      <p:sp>
        <p:nvSpPr>
          <p:cNvPr id="44" name="fraction United Kingdom"/>
          <p:cNvSpPr txBox="1"/>
          <p:nvPr/>
        </p:nvSpPr>
        <p:spPr>
          <a:xfrm>
            <a:off x="2546096" y="49469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1</a:t>
            </a:r>
            <a:r>
              <a:rPr lang="en-US" sz="900" dirty="0">
                <a:solidFill>
                  <a:schemeClr val="tx1"/>
                </a:solidFill>
              </a:rPr>
              <a:t> / 18</a:t>
            </a:r>
            <a:endParaRPr lang="en-US" sz="900" dirty="0"/>
          </a:p>
        </p:txBody>
      </p:sp>
      <p:sp>
        <p:nvSpPr>
          <p:cNvPr id="45" name="Text 42"/>
          <p:cNvSpPr txBox="1"/>
          <p:nvPr/>
        </p:nvSpPr>
        <p:spPr>
          <a:xfrm>
            <a:off x="6574961" y="49469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5.6%</a:t>
            </a:r>
            <a:endParaRPr lang="en-US" sz="900" dirty="0"/>
          </a:p>
        </p:txBody>
      </p:sp>
      <p:sp>
        <p:nvSpPr>
          <p:cNvPr id="46" name="Text 43"/>
          <p:cNvSpPr txBox="1"/>
          <p:nvPr/>
        </p:nvSpPr>
        <p:spPr>
          <a:xfrm>
            <a:off x="548640" y="51755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Canada</a:t>
            </a:r>
            <a:endParaRPr lang="en-US" sz="900" dirty="0"/>
          </a:p>
        </p:txBody>
      </p:sp>
      <p:sp>
        <p:nvSpPr>
          <p:cNvPr id="47" name="fraction Canada"/>
          <p:cNvSpPr txBox="1"/>
          <p:nvPr/>
        </p:nvSpPr>
        <p:spPr>
          <a:xfrm>
            <a:off x="1911096" y="51755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11</a:t>
            </a:r>
            <a:endParaRPr lang="en-US" sz="900" dirty="0"/>
          </a:p>
        </p:txBody>
      </p:sp>
      <p:sp>
        <p:nvSpPr>
          <p:cNvPr id="48" name="Text 45"/>
          <p:cNvSpPr txBox="1"/>
          <p:nvPr/>
        </p:nvSpPr>
        <p:spPr>
          <a:xfrm>
            <a:off x="6574961" y="51755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49" name="Text 46"/>
          <p:cNvSpPr txBox="1"/>
          <p:nvPr/>
        </p:nvSpPr>
        <p:spPr>
          <a:xfrm>
            <a:off x="548640" y="54041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Germany</a:t>
            </a:r>
            <a:endParaRPr lang="en-US" sz="900" dirty="0"/>
          </a:p>
        </p:txBody>
      </p:sp>
      <p:sp>
        <p:nvSpPr>
          <p:cNvPr id="50" name="fraction Germany"/>
          <p:cNvSpPr txBox="1"/>
          <p:nvPr/>
        </p:nvSpPr>
        <p:spPr>
          <a:xfrm>
            <a:off x="1911096" y="54041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13</a:t>
            </a:r>
            <a:endParaRPr lang="en-US" sz="900" dirty="0"/>
          </a:p>
        </p:txBody>
      </p:sp>
      <p:sp>
        <p:nvSpPr>
          <p:cNvPr id="51" name="Text 48"/>
          <p:cNvSpPr txBox="1"/>
          <p:nvPr/>
        </p:nvSpPr>
        <p:spPr>
          <a:xfrm>
            <a:off x="6574961" y="54041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2" name="Text 49"/>
          <p:cNvSpPr txBox="1"/>
          <p:nvPr/>
        </p:nvSpPr>
        <p:spPr>
          <a:xfrm>
            <a:off x="548640" y="5632704"/>
            <a:ext cx="1143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chemeClr val="tx1"/>
                </a:solidFill>
              </a:rPr>
              <a:t>Japan</a:t>
            </a:r>
            <a:endParaRPr lang="en-US" sz="900" dirty="0"/>
          </a:p>
        </p:txBody>
      </p:sp>
      <p:sp>
        <p:nvSpPr>
          <p:cNvPr id="53" name="fraction Japan"/>
          <p:cNvSpPr txBox="1"/>
          <p:nvPr/>
        </p:nvSpPr>
        <p:spPr>
          <a:xfrm>
            <a:off x="1911096" y="5632704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chemeClr val="accent1"/>
                </a:solidFill>
              </a:rPr>
              <a:t>0</a:t>
            </a:r>
            <a:r>
              <a:rPr lang="en-US" sz="900" dirty="0">
                <a:solidFill>
                  <a:schemeClr val="tx1"/>
                </a:solidFill>
              </a:rPr>
              <a:t> / 15</a:t>
            </a:r>
            <a:endParaRPr lang="en-US" sz="900" dirty="0"/>
          </a:p>
        </p:txBody>
      </p:sp>
      <p:sp>
        <p:nvSpPr>
          <p:cNvPr id="54" name="Text 51"/>
          <p:cNvSpPr txBox="1"/>
          <p:nvPr/>
        </p:nvSpPr>
        <p:spPr>
          <a:xfrm>
            <a:off x="6574961" y="5632704"/>
            <a:ext cx="160891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chemeClr val="accent4"/>
                </a:solidFill>
              </a:rPr>
              <a:t>0.0%</a:t>
            </a:r>
            <a:endParaRPr lang="en-US" sz="900" dirty="0"/>
          </a:p>
        </p:txBody>
      </p:sp>
      <p:sp>
        <p:nvSpPr>
          <p:cNvPr id="55" name="how to read card"/>
          <p:cNvSpPr/>
          <p:nvPr/>
        </p:nvSpPr>
        <p:spPr>
          <a:xfrm>
            <a:off x="8412480" y="1792224"/>
            <a:ext cx="3227832" cy="1783080"/>
          </a:xfrm>
          <a:prstGeom prst="rect">
            <a:avLst/>
          </a:prstGeom>
          <a:solidFill>
            <a:schemeClr val="bg1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6" name="label"/>
          <p:cNvSpPr txBox="1"/>
          <p:nvPr/>
        </p:nvSpPr>
        <p:spPr>
          <a:xfrm>
            <a:off x="8613648" y="1988820"/>
            <a:ext cx="28254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chemeClr val="accent2"/>
                </a:solidFill>
              </a:rPr>
              <a:t>HOW TO READ THE COMPARISON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613648" y="2555748"/>
            <a:ext cx="28254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Each bar shows the share of screened comparable companies that market conversational AI. International counts exclude companies already represented in the U.S. inventory.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725912" y="6309360"/>
            <a:ext cx="91440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tum LS Strategy">
  <a:themeElements>
    <a:clrScheme name="Optum LS Strategy">
      <a:dk1>
        <a:srgbClr val="4B4D4F"/>
      </a:dk1>
      <a:lt1>
        <a:srgbClr val="FFFFFF"/>
      </a:lt1>
      <a:dk2>
        <a:srgbClr val="002677"/>
      </a:dk2>
      <a:lt2>
        <a:srgbClr val="FAF8F2"/>
      </a:lt2>
      <a:accent1>
        <a:srgbClr val="002677"/>
      </a:accent1>
      <a:accent2>
        <a:srgbClr val="FF612B"/>
      </a:accent2>
      <a:accent3>
        <a:srgbClr val="D9D4C7"/>
      </a:accent3>
      <a:accent4>
        <a:srgbClr val="7A7C7E"/>
      </a:accent4>
      <a:accent5>
        <a:srgbClr val="E6ECF5"/>
      </a:accent5>
      <a:accent6>
        <a:srgbClr val="196ECF"/>
      </a:accent6>
      <a:hlink>
        <a:srgbClr val="196ECF"/>
      </a:hlink>
      <a:folHlink>
        <a:srgbClr val="7A7C7E"/>
      </a:folHlink>
    </a:clrScheme>
    <a:fontScheme name="Optum LS Strategy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Conversational AI in Biopharma — Independent Competitive Intelligence Work Sample</dc:title>
  <dc:subject>Verified public-source links embedded invisibly over existing product and company names</dc:subject>
  <dc:creator>Joseph Marino</dc:creator>
  <cp:lastModifiedBy>Joseph Marino</cp:lastModifiedBy>
  <cp:revision>1</cp:revision>
  <dcterms:created xsi:type="dcterms:W3CDTF">2026-10-14T02:26:17Z</dcterms:created>
  <dcterms:modified xsi:type="dcterms:W3CDTF">2026-10-14T02:26:17Z</dcterms:modified>
</cp:coreProperties>
</file>