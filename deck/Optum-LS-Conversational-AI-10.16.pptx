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veeva.com/products/vault-ai/" TargetMode="External"/><Relationship Id="rId3" Type="http://schemas.openxmlformats.org/officeDocument/2006/relationships/hyperlink" Target="https://www.iqvia.com/newsroom/2026/03/iqvia-unveils-iqvia-ai-a-unified-agentic-ai-platform" TargetMode="External"/><Relationship Id="rId4" Type="http://schemas.openxmlformats.org/officeDocument/2006/relationships/hyperlink" Target="https://www.iqvia.com/blogs/2025/12/introducing-iqvia-med-r1-deep-research-agent" TargetMode="External"/><Relationship Id="rId5" Type="http://schemas.openxmlformats.org/officeDocument/2006/relationships/hyperlink" Target="https://lens.tempus.com/" TargetMode="External"/><Relationship Id="rId6" Type="http://schemas.openxmlformats.org/officeDocument/2006/relationships/hyperlink" Target="https://www.komodohealth.com/product/healthcare-map/" TargetMode="External"/><Relationship Id="rId7" Type="http://schemas.openxmlformats.org/officeDocument/2006/relationships/hyperlink" Target="https://www.komodohealth.com/press/komodo-health-introduces-marmot-the-ai-built-to-accelerate-healthcare-innovation/" TargetMode="External"/><Relationship Id="rId8" Type="http://schemas.openxmlformats.org/officeDocument/2006/relationships/hyperlink" Target="https://www.truveta.com/blog/data/approach-to-real-world-data-quality/" TargetMode="External"/><Relationship Id="rId9" Type="http://schemas.openxmlformats.org/officeDocument/2006/relationships/hyperlink" Target="https://www.norstella.com/press-releases/norstella-introduces-norstellalinq/" TargetMode="External"/><Relationship Id="rId10" Type="http://schemas.openxmlformats.org/officeDocument/2006/relationships/hyperlink" Target="https://www.komodohealth.com/perspectives/building-the-framework-for-trusted-ai-in-healthcare/" TargetMode="External"/><Relationship Id="rId11" Type="http://schemas.openxmlformats.org/officeDocument/2006/relationships/hyperlink" Target="https://healthverity.com/exos/" TargetMode="External"/><Relationship Id="rId12" Type="http://schemas.openxmlformats.org/officeDocument/2006/relationships/hyperlink" Target="https://clinicaldata.veevavault.help/en/lr/rn/limited-releases/26r3/new-features/" TargetMode="External"/><Relationship Id="rId13" Type="http://schemas.openxmlformats.org/officeDocument/2006/relationships/hyperlink" Target="https://veranahealth.com/verana-health-introduces-new-ai-agents-to-expedite-and-streamline-rd-tasks/" TargetMode="External"/><Relationship Id="rId14" Type="http://schemas.openxmlformats.org/officeDocument/2006/relationships/hyperlink" Target="https://www.zs.com/about/newsroom/zs-press-salesforce-zaidyn-crm" TargetMode="External"/><Relationship Id="rId15" Type="http://schemas.openxmlformats.org/officeDocument/2006/relationships/hyperlink" Target="https://trinetx.com/blog/trinetx-named-best-of-show-finalist-at-scope-advancing-clinical-trial-planning-with-conversational-ai-and-enhanced-api-capabilities/" TargetMode="External"/><Relationship Id="rId16" Type="http://schemas.openxmlformats.org/officeDocument/2006/relationships/hyperlink" Target="https://healthverity.com/news/announcing-healthverity-exos/" TargetMode="External"/><Relationship Id="rId17" Type="http://schemas.openxmlformats.org/officeDocument/2006/relationships/hyperlink" Target="https://medeloop.ai/analytic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9" Type="http://schemas.openxmlformats.org/officeDocument/2006/relationships/hyperlink" Target="https://www.veeva.com/products/veeva-ai/" TargetMode="External"/><Relationship Id="rId10" Type="http://schemas.openxmlformats.org/officeDocument/2006/relationships/hyperlink" Target="https://www.anthropic.com/news/claude-science-ai-workbench" TargetMode="External"/><Relationship Id="rId11" Type="http://schemas.openxmlformats.org/officeDocument/2006/relationships/hyperlink" Target="https://openai.com/index/introducing-gpt-rosalind" TargetMode="External"/><Relationship Id="rId12" Type="http://schemas.openxmlformats.org/officeDocument/2006/relationships/hyperlink" Target="https://azure.microsoft.com/en-us/blog/announcing-microsoft-discovery-general-availability-and-microsoft-discovery-app-preview/" TargetMode="External"/><Relationship Id="rId13" Type="http://schemas.openxmlformats.org/officeDocument/2006/relationships/hyperlink" Target="https://deepmind.google/blog/co-scientist-a-multi-agent-ai-partner-to-accelerate-research/" TargetMode="External"/><Relationship Id="rId14" Type="http://schemas.openxmlformats.org/officeDocument/2006/relationships/hyperlink" Target="https://news.bms.com/news/details/2026/Bristol-Myers-Squibb-Announces-Strategic-Agreement-with-Anthropic-to-Position-Claude-Enterprise-as-the-Shared-Intelligence-Platform-Across-Its-Global-Operations/default.aspx" TargetMode="External"/><Relationship Id="rId15" Type="http://schemas.openxmlformats.org/officeDocument/2006/relationships/hyperlink" Target="https://www.biopharminternational.com/view/novo-nordisk-partners-with-openai-for-drug-discovery" TargetMode="External"/><Relationship Id="rId16" Type="http://schemas.openxmlformats.org/officeDocument/2006/relationships/hyperlink" Target="https://www.novonordisk.com/news-and-media/news-and-ir-materials/news-details.html?id=916768" TargetMode="External"/><Relationship Id="rId17" Type="http://schemas.openxmlformats.org/officeDocument/2006/relationships/hyperlink" Target="https://www.hpcwire.com/aiwire/2026/05/19/cohere-acquires-reliant-ai-to-expand-sovereign-enterprise-ai-for-global-biopharma-and-healthcare-sectors/" TargetMode="External"/><Relationship Id="rId18" Type="http://schemas.openxmlformats.org/officeDocument/2006/relationships/hyperlink" Target="https://www.fiercebiotech.com/biotech/anthropic-acquires-stealth-ai-startup-coefficient-bio-400m-deal" TargetMode="External"/><Relationship Id="rId19" Type="http://schemas.openxmlformats.org/officeDocument/2006/relationships/hyperlink" Target="https://www.rdworldonline.com/anthropics-400m-acquisition-of-coefficient-bio-signals-a-deeper-push-into-drug-discovery/" TargetMode="External"/><Relationship Id="rId20" Type="http://schemas.openxmlformats.org/officeDocument/2006/relationships/hyperlink" Target="https://www.veeva.com/resources/new-veeva-study-builder-agent-to-configure-clinical-studies-in-as-little-as-one-da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ACROSS ALL FIVE DOMAINS: HOW THE PRODUCTS ARE BUILT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Behind the products, competitors lead with their data and controls; the model, and even the interface, can come from outside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FOUR LAYERS OF A CONVERSATIONAL AI PRODUCT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2743199"/>
        </p:xfrm>
        <a:graphic>
          <a:graphicData uri="http://schemas.openxmlformats.org/drawingml/2006/table">
            <a:tbl>
              <a:tblPr/>
              <a:tblGrid>
                <a:gridCol w="2011680"/>
                <a:gridCol w="6537960"/>
                <a:gridCol w="25420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COMPETITORS SHOW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TAKEAWAY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336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 uses Anthropic and Amazon models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IQVIA.ai uses NVIDIA Nemotron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, while IQVIA separately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developed Med-R1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 pairs frontier LLMs with its own oncology models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rgbClr val="002677"/>
                          </a:solidFill>
                        </a:rPr>
                        <a:t>Often sourced or adapted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18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Data and domain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chemeClr val="tx1"/>
                          </a:solidFill>
                        </a:rPr>
                        <a:t>Komodo: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its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Map of de-identified patient journeys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, plus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 knowledge graph built from prior analyses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300"/>
                        </a:spcBef>
                        <a:buNone/>
                      </a:pPr>
                      <a:r>
                        <a:rPr lang="en-US" sz="1000" dirty="0" b="1">
                          <a:solidFill>
                            <a:schemeClr val="tx1"/>
                          </a:solidFill>
                        </a:rPr>
                        <a:t>Truveta: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continuously refreshed EHR data from member health systems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300"/>
                        </a:spcBef>
                        <a:buNone/>
                      </a:pPr>
                      <a:r>
                        <a:rPr lang="en-US" sz="1000" dirty="0" b="1">
                          <a:solidFill>
                            <a:schemeClr val="tx1"/>
                          </a:solidFill>
                        </a:rPr>
                        <a:t>Norstella: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NorstellaLinQ patient data, plus Citeline trial, Evaluate commercial and MMIT payer intelligence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rgbClr val="002677"/>
                          </a:solidFill>
                        </a:rPr>
                        <a:t>What launches lead with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1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Execution and controls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chemeClr val="tx1"/>
                          </a:solidFill>
                        </a:rPr>
                        <a:t>Komodo: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The LLM never touches numbers.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”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300"/>
                        </a:spcBef>
                        <a:buNone/>
                      </a:pPr>
                      <a:r>
                        <a:rPr lang="en-US" sz="1000" dirty="0" b="1">
                          <a:solidFill>
                            <a:schemeClr val="tx1"/>
                          </a:solidFill>
                        </a:rPr>
                        <a:t>HealthVerity’s eXOs: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nothing runs until you review, edit and approve it.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”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300"/>
                        </a:spcBef>
                        <a:buNone/>
                      </a:pP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EDC assistant reads no site-entered casebook data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rgbClr val="002677"/>
                          </a:solidFill>
                        </a:rPr>
                        <a:t>How AI work is constrained and checked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Interface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Most build chat into their own products; some also design for other companies’ assistants, platforms or APIs (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0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1">
                          <a:solidFill>
                            <a:srgbClr val="002677"/>
                          </a:solidFill>
                        </a:rPr>
                        <a:t>Not always the vendor’s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build card 1"/>
          <p:cNvSpPr/>
          <p:nvPr/>
        </p:nvSpPr>
        <p:spPr>
          <a:xfrm>
            <a:off x="3749039" y="4681728"/>
            <a:ext cx="3854196" cy="137160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build label 1"/>
          <p:cNvSpPr txBox="1"/>
          <p:nvPr/>
        </p:nvSpPr>
        <p:spPr>
          <a:xfrm>
            <a:off x="3931920" y="4846320"/>
            <a:ext cx="3488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chemeClr val="accent2"/>
                </a:solidFill>
              </a:rPr>
              <a:t>SUPPLIER AND SELLER</a:t>
            </a:r>
            <a:endParaRPr lang="en-US" sz="1300" dirty="0"/>
          </a:p>
        </p:txBody>
      </p:sp>
      <p:sp>
        <p:nvSpPr>
          <p:cNvPr id="28" name="build body 1"/>
          <p:cNvSpPr txBox="1"/>
          <p:nvPr/>
        </p:nvSpPr>
        <p:spPr>
          <a:xfrm>
            <a:off x="3931920" y="5157216"/>
            <a:ext cx="34884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Medeloop powers HealthVerity’s eXOs</a:t>
            </a:r>
            <a:r>
              <a:rPr lang="en-US" sz="1000" b="1" dirty="0">
                <a:solidFill>
                  <a:schemeClr val="tx1"/>
                </a:solidFill>
              </a:rPr>
              <a:t> and also sells its own analytics platform, preloaded with “</a:t>
            </a:r>
            <a:r>
              <a:rPr lang="en-US" sz="10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38 million de-identified patients from HealthVerity’s all-payer claims dataset</a:t>
            </a:r>
            <a:r>
              <a:rPr lang="en-US" sz="100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9" name="build card 2"/>
          <p:cNvSpPr/>
          <p:nvPr/>
        </p:nvSpPr>
        <p:spPr>
          <a:xfrm>
            <a:off x="7786116" y="4681728"/>
            <a:ext cx="3854196" cy="137160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build label 2"/>
          <p:cNvSpPr txBox="1"/>
          <p:nvPr/>
        </p:nvSpPr>
        <p:spPr>
          <a:xfrm>
            <a:off x="7968996" y="4846320"/>
            <a:ext cx="3488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chemeClr val="accent2"/>
                </a:solidFill>
              </a:rPr>
              <a:t>THE INTERFACE ISN’T ALWAYS THE VENDOR’S</a:t>
            </a:r>
            <a:endParaRPr lang="en-US" sz="1300" dirty="0"/>
          </a:p>
        </p:txBody>
      </p:sp>
      <p:sp>
        <p:nvSpPr>
          <p:cNvPr id="31" name="build body 2"/>
          <p:cNvSpPr txBox="1"/>
          <p:nvPr/>
        </p:nvSpPr>
        <p:spPr>
          <a:xfrm>
            <a:off x="7968996" y="5157216"/>
            <a:ext cx="34884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Verana markets Agent Claire as </a:t>
            </a:r>
            <a:r>
              <a:rPr lang="en-US" sz="10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callable from Claude, Gemini and Copilot</a:t>
            </a:r>
            <a:r>
              <a:rPr lang="en-US" sz="1000" b="1" dirty="0">
                <a:solidFill>
                  <a:schemeClr val="tx1"/>
                </a:solidFill>
              </a:rPr>
              <a:t>; ZS has announced it is bringing ZAIDYN “</a:t>
            </a:r>
            <a:r>
              <a:rPr lang="en-US" sz="10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directly into Salesforce’s Agentforce Life Sciences</a:t>
            </a:r>
            <a:r>
              <a:rPr lang="en-US" sz="100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2" name="aside rule"/>
          <p:cNvSpPr/>
          <p:nvPr/>
        </p:nvSpPr>
        <p:spPr>
          <a:xfrm>
            <a:off x="548640" y="4791456"/>
            <a:ext cx="32004" cy="1152144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side label"/>
          <p:cNvSpPr txBox="1"/>
          <p:nvPr/>
        </p:nvSpPr>
        <p:spPr>
          <a:xfrm>
            <a:off x="694944" y="4791456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COMPANIES REVIEWED</a:t>
            </a:r>
            <a:endParaRPr lang="en-US" sz="1300" dirty="0"/>
          </a:p>
        </p:txBody>
      </p:sp>
      <p:sp>
        <p:nvSpPr>
          <p:cNvPr id="34" name="aside body"/>
          <p:cNvSpPr txBox="1"/>
          <p:nvPr/>
        </p:nvSpPr>
        <p:spPr>
          <a:xfrm>
            <a:off x="694944" y="504748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A7C7E"/>
                </a:solidFill>
              </a:rPr>
              <a:t>U.S.: </a:t>
            </a:r>
            <a:r>
              <a:rPr lang="en-US" sz="900" dirty="0">
                <a:solidFill>
                  <a:srgbClr val="7A7C7E"/>
                </a:solidFill>
              </a:rPr>
              <a:t>Komodo · Truveta · Flatiron · Tempus · HealthVerity · Norstella · Truven · ConcertAI · Verana · IQVIA · ZS · Trinity · Veeva · TriNetX · EVERSANA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7A7C7E"/>
                </a:solidFill>
              </a:rPr>
              <a:t>International: </a:t>
            </a:r>
            <a:r>
              <a:rPr lang="en-US" sz="900" dirty="0">
                <a:solidFill>
                  <a:srgbClr val="7A7C7E"/>
                </a:solidFill>
              </a:rPr>
              <a:t>Briya · BC Platforms · MDClone · GBI Health · Prospection · Close-Up International · Ipsos · Evidenze</a:t>
            </a:r>
            <a:endParaRPr lang="en-US" sz="1050" dirty="0"/>
          </a:p>
        </p:txBody>
      </p:sp>
      <p:sp>
        <p:nvSpPr>
          <p:cNvPr id="35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5" name="Invisible source link 14: https://www.veeva.com/products/vault-ai/">
            <a:hlinkClick r:id="rId2"/>
          </p:cNvPr>
          <p:cNvSpPr/>
          <p:nvPr/>
        </p:nvSpPr>
        <p:spPr>
          <a:xfrm>
            <a:off x="2669755" y="2232197"/>
            <a:ext cx="2432439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4: https://www.iqvia.com/newsroom/2026/03/iqvia-unveils-iqvia-ai-a-unified-agentic-ai-platform">
            <a:hlinkClick r:id="rId3"/>
          </p:cNvPr>
          <p:cNvSpPr/>
          <p:nvPr/>
        </p:nvSpPr>
        <p:spPr>
          <a:xfrm>
            <a:off x="5137200" y="2232197"/>
            <a:ext cx="1848874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8328596" y="2232197"/>
            <a:ext cx="582898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2669755" y="2374030"/>
            <a:ext cx="484843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lens.tempus.com/">
            <a:hlinkClick r:id="rId5"/>
          </p:cNvPr>
          <p:cNvSpPr/>
          <p:nvPr/>
        </p:nvSpPr>
        <p:spPr>
          <a:xfrm>
            <a:off x="3189605" y="2374030"/>
            <a:ext cx="3198507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4: https://www.komodohealth.com/product/healthcare-map/">
            <a:hlinkClick r:id="rId6"/>
          </p:cNvPr>
          <p:cNvSpPr/>
          <p:nvPr/>
        </p:nvSpPr>
        <p:spPr>
          <a:xfrm>
            <a:off x="3421075" y="2665635"/>
            <a:ext cx="2720450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4: https://www.komodohealth.com/press/komodo-health-introduces-marmot-the-ai-built-to-accelerate-healthcare-innovation/">
            <a:hlinkClick r:id="rId7"/>
          </p:cNvPr>
          <p:cNvSpPr/>
          <p:nvPr/>
        </p:nvSpPr>
        <p:spPr>
          <a:xfrm>
            <a:off x="6443281" y="2665635"/>
            <a:ext cx="2447360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4: https://www.truveta.com/blog/data/approach-to-real-world-data-quality/">
            <a:hlinkClick r:id="rId8"/>
          </p:cNvPr>
          <p:cNvSpPr/>
          <p:nvPr/>
        </p:nvSpPr>
        <p:spPr>
          <a:xfrm>
            <a:off x="3195713" y="2845632"/>
            <a:ext cx="3521916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4: https://www.norstella.com/press-releases/norstella-introduces-norstellalinq/">
            <a:hlinkClick r:id="rId9"/>
          </p:cNvPr>
          <p:cNvSpPr/>
          <p:nvPr/>
        </p:nvSpPr>
        <p:spPr>
          <a:xfrm>
            <a:off x="3287153" y="3025629"/>
            <a:ext cx="5327542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3259442" y="3317234"/>
            <a:ext cx="1974799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4: https://healthverity.com/exos/">
            <a:hlinkClick r:id="rId11"/>
          </p:cNvPr>
          <p:cNvSpPr/>
          <p:nvPr/>
        </p:nvSpPr>
        <p:spPr>
          <a:xfrm>
            <a:off x="3936237" y="3497231"/>
            <a:ext cx="2825114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4: https://clinicaldata.veevavault.help/en/lr/rn/limited-releases/26r3/new-features/">
            <a:hlinkClick r:id="rId12"/>
          </p:cNvPr>
          <p:cNvSpPr/>
          <p:nvPr/>
        </p:nvSpPr>
        <p:spPr>
          <a:xfrm>
            <a:off x="2669755" y="3677241"/>
            <a:ext cx="3365486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2669755" y="4195630"/>
            <a:ext cx="476918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3181680" y="4195630"/>
            <a:ext cx="196845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4: https://trinetx.com/blog/trinetx-named-best-of-show-finalist-at-scope-advancing-clinical-trial-planning-with-conversational-ai-and-enhanced-api-capabilities/">
            <a:hlinkClick r:id="rId15"/>
          </p:cNvPr>
          <p:cNvSpPr/>
          <p:nvPr/>
        </p:nvSpPr>
        <p:spPr>
          <a:xfrm>
            <a:off x="3413518" y="4195630"/>
            <a:ext cx="466039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4: https://healthverity.com/news/announcing-healthverity-exos/">
            <a:hlinkClick r:id="rId16"/>
          </p:cNvPr>
          <p:cNvSpPr/>
          <p:nvPr/>
        </p:nvSpPr>
        <p:spPr>
          <a:xfrm>
            <a:off x="3931564" y="5169440"/>
            <a:ext cx="2293852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medeloop.ai/analytics">
            <a:hlinkClick r:id="rId17"/>
          </p:cNvPr>
          <p:cNvSpPr/>
          <p:nvPr/>
        </p:nvSpPr>
        <p:spPr>
          <a:xfrm>
            <a:off x="6299121" y="5322081"/>
            <a:ext cx="870474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4: https://medeloop.ai/analytics">
            <a:hlinkClick r:id="rId17"/>
          </p:cNvPr>
          <p:cNvSpPr/>
          <p:nvPr/>
        </p:nvSpPr>
        <p:spPr>
          <a:xfrm>
            <a:off x="3931564" y="5474710"/>
            <a:ext cx="3249592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5" name="Invisible source link 14: https://medeloop.ai/analytics">
            <a:hlinkClick r:id="rId17"/>
          </p:cNvPr>
          <p:cNvSpPr/>
          <p:nvPr/>
        </p:nvSpPr>
        <p:spPr>
          <a:xfrm>
            <a:off x="3931564" y="5627351"/>
            <a:ext cx="540558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9890277" y="5169440"/>
            <a:ext cx="1271143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6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7968602" y="5322081"/>
            <a:ext cx="1200429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6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8474492" y="5474710"/>
            <a:ext cx="2513086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8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7968602" y="5627351"/>
            <a:ext cx="645676" cy="14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MODEL SUPPLIERS: LLM PROVIDERS IN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are entering pharma through research workbenches and enterprise deployments, not patient-level data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828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WAYS LLM PROVIDERS REACH OPTUM LS’S CUSTOMERS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75688"/>
          <a:ext cx="11091672" cy="2679190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5029200"/>
                <a:gridCol w="32735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LAYER REACHED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784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Own research workbenches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Interface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Anthropic’s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Science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(beta, June 2026):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over 60 curated skills and connectors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,” drawing on public databases such as UniProt and ClinVar plus users’ own data.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OpenAI’s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GPT-Rosalind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trusted access for eligible organizations since September 2026.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Microsoft Discovery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generally available June 2026, with GSK named.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Google’s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Co-Scientist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enterprise preview that includes Daiichi Sankyo.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Discovery-stage research on public and customer data; little overlap with RWE, commercial or HEOR.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9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Become pharma’s enterprise layer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Interface and workflow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BMS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positions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Enterprise as the Shared Intelligence Platform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more than 30,000 employees, including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turning field insights into structured intelligence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HCP engagement.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Novo Nordisk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partnered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2026, reaching into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commercial execution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”) and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(September 2026).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The closest overlap with Optum LS: pharma companies analyze their own data and systems inside the provider’s assistant, including in commercial functions.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9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Acquire research capability and customers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Domain expertise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(May 2026): adds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proprietary biomedical datasets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and customers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including GSK, Medicus Pharma, and Kyowa Kirin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”; North for Pharma is announced.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Coefficient Bio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2026): a team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fewer than 10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building biology-specific models.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Research teams, literature-derived data and pharma accounts, not patient-level RWD.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OVERLAP IS THE INTERFACE, NOT THE DATA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None of these products markets patient-level RWD of its own. But BMS is making Claude its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shared intelligence platform</a:t>
            </a:r>
            <a:r>
              <a:rPr lang="en-US" sz="1100" b="1" dirty="0">
                <a:solidFill>
                  <a:schemeClr val="accent1"/>
                </a:solidFill>
              </a:rPr>
              <a:t>,” and Veeva’s newest agent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is delivered as a Claude Cowork plugin</a:t>
            </a:r>
            <a:r>
              <a:rPr lang="en-US" sz="1100" b="1" dirty="0">
                <a:solidFill>
                  <a:schemeClr val="accent1"/>
                </a:solidFill>
              </a:rPr>
              <a:t>.” The near-term overlap with Optum LS is where pharma teams do the analysis.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starting point band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rting point"/>
          <p:cNvSpPr txBox="1"/>
          <p:nvPr/>
        </p:nvSpPr>
        <p:spPr>
          <a:xfrm>
            <a:off x="731520" y="1481328"/>
            <a:ext cx="10789920" cy="2743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050" b="1">
                <a:solidFill>
                  <a:srgbClr val="002677"/>
                </a:solidFill>
              </a:rPr>
              <a:t>STARTING POINT: </a:t>
            </a:r>
            <a:r>
              <a:rPr sz="1050">
                <a:solidFill>
                  <a:srgbClr val="002677"/>
                </a:solidFill>
              </a:rPr>
              <a:t>LLM providers already supply the model to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</a:t>
            </a:r>
            <a:r>
              <a:rPr sz="1050">
                <a:solidFill>
                  <a:srgbClr val="002677"/>
                </a:solidFill>
              </a:rPr>
              <a:t>,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</a:t>
            </a:r>
            <a:r>
              <a:rPr sz="1050">
                <a:solidFill>
                  <a:srgbClr val="002677"/>
                </a:solidFill>
              </a:rPr>
              <a:t> and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Datavant</a:t>
            </a:r>
            <a:r>
              <a:rPr sz="1050">
                <a:solidFill>
                  <a:srgbClr val="002677"/>
                </a:solidFill>
              </a:rPr>
              <a:t> (previous slide).</a:t>
            </a:r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3" name="Invisible source link 11: https://www.veeva.com/products/veeva-ai/">
            <a:hlinkClick r:id="rId9"/>
          </p:cNvPr>
          <p:cNvSpPr/>
          <p:nvPr/>
        </p:nvSpPr>
        <p:spPr>
          <a:xfrm>
            <a:off x="4440605" y="1550941"/>
            <a:ext cx="40409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anthropic.com/news/claude-for-life-sciences">
            <a:hlinkClick r:id="rId4"/>
          </p:cNvPr>
          <p:cNvSpPr/>
          <p:nvPr/>
        </p:nvSpPr>
        <p:spPr>
          <a:xfrm>
            <a:off x="4880876" y="1550941"/>
            <a:ext cx="49243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5668924" y="1550941"/>
            <a:ext cx="52986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www.anthropic.com/news/claude-science-ai-workbench">
            <a:hlinkClick r:id="rId10"/>
          </p:cNvPr>
          <p:cNvSpPr/>
          <p:nvPr/>
        </p:nvSpPr>
        <p:spPr>
          <a:xfrm>
            <a:off x="4108323" y="2558241"/>
            <a:ext cx="8438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www.anthropic.com/news/claude-science-ai-workbench">
            <a:hlinkClick r:id="rId10"/>
          </p:cNvPr>
          <p:cNvSpPr/>
          <p:nvPr/>
        </p:nvSpPr>
        <p:spPr>
          <a:xfrm>
            <a:off x="5943093" y="2558241"/>
            <a:ext cx="199386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openai.com/index/introducing-gpt-rosalind">
            <a:hlinkClick r:id="rId11"/>
          </p:cNvPr>
          <p:cNvSpPr/>
          <p:nvPr/>
        </p:nvSpPr>
        <p:spPr>
          <a:xfrm>
            <a:off x="3975836" y="2840117"/>
            <a:ext cx="7801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1: https://azure.microsoft.com/en-us/blog/announcing-microsoft-discovery-general-availability-and-microsoft-discovery-app-preview/">
            <a:hlinkClick r:id="rId12"/>
          </p:cNvPr>
          <p:cNvSpPr/>
          <p:nvPr/>
        </p:nvSpPr>
        <p:spPr>
          <a:xfrm>
            <a:off x="3446995" y="2993838"/>
            <a:ext cx="112286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1: https://deepmind.google/blog/co-scientist-a-multi-agent-ai-partner-to-accelerate-research/">
            <a:hlinkClick r:id="rId13"/>
          </p:cNvPr>
          <p:cNvSpPr/>
          <p:nvPr/>
        </p:nvSpPr>
        <p:spPr>
          <a:xfrm>
            <a:off x="3962158" y="3147559"/>
            <a:ext cx="69771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436636"/>
            <a:ext cx="28479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245682" y="3436636"/>
            <a:ext cx="280092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545868" y="3564792"/>
            <a:ext cx="24460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5007597" y="3718513"/>
            <a:ext cx="38704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6728156" y="3718513"/>
            <a:ext cx="121775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1: https://www.novonordisk.com/news-and-media/news-and-ir-materials/news-details.html?id=916768">
            <a:hlinkClick r:id="rId16"/>
          </p:cNvPr>
          <p:cNvSpPr/>
          <p:nvPr/>
        </p:nvSpPr>
        <p:spPr>
          <a:xfrm>
            <a:off x="3681717" y="3846681"/>
            <a:ext cx="48252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135759"/>
            <a:ext cx="104712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5445233" y="4135759"/>
            <a:ext cx="166400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263914"/>
            <a:ext cx="263958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1: https://www.fiercebiotech.com/biotech/anthropic-acquires-stealth-ai-startup-coefficient-bio-400m-deal">
            <a:hlinkClick r:id="rId18"/>
          </p:cNvPr>
          <p:cNvSpPr/>
          <p:nvPr/>
        </p:nvSpPr>
        <p:spPr>
          <a:xfrm>
            <a:off x="3446995" y="4417635"/>
            <a:ext cx="14751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1: https://www.rdworldonline.com/anthropics-400m-acquisition-of-coefficient-bio-signals-a-deeper-push-into-drug-discovery/">
            <a:hlinkClick r:id="rId19"/>
          </p:cNvPr>
          <p:cNvSpPr/>
          <p:nvPr/>
        </p:nvSpPr>
        <p:spPr>
          <a:xfrm>
            <a:off x="6115685" y="4417635"/>
            <a:ext cx="6915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7429613" y="5499669"/>
            <a:ext cx="2055641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1: https://www.veeva.com/resources/new-veeva-study-builder-agent-to-configure-clinical-studies-in-as-little-as-one-day/">
            <a:hlinkClick r:id="rId20"/>
          </p:cNvPr>
          <p:cNvSpPr/>
          <p:nvPr/>
        </p:nvSpPr>
        <p:spPr>
          <a:xfrm>
            <a:off x="1280160" y="5667436"/>
            <a:ext cx="2779527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