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iqvia.com/solutions/commercialization/commercial-analytics/omnichannel-engagement-and-insights/field-force-agent" TargetMode="External"/><Relationship Id="rId12" Type="http://schemas.openxmlformats.org/officeDocument/2006/relationships/hyperlink" Target="https://trinitylifesciences.com/company/press-releases/trinity-launches-insightsedge-digital-twins/" TargetMode="External"/><Relationship Id="rId13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trinetx.com/solutions/trinetx-live/terrain/" TargetMode="Externa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5" Type="http://schemas.openxmlformats.org/officeDocument/2006/relationships/hyperlink" Target="https://www.anthropic.com/news/healthcare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7" Type="http://schemas.openxmlformats.org/officeDocument/2006/relationships/hyperlink" Target="https://openai.com/index/introducing-gpt-rosalind/" TargetMode="External"/><Relationship Id="rId8" Type="http://schemas.openxmlformats.org/officeDocument/2006/relationships/hyperlink" Target="https://cohere.com/blog/cohere-acquires-reliant-ai-expand-sovereign-enterprise-a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0515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240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5" name="domain chip RWE"/>
          <p:cNvSpPr/>
          <p:nvPr/>
        </p:nvSpPr>
        <p:spPr>
          <a:xfrm>
            <a:off x="822960" y="3063240"/>
            <a:ext cx="507491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RWE</a:t>
            </a:r>
          </a:p>
        </p:txBody>
      </p:sp>
      <p:sp>
        <p:nvSpPr>
          <p:cNvPr id="6" name="domain chip Commercial Intelligence"/>
          <p:cNvSpPr/>
          <p:nvPr/>
        </p:nvSpPr>
        <p:spPr>
          <a:xfrm>
            <a:off x="1458468" y="3063240"/>
            <a:ext cx="2061972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Commercial Intelligence</a:t>
            </a:r>
          </a:p>
        </p:txBody>
      </p:sp>
      <p:sp>
        <p:nvSpPr>
          <p:cNvPr id="7" name="domain chip Medical / Regulatory Research"/>
          <p:cNvSpPr/>
          <p:nvPr/>
        </p:nvSpPr>
        <p:spPr>
          <a:xfrm>
            <a:off x="3648456" y="3063240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Medical / Regulatory Research</a:t>
            </a:r>
          </a:p>
        </p:txBody>
      </p:sp>
      <p:sp>
        <p:nvSpPr>
          <p:cNvPr id="8" name="domain chip Clinical Trials"/>
          <p:cNvSpPr/>
          <p:nvPr/>
        </p:nvSpPr>
        <p:spPr>
          <a:xfrm>
            <a:off x="6304788" y="3063240"/>
            <a:ext cx="1440180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Clinical Trials</a:t>
            </a:r>
          </a:p>
        </p:txBody>
      </p:sp>
      <p:sp>
        <p:nvSpPr>
          <p:cNvPr id="9" name="domain chip Market Access"/>
          <p:cNvSpPr/>
          <p:nvPr/>
        </p:nvSpPr>
        <p:spPr>
          <a:xfrm>
            <a:off x="7872984" y="3063240"/>
            <a:ext cx="1284732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Market Access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5844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Outside-in assessment of publicly marketed conversational AI across five Optum LS-relevant business domains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343400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4526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846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5715000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51389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or inside the rep’s CRM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Verana, IQVIA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19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5361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5454396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538472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867656"/>
            <a:ext cx="50520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Where else are life sciences vendors marketing conversational AI; what tasks does it serve; and how does that positioning inform potential Optum LS offerings?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6185916" y="4114800"/>
            <a:ext cx="5454396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6387084" y="4538472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87084" y="4867656"/>
            <a:ext cx="505206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This study examines publicly-marketed conversational AI across five business domains. Vendors’ product claims provide observable evidence for competitive positioning without access to internal product data.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market 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050" b="1" dirty="0">
                <a:solidFill>
                  <a:schemeClr val="tx1"/>
                </a:solidFill>
              </a:rPr>
              <a:t>RWE has the highest concentration (9 of 34 competitors); trials and market access have one each.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050" b="1" dirty="0">
                <a:solidFill>
                  <a:schemeClr val="tx1"/>
                </a:solidFill>
              </a:rPr>
              <a:t>An Optum LS offering would meet very different competition by domain.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 Trials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(one entrant)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selection, not just patient counts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 Access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(one entrant)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8166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17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01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97571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184058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370532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879218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065692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252179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39058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25533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qvia.com/solutions/commercialization/commercial-analytics/omnichannel-engagement-and-insights/field-force-agent">
            <a:hlinkClick r:id="rId11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trinitylifesciences.com/company/press-releases/trinity-launches-insightsedge-digital-twins/">
            <a:hlinkClick r:id="rId12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www.ipsos.com/en/launch-ipsos-personabot-groundbreaking-ai-powered-solution-enhance-segmentation-research">
            <a:hlinkClick r:id="rId13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Trials and market access have the fewest offerings, and one vendor already says chat answers aren’t enough</a:t>
            </a:r>
            <a:endParaRPr lang="en-US" sz="2200" dirty="0"/>
          </a:p>
        </p:txBody>
      </p:sp>
      <p:sp>
        <p:nvSpPr>
          <p:cNvPr id="14" name="label"/>
          <p:cNvSpPr txBox="1"/>
          <p:nvPr/>
        </p:nvSpPr>
        <p:spPr>
          <a:xfrm>
            <a:off x="548640" y="1481328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CLINICAL TRIALS — COMPETITIVE EXAMPLES</a:t>
            </a:r>
            <a:endParaRPr lang="en-US" sz="10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1088859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596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Terrain AI Assistant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questions about trial sites, investigator experience and patient populations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label"/>
          <p:cNvSpPr txBox="1"/>
          <p:nvPr/>
        </p:nvSpPr>
        <p:spPr>
          <a:xfrm>
            <a:off x="548640" y="2990811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MARKET ACCESS — COMPETITIVE EXAMPLES</a:t>
            </a:r>
            <a:endParaRPr lang="en-US" sz="1000" dirty="0"/>
          </a:p>
        </p:txBody>
      </p:sp>
      <p:graphicFrame>
        <p:nvGraphicFramePr>
          <p:cNvPr id="1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65131"/>
          <a:ext cx="11091672" cy="1224572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953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which sites, not just how many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WHICH SITES, NOT JUST HOW MANY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TriNetX is pushing trial feasibility from patient counts to site selection: it markets Terrain as surfacing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not just how many patients exist, but where they exist</a:t>
            </a:r>
            <a:r>
              <a:rPr lang="en-US" sz="1050" b="1" dirty="0">
                <a:solidFill>
                  <a:schemeClr val="tx1"/>
                </a:solidFill>
              </a:rPr>
              <a:t>,” and treats clinical trial payments data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as a real-world enrollment signal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4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2329499"/>
            <a:ext cx="167320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navlin.com/products/tender">
            <a:hlinkClick r:id="rId6"/>
          </p:cNvPr>
          <p:cNvSpPr/>
          <p:nvPr/>
        </p:nvSpPr>
        <p:spPr>
          <a:xfrm>
            <a:off x="2944075" y="3906661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trinetx.com/solutions/trinetx-live/terrain/">
            <a:hlinkClick r:id="rId3"/>
          </p:cNvPr>
          <p:cNvSpPr/>
          <p:nvPr/>
        </p:nvSpPr>
        <p:spPr>
          <a:xfrm>
            <a:off x="2586444" y="5375216"/>
            <a:ext cx="312042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535058"/>
            <a:ext cx="4049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3589018" y="5535058"/>
            <a:ext cx="171012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694900"/>
            <a:ext cx="48591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ADDITIONAL COMPETITIVE DYNAMIC: LLM PROVIDERS EXPAND INTO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now supply, build and buy their way into life sciences, making them potential partners and rivals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OBSERVED APPROACHES TO ENTERING LIFE SCIENCES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3017518"/>
        </p:xfrm>
        <a:graphic>
          <a:graphicData uri="http://schemas.openxmlformats.org/drawingml/2006/table">
            <a:tbl>
              <a:tblPr/>
              <a:tblGrid>
                <a:gridCol w="1965960"/>
                <a:gridCol w="5349240"/>
                <a:gridCol w="37764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0" kern="0" dirty="0">
                          <a:solidFill>
                            <a:schemeClr val="bg1"/>
                          </a:solidFill>
                        </a:rPr>
                        <a:t>LLM PROVIDER 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50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Partner with established life-sciences vendors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Komodo Health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documented partnership supporting AI-enabled healthcare analytics;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Veeva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Claude incorporated into Veeva’s industry-specific AI offerings;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AWS + Datavant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Explore Assistant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publicly described in February 2026, uses Bedrock and AWS Clean Rooms to support natural-language assessment of healthcare datasets and research feasibility.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supply the model while partners keep the data, applications and customer relationships; Komodo and Veeva already appear in this analysis.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17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Develop their own life-sciences-specific products and tools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Anthropic’s Claude for Life Sciences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Specialized scientific tools and integrations supporting research, clinical trials and regulatory workflows;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OpenAI’s GPT-Rosalind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purpose-built model for biology, drug discovery and translational research, with access expanded to eligible organizations in September 2026.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are building products aimed directly at life-sciences users, reaching into workflows adjacent to Optum LS’s RWE and healthcare-data offerings.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8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Acquire specialized life-sciences capabilities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In May 2026, Cohere acquired a biopharma AI company offering literature review, competitive landscaping and scientific/regulatory information extraction. The acquisition supports development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North for Pharma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a planned specialized agentic offering.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Acquisitions give LLM providers industry-specific technology, expertise and pharmaceutical customer relationships in one step.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PARTNER, SUPPLIER OR RIVAL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Anthropic already works with two competitors in this deck (Komodo and Veeva) while selling its own Claude for Life Sciences; Cohere bought its way in. For any Optum LS offering, the model provider may also be pursuing the same pharmaceutical customers.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2293636"/>
            <a:ext cx="155156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1: https://www.anthropic.com/news/healthcare-life-sciences">
            <a:hlinkClick r:id="rId5"/>
          </p:cNvPr>
          <p:cNvSpPr/>
          <p:nvPr/>
        </p:nvSpPr>
        <p:spPr>
          <a:xfrm>
            <a:off x="2624035" y="2472554"/>
            <a:ext cx="103173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2624035" y="2651472"/>
            <a:ext cx="91148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3564724" y="2651472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3344117"/>
            <a:ext cx="202711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openai.com/index/introducing-gpt-rosalind/">
            <a:hlinkClick r:id="rId7"/>
          </p:cNvPr>
          <p:cNvSpPr/>
          <p:nvPr/>
        </p:nvSpPr>
        <p:spPr>
          <a:xfrm>
            <a:off x="2624035" y="3651203"/>
            <a:ext cx="13154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2624035" y="4215680"/>
            <a:ext cx="10835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3907078" y="4471991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access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access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19 qualifying offerings. Domain counts overlap.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