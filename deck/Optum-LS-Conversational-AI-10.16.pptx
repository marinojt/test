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8" r:id="rId19"/>
    <p:sldId id="256" r:id="rId2"/>
    <p:sldId id="257" r:id="rId3"/>
    <p:sldId id="258" r:id="rId4"/>
    <p:sldId id="260" r:id="rId6"/>
    <p:sldId id="261" r:id="rId7"/>
    <p:sldId id="262" r:id="rId8"/>
    <p:sldId id="263" r:id="rId9"/>
    <p:sldId id="264" r:id="rId10"/>
    <p:sldId id="270" r:id="rId20"/>
    <p:sldId id="265" r:id="rId11"/>
    <p:sldId id="269" r:id="rId13"/>
    <p:sldId id="266" r:id="rId12"/>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24a83ca0-fbf1-5aa1-231e-0e9ee1b3a55d}">
          <p14:sldIdLst>
            <p14:sldId id="256"/>
          </p14:sldIdLst>
        </p14:section>
        <p14:section name="Research catalyst" id="{a3ae336b-83b3-7ccf-6aee-cd2831e1ba46}">
          <p14:sldIdLst>
            <p14:sldId id="257"/>
          </p14:sldIdLst>
        </p14:section>
        <p14:section name="U.S. competitive landscape" id="{94ea1914-a217-df21-74d7-d7894557f7aa}">
          <p14:sldIdLst>
            <p14:sldId id="258"/>
          </p14:sldIdLst>
        </p14:section>
        <p14:section name="International competitor screens" id="{5c2e99d5-36e9-0a01-e587-5d607015bf90}">
          <p14:sldIdLst>
            <p14:sldId id="259"/>
          </p14:sldIdLst>
        </p14:section>
        <p14:section name="Workflow deep dives" id="{8ddf841b-5ded-34d4-2bec-e63798bae4f9}">
          <p14:sldIdLst>
            <p14:sldId id="260"/>
            <p14:sldId id="261"/>
            <p14:sldId id="262"/>
            <p14:sldId id="263"/>
            <p14:sldId id="264"/>
          </p14:sldIdLst>
        </p14:section>
        <p14:section name="AI suppliers" id="{8ce88946-6d30-3dca-4f63-319bce2eeb93}">
          <p14:sldIdLst>
            <p14:sldId id="265"/>
          </p14:sldIdLst>
        </p14:section>
        <p14:section name="Methodology note" id="{195c6e09-c7e0-6bdb-94e4-1e5d4c03ac7f}">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3.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xml"/><Relationship Id="rId20"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barChart>
        <c:barDir val="bar"/>
        <c:grouping val="stacked"/>
        <c:varyColors val="0"/>
        <c:ser>
          <c:idx val="0"/>
          <c:order val="0"/>
          <c:tx>
            <c:strRef>
              <c:f>Sheet1!$B$1</c:f>
              <c:strCache>
                <c:ptCount val="1"/>
                <c:pt idx="0">
                  <c:v>Marketing qualifying chat</c:v>
                </c:pt>
              </c:strCache>
            </c:strRef>
          </c:tx>
          <c:spPr>
            <a:solidFill>
              <a:srgbClr val="00267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Sheet1!$B$2:$B$6</c:f>
              <c:numCache>
                <c:formatCode>General</c:formatCode>
                <c:ptCount val="5"/>
                <c:pt idx="0">
                  <c:v>9</c:v>
                </c:pt>
                <c:pt idx="1">
                  <c:v>3</c:v>
                </c:pt>
                <c:pt idx="2">
                  <c:v>3</c:v>
                </c:pt>
                <c:pt idx="3">
                  <c:v>1</c:v>
                </c:pt>
                <c:pt idx="4">
                  <c:v>1</c:v>
                </c:pt>
              </c:numCache>
            </c:numRef>
          </c:val>
        </c:ser>
        <c:ser>
          <c:idx val="1"/>
          <c:order val="1"/>
          <c:tx>
            <c:strRef>
              <c:f>Sheet1!$C$1</c:f>
              <c:strCache>
                <c:ptCount val="1"/>
                <c:pt idx="0">
                  <c:v>Remaining comparable</c:v>
                </c:pt>
              </c:strCache>
            </c:strRef>
          </c:tx>
          <c:spPr>
            <a:solidFill>
              <a:srgbClr val="D9D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Sheet1!$C$2:$C$6</c:f>
              <c:numCache>
                <c:formatCode>General</c:formatCode>
                <c:ptCount val="5"/>
                <c:pt idx="0">
                  <c:v>25</c:v>
                </c:pt>
                <c:pt idx="1">
                  <c:v>20</c:v>
                </c:pt>
                <c:pt idx="2">
                  <c:v>15</c:v>
                </c:pt>
                <c:pt idx="3">
                  <c:v>24</c:v>
                </c:pt>
                <c:pt idx="4">
                  <c:v>23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8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axMin"/>
          <c:max val="3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9525">
            <a:solidFill>
              <a:schemeClr val="accent3"/>
            </a:solidFill>
            <a:prstDash val="solid"/>
          </a:ln>
        </p:spPr>
      </p:sp>
      <p:sp>
        <p:nvSpPr>
          <p:cNvPr id="3" name="Text 1"/>
          <p:cNvSpPr/>
          <p:nvPr/>
        </p:nvSpPr>
        <p:spPr>
          <a:xfrm>
            <a:off x="548640" y="6309360"/>
            <a:ext cx="7315200" cy="201168"/>
          </a:xfrm>
          <a:prstGeom prst="rect">
            <a:avLst/>
          </a:prstGeom>
          <a:noFill/>
          <a:ln/>
        </p:spPr>
        <p:txBody>
          <a:bodyPr wrap="square" lIns="0" tIns="0" rIns="0" bIns="0" rtlCol="0" anchor="ctr"/>
          <a:lstStyle/>
          <a:p>
            <a:pPr indent="0" marL="0">
              <a:buNone/>
            </a:pPr>
            <a:r>
              <a:rPr lang="en-US" sz="900" dirty="0">
                <a:solidFill>
                  <a:schemeClr val="accent4"/>
                </a:solidFill>
              </a:rPr>
              <a:t>Candidate work sample — outside-in research</a:t>
            </a:r>
            <a:endParaRPr lang="en-US" sz="900" dirty="0"/>
          </a:p>
        </p:txBody>
      </p:sp>
      <p:sp>
        <p:nvSpPr>
          <p:cNvPr id="4" name="Text 2"/>
          <p:cNvSpPr/>
          <p:nvPr>
            <p:ph idx="102" type="body" hasCustomPrompt="1"/>
          </p:nvPr>
        </p:nvSpPr>
        <p:spPr>
          <a:xfrm>
            <a:off x="548640" y="384048"/>
            <a:ext cx="8229600" cy="219456"/>
          </a:xfrm>
          <a:prstGeom prst="rect">
            <a:avLst/>
          </a:prstGeom>
          <a:noFill/>
          <a:ln/>
        </p:spPr>
        <p:txBody>
          <a:bodyPr wrap="square" rtlCol="0"/>
          <a:lstStyle>
            <a:lvl1pPr indent="0" marL="0">
              <a:buNone/>
              <a:defRPr lang="en-US" sz="1000" b="1" spc="100" kern="0" dirty="0">
                <a:solidFill>
                  <a:schemeClr val="accent2"/>
                </a:solidFill>
              </a:defRPr>
            </a:lvl1pPr>
          </a:lstStyle>
          <a:p>
            <a:pPr indent="0" marL="0">
              <a:buNone/>
            </a:pPr>
            <a:endParaRPr lang="en-US" sz="1000" dirty="0"/>
          </a:p>
        </p:txBody>
      </p:sp>
      <p:sp>
        <p:nvSpPr>
          <p:cNvPr id="5" name="Text 2"/>
          <p:cNvSpPr/>
          <p:nvPr>
            <p:ph idx="103" type="title" hasCustomPrompt="1"/>
          </p:nvPr>
        </p:nvSpPr>
        <p:spPr>
          <a:xfrm>
            <a:off x="548640" y="640080"/>
            <a:ext cx="11091672" cy="749808"/>
          </a:xfrm>
          <a:prstGeom prst="rect">
            <a:avLst/>
          </a:prstGeom>
          <a:noFill/>
          <a:ln/>
        </p:spPr>
        <p:txBody>
          <a:bodyPr wrap="square" rtlCol="0"/>
          <a:lstStyle>
            <a:lvl1pPr algn="l" indent="0" marL="0">
              <a:buNone/>
              <a:defRPr lang="en-US" sz="2200" b="1" dirty="0">
                <a:solidFill>
                  <a:schemeClr val="accent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www.linkedin.com/in/joseph-marino-995651183/" TargetMode="External"/><Relationship Id="rId3" Type="http://schemas.openxmlformats.org/officeDocument/2006/relationships/hyperlink" Target="mailto:marinojoe@gmail.com" TargetMode="External"/></Relationships>
</file>

<file path=ppt/slides/_rels/slide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investors.tempus.com/node/6451/pdf" TargetMode="External"/><Relationship Id="rId4" Type="http://schemas.openxmlformats.org/officeDocument/2006/relationships/hyperlink" Target="https://www.komodohealth.com/press/komodo-health-unveils-new-generative-ai-offerings-to-enable-real-time-insights-across-330-million-patient-journeys/" TargetMode="External"/><Relationship Id="rId5" Type="http://schemas.openxmlformats.org/officeDocument/2006/relationships/hyperlink" Target="https://www.komodohealth.com/press/komodo-health-introduces-marmot-the-ai-built-to-accelerate-healthcare-innovation/"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www.norstella.com/press-releases/launches-real-world-data-agentic-platform-first-agent-replace-manual-cohort-building/" TargetMode="Externa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merative.com/newsroom/truven-launches-marketscan-snapshot-an-ai-powered-tool-to-evaluate-fit-for-purpose-real-world-data-in-minutes" TargetMode="External"/><Relationship Id="rId4" Type="http://schemas.openxmlformats.org/officeDocument/2006/relationships/hyperlink" Target="https://healthverity.com/news/announcing-healthverity-exos/" TargetMode="External"/><Relationship Id="rId8" Type="http://schemas.openxmlformats.org/officeDocument/2006/relationships/hyperlink" Target="https://www.komodohealth.com/product/marmot/" TargetMode="External"/><Relationship Id="rId9" Type="http://schemas.openxmlformats.org/officeDocument/2006/relationships/hyperlink" Target="https://www.komodohealth.com/press/komodo-health-unveils-new-generative-ai-offerings-to-enable-real-time-insights-across-330-million-patient-journeys/" TargetMode="External"/><Relationship Id="rId10" Type="http://schemas.openxmlformats.org/officeDocument/2006/relationships/hyperlink" Target="https://www.truveta.com/blog/announcement/truveta-unveils-truveta-intelligence/" TargetMode="External"/><Relationship Id="rId11" Type="http://schemas.openxmlformats.org/officeDocument/2006/relationships/hyperlink" Target="https://briya.com/aire-population-agent/" TargetMode="External"/><Relationship Id="rId15" Type="http://schemas.openxmlformats.org/officeDocument/2006/relationships/hyperlink" Target="https://panalgo.com/ella/" TargetMode="External"/><Relationship Id="rId16" Type="http://schemas.openxmlformats.org/officeDocument/2006/relationships/hyperlink" Target="https://www.bcplatforms.com/bc-catalyst" TargetMode="External"/><Relationship Id="rId18" Type="http://schemas.openxmlformats.org/officeDocument/2006/relationships/hyperlink" Target="https://healthverity.com/exos/" TargetMode="External"/><Relationship Id="rId19" Type="http://schemas.openxmlformats.org/officeDocument/2006/relationships/hyperlink" Target="https://www.norstella.com/press-releases/panalgo-revolutionizes-real-world-data-launch-linqnotes-ella-ai/" TargetMode="External"/><Relationship Id="rId20" Type="http://schemas.openxmlformats.org/officeDocument/2006/relationships/hyperlink" Target="https://www.prnewswire.com/news-releases/truven-launches-marketscan-snapshot-an-ai-powered-tool-to-evaluate-fit-for-purpose-real-world-data-in-minutes-302892187.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resources.flatiron.com/press/flatiron-health-launches-flatiron-telescope-a-new-ai-platform-delivering-oncology-insights-in-minutes" TargetMode="External"/><Relationship Id="rId4" Type="http://schemas.openxmlformats.org/officeDocument/2006/relationships/hyperlink" Target="https://www.tempus.com/solutions/lens/" TargetMode="External"/><Relationship Id="rId7" Type="http://schemas.openxmlformats.org/officeDocument/2006/relationships/hyperlink" Target="https://www.concertai.com/precision-explorer" TargetMode="External"/><Relationship Id="rId8" Type="http://schemas.openxmlformats.org/officeDocument/2006/relationships/hyperlink" Target="https://veranahealth.com/verana-health-introduces-new-ai-agents-to-expedite-and-streamline-rd-tasks/" TargetMode="External"/><Relationship Id="rId11" Type="http://schemas.openxmlformats.org/officeDocument/2006/relationships/hyperlink" Target="https://mdclone.com/meet-copilot/" TargetMode="External"/><Relationship Id="rId14" Type="http://schemas.openxmlformats.org/officeDocument/2006/relationships/hyperlink" Target="https://www.prnewswire.com/news-releases/verana-health-introduces-new-ai-agents-to-expedite-and-streamline-rd-302888122.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iqvia.com/solutions/commercialization/iqvia-commercial-agentic-ai" TargetMode="External"/><Relationship Id="rId4" Type="http://schemas.openxmlformats.org/officeDocument/2006/relationships/hyperlink" Target="https://www.gbihealth.com.cn/en/products/gbi-bot" TargetMode="External"/><Relationship Id="rId5" Type="http://schemas.openxmlformats.org/officeDocument/2006/relationships/hyperlink" Target="https://support.prospection.com/en_US/530415-using-progpt/8351360445583" TargetMode="External"/><Relationship Id="rId7" Type="http://schemas.openxmlformats.org/officeDocument/2006/relationships/hyperlink" Target="https://zaidyn.zs.com/products/zaidyn-commercial/conversational-ai" TargetMode="External"/><Relationship Id="rId8" Type="http://schemas.openxmlformats.org/officeDocument/2006/relationships/hyperlink" Target="https://close-upinternational.com/es/crm-farmaceutico-nativo-en-ia-de-los-datos-a-las-decisiones-unificadas-2/" TargetMode="External"/><Relationship Id="rId9" Type="http://schemas.openxmlformats.org/officeDocument/2006/relationships/hyperlink" Target="https://trinitylifesciences.com/products/insightsedge-digital-twins/" TargetMode="External"/><Relationship Id="rId10" Type="http://schemas.openxmlformats.org/officeDocument/2006/relationships/hyperlink" Target="https://www.ipsos.com/en/healthcare/healthcare-personabot" TargetMode="External"/><Relationship Id="rId11" Type="http://schemas.openxmlformats.org/officeDocument/2006/relationships/hyperlink" Target="https://www.evaluate.com/ask-ella/" TargetMode="External"/><Relationship Id="rId12" Type="http://schemas.openxmlformats.org/officeDocument/2006/relationships/hyperlink" Target="https://www.iqvia.com/solutions/commercialization/commercial-analytics/omnichannel-engagement-and-insights/field-force-agent" TargetMode="External"/><Relationship Id="rId13" Type="http://schemas.openxmlformats.org/officeDocument/2006/relationships/hyperlink" Target="https://trinitylifesciences.com/company/press-releases/trinity-launches-insightsedge-digital-twins/" TargetMode="External"/><Relationship Id="rId14" Type="http://schemas.openxmlformats.org/officeDocument/2006/relationships/hyperlink" Target="https://www.ipsos.com/en/launch-ipsos-personabot-groundbreaking-ai-powered-solution-enhance-segmentation-research"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iqvia.com/solutions/innovative-models/artificial-intelligence-and-machine-learning/iqvia-ai-platform" TargetMode="External"/><Relationship Id="rId5" Type="http://schemas.openxmlformats.org/officeDocument/2006/relationships/hyperlink" Target="https://zaidyn.zs.com/products/zaidyn-medical/conversational-ai-for-medical" TargetMode="External"/><Relationship Id="rId6" Type="http://schemas.openxmlformats.org/officeDocument/2006/relationships/hyperlink" Target="https://evidenze.com/" TargetMode="External"/><Relationship Id="rId8" Type="http://schemas.openxmlformats.org/officeDocument/2006/relationships/hyperlink" Target="https://platform.veevavault.help/en/lr/950642" TargetMode="External"/><Relationship Id="rId9" Type="http://schemas.openxmlformats.org/officeDocument/2006/relationships/hyperlink" Target="https://zaidyn.zs.com/products/zaidyn-medical/patient-outcome-intelligence" TargetMode="External"/><Relationship Id="rId10" Type="http://schemas.openxmlformats.org/officeDocument/2006/relationships/hyperlink" Target="https://www.iqvia.com/blogs/2025/12/introducing-iqvia-med-r1-deep-research-agen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6" Type="http://schemas.openxmlformats.org/officeDocument/2006/relationships/hyperlink" Target="https://www.navlin.com/products/tender" TargetMode="External"/><Relationship Id="rId10" Type="http://schemas.openxmlformats.org/officeDocument/2006/relationships/hyperlink" Target="https://trinetx.com/press-releases/trinetx-unveils-conversational-ai-interface-and-enhanced-api-capabilities/" TargetMode="External"/><Relationship Id="rId11" Type="http://schemas.openxmlformats.org/officeDocument/2006/relationships/hyperlink" Target="https://citeline.com/plus" TargetMode="External"/><Relationship Id="rId12" Type="http://schemas.openxmlformats.org/officeDocument/2006/relationships/hyperlink" Target="https://clinicaldata.veevavault.help/en/lr/rn/limited-releases/26r3/new-features" TargetMode="External"/><Relationship Id="rId13" Type="http://schemas.openxmlformats.org/officeDocument/2006/relationships/hyperlink" Target="https://www.mmitnetwork.com/mosaic/" TargetMode="External"/><Relationship Id="rId14" Type="http://schemas.openxmlformats.org/officeDocument/2006/relationships/hyperlink" Target="https://www.eversana.com/insights/from-ai-answers-to-decision-grade-market-acces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veeva.com/products/vault-ai/" TargetMode="External"/><Relationship Id="rId3" Type="http://schemas.openxmlformats.org/officeDocument/2006/relationships/hyperlink" Target="https://www.iqvia.com/newsroom/2026/03/iqvia-unveils-iqvia-ai-a-unified-agentic-ai-platform" TargetMode="External"/><Relationship Id="rId4" Type="http://schemas.openxmlformats.org/officeDocument/2006/relationships/hyperlink" Target="https://www.iqvia.com/blogs/2025/12/introducing-iqvia-med-r1-deep-research-agent" TargetMode="External"/><Relationship Id="rId5" Type="http://schemas.openxmlformats.org/officeDocument/2006/relationships/hyperlink" Target="https://lens.tempus.com/" TargetMode="External"/><Relationship Id="rId6" Type="http://schemas.openxmlformats.org/officeDocument/2006/relationships/hyperlink" Target="https://www.komodohealth.com/product/healthcare-map/" TargetMode="External"/><Relationship Id="rId7" Type="http://schemas.openxmlformats.org/officeDocument/2006/relationships/hyperlink" Target="https://www.komodohealth.com/press/komodo-health-introduces-marmot-the-ai-built-to-accelerate-healthcare-innovation/" TargetMode="External"/><Relationship Id="rId8" Type="http://schemas.openxmlformats.org/officeDocument/2006/relationships/hyperlink" Target="https://www.truveta.com/blog/data/approach-to-real-world-data-quality/" TargetMode="External"/><Relationship Id="rId9" Type="http://schemas.openxmlformats.org/officeDocument/2006/relationships/hyperlink" Target="https://www.norstella.com/press-releases/norstella-introduces-norstellalinq/" TargetMode="External"/><Relationship Id="rId10" Type="http://schemas.openxmlformats.org/officeDocument/2006/relationships/hyperlink" Target="https://www.komodohealth.com/perspectives/building-the-framework-for-trusted-ai-in-healthcare/" TargetMode="External"/><Relationship Id="rId11" Type="http://schemas.openxmlformats.org/officeDocument/2006/relationships/hyperlink" Target="https://healthverity.com/exos/" TargetMode="External"/><Relationship Id="rId12" Type="http://schemas.openxmlformats.org/officeDocument/2006/relationships/hyperlink" Target="https://clinicaldata.veevavault.help/en/lr/rn/limited-releases/26r3/new-features/" TargetMode="External"/><Relationship Id="rId13" Type="http://schemas.openxmlformats.org/officeDocument/2006/relationships/hyperlink" Target="https://veranahealth.com/verana-health-introduces-new-ai-agents-to-expedite-and-streamline-rd-tasks/" TargetMode="External"/><Relationship Id="rId14" Type="http://schemas.openxmlformats.org/officeDocument/2006/relationships/hyperlink" Target="https://www.zs.com/about/newsroom/zs-press-salesforce-zaidyn-crm" TargetMode="External"/><Relationship Id="rId15" Type="http://schemas.openxmlformats.org/officeDocument/2006/relationships/hyperlink" Target="https://trinetx.com/blog/trinetx-named-best-of-show-finalist-at-scope-advancing-clinical-trial-planning-with-conversational-ai-and-enhanced-api-capabilities/" TargetMode="External"/><Relationship Id="rId16" Type="http://schemas.openxmlformats.org/officeDocument/2006/relationships/hyperlink" Target="https://healthverity.com/news/announcing-healthverity-exos/" TargetMode="External"/><Relationship Id="rId17" Type="http://schemas.openxmlformats.org/officeDocument/2006/relationships/hyperlink" Target="https://medeloop.ai/analytics" TargetMode="Externa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 Id="rId9" Type="http://schemas.openxmlformats.org/officeDocument/2006/relationships/hyperlink" Target="https://www.veeva.com/products/veeva-ai/" TargetMode="External"/><Relationship Id="rId10" Type="http://schemas.openxmlformats.org/officeDocument/2006/relationships/hyperlink" Target="https://www.iqvia.com/newsroom/2026/03/iqvia-unveils-iqvia-ai-a-unified-agentic-ai-platform" TargetMode="External"/><Relationship Id="rId11" Type="http://schemas.openxmlformats.org/officeDocument/2006/relationships/hyperlink" Target="https://www.anthropic.com/news/claude-science-ai-workbench" TargetMode="External"/><Relationship Id="rId12" Type="http://schemas.openxmlformats.org/officeDocument/2006/relationships/hyperlink" Target="https://openai.com/index/introducing-gpt-rosalind" TargetMode="External"/><Relationship Id="rId13" Type="http://schemas.openxmlformats.org/officeDocument/2006/relationships/hyperlink" Target="https://azure.microsoft.com/en-us/blog/announcing-microsoft-discovery-general-availability-and-microsoft-discovery-app-preview/" TargetMode="External"/><Relationship Id="rId14" Type="http://schemas.openxmlformats.org/officeDocument/2006/relationships/hyperlink" Target="https://deepmind.google/blog/co-scientist-a-multi-agent-ai-partner-to-accelerate-research/" TargetMode="External"/><Relationship Id="rId15" Type="http://schemas.openxmlformats.org/officeDocument/2006/relationships/hyperlink" Target="https://news.bms.com/news/details/2026/Bristol-Myers-Squibb-Announces-Strategic-Agreement-with-Anthropic-to-Position-Claude-Enterprise-as-the-Shared-Intelligence-Platform-Across-Its-Global-Operations/default.aspx" TargetMode="External"/><Relationship Id="rId16" Type="http://schemas.openxmlformats.org/officeDocument/2006/relationships/hyperlink" Target="https://www.biopharminternational.com/view/novo-nordisk-partners-with-openai-for-drug-discovery" TargetMode="External"/><Relationship Id="rId17" Type="http://schemas.openxmlformats.org/officeDocument/2006/relationships/hyperlink" Target="https://www.novonordisk.com/news-and-media/news-and-ir-materials/news-details.html?id=916768" TargetMode="External"/><Relationship Id="rId18" Type="http://schemas.openxmlformats.org/officeDocument/2006/relationships/hyperlink" Target="https://www.hpcwire.com/aiwire/2026/05/19/cohere-acquires-reliant-ai-to-expand-sovereign-enterprise-ai-for-global-biopharma-and-healthcare-sectors/" TargetMode="External"/><Relationship Id="rId19" Type="http://schemas.openxmlformats.org/officeDocument/2006/relationships/hyperlink" Target="https://www.fiercebiotech.com/biotech/anthropic-acquires-stealth-ai-startup-coefficient-bio-400m-deal" TargetMode="External"/><Relationship Id="rId20" Type="http://schemas.openxmlformats.org/officeDocument/2006/relationships/hyperlink" Target="https://www.rdworldonline.com/anthropics-400m-acquisition-of-coefficient-bio-signals-a-deeper-push-into-drug-discovery/" TargetMode="External"/><Relationship Id="rId21" Type="http://schemas.openxmlformats.org/officeDocument/2006/relationships/hyperlink" Target="https://www.veeva.com/resources/new-veeva-study-builder-agent-to-configure-clinical-studies-in-as-little-as-one-day/"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2"/>
        </a:solidFill>
        <a:effectLst/>
      </p:bgPr>
    </p:bg>
    <p:spTree>
      <p:nvGrpSpPr>
        <p:cNvPr id="1" name=""/>
        <p:cNvGrpSpPr/>
        <p:nvPr/>
      </p:nvGrpSpPr>
      <p:grpSpPr/>
      <p:sp>
        <p:nvSpPr>
          <p:cNvPr id="2" name="cover kicker"/>
          <p:cNvSpPr txBox="1"/>
          <p:nvPr/>
        </p:nvSpPr>
        <p:spPr>
          <a:xfrm>
            <a:off x="822960" y="1682495"/>
            <a:ext cx="10058400" cy="274320"/>
          </a:xfrm>
          <a:prstGeom prst="rect">
            <a:avLst/>
          </a:prstGeom>
          <a:noFill/>
        </p:spPr>
        <p:txBody>
          <a:bodyPr wrap="square" lIns="0" rIns="0" tIns="0" bIns="0" anchor="t">
            <a:spAutoFit/>
          </a:bodyPr>
          <a:lstStyle/>
          <a:p>
            <a:pPr algn="l"/>
            <a:r>
              <a:rPr sz="1200" b="1" spc="150">
                <a:solidFill>
                  <a:srgbClr val="FF612B"/>
                </a:solidFill>
                <a:latin typeface="Arial"/>
              </a:rPr>
              <a:t>INDEPENDENT COMPETITIVE INTELLIGENCE WORK SAMPLE</a:t>
            </a:r>
          </a:p>
        </p:txBody>
      </p:sp>
      <p:sp>
        <p:nvSpPr>
          <p:cNvPr id="3" name="cover title"/>
          <p:cNvSpPr txBox="1"/>
          <p:nvPr/>
        </p:nvSpPr>
        <p:spPr>
          <a:xfrm>
            <a:off x="822960" y="2093976"/>
            <a:ext cx="10515600" cy="731520"/>
          </a:xfrm>
          <a:prstGeom prst="rect">
            <a:avLst/>
          </a:prstGeom>
          <a:noFill/>
        </p:spPr>
        <p:txBody>
          <a:bodyPr wrap="square" lIns="0" rIns="0" tIns="0" bIns="0" anchor="t">
            <a:spAutoFit/>
          </a:bodyPr>
          <a:lstStyle/>
          <a:p>
            <a:pPr algn="l"/>
            <a:r>
              <a:rPr sz="4000" b="1">
                <a:solidFill>
                  <a:srgbClr val="002677"/>
                </a:solidFill>
                <a:latin typeface="Arial"/>
              </a:rPr>
              <a:t>Conversational AI in Life Sciences</a:t>
            </a:r>
          </a:p>
        </p:txBody>
      </p:sp>
      <p:sp>
        <p:nvSpPr>
          <p:cNvPr id="4" name="cover subtitle"/>
          <p:cNvSpPr txBox="1"/>
          <p:nvPr/>
        </p:nvSpPr>
        <p:spPr>
          <a:xfrm>
            <a:off x="822960" y="2871215"/>
            <a:ext cx="10515600" cy="457200"/>
          </a:xfrm>
          <a:prstGeom prst="rect">
            <a:avLst/>
          </a:prstGeom>
          <a:noFill/>
        </p:spPr>
        <p:txBody>
          <a:bodyPr wrap="square" lIns="0" rIns="0" tIns="0" bIns="0" anchor="t">
            <a:spAutoFit/>
          </a:bodyPr>
          <a:lstStyle/>
          <a:p>
            <a:pPr algn="l"/>
            <a:r>
              <a:rPr sz="2200" b="0">
                <a:solidFill>
                  <a:srgbClr val="002677"/>
                </a:solidFill>
                <a:latin typeface="Arial"/>
              </a:rPr>
              <a:t>Competitive landscape and implications for Optum Life Sciences</a:t>
            </a:r>
          </a:p>
        </p:txBody>
      </p:sp>
      <p:sp>
        <p:nvSpPr>
          <p:cNvPr id="10" name="cover scope"/>
          <p:cNvSpPr txBox="1"/>
          <p:nvPr/>
        </p:nvSpPr>
        <p:spPr>
          <a:xfrm>
            <a:off x="822960" y="3392424"/>
            <a:ext cx="10515600" cy="274320"/>
          </a:xfrm>
          <a:prstGeom prst="rect">
            <a:avLst/>
          </a:prstGeom>
          <a:noFill/>
        </p:spPr>
        <p:txBody>
          <a:bodyPr wrap="square" lIns="0" rIns="0" tIns="0" bIns="0" anchor="t">
            <a:spAutoFit/>
          </a:bodyPr>
          <a:lstStyle/>
          <a:p>
            <a:pPr algn="l"/>
            <a:r>
              <a:rPr sz="1300" b="0">
                <a:solidFill>
                  <a:srgbClr val="4B4D4F"/>
                </a:solidFill>
                <a:latin typeface="Arial"/>
              </a:rPr>
              <a:t>An outside-in assessment of publicly marketed conversational AI offerings</a:t>
            </a:r>
          </a:p>
        </p:txBody>
      </p:sp>
      <p:cxnSp>
        <p:nvCxnSpPr>
          <p:cNvPr id="11" name="Connector 10"/>
          <p:cNvCxnSpPr/>
          <p:nvPr/>
        </p:nvCxnSpPr>
        <p:spPr>
          <a:xfrm>
            <a:off x="822960" y="3941064"/>
            <a:ext cx="10543032" cy="0"/>
          </a:xfrm>
          <a:prstGeom prst="line">
            <a:avLst/>
          </a:prstGeom>
          <a:ln w="9525">
            <a:solidFill>
              <a:srgbClr val="D9D4C7"/>
            </a:solidFill>
          </a:ln>
        </p:spPr>
        <p:style>
          <a:lnRef idx="2">
            <a:schemeClr val="accent1"/>
          </a:lnRef>
          <a:fillRef idx="0">
            <a:schemeClr val="accent1"/>
          </a:fillRef>
          <a:effectRef idx="1">
            <a:schemeClr val="accent1"/>
          </a:effectRef>
          <a:fontRef idx="minor">
            <a:schemeClr val="tx1"/>
          </a:fontRef>
        </p:style>
      </p:cxnSp>
      <p:sp>
        <p:nvSpPr>
          <p:cNvPr id="12" name="cover author"/>
          <p:cNvSpPr txBox="1"/>
          <p:nvPr/>
        </p:nvSpPr>
        <p:spPr>
          <a:xfrm>
            <a:off x="822960" y="4123944"/>
            <a:ext cx="7315200" cy="274320"/>
          </a:xfrm>
          <a:prstGeom prst="rect">
            <a:avLst/>
          </a:prstGeom>
          <a:noFill/>
        </p:spPr>
        <p:txBody>
          <a:bodyPr wrap="square" lIns="0" rIns="0" tIns="0" bIns="0" anchor="t">
            <a:spAutoFit/>
          </a:bodyPr>
          <a:lstStyle/>
          <a:p>
            <a:pPr algn="l"/>
            <a:r>
              <a:rPr sz="1500" b="1">
                <a:solidFill>
                  <a:srgbClr val="002677"/>
                </a:solidFill>
                <a:latin typeface="Arial"/>
              </a:rPr>
              <a:t>Prepared by Joseph Marino</a:t>
            </a:r>
          </a:p>
        </p:txBody>
      </p:sp>
      <p:sp>
        <p:nvSpPr>
          <p:cNvPr id="13" name="cover date"/>
          <p:cNvSpPr txBox="1"/>
          <p:nvPr/>
        </p:nvSpPr>
        <p:spPr>
          <a:xfrm>
            <a:off x="822960" y="4443983"/>
            <a:ext cx="7315200" cy="274320"/>
          </a:xfrm>
          <a:prstGeom prst="rect">
            <a:avLst/>
          </a:prstGeom>
          <a:noFill/>
        </p:spPr>
        <p:txBody>
          <a:bodyPr wrap="square" lIns="0" rIns="0" tIns="0" bIns="0" anchor="t">
            <a:spAutoFit/>
          </a:bodyPr>
          <a:lstStyle/>
          <a:p>
            <a:pPr algn="l"/>
            <a:r>
              <a:rPr sz="1200" b="0">
                <a:solidFill>
                  <a:srgbClr val="4B4D4F"/>
                </a:solidFill>
                <a:latin typeface="Arial"/>
              </a:rPr>
              <a:t>October 2026  ·  Public sources reviewed as of October 16, 2026</a:t>
            </a:r>
          </a:p>
        </p:txBody>
      </p:sp>
      <p:sp>
        <p:nvSpPr>
          <p:cNvPr id="14" name="cover disclaimer"/>
          <p:cNvSpPr txBox="1"/>
          <p:nvPr/>
        </p:nvSpPr>
        <p:spPr>
          <a:xfrm>
            <a:off x="822960" y="5312664"/>
            <a:ext cx="10543032" cy="502920"/>
          </a:xfrm>
          <a:prstGeom prst="rect">
            <a:avLst/>
          </a:prstGeom>
          <a:noFill/>
        </p:spPr>
        <p:txBody>
          <a:bodyPr wrap="square" lIns="0" rIns="0" tIns="0" bIns="0" anchor="t">
            <a:spAutoFit/>
          </a:bodyPr>
          <a:lstStyle/>
          <a:p>
            <a:pPr algn="l"/>
            <a:r>
              <a:rPr sz="900" b="0">
                <a:solidFill>
                  <a:srgbClr val="7A7C7E"/>
                </a:solidFill>
                <a:latin typeface="Arial"/>
              </a:rPr>
              <a:t>Independent work sample based solely on publicly available information. Not affiliated with, commissioned by or endorsed by Optum or UnitedHealth Group.</a:t>
            </a:r>
          </a:p>
          <a:p>
            <a:pPr algn="l">
              <a:spcBef>
                <a:spcPts val="400"/>
              </a:spcBef>
            </a:pPr>
            <a:r>
              <a:rPr sz="900" b="0">
                <a:solidFill>
                  <a:srgbClr val="7A7C7E"/>
                </a:solidFill>
                <a:latin typeface="Arial"/>
              </a:rPr>
              <a:t>Research and drafting were assisted by AI tools; the analysis and conclusions are the author’s own.</a:t>
            </a:r>
          </a:p>
        </p:txBody>
      </p:sp>
      <p:sp>
        <p:nvSpPr>
          <p:cNvPr id="15" name="cover contact"/>
          <p:cNvSpPr txBox="1"/>
          <p:nvPr/>
        </p:nvSpPr>
        <p:spPr>
          <a:xfrm>
            <a:off x="822960" y="4736592"/>
            <a:ext cx="8229600" cy="274320"/>
          </a:xfrm>
          <a:prstGeom prst="rect">
            <a:avLst/>
          </a:prstGeom>
          <a:noFill/>
        </p:spPr>
        <p:txBody>
          <a:bodyPr wrap="square" lIns="0" rIns="0" tIns="0" bIns="0">
            <a:spAutoFit/>
          </a:bodyPr>
          <a:lstStyle/>
          <a:p>
            <a:pPr algn="l"/>
            <a:r>
              <a:rPr sz="1200" u="none">
                <a:solidFill>
                  <a:srgbClr val="002677"/>
                </a:solidFill>
                <a:latin typeface="Arial"/>
                <a:hlinkClick r:id="rId2"/>
              </a:rPr>
              <a:t>linkedin.com/in/joseph-marino-995651183</a:t>
            </a:r>
            <a:r>
              <a:rPr sz="1200">
                <a:solidFill>
                  <a:srgbClr val="7A7C7E"/>
                </a:solidFill>
                <a:latin typeface="Arial"/>
              </a:rPr>
              <a:t>  ·  </a:t>
            </a:r>
            <a:r>
              <a:rPr sz="1200" u="none">
                <a:solidFill>
                  <a:srgbClr val="002677"/>
                </a:solidFill>
                <a:latin typeface="Arial"/>
                <a:hlinkClick r:id="rId3"/>
              </a:rPr>
              <a:t>marinojoe@gmail.com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EXECUTIVE SUMMARY</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conversational AI points to four choices for any Optum LS offering</a:t>
            </a: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
        <p:nvSpPr>
          <p:cNvPr id="26" name="label"/>
          <p:cNvSpPr txBox="1"/>
          <p:nvPr/>
        </p:nvSpPr>
        <p:spPr>
          <a:xfrm>
            <a:off x="548640" y="1161288"/>
            <a:ext cx="54864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THE FOUR CHOICES</a:t>
            </a:r>
            <a:endParaRPr lang="en-US" sz="1000" dirty="0"/>
          </a:p>
        </p:txBody>
      </p:sp>
      <p:sp>
        <p:nvSpPr>
          <p:cNvPr id="27" name="choice tile 1"/>
          <p:cNvSpPr/>
          <p:nvPr/>
        </p:nvSpPr>
        <p:spPr>
          <a:xfrm>
            <a:off x="548640" y="1417320"/>
            <a:ext cx="2670048" cy="1005840"/>
          </a:xfrm>
          <a:prstGeom prst="rect">
            <a:avLst/>
          </a:prstGeom>
          <a:solidFill>
            <a:schemeClr val="accent5"/>
          </a:solidFill>
          <a:ln/>
        </p:spPr>
        <p:txBody>
          <a:bodyPr/>
          <a:p/>
        </p:txBody>
      </p:sp>
      <p:sp>
        <p:nvSpPr>
          <p:cNvPr id="28" name="card label"/>
          <p:cNvSpPr txBox="1"/>
          <p:nvPr/>
        </p:nvSpPr>
        <p:spPr>
          <a:xfrm>
            <a:off x="694944" y="1527048"/>
            <a:ext cx="2395728" cy="201168"/>
          </a:xfrm>
          <a:prstGeom prst="rect">
            <a:avLst/>
          </a:prstGeom>
          <a:noFill/>
          <a:ln/>
        </p:spPr>
        <p:txBody>
          <a:bodyPr wrap="square" lIns="0" tIns="0" rIns="0" bIns="0" rtlCol="0" anchor="ctr"/>
          <a:lstStyle/>
          <a:p>
            <a:pPr indent="0" marL="0">
              <a:buNone/>
            </a:pPr>
            <a:r>
              <a:rPr lang="en-US" sz="1050" b="1" spc="80" kern="0" dirty="0">
                <a:solidFill>
                  <a:srgbClr val="002677"/>
                </a:solidFill>
              </a:rPr>
              <a:t>1. WHERE IT SITS</a:t>
            </a:r>
            <a:endParaRPr lang="en-US" sz="1300" dirty="0"/>
          </a:p>
        </p:txBody>
      </p:sp>
      <p:sp>
        <p:nvSpPr>
          <p:cNvPr id="29" name="Text 29"/>
          <p:cNvSpPr txBox="1"/>
          <p:nvPr/>
        </p:nvSpPr>
        <p:spPr>
          <a:xfrm>
            <a:off x="694944" y="1764792"/>
            <a:ext cx="2395728" cy="365760"/>
          </a:xfrm>
          <a:prstGeom prst="rect">
            <a:avLst/>
          </a:prstGeom>
          <a:noFill/>
          <a:ln/>
        </p:spPr>
        <p:txBody>
          <a:bodyPr wrap="square" lIns="0" tIns="0" rIns="0" bIns="0" rtlCol="0" anchor="t"/>
          <a:lstStyle/>
          <a:p>
            <a:pPr indent="0" marL="0">
              <a:spcAft>
                <a:spcPts val="900"/>
              </a:spcAft>
              <a:buNone/>
            </a:pPr>
            <a:r>
              <a:rPr lang="en-US" sz="1000" dirty="0">
                <a:solidFill>
                  <a:srgbClr val="4B4D4F"/>
                </a:solidFill>
              </a:rPr>
              <a:t>Before purchase, in place of analyst requests, inside CRM, or across a portfolio</a:t>
            </a:r>
            <a:endParaRPr lang="en-US" sz="1100" dirty="0"/>
          </a:p>
        </p:txBody>
      </p:sp>
      <p:sp>
        <p:nvSpPr>
          <p:cNvPr id="30" name="Text 29"/>
          <p:cNvSpPr txBox="1"/>
          <p:nvPr/>
        </p:nvSpPr>
        <p:spPr>
          <a:xfrm>
            <a:off x="694944" y="2176272"/>
            <a:ext cx="2487168" cy="164592"/>
          </a:xfrm>
          <a:prstGeom prst="rect">
            <a:avLst/>
          </a:prstGeom>
          <a:noFill/>
          <a:ln/>
        </p:spPr>
        <p:txBody>
          <a:bodyPr wrap="square" lIns="0" tIns="0" rIns="0" bIns="0" rtlCol="0" anchor="t"/>
          <a:lstStyle/>
          <a:p>
            <a:pPr indent="0" marL="0">
              <a:spcAft>
                <a:spcPts val="900"/>
              </a:spcAft>
              <a:buNone/>
            </a:pPr>
            <a:r>
              <a:rPr lang="en-US" sz="850" dirty="0" b="1">
                <a:solidFill>
                  <a:srgbClr val="7A7C7E"/>
                </a:solidFill>
              </a:rPr>
              <a:t>Seen in: </a:t>
            </a:r>
            <a:r>
              <a:rPr lang="en-US" sz="850" dirty="0">
                <a:solidFill>
                  <a:srgbClr val="7A7C7E"/>
                </a:solidFill>
              </a:rPr>
              <a:t>Truven, Flatiron, IQVIA, Norstella</a:t>
            </a:r>
            <a:endParaRPr lang="en-US" sz="1100" dirty="0"/>
          </a:p>
        </p:txBody>
      </p:sp>
      <p:sp>
        <p:nvSpPr>
          <p:cNvPr id="31" name="choice tile 2"/>
          <p:cNvSpPr/>
          <p:nvPr/>
        </p:nvSpPr>
        <p:spPr>
          <a:xfrm>
            <a:off x="3355848" y="1417320"/>
            <a:ext cx="2670048" cy="1005840"/>
          </a:xfrm>
          <a:prstGeom prst="rect">
            <a:avLst/>
          </a:prstGeom>
          <a:solidFill>
            <a:schemeClr val="accent5"/>
          </a:solidFill>
          <a:ln/>
        </p:spPr>
        <p:txBody>
          <a:bodyPr/>
          <a:p/>
        </p:txBody>
      </p:sp>
      <p:sp>
        <p:nvSpPr>
          <p:cNvPr id="32" name="card label"/>
          <p:cNvSpPr txBox="1"/>
          <p:nvPr/>
        </p:nvSpPr>
        <p:spPr>
          <a:xfrm>
            <a:off x="3502152" y="1527048"/>
            <a:ext cx="2395728" cy="201168"/>
          </a:xfrm>
          <a:prstGeom prst="rect">
            <a:avLst/>
          </a:prstGeom>
          <a:noFill/>
          <a:ln/>
        </p:spPr>
        <p:txBody>
          <a:bodyPr wrap="square" lIns="0" tIns="0" rIns="0" bIns="0" rtlCol="0" anchor="ctr"/>
          <a:lstStyle/>
          <a:p>
            <a:pPr indent="0" marL="0">
              <a:buNone/>
            </a:pPr>
            <a:r>
              <a:rPr lang="en-US" sz="1050" b="1" spc="80" kern="0" dirty="0">
                <a:solidFill>
                  <a:srgbClr val="002677"/>
                </a:solidFill>
              </a:rPr>
              <a:t>2. HOW IT SHOWS ITS WORK</a:t>
            </a:r>
            <a:endParaRPr lang="en-US" sz="1300" dirty="0"/>
          </a:p>
        </p:txBody>
      </p:sp>
      <p:sp>
        <p:nvSpPr>
          <p:cNvPr id="33" name="Text 29"/>
          <p:cNvSpPr txBox="1"/>
          <p:nvPr/>
        </p:nvSpPr>
        <p:spPr>
          <a:xfrm>
            <a:off x="3502152" y="1764792"/>
            <a:ext cx="2395728" cy="365760"/>
          </a:xfrm>
          <a:prstGeom prst="rect">
            <a:avLst/>
          </a:prstGeom>
          <a:noFill/>
          <a:ln/>
        </p:spPr>
        <p:txBody>
          <a:bodyPr wrap="square" lIns="0" tIns="0" rIns="0" bIns="0" rtlCol="0" anchor="t"/>
          <a:lstStyle/>
          <a:p>
            <a:pPr indent="0" marL="0">
              <a:spcAft>
                <a:spcPts val="900"/>
              </a:spcAft>
              <a:buNone/>
            </a:pPr>
            <a:r>
              <a:rPr lang="en-US" sz="1000" dirty="0">
                <a:solidFill>
                  <a:srgbClr val="4B4D4F"/>
                </a:solidFill>
              </a:rPr>
              <a:t>Sources and assumptions kept visible; limits published</a:t>
            </a:r>
            <a:endParaRPr lang="en-US" sz="1100" dirty="0"/>
          </a:p>
        </p:txBody>
      </p:sp>
      <p:sp>
        <p:nvSpPr>
          <p:cNvPr id="34" name="Text 29"/>
          <p:cNvSpPr txBox="1"/>
          <p:nvPr/>
        </p:nvSpPr>
        <p:spPr>
          <a:xfrm>
            <a:off x="3502152" y="2176272"/>
            <a:ext cx="2487168" cy="164592"/>
          </a:xfrm>
          <a:prstGeom prst="rect">
            <a:avLst/>
          </a:prstGeom>
          <a:noFill/>
          <a:ln/>
        </p:spPr>
        <p:txBody>
          <a:bodyPr wrap="square" lIns="0" tIns="0" rIns="0" bIns="0" rtlCol="0" anchor="t"/>
          <a:lstStyle/>
          <a:p>
            <a:pPr indent="0" marL="0">
              <a:spcAft>
                <a:spcPts val="900"/>
              </a:spcAft>
              <a:buNone/>
            </a:pPr>
            <a:r>
              <a:rPr lang="en-US" sz="850" dirty="0" b="1">
                <a:solidFill>
                  <a:srgbClr val="7A7C7E"/>
                </a:solidFill>
              </a:rPr>
              <a:t>Seen in: </a:t>
            </a:r>
            <a:r>
              <a:rPr lang="en-US" sz="850" dirty="0">
                <a:solidFill>
                  <a:srgbClr val="7A7C7E"/>
                </a:solidFill>
              </a:rPr>
              <a:t>EVERSANA, IQVIA</a:t>
            </a:r>
            <a:endParaRPr lang="en-US" sz="1100" dirty="0"/>
          </a:p>
        </p:txBody>
      </p:sp>
      <p:sp>
        <p:nvSpPr>
          <p:cNvPr id="35" name="choice tile 3"/>
          <p:cNvSpPr/>
          <p:nvPr/>
        </p:nvSpPr>
        <p:spPr>
          <a:xfrm>
            <a:off x="6163056" y="1417320"/>
            <a:ext cx="2670048" cy="1005840"/>
          </a:xfrm>
          <a:prstGeom prst="rect">
            <a:avLst/>
          </a:prstGeom>
          <a:solidFill>
            <a:schemeClr val="accent5"/>
          </a:solidFill>
          <a:ln/>
        </p:spPr>
        <p:txBody>
          <a:bodyPr/>
          <a:p/>
        </p:txBody>
      </p:sp>
      <p:sp>
        <p:nvSpPr>
          <p:cNvPr id="36" name="card label"/>
          <p:cNvSpPr txBox="1"/>
          <p:nvPr/>
        </p:nvSpPr>
        <p:spPr>
          <a:xfrm>
            <a:off x="6309360" y="1527048"/>
            <a:ext cx="2395728" cy="201168"/>
          </a:xfrm>
          <a:prstGeom prst="rect">
            <a:avLst/>
          </a:prstGeom>
          <a:noFill/>
          <a:ln/>
        </p:spPr>
        <p:txBody>
          <a:bodyPr wrap="square" lIns="0" tIns="0" rIns="0" bIns="0" rtlCol="0" anchor="ctr"/>
          <a:lstStyle/>
          <a:p>
            <a:pPr indent="0" marL="0">
              <a:buNone/>
            </a:pPr>
            <a:r>
              <a:rPr lang="en-US" sz="1050" b="1" spc="80" kern="0" dirty="0">
                <a:solidFill>
                  <a:srgbClr val="002677"/>
                </a:solidFill>
              </a:rPr>
              <a:t>3. HOW MUCH AUTONOMY</a:t>
            </a:r>
            <a:endParaRPr lang="en-US" sz="1300" dirty="0"/>
          </a:p>
        </p:txBody>
      </p:sp>
      <p:sp>
        <p:nvSpPr>
          <p:cNvPr id="37" name="Text 29"/>
          <p:cNvSpPr txBox="1"/>
          <p:nvPr/>
        </p:nvSpPr>
        <p:spPr>
          <a:xfrm>
            <a:off x="6309360" y="1764792"/>
            <a:ext cx="2395728" cy="365760"/>
          </a:xfrm>
          <a:prstGeom prst="rect">
            <a:avLst/>
          </a:prstGeom>
          <a:noFill/>
          <a:ln/>
        </p:spPr>
        <p:txBody>
          <a:bodyPr wrap="square" lIns="0" tIns="0" rIns="0" bIns="0" rtlCol="0" anchor="t"/>
          <a:lstStyle/>
          <a:p>
            <a:pPr indent="0" marL="0">
              <a:spcAft>
                <a:spcPts val="900"/>
              </a:spcAft>
              <a:buNone/>
            </a:pPr>
            <a:r>
              <a:rPr lang="en-US" sz="1000" dirty="0">
                <a:solidFill>
                  <a:srgbClr val="4B4D4F"/>
                </a:solidFill>
              </a:rPr>
              <a:t>Highest in RWE analysis; narrower in medical and regulatory work</a:t>
            </a:r>
            <a:endParaRPr lang="en-US" sz="1100" dirty="0"/>
          </a:p>
        </p:txBody>
      </p:sp>
      <p:sp>
        <p:nvSpPr>
          <p:cNvPr id="38" name="Text 29"/>
          <p:cNvSpPr txBox="1"/>
          <p:nvPr/>
        </p:nvSpPr>
        <p:spPr>
          <a:xfrm>
            <a:off x="6309360" y="2176272"/>
            <a:ext cx="2487168" cy="164592"/>
          </a:xfrm>
          <a:prstGeom prst="rect">
            <a:avLst/>
          </a:prstGeom>
          <a:noFill/>
          <a:ln/>
        </p:spPr>
        <p:txBody>
          <a:bodyPr wrap="square" lIns="0" tIns="0" rIns="0" bIns="0" rtlCol="0" anchor="t"/>
          <a:lstStyle/>
          <a:p>
            <a:pPr indent="0" marL="0">
              <a:spcAft>
                <a:spcPts val="900"/>
              </a:spcAft>
              <a:buNone/>
            </a:pPr>
            <a:r>
              <a:rPr lang="en-US" sz="850" dirty="0" b="1">
                <a:solidFill>
                  <a:srgbClr val="7A7C7E"/>
                </a:solidFill>
              </a:rPr>
              <a:t>Seen in: </a:t>
            </a:r>
            <a:r>
              <a:rPr lang="en-US" sz="850" dirty="0">
                <a:solidFill>
                  <a:srgbClr val="7A7C7E"/>
                </a:solidFill>
              </a:rPr>
              <a:t>Flatiron, Verana, ZS, Veeva</a:t>
            </a:r>
            <a:endParaRPr lang="en-US" sz="1100" dirty="0"/>
          </a:p>
        </p:txBody>
      </p:sp>
      <p:sp>
        <p:nvSpPr>
          <p:cNvPr id="39" name="choice tile 4"/>
          <p:cNvSpPr/>
          <p:nvPr/>
        </p:nvSpPr>
        <p:spPr>
          <a:xfrm>
            <a:off x="8970264" y="1417320"/>
            <a:ext cx="2670048" cy="1005840"/>
          </a:xfrm>
          <a:prstGeom prst="rect">
            <a:avLst/>
          </a:prstGeom>
          <a:solidFill>
            <a:schemeClr val="accent5"/>
          </a:solidFill>
          <a:ln/>
        </p:spPr>
        <p:txBody>
          <a:bodyPr/>
          <a:p/>
        </p:txBody>
      </p:sp>
      <p:sp>
        <p:nvSpPr>
          <p:cNvPr id="40" name="card label"/>
          <p:cNvSpPr txBox="1"/>
          <p:nvPr/>
        </p:nvSpPr>
        <p:spPr>
          <a:xfrm>
            <a:off x="9116568" y="1527048"/>
            <a:ext cx="2395728" cy="201168"/>
          </a:xfrm>
          <a:prstGeom prst="rect">
            <a:avLst/>
          </a:prstGeom>
          <a:noFill/>
          <a:ln/>
        </p:spPr>
        <p:txBody>
          <a:bodyPr wrap="square" lIns="0" tIns="0" rIns="0" bIns="0" rtlCol="0" anchor="ctr"/>
          <a:lstStyle/>
          <a:p>
            <a:pPr indent="0" marL="0">
              <a:buNone/>
            </a:pPr>
            <a:r>
              <a:rPr lang="en-US" sz="1050" b="1" spc="80" kern="0" dirty="0">
                <a:solidFill>
                  <a:srgbClr val="002677"/>
                </a:solidFill>
              </a:rPr>
              <a:t>4. HOW IT’S ASSEMBLED</a:t>
            </a:r>
            <a:endParaRPr lang="en-US" sz="1300" dirty="0"/>
          </a:p>
        </p:txBody>
      </p:sp>
      <p:sp>
        <p:nvSpPr>
          <p:cNvPr id="41" name="Text 29"/>
          <p:cNvSpPr txBox="1"/>
          <p:nvPr/>
        </p:nvSpPr>
        <p:spPr>
          <a:xfrm>
            <a:off x="9116568" y="1764792"/>
            <a:ext cx="2395728" cy="365760"/>
          </a:xfrm>
          <a:prstGeom prst="rect">
            <a:avLst/>
          </a:prstGeom>
          <a:noFill/>
          <a:ln/>
        </p:spPr>
        <p:txBody>
          <a:bodyPr wrap="square" lIns="0" tIns="0" rIns="0" bIns="0" rtlCol="0" anchor="t"/>
          <a:lstStyle/>
          <a:p>
            <a:pPr indent="0" marL="0">
              <a:spcAft>
                <a:spcPts val="900"/>
              </a:spcAft>
              <a:buNone/>
            </a:pPr>
            <a:r>
              <a:rPr lang="en-US" sz="1000" dirty="0">
                <a:solidFill>
                  <a:srgbClr val="4B4D4F"/>
                </a:solidFill>
              </a:rPr>
              <a:t>Models, engines and interfaces can be built, adapted or sourced separately</a:t>
            </a:r>
            <a:endParaRPr lang="en-US" sz="1100" dirty="0"/>
          </a:p>
        </p:txBody>
      </p:sp>
      <p:sp>
        <p:nvSpPr>
          <p:cNvPr id="42" name="Text 29"/>
          <p:cNvSpPr txBox="1"/>
          <p:nvPr/>
        </p:nvSpPr>
        <p:spPr>
          <a:xfrm>
            <a:off x="9116568" y="2176272"/>
            <a:ext cx="2487168" cy="164592"/>
          </a:xfrm>
          <a:prstGeom prst="rect">
            <a:avLst/>
          </a:prstGeom>
          <a:noFill/>
          <a:ln/>
        </p:spPr>
        <p:txBody>
          <a:bodyPr wrap="square" lIns="0" tIns="0" rIns="0" bIns="0" rtlCol="0" anchor="t"/>
          <a:lstStyle/>
          <a:p>
            <a:pPr indent="0" marL="0">
              <a:spcAft>
                <a:spcPts val="900"/>
              </a:spcAft>
              <a:buNone/>
            </a:pPr>
            <a:r>
              <a:rPr lang="en-US" sz="850" dirty="0" b="1">
                <a:solidFill>
                  <a:srgbClr val="7A7C7E"/>
                </a:solidFill>
              </a:rPr>
              <a:t>Seen in: </a:t>
            </a:r>
            <a:r>
              <a:rPr lang="en-US" sz="850" dirty="0">
                <a:solidFill>
                  <a:srgbClr val="7A7C7E"/>
                </a:solidFill>
              </a:rPr>
              <a:t>Komodo, HealthVerity, Veeva, Anthropic</a:t>
            </a:r>
            <a:endParaRPr lang="en-US" sz="1100" dirty="0"/>
          </a:p>
        </p:txBody>
      </p:sp>
      <p:sp>
        <p:nvSpPr>
          <p:cNvPr id="43" name="key findings card"/>
          <p:cNvSpPr/>
          <p:nvPr/>
        </p:nvSpPr>
        <p:spPr>
          <a:xfrm>
            <a:off x="548640" y="2578608"/>
            <a:ext cx="3026664" cy="181051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4" name="card label"/>
          <p:cNvSpPr txBox="1"/>
          <p:nvPr/>
        </p:nvSpPr>
        <p:spPr>
          <a:xfrm>
            <a:off x="731520" y="2706624"/>
            <a:ext cx="2697480" cy="219456"/>
          </a:xfrm>
          <a:prstGeom prst="rect">
            <a:avLst/>
          </a:prstGeom>
          <a:noFill/>
          <a:ln/>
        </p:spPr>
        <p:txBody>
          <a:bodyPr wrap="square" lIns="0" tIns="0" rIns="0" bIns="0" rtlCol="0" anchor="ctr"/>
          <a:lstStyle/>
          <a:p>
            <a:pPr indent="0" marL="0">
              <a:buNone/>
            </a:pPr>
            <a:r>
              <a:rPr lang="en-US" sz="1200" b="1" spc="150" kern="0" dirty="0">
                <a:solidFill>
                  <a:srgbClr val="FF612B"/>
                </a:solidFill>
              </a:rPr>
              <a:t>KEY FINDINGS</a:t>
            </a:r>
            <a:endParaRPr lang="en-US" sz="1300" dirty="0"/>
          </a:p>
        </p:txBody>
      </p:sp>
      <p:sp>
        <p:nvSpPr>
          <p:cNvPr id="45" name="hero 19"/>
          <p:cNvSpPr txBox="1"/>
          <p:nvPr/>
        </p:nvSpPr>
        <p:spPr>
          <a:xfrm>
            <a:off x="621792" y="3054096"/>
            <a:ext cx="566928" cy="420624"/>
          </a:xfrm>
          <a:prstGeom prst="rect">
            <a:avLst/>
          </a:prstGeom>
          <a:noFill/>
          <a:ln/>
        </p:spPr>
        <p:txBody>
          <a:bodyPr wrap="square" lIns="0" tIns="0" rIns="0" bIns="0" rtlCol="0" anchor="t"/>
          <a:lstStyle/>
          <a:p>
            <a:pPr indent="0" marL="0" algn="ctr">
              <a:buNone/>
            </a:pPr>
            <a:r>
              <a:rPr lang="en-US" sz="2400" b="1" dirty="0">
                <a:solidFill>
                  <a:srgbClr val="FF612B"/>
                </a:solidFill>
              </a:rPr>
              <a:t>23</a:t>
            </a:r>
            <a:endParaRPr lang="en-US" sz="3400" dirty="0"/>
          </a:p>
        </p:txBody>
      </p:sp>
      <p:sp>
        <p:nvSpPr>
          <p:cNvPr id="46" name="Text 29"/>
          <p:cNvSpPr txBox="1"/>
          <p:nvPr/>
        </p:nvSpPr>
        <p:spPr>
          <a:xfrm>
            <a:off x="1207007" y="3090672"/>
            <a:ext cx="2240280" cy="475488"/>
          </a:xfrm>
          <a:prstGeom prst="rect">
            <a:avLst/>
          </a:prstGeom>
          <a:noFill/>
          <a:ln/>
        </p:spPr>
        <p:txBody>
          <a:bodyPr wrap="square" lIns="0" tIns="0" rIns="0" bIns="0" rtlCol="0" anchor="t"/>
          <a:lstStyle/>
          <a:p>
            <a:pPr indent="0" marL="0">
              <a:spcAft>
                <a:spcPts val="900"/>
              </a:spcAft>
              <a:buNone/>
            </a:pPr>
            <a:r>
              <a:rPr lang="en-US" sz="950" dirty="0" b="1">
                <a:solidFill>
                  <a:srgbClr val="4B4D4F"/>
                </a:solidFill>
              </a:rPr>
              <a:t>conversational AI offerings</a:t>
            </a:r>
            <a:r>
              <a:rPr lang="en-US" sz="950" dirty="0">
                <a:solidFill>
                  <a:srgbClr val="4B4D4F"/>
                </a:solidFill>
              </a:rPr>
              <a:t>, marketed by </a:t>
            </a:r>
            <a:r>
              <a:rPr lang="en-US" sz="950" dirty="0" b="1">
                <a:solidFill>
                  <a:srgbClr val="4B4D4F"/>
                </a:solidFill>
              </a:rPr>
              <a:t>15 of 43 U.S. competitors</a:t>
            </a:r>
            <a:endParaRPr lang="en-US" sz="1100" dirty="0"/>
          </a:p>
        </p:txBody>
      </p:sp>
      <p:sp>
        <p:nvSpPr>
          <p:cNvPr id="47" name="hero 19"/>
          <p:cNvSpPr txBox="1"/>
          <p:nvPr/>
        </p:nvSpPr>
        <p:spPr>
          <a:xfrm>
            <a:off x="621792" y="3694176"/>
            <a:ext cx="566928" cy="420624"/>
          </a:xfrm>
          <a:prstGeom prst="rect">
            <a:avLst/>
          </a:prstGeom>
          <a:noFill/>
          <a:ln/>
        </p:spPr>
        <p:txBody>
          <a:bodyPr wrap="square" lIns="0" tIns="0" rIns="0" bIns="0" rtlCol="0" anchor="t"/>
          <a:lstStyle/>
          <a:p>
            <a:pPr indent="0" marL="0" algn="ctr">
              <a:buNone/>
            </a:pPr>
            <a:r>
              <a:rPr lang="en-US" sz="2400" b="1" dirty="0">
                <a:solidFill>
                  <a:srgbClr val="FF612B"/>
                </a:solidFill>
              </a:rPr>
              <a:t>9</a:t>
            </a:r>
            <a:endParaRPr lang="en-US" sz="3400" dirty="0"/>
          </a:p>
        </p:txBody>
      </p:sp>
      <p:sp>
        <p:nvSpPr>
          <p:cNvPr id="48" name="Text 29"/>
          <p:cNvSpPr txBox="1"/>
          <p:nvPr/>
        </p:nvSpPr>
        <p:spPr>
          <a:xfrm>
            <a:off x="1207007" y="3730752"/>
            <a:ext cx="2240280" cy="475488"/>
          </a:xfrm>
          <a:prstGeom prst="rect">
            <a:avLst/>
          </a:prstGeom>
          <a:noFill/>
          <a:ln/>
        </p:spPr>
        <p:txBody>
          <a:bodyPr wrap="square" lIns="0" tIns="0" rIns="0" bIns="0" rtlCol="0" anchor="t"/>
          <a:lstStyle/>
          <a:p>
            <a:pPr indent="0" marL="0">
              <a:spcAft>
                <a:spcPts val="900"/>
              </a:spcAft>
              <a:buNone/>
            </a:pPr>
            <a:r>
              <a:rPr lang="en-US" sz="950" dirty="0" b="1">
                <a:solidFill>
                  <a:srgbClr val="4B4D4F"/>
                </a:solidFill>
              </a:rPr>
              <a:t>of 34 RWE competitors</a:t>
            </a:r>
            <a:r>
              <a:rPr lang="en-US" sz="950" dirty="0">
                <a:solidFill>
                  <a:srgbClr val="4B4D4F"/>
                </a:solidFill>
              </a:rPr>
              <a:t> market one, the highest share of any domain</a:t>
            </a:r>
            <a:endParaRPr lang="en-US" sz="1100" dirty="0"/>
          </a:p>
        </p:txBody>
      </p:sp>
      <p:sp>
        <p:nvSpPr>
          <p:cNvPr id="49" name="optum ls positioning card"/>
          <p:cNvSpPr/>
          <p:nvPr/>
        </p:nvSpPr>
        <p:spPr>
          <a:xfrm>
            <a:off x="3758184" y="2578608"/>
            <a:ext cx="7882127" cy="181051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0" name="card label"/>
          <p:cNvSpPr txBox="1"/>
          <p:nvPr/>
        </p:nvSpPr>
        <p:spPr>
          <a:xfrm>
            <a:off x="3959352" y="2811780"/>
            <a:ext cx="5486400" cy="274320"/>
          </a:xfrm>
          <a:prstGeom prst="rect">
            <a:avLst/>
          </a:prstGeom>
          <a:noFill/>
          <a:ln/>
        </p:spPr>
        <p:txBody>
          <a:bodyPr wrap="square" lIns="0" tIns="0" rIns="0" bIns="0" rtlCol="0" anchor="ctr"/>
          <a:lstStyle/>
          <a:p>
            <a:pPr indent="0" marL="0">
              <a:buNone/>
            </a:pPr>
            <a:r>
              <a:rPr lang="en-US" sz="1400" b="1" spc="150" kern="0" dirty="0">
                <a:solidFill>
                  <a:srgbClr val="FF612B"/>
                </a:solidFill>
              </a:rPr>
              <a:t>OPTUM LS POSITIONING</a:t>
            </a:r>
            <a:endParaRPr lang="en-US" sz="1300" dirty="0"/>
          </a:p>
        </p:txBody>
      </p:sp>
      <p:sp>
        <p:nvSpPr>
          <p:cNvPr id="51" name="Text 29"/>
          <p:cNvSpPr txBox="1"/>
          <p:nvPr/>
        </p:nvSpPr>
        <p:spPr>
          <a:xfrm>
            <a:off x="3959352" y="3282696"/>
            <a:ext cx="7479792" cy="786384"/>
          </a:xfrm>
          <a:prstGeom prst="rect">
            <a:avLst/>
          </a:prstGeom>
          <a:noFill/>
          <a:ln/>
        </p:spPr>
        <p:txBody>
          <a:bodyPr wrap="square" lIns="0" tIns="0" rIns="0" bIns="0" rtlCol="0" anchor="t"/>
          <a:lstStyle/>
          <a:p>
            <a:pPr indent="0" marL="0">
              <a:spcAft>
                <a:spcPts val="900"/>
              </a:spcAft>
              <a:buNone/>
            </a:pPr>
            <a:r>
              <a:rPr lang="en-US" sz="1100" dirty="0" b="1">
                <a:solidFill>
                  <a:srgbClr val="1A1A1A"/>
                </a:solidFill>
              </a:rPr>
              <a:t>Optum LS publicly emphasizes linked healthcare data, AI-enabled research tools and scientific expertise.</a:t>
            </a:r>
            <a:endParaRPr lang="en-US" sz="1100" dirty="0"/>
          </a:p>
          <a:p>
            <a:pPr indent="0" marL="0">
              <a:spcAft>
                <a:spcPts val="900"/>
              </a:spcAft>
              <a:buNone/>
            </a:pPr>
            <a:r>
              <a:rPr lang="en-US" sz="1100" dirty="0" b="1">
                <a:solidFill>
                  <a:srgbClr val="1A1A1A"/>
                </a:solidFill>
              </a:rPr>
              <a:t>Several competitors lead with conversational AI for comparable tasks.</a:t>
            </a:r>
            <a:endParaRPr lang="en-US" sz="1100" dirty="0"/>
          </a:p>
          <a:p>
            <a:pPr indent="0" marL="0">
              <a:spcAft>
                <a:spcPts val="900"/>
              </a:spcAft>
              <a:buNone/>
            </a:pPr>
            <a:r>
              <a:rPr lang="en-US" sz="1100" b="1" dirty="0">
                <a:solidFill>
                  <a:srgbClr val="002677"/>
                </a:solidFill>
              </a:rPr>
              <a:t>This analysis assumes Optum LS is developing or evaluating its own.</a:t>
            </a:r>
            <a:endParaRPr lang="en-US" sz="1100" dirty="0"/>
          </a:p>
        </p:txBody>
      </p:sp>
      <p:sp>
        <p:nvSpPr>
          <p:cNvPr id="52" name="research scope card"/>
          <p:cNvSpPr/>
          <p:nvPr/>
        </p:nvSpPr>
        <p:spPr>
          <a:xfrm>
            <a:off x="3758184" y="4544568"/>
            <a:ext cx="7882127" cy="1508759"/>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3" name="card label"/>
          <p:cNvSpPr txBox="1"/>
          <p:nvPr/>
        </p:nvSpPr>
        <p:spPr>
          <a:xfrm>
            <a:off x="3959352" y="4672584"/>
            <a:ext cx="7479792" cy="219456"/>
          </a:xfrm>
          <a:prstGeom prst="rect">
            <a:avLst/>
          </a:prstGeom>
          <a:noFill/>
          <a:ln/>
        </p:spPr>
        <p:txBody>
          <a:bodyPr wrap="square" lIns="0" tIns="0" rIns="0" bIns="0" rtlCol="0" anchor="ctr"/>
          <a:lstStyle/>
          <a:p>
            <a:pPr indent="0" marL="0">
              <a:buNone/>
            </a:pPr>
            <a:r>
              <a:rPr lang="en-US" sz="1200" b="1" spc="150" kern="0" dirty="0">
                <a:solidFill>
                  <a:srgbClr val="FF612B"/>
                </a:solidFill>
              </a:rPr>
              <a:t>RESEARCH SCOPE</a:t>
            </a:r>
            <a:endParaRPr lang="en-US" sz="1300" dirty="0"/>
          </a:p>
        </p:txBody>
      </p:sp>
      <p:sp>
        <p:nvSpPr>
          <p:cNvPr id="54" name="Text 29"/>
          <p:cNvSpPr txBox="1"/>
          <p:nvPr/>
        </p:nvSpPr>
        <p:spPr>
          <a:xfrm>
            <a:off x="3959352" y="5047488"/>
            <a:ext cx="7479792" cy="420624"/>
          </a:xfrm>
          <a:prstGeom prst="rect">
            <a:avLst/>
          </a:prstGeom>
          <a:noFill/>
          <a:ln/>
        </p:spPr>
        <p:txBody>
          <a:bodyPr wrap="square" lIns="0" tIns="0" rIns="0" bIns="0" rtlCol="0" anchor="t"/>
          <a:lstStyle/>
          <a:p>
            <a:pPr indent="0" marL="0">
              <a:spcAft>
                <a:spcPts val="900"/>
              </a:spcAft>
              <a:buNone/>
            </a:pPr>
            <a:r>
              <a:rPr lang="en-US" sz="1050" dirty="0">
                <a:solidFill>
                  <a:srgbClr val="4B4D4F"/>
                </a:solidFill>
              </a:rPr>
              <a:t>Competitor products were sorted by customer task rather than by vendor, to match each with a specific Optum LS offering.</a:t>
            </a:r>
            <a:endParaRPr lang="en-US" sz="1100" dirty="0"/>
          </a:p>
          <a:p>
            <a:pPr indent="0" marL="0">
              <a:spcAft>
                <a:spcPts val="900"/>
              </a:spcAft>
              <a:buNone/>
            </a:pPr>
            <a:r>
              <a:rPr lang="en-US" sz="1050" dirty="0">
                <a:solidFill>
                  <a:srgbClr val="4B4D4F"/>
                </a:solidFill>
              </a:rPr>
              <a:t>Those tasks were then grouped into five domains where both Optum LS and its competitors publicly market products:</a:t>
            </a:r>
            <a:endParaRPr lang="en-US" sz="1100" dirty="0"/>
          </a:p>
        </p:txBody>
      </p:sp>
      <p:sp>
        <p:nvSpPr>
          <p:cNvPr id="9" name="workflow chip RWE"/>
          <p:cNvSpPr/>
          <p:nvPr/>
        </p:nvSpPr>
        <p:spPr>
          <a:xfrm>
            <a:off x="3959352" y="5623559"/>
            <a:ext cx="422727" cy="246888"/>
          </a:xfrm>
          <a:prstGeom prst="roundRect">
            <a:avLst>
              <a:gd name="adj" fmla="val 50000"/>
            </a:avLst>
          </a:prstGeom>
          <a:solidFill>
            <a:schemeClr val="accent5"/>
          </a:solidFill>
          <a:ln w="9525">
            <a:solidFill>
              <a:schemeClr val="accent1"/>
            </a:solidFill>
            <a:prstDash val="solid"/>
          </a:ln>
        </p:spPr>
        <p:txBody>
          <a:bodyPr/>
          <a:p/>
        </p:txBody>
      </p:sp>
      <p:sp>
        <p:nvSpPr>
          <p:cNvPr id="10" name="Text 7"/>
          <p:cNvSpPr txBox="1"/>
          <p:nvPr/>
        </p:nvSpPr>
        <p:spPr>
          <a:xfrm>
            <a:off x="3959352" y="5623559"/>
            <a:ext cx="422727" cy="246888"/>
          </a:xfrm>
          <a:prstGeom prst="rect">
            <a:avLst/>
          </a:prstGeom>
          <a:noFill/>
          <a:ln/>
        </p:spPr>
        <p:txBody>
          <a:bodyPr wrap="square" lIns="0" tIns="0" rIns="0" bIns="0" rtlCol="0" anchor="ctr"/>
          <a:lstStyle/>
          <a:p>
            <a:pPr algn="ctr" indent="0" marL="0">
              <a:buNone/>
            </a:pPr>
            <a:r>
              <a:rPr lang="en-US" sz="950" dirty="0">
                <a:solidFill>
                  <a:schemeClr val="accent1"/>
                </a:solidFill>
              </a:rPr>
              <a:t>RWE</a:t>
            </a:r>
            <a:endParaRPr lang="en-US" sz="950" dirty="0"/>
          </a:p>
        </p:txBody>
      </p:sp>
      <p:sp>
        <p:nvSpPr>
          <p:cNvPr id="11" name="workflow chip Commercial Intelligence"/>
          <p:cNvSpPr/>
          <p:nvPr/>
        </p:nvSpPr>
        <p:spPr>
          <a:xfrm>
            <a:off x="4473519" y="5623559"/>
            <a:ext cx="1777868" cy="246888"/>
          </a:xfrm>
          <a:prstGeom prst="roundRect">
            <a:avLst>
              <a:gd name="adj" fmla="val 50000"/>
            </a:avLst>
          </a:prstGeom>
          <a:solidFill>
            <a:schemeClr val="accent5"/>
          </a:solidFill>
          <a:ln w="9525">
            <a:solidFill>
              <a:schemeClr val="accent1"/>
            </a:solidFill>
            <a:prstDash val="solid"/>
          </a:ln>
        </p:spPr>
        <p:txBody>
          <a:bodyPr/>
          <a:p/>
        </p:txBody>
      </p:sp>
      <p:sp>
        <p:nvSpPr>
          <p:cNvPr id="12" name="Text 9"/>
          <p:cNvSpPr txBox="1"/>
          <p:nvPr/>
        </p:nvSpPr>
        <p:spPr>
          <a:xfrm>
            <a:off x="4473519" y="5623559"/>
            <a:ext cx="1777868" cy="246888"/>
          </a:xfrm>
          <a:prstGeom prst="rect">
            <a:avLst/>
          </a:prstGeom>
          <a:noFill/>
          <a:ln/>
        </p:spPr>
        <p:txBody>
          <a:bodyPr wrap="square" lIns="0" tIns="0" rIns="0" bIns="0" rtlCol="0" anchor="ctr"/>
          <a:lstStyle/>
          <a:p>
            <a:pPr algn="ctr" indent="0" marL="0">
              <a:buNone/>
            </a:pPr>
            <a:r>
              <a:rPr lang="en-US" sz="950" dirty="0">
                <a:solidFill>
                  <a:schemeClr val="accent1"/>
                </a:solidFill>
              </a:rPr>
              <a:t>Commercial Intelligence</a:t>
            </a:r>
            <a:endParaRPr lang="en-US" sz="950" dirty="0"/>
          </a:p>
        </p:txBody>
      </p:sp>
      <p:sp>
        <p:nvSpPr>
          <p:cNvPr id="13" name="workflow chip Medical / Regulatory Research"/>
          <p:cNvSpPr/>
          <p:nvPr/>
        </p:nvSpPr>
        <p:spPr>
          <a:xfrm>
            <a:off x="6342827" y="5623559"/>
            <a:ext cx="2184410" cy="246888"/>
          </a:xfrm>
          <a:prstGeom prst="roundRect">
            <a:avLst>
              <a:gd name="adj" fmla="val 50000"/>
            </a:avLst>
          </a:prstGeom>
          <a:solidFill>
            <a:schemeClr val="accent5"/>
          </a:solidFill>
          <a:ln w="9525">
            <a:solidFill>
              <a:schemeClr val="accent1"/>
            </a:solidFill>
            <a:prstDash val="solid"/>
          </a:ln>
        </p:spPr>
        <p:txBody>
          <a:bodyPr/>
          <a:p/>
        </p:txBody>
      </p:sp>
      <p:sp>
        <p:nvSpPr>
          <p:cNvPr id="14" name="Text 11"/>
          <p:cNvSpPr txBox="1"/>
          <p:nvPr/>
        </p:nvSpPr>
        <p:spPr>
          <a:xfrm>
            <a:off x="6342827" y="5623559"/>
            <a:ext cx="2184410" cy="246888"/>
          </a:xfrm>
          <a:prstGeom prst="rect">
            <a:avLst/>
          </a:prstGeom>
          <a:noFill/>
          <a:ln/>
        </p:spPr>
        <p:txBody>
          <a:bodyPr wrap="square" lIns="0" tIns="0" rIns="0" bIns="0" rtlCol="0" anchor="ctr"/>
          <a:lstStyle/>
          <a:p>
            <a:pPr algn="ctr" indent="0" marL="0">
              <a:buNone/>
            </a:pPr>
            <a:r>
              <a:rPr lang="en-US" sz="950" dirty="0">
                <a:solidFill>
                  <a:schemeClr val="accent1"/>
                </a:solidFill>
              </a:rPr>
              <a:t>Medical / Regulatory Research</a:t>
            </a:r>
            <a:endParaRPr lang="en-US" sz="950" dirty="0"/>
          </a:p>
        </p:txBody>
      </p:sp>
      <p:sp>
        <p:nvSpPr>
          <p:cNvPr id="15" name="workflow chip Clinical Trials"/>
          <p:cNvSpPr/>
          <p:nvPr/>
        </p:nvSpPr>
        <p:spPr>
          <a:xfrm>
            <a:off x="8618677" y="5623559"/>
            <a:ext cx="1235812" cy="246888"/>
          </a:xfrm>
          <a:prstGeom prst="roundRect">
            <a:avLst>
              <a:gd name="adj" fmla="val 50000"/>
            </a:avLst>
          </a:prstGeom>
          <a:solidFill>
            <a:schemeClr val="accent5"/>
          </a:solidFill>
          <a:ln w="9525">
            <a:solidFill>
              <a:schemeClr val="accent1"/>
            </a:solidFill>
            <a:prstDash val="solid"/>
          </a:ln>
        </p:spPr>
        <p:txBody>
          <a:bodyPr/>
          <a:p/>
        </p:txBody>
      </p:sp>
      <p:sp>
        <p:nvSpPr>
          <p:cNvPr id="16" name="Text 13"/>
          <p:cNvSpPr txBox="1"/>
          <p:nvPr/>
        </p:nvSpPr>
        <p:spPr>
          <a:xfrm>
            <a:off x="8618677" y="5623559"/>
            <a:ext cx="1235812" cy="246888"/>
          </a:xfrm>
          <a:prstGeom prst="rect">
            <a:avLst/>
          </a:prstGeom>
          <a:noFill/>
          <a:ln/>
        </p:spPr>
        <p:txBody>
          <a:bodyPr wrap="square" lIns="0" tIns="0" rIns="0" bIns="0" rtlCol="0" anchor="ctr"/>
          <a:lstStyle/>
          <a:p>
            <a:pPr algn="ctr" indent="0" marL="0">
              <a:buNone/>
            </a:pPr>
            <a:r>
              <a:rPr lang="en-US" sz="950" dirty="0">
                <a:solidFill>
                  <a:schemeClr val="accent1"/>
                </a:solidFill>
              </a:rPr>
              <a:t>Clinical Trials</a:t>
            </a:r>
            <a:endParaRPr lang="en-US" sz="950" dirty="0"/>
          </a:p>
        </p:txBody>
      </p:sp>
      <p:sp>
        <p:nvSpPr>
          <p:cNvPr id="17" name="Text 14"/>
          <p:cNvSpPr txBox="1"/>
          <p:nvPr/>
        </p:nvSpPr>
        <p:spPr>
          <a:xfrm>
            <a:off x="9945929" y="5623559"/>
            <a:ext cx="310896" cy="246888"/>
          </a:xfrm>
          <a:prstGeom prst="rect">
            <a:avLst/>
          </a:prstGeom>
          <a:noFill/>
          <a:ln/>
        </p:spPr>
        <p:txBody>
          <a:bodyPr wrap="square" lIns="0" tIns="0" rIns="0" bIns="0" rtlCol="0" anchor="ctr"/>
          <a:lstStyle/>
          <a:p>
            <a:pPr algn="ctr" indent="0" marL="0">
              <a:buNone/>
            </a:pPr>
            <a:r>
              <a:rPr lang="en-US" sz="1000" dirty="0">
                <a:solidFill>
                  <a:schemeClr val="accent4"/>
                </a:solidFill>
              </a:rPr>
              <a:t>and</a:t>
            </a:r>
            <a:endParaRPr lang="en-US" sz="1000" dirty="0"/>
          </a:p>
        </p:txBody>
      </p:sp>
      <p:sp>
        <p:nvSpPr>
          <p:cNvPr id="18" name="workflow chip Market Access"/>
          <p:cNvSpPr/>
          <p:nvPr/>
        </p:nvSpPr>
        <p:spPr>
          <a:xfrm>
            <a:off x="10311689" y="5623559"/>
            <a:ext cx="1100298" cy="246888"/>
          </a:xfrm>
          <a:prstGeom prst="roundRect">
            <a:avLst>
              <a:gd name="adj" fmla="val 50000"/>
            </a:avLst>
          </a:prstGeom>
          <a:solidFill>
            <a:schemeClr val="accent5"/>
          </a:solidFill>
          <a:ln w="9525">
            <a:solidFill>
              <a:schemeClr val="accent1"/>
            </a:solidFill>
            <a:prstDash val="solid"/>
          </a:ln>
        </p:spPr>
        <p:txBody>
          <a:bodyPr/>
          <a:p/>
        </p:txBody>
      </p:sp>
      <p:sp>
        <p:nvSpPr>
          <p:cNvPr id="19" name="Text 16"/>
          <p:cNvSpPr txBox="1"/>
          <p:nvPr/>
        </p:nvSpPr>
        <p:spPr>
          <a:xfrm>
            <a:off x="10311689" y="5623559"/>
            <a:ext cx="1100298" cy="246888"/>
          </a:xfrm>
          <a:prstGeom prst="rect">
            <a:avLst/>
          </a:prstGeom>
          <a:noFill/>
          <a:ln/>
        </p:spPr>
        <p:txBody>
          <a:bodyPr wrap="square" lIns="0" tIns="0" rIns="0" bIns="0" rtlCol="0" anchor="ctr"/>
          <a:lstStyle/>
          <a:p>
            <a:pPr algn="ctr" indent="0" marL="0">
              <a:buNone/>
            </a:pPr>
            <a:r>
              <a:rPr lang="en-US" sz="950" dirty="0">
                <a:solidFill>
                  <a:schemeClr val="accent1"/>
                </a:solidFill>
              </a:rPr>
              <a:t>Market Access</a:t>
            </a:r>
            <a:endParaRPr lang="en-US" sz="950" dirty="0"/>
          </a:p>
        </p:txBody>
      </p:sp>
      <p:sp>
        <p:nvSpPr>
          <p:cNvPr id="55" name="aside rule"/>
          <p:cNvSpPr/>
          <p:nvPr/>
        </p:nvSpPr>
        <p:spPr>
          <a:xfrm>
            <a:off x="548640" y="4672584"/>
            <a:ext cx="32004" cy="1252727"/>
          </a:xfrm>
          <a:prstGeom prst="rect">
            <a:avLst/>
          </a:prstGeom>
          <a:solidFill>
            <a:srgbClr val="D9D4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card label"/>
          <p:cNvSpPr txBox="1"/>
          <p:nvPr/>
        </p:nvSpPr>
        <p:spPr>
          <a:xfrm>
            <a:off x="694944" y="4672584"/>
            <a:ext cx="2843784" cy="329184"/>
          </a:xfrm>
          <a:prstGeom prst="rect">
            <a:avLst/>
          </a:prstGeom>
          <a:noFill/>
          <a:ln/>
        </p:spPr>
        <p:txBody>
          <a:bodyPr wrap="square" lIns="0" tIns="0" rIns="0" bIns="0" rtlCol="0" anchor="ctr"/>
          <a:lstStyle/>
          <a:p>
            <a:pPr indent="0" marL="0">
              <a:buNone/>
            </a:pPr>
            <a:r>
              <a:rPr lang="en-US" sz="900" b="1" spc="100" kern="0" dirty="0">
                <a:solidFill>
                  <a:srgbClr val="7A7C7E"/>
                </a:solidFill>
              </a:rPr>
              <a:t>WHAT COUNTS AS CONVERSATIONAL AI?</a:t>
            </a:r>
            <a:endParaRPr lang="en-US" sz="1300" dirty="0"/>
          </a:p>
        </p:txBody>
      </p:sp>
      <p:sp>
        <p:nvSpPr>
          <p:cNvPr id="57" name="Text 29"/>
          <p:cNvSpPr txBox="1"/>
          <p:nvPr/>
        </p:nvSpPr>
        <p:spPr>
          <a:xfrm>
            <a:off x="694944" y="5001768"/>
            <a:ext cx="2843784" cy="960120"/>
          </a:xfrm>
          <a:prstGeom prst="rect">
            <a:avLst/>
          </a:prstGeom>
          <a:noFill/>
          <a:ln/>
        </p:spPr>
        <p:txBody>
          <a:bodyPr wrap="square" lIns="0" tIns="0" rIns="0" bIns="0" rtlCol="0" anchor="t"/>
          <a:lstStyle/>
          <a:p>
            <a:pPr indent="0" marL="0">
              <a:spcAft>
                <a:spcPts val="900"/>
              </a:spcAft>
              <a:buNone/>
            </a:pPr>
            <a:r>
              <a:rPr lang="en-US" sz="1000" dirty="0">
                <a:solidFill>
                  <a:srgbClr val="7A7C7E"/>
                </a:solidFill>
              </a:rPr>
              <a:t>A publicly marketed interface that lets life-sciences customers use natural language to interact with data, research or business workflows. Excludes patient-facing chatbots, clinician scribes and AI without a natural-language interface.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RESEARCH CATALYST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Seven RWE AI launches since 2024 warrant a wider look across life sciences</a:t>
            </a:r>
            <a:endParaRPr lang="en-US" sz="2200" dirty="0"/>
          </a:p>
        </p:txBody>
      </p:sp>
      <p:sp>
        <p:nvSpPr>
          <p:cNvPr id="4" name="label"/>
          <p:cNvSpPr txBox="1"/>
          <p:nvPr/>
        </p:nvSpPr>
        <p:spPr>
          <a:xfrm>
            <a:off x="548640" y="1389888"/>
            <a:ext cx="7315200" cy="237744"/>
          </a:xfrm>
          <a:prstGeom prst="rect">
            <a:avLst/>
          </a:prstGeom>
          <a:noFill/>
          <a:ln/>
        </p:spPr>
        <p:txBody>
          <a:bodyPr wrap="square" lIns="0" tIns="0" rIns="0" bIns="0" rtlCol="0" anchor="t"/>
          <a:lstStyle/>
          <a:p>
            <a:pPr indent="0" marL="0">
              <a:buNone/>
            </a:pPr>
            <a:r>
              <a:rPr lang="en-US" sz="1200" b="1" spc="100" kern="0" dirty="0">
                <a:solidFill>
                  <a:schemeClr val="accent2"/>
                </a:solidFill>
              </a:rPr>
              <a:t>SELECTED PUBLIC PRODUCT ANNOUNCEMENTS</a:t>
            </a:r>
            <a:endParaRPr lang="en-US" sz="1000" dirty="0"/>
          </a:p>
        </p:txBody>
      </p:sp>
      <p:sp>
        <p:nvSpPr>
          <p:cNvPr id="5" name="timeline"/>
          <p:cNvSpPr/>
          <p:nvPr/>
        </p:nvSpPr>
        <p:spPr>
          <a:xfrm>
            <a:off x="548640" y="2450592"/>
            <a:ext cx="11091672" cy="0"/>
          </a:xfrm>
          <a:prstGeom prst="line">
            <a:avLst/>
          </a:prstGeom>
          <a:noFill/>
          <a:ln w="19050">
            <a:solidFill>
              <a:schemeClr val="accent1"/>
            </a:solidFill>
            <a:prstDash val="solid"/>
          </a:ln>
        </p:spPr>
        <p:txBody>
          <a:bodyPr/>
          <a:p/>
        </p:txBody>
      </p:sp>
      <p:sp>
        <p:nvSpPr>
          <p:cNvPr id="6" name="Text 4"/>
          <p:cNvSpPr txBox="1"/>
          <p:nvPr/>
        </p:nvSpPr>
        <p:spPr>
          <a:xfrm>
            <a:off x="548640"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2024</a:t>
            </a:r>
            <a:endParaRPr lang="en-US" sz="1500" dirty="0"/>
          </a:p>
        </p:txBody>
      </p:sp>
      <p:sp>
        <p:nvSpPr>
          <p:cNvPr id="7" name="Text 5"/>
          <p:cNvSpPr txBox="1"/>
          <p:nvPr/>
        </p:nvSpPr>
        <p:spPr>
          <a:xfrm>
            <a:off x="548640"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Precedents</a:t>
            </a:r>
            <a:endParaRPr lang="en-US" sz="1000" dirty="0"/>
          </a:p>
        </p:txBody>
      </p:sp>
      <p:sp>
        <p:nvSpPr>
          <p:cNvPr id="8" name="milestone"/>
          <p:cNvSpPr/>
          <p:nvPr/>
        </p:nvSpPr>
        <p:spPr>
          <a:xfrm>
            <a:off x="548640" y="2368296"/>
            <a:ext cx="164592" cy="164592"/>
          </a:xfrm>
          <a:prstGeom prst="ellipse">
            <a:avLst/>
          </a:prstGeom>
          <a:solidFill>
            <a:schemeClr val="accent1"/>
          </a:solidFill>
          <a:ln w="19050">
            <a:solidFill>
              <a:schemeClr val="bg2"/>
            </a:solidFill>
            <a:prstDash val="solid"/>
          </a:ln>
        </p:spPr>
        <p:txBody>
          <a:bodyPr/>
          <a:p/>
        </p:txBody>
      </p:sp>
      <p:sp>
        <p:nvSpPr>
          <p:cNvPr id="9" name="Text 7"/>
          <p:cNvSpPr txBox="1"/>
          <p:nvPr/>
        </p:nvSpPr>
        <p:spPr>
          <a:xfrm>
            <a:off x="548640"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Tempus’s </a:t>
            </a:r>
            <a:r>
              <a:rPr lang="en-US" sz="1050" b="1" dirty="0" u="sng">
                <a:solidFill>
                  <a:srgbClr val="002677"/>
                </a:solidFill>
                <a:uFill>
                  <a:solidFill>
                    <a:srgbClr val="9AA8CC"/>
                  </a:solidFill>
                </a:uFill>
              </a:rPr>
              <a:t>Tempus One / Lens</a:t>
            </a:r>
            <a:r>
              <a:rPr lang="en-US" sz="1050" dirty="0">
                <a:solidFill>
                  <a:schemeClr val="tx1"/>
                </a:solidFill>
              </a:rPr>
              <a:t> — AI-assisted research and cohort exploration (February)</a:t>
            </a:r>
            <a:endParaRPr lang="en-US" sz="1050" dirty="0"/>
          </a:p>
          <a:p>
            <a:pPr indent="0" marL="0">
              <a:spcBef>
                <a:spcPts val="800"/>
              </a:spcBef>
              <a:buNone/>
            </a:pPr>
            <a:r>
              <a:rPr lang="en-US" sz="1050" dirty="0" u="sng">
                <a:solidFill>
                  <a:srgbClr val="002677"/>
                </a:solidFill>
                <a:uFill>
                  <a:solidFill>
                    <a:srgbClr val="9AA8CC"/>
                  </a:solidFill>
                </a:uFill>
              </a:rPr>
              <a:t>Komodo Health’s </a:t>
            </a:r>
            <a:r>
              <a:rPr lang="en-US" sz="1050" b="1" dirty="0" u="sng">
                <a:solidFill>
                  <a:srgbClr val="002677"/>
                </a:solidFill>
                <a:uFill>
                  <a:solidFill>
                    <a:srgbClr val="9AA8CC"/>
                  </a:solidFill>
                </a:uFill>
              </a:rPr>
              <a:t>MapAI</a:t>
            </a:r>
            <a:r>
              <a:rPr lang="en-US" sz="1050" dirty="0">
                <a:solidFill>
                  <a:schemeClr val="tx1"/>
                </a:solidFill>
              </a:rPr>
              <a:t> — conversational healthcare analytics (September)</a:t>
            </a:r>
            <a:endParaRPr lang="en-US" sz="1050" dirty="0"/>
          </a:p>
        </p:txBody>
      </p:sp>
      <p:sp>
        <p:nvSpPr>
          <p:cNvPr id="10" name="Text 8"/>
          <p:cNvSpPr txBox="1"/>
          <p:nvPr/>
        </p:nvSpPr>
        <p:spPr>
          <a:xfrm>
            <a:off x="3321558"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August 2025</a:t>
            </a:r>
            <a:endParaRPr lang="en-US" sz="1500" dirty="0"/>
          </a:p>
        </p:txBody>
      </p:sp>
      <p:sp>
        <p:nvSpPr>
          <p:cNvPr id="11" name="Text 9"/>
          <p:cNvSpPr txBox="1"/>
          <p:nvPr/>
        </p:nvSpPr>
        <p:spPr>
          <a:xfrm>
            <a:off x="3321558"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Platform expansion</a:t>
            </a:r>
            <a:endParaRPr lang="en-US" sz="1000" dirty="0"/>
          </a:p>
        </p:txBody>
      </p:sp>
      <p:sp>
        <p:nvSpPr>
          <p:cNvPr id="12" name="milestone"/>
          <p:cNvSpPr/>
          <p:nvPr/>
        </p:nvSpPr>
        <p:spPr>
          <a:xfrm>
            <a:off x="3321558" y="2368296"/>
            <a:ext cx="164592" cy="164592"/>
          </a:xfrm>
          <a:prstGeom prst="ellipse">
            <a:avLst/>
          </a:prstGeom>
          <a:solidFill>
            <a:schemeClr val="accent1"/>
          </a:solidFill>
          <a:ln w="19050">
            <a:solidFill>
              <a:schemeClr val="bg2"/>
            </a:solidFill>
            <a:prstDash val="solid"/>
          </a:ln>
        </p:spPr>
        <p:txBody>
          <a:bodyPr/>
          <a:p/>
        </p:txBody>
      </p:sp>
      <p:sp>
        <p:nvSpPr>
          <p:cNvPr id="13" name="Text 11"/>
          <p:cNvSpPr txBox="1"/>
          <p:nvPr/>
        </p:nvSpPr>
        <p:spPr>
          <a:xfrm>
            <a:off x="3321558"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Komodo Health’s </a:t>
            </a:r>
            <a:r>
              <a:rPr lang="en-US" sz="1050" b="1" dirty="0" u="sng">
                <a:solidFill>
                  <a:srgbClr val="002677"/>
                </a:solidFill>
                <a:uFill>
                  <a:solidFill>
                    <a:srgbClr val="9AA8CC"/>
                  </a:solidFill>
                </a:uFill>
              </a:rPr>
              <a:t>Marmot</a:t>
            </a:r>
            <a:r>
              <a:rPr lang="en-US" sz="1050" dirty="0">
                <a:solidFill>
                  <a:schemeClr val="tx1"/>
                </a:solidFill>
              </a:rPr>
              <a:t> — AI-powered healthcare analytics and research workflows</a:t>
            </a:r>
            <a:endParaRPr lang="en-US" sz="1050" dirty="0"/>
          </a:p>
        </p:txBody>
      </p:sp>
      <p:sp>
        <p:nvSpPr>
          <p:cNvPr id="14" name="Text 12"/>
          <p:cNvSpPr txBox="1"/>
          <p:nvPr/>
        </p:nvSpPr>
        <p:spPr>
          <a:xfrm>
            <a:off x="6094476"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April–May 2026</a:t>
            </a:r>
            <a:endParaRPr lang="en-US" sz="1500" dirty="0"/>
          </a:p>
        </p:txBody>
      </p:sp>
      <p:sp>
        <p:nvSpPr>
          <p:cNvPr id="15" name="Text 13"/>
          <p:cNvSpPr txBox="1"/>
          <p:nvPr/>
        </p:nvSpPr>
        <p:spPr>
          <a:xfrm>
            <a:off x="6094476"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Research-interface launches</a:t>
            </a:r>
            <a:endParaRPr lang="en-US" sz="1000" dirty="0"/>
          </a:p>
        </p:txBody>
      </p:sp>
      <p:sp>
        <p:nvSpPr>
          <p:cNvPr id="16" name="milestone"/>
          <p:cNvSpPr/>
          <p:nvPr/>
        </p:nvSpPr>
        <p:spPr>
          <a:xfrm>
            <a:off x="6094476" y="2368296"/>
            <a:ext cx="164592" cy="164592"/>
          </a:xfrm>
          <a:prstGeom prst="ellipse">
            <a:avLst/>
          </a:prstGeom>
          <a:solidFill>
            <a:schemeClr val="accent1"/>
          </a:solidFill>
          <a:ln w="19050">
            <a:solidFill>
              <a:schemeClr val="bg2"/>
            </a:solidFill>
            <a:prstDash val="solid"/>
          </a:ln>
        </p:spPr>
        <p:txBody>
          <a:bodyPr/>
          <a:p/>
        </p:txBody>
      </p:sp>
      <p:sp>
        <p:nvSpPr>
          <p:cNvPr id="17" name="Text 15"/>
          <p:cNvSpPr txBox="1"/>
          <p:nvPr/>
        </p:nvSpPr>
        <p:spPr>
          <a:xfrm>
            <a:off x="6094476"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Truveta’s </a:t>
            </a:r>
            <a:r>
              <a:rPr lang="en-US" sz="1050" b="1" dirty="0" u="sng">
                <a:solidFill>
                  <a:srgbClr val="002677"/>
                </a:solidFill>
                <a:uFill>
                  <a:solidFill>
                    <a:srgbClr val="9AA8CC"/>
                  </a:solidFill>
                </a:uFill>
              </a:rPr>
              <a:t>Truveta Intelligence</a:t>
            </a:r>
            <a:r>
              <a:rPr lang="en-US" sz="1050" dirty="0">
                <a:solidFill>
                  <a:schemeClr val="tx1"/>
                </a:solidFill>
              </a:rPr>
              <a:t> — natural-language RWE research questions</a:t>
            </a:r>
            <a:endParaRPr lang="en-US" sz="1050" dirty="0"/>
          </a:p>
          <a:p>
            <a:pPr indent="0" marL="0">
              <a:spcBef>
                <a:spcPts val="800"/>
              </a:spcBef>
              <a:buNone/>
            </a:pPr>
            <a:r>
              <a:rPr lang="en-US" sz="1050" dirty="0" u="sng">
                <a:solidFill>
                  <a:srgbClr val="002677"/>
                </a:solidFill>
                <a:uFill>
                  <a:solidFill>
                    <a:srgbClr val="9AA8CC"/>
                  </a:solidFill>
                </a:uFill>
              </a:rPr>
              <a:t>Flatiron Health’s </a:t>
            </a:r>
            <a:r>
              <a:rPr lang="en-US" sz="1050" b="1" dirty="0" u="sng">
                <a:solidFill>
                  <a:srgbClr val="002677"/>
                </a:solidFill>
                <a:uFill>
                  <a:solidFill>
                    <a:srgbClr val="9AA8CC"/>
                  </a:solidFill>
                </a:uFill>
              </a:rPr>
              <a:t>Telescope</a:t>
            </a:r>
            <a:r>
              <a:rPr lang="en-US" sz="1050" dirty="0">
                <a:solidFill>
                  <a:schemeClr val="tx1"/>
                </a:solidFill>
              </a:rPr>
              <a:t> — conversational oncology cohort exploration</a:t>
            </a:r>
            <a:endParaRPr lang="en-US" sz="1050" dirty="0"/>
          </a:p>
        </p:txBody>
      </p:sp>
      <p:sp>
        <p:nvSpPr>
          <p:cNvPr id="18" name="Text 16"/>
          <p:cNvSpPr txBox="1"/>
          <p:nvPr/>
        </p:nvSpPr>
        <p:spPr>
          <a:xfrm>
            <a:off x="8867394"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September 2026</a:t>
            </a:r>
            <a:endParaRPr lang="en-US" sz="1500" dirty="0"/>
          </a:p>
        </p:txBody>
      </p:sp>
      <p:sp>
        <p:nvSpPr>
          <p:cNvPr id="19" name="Text 17"/>
          <p:cNvSpPr txBox="1"/>
          <p:nvPr/>
        </p:nvSpPr>
        <p:spPr>
          <a:xfrm>
            <a:off x="8867394"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New releases</a:t>
            </a:r>
            <a:endParaRPr lang="en-US" sz="1000" dirty="0"/>
          </a:p>
        </p:txBody>
      </p:sp>
      <p:sp>
        <p:nvSpPr>
          <p:cNvPr id="20" name="milestone"/>
          <p:cNvSpPr/>
          <p:nvPr/>
        </p:nvSpPr>
        <p:spPr>
          <a:xfrm>
            <a:off x="8867394" y="2368296"/>
            <a:ext cx="164592" cy="164592"/>
          </a:xfrm>
          <a:prstGeom prst="ellipse">
            <a:avLst/>
          </a:prstGeom>
          <a:solidFill>
            <a:schemeClr val="accent2"/>
          </a:solidFill>
          <a:ln w="19050">
            <a:solidFill>
              <a:schemeClr val="bg2"/>
            </a:solidFill>
            <a:prstDash val="solid"/>
          </a:ln>
        </p:spPr>
        <p:txBody>
          <a:bodyPr/>
          <a:p/>
        </p:txBody>
      </p:sp>
      <p:sp>
        <p:nvSpPr>
          <p:cNvPr id="21" name="Text 19"/>
          <p:cNvSpPr txBox="1"/>
          <p:nvPr/>
        </p:nvSpPr>
        <p:spPr>
          <a:xfrm>
            <a:off x="8867394" y="2615184"/>
            <a:ext cx="2544318" cy="1371600"/>
          </a:xfrm>
          <a:prstGeom prst="rect">
            <a:avLst/>
          </a:prstGeom>
          <a:noFill/>
          <a:ln/>
        </p:spPr>
        <p:txBody>
          <a:bodyPr wrap="square" lIns="0" tIns="0" rIns="0" bIns="0" rtlCol="0" anchor="t"/>
          <a:lstStyle/>
          <a:p>
            <a:pPr indent="0" marL="0">
              <a:buNone/>
            </a:pPr>
            <a:r>
              <a:rPr lang="en-US" sz="1050" dirty="0" u="sng">
                <a:solidFill>
                  <a:srgbClr val="002677"/>
                </a:solidFill>
                <a:uFill>
                  <a:solidFill>
                    <a:srgbClr val="9AA8CC"/>
                  </a:solidFill>
                </a:uFill>
              </a:rPr>
              <a:t>Verana Health’s </a:t>
            </a:r>
            <a:r>
              <a:rPr lang="en-US" sz="1050" b="1" dirty="0" u="sng">
                <a:solidFill>
                  <a:srgbClr val="002677"/>
                </a:solidFill>
                <a:uFill>
                  <a:solidFill>
                    <a:srgbClr val="9AA8CC"/>
                  </a:solidFill>
                </a:uFill>
              </a:rPr>
              <a:t>Agent Claire</a:t>
            </a:r>
            <a:r>
              <a:rPr lang="en-US" sz="1050" dirty="0">
                <a:solidFill>
                  <a:schemeClr val="tx1"/>
                </a:solidFill>
              </a:rPr>
              <a:t> — conversational specialty-data research</a:t>
            </a:r>
            <a:endParaRPr lang="en-US" sz="1050" dirty="0"/>
          </a:p>
          <a:p>
            <a:pPr indent="0" marL="0">
              <a:spcBef>
                <a:spcPts val="800"/>
              </a:spcBef>
              <a:buNone/>
            </a:pPr>
            <a:r>
              <a:rPr lang="en-US" sz="1050" dirty="0" u="sng">
                <a:solidFill>
                  <a:srgbClr val="002677"/>
                </a:solidFill>
                <a:uFill>
                  <a:solidFill>
                    <a:srgbClr val="9AA8CC"/>
                  </a:solidFill>
                </a:uFill>
              </a:rPr>
              <a:t>Norstella’s </a:t>
            </a:r>
            <a:r>
              <a:rPr lang="en-US" sz="1050" b="1" dirty="0" u="sng">
                <a:solidFill>
                  <a:srgbClr val="002677"/>
                </a:solidFill>
                <a:uFill>
                  <a:solidFill>
                    <a:srgbClr val="9AA8CC"/>
                  </a:solidFill>
                </a:uFill>
              </a:rPr>
              <a:t>Atlas Patient Analytics</a:t>
            </a:r>
            <a:r>
              <a:rPr lang="en-US" sz="1050" dirty="0">
                <a:solidFill>
                  <a:schemeClr val="tx1"/>
                </a:solidFill>
              </a:rPr>
              <a:t> — agentic, managed cohort analytics</a:t>
            </a:r>
            <a:endParaRPr lang="en-US" sz="1050" dirty="0"/>
          </a:p>
        </p:txBody>
      </p:sp>
      <p:sp>
        <p:nvSpPr>
          <p:cNvPr id="22" name="the broader competitive question card"/>
          <p:cNvSpPr/>
          <p:nvPr/>
        </p:nvSpPr>
        <p:spPr>
          <a:xfrm>
            <a:off x="548640" y="4114800"/>
            <a:ext cx="7589520"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3" name="label"/>
          <p:cNvSpPr txBox="1"/>
          <p:nvPr/>
        </p:nvSpPr>
        <p:spPr>
          <a:xfrm>
            <a:off x="749808" y="4389120"/>
            <a:ext cx="7187184"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BROADER COMPETITIVE QUESTIONS</a:t>
            </a:r>
            <a:endParaRPr lang="en-US" sz="1300" dirty="0"/>
          </a:p>
        </p:txBody>
      </p:sp>
      <p:sp>
        <p:nvSpPr>
          <p:cNvPr id="24" name="Text 22"/>
          <p:cNvSpPr txBox="1"/>
          <p:nvPr/>
        </p:nvSpPr>
        <p:spPr>
          <a:xfrm>
            <a:off x="749808" y="4754880"/>
            <a:ext cx="7187184" cy="1143000"/>
          </a:xfrm>
          <a:prstGeom prst="rect">
            <a:avLst/>
          </a:prstGeom>
          <a:noFill/>
          <a:ln/>
        </p:spPr>
        <p:txBody>
          <a:bodyPr wrap="square" lIns="0" tIns="0" rIns="0" bIns="0" rtlCol="0" anchor="t"/>
          <a:lstStyle/>
          <a:p>
            <a:pPr indent="0" marL="0">
              <a:buNone/>
            </a:pPr>
            <a:r>
              <a:rPr lang="en-US" sz="1200" b="1" dirty="0">
                <a:solidFill>
                  <a:schemeClr val="accent1"/>
                </a:solidFill>
              </a:rPr>
              <a:t>1. How widely are life-sciences vendors marketing conversational AI, and in which domains?</a:t>
            </a:r>
            <a:endParaRPr lang="en-US" sz="1200" dirty="0"/>
          </a:p>
          <a:p>
            <a:pPr indent="0" marL="0">
              <a:spcBef>
                <a:spcPts val="700"/>
              </a:spcBef>
              <a:buNone/>
            </a:pPr>
            <a:r>
              <a:rPr lang="en-US" sz="1200" b="1" dirty="0">
                <a:solidFill>
                  <a:schemeClr val="accent1"/>
                </a:solidFill>
              </a:rPr>
              <a:t>2. Which customer tasks does it target, and what do vendors promise?</a:t>
            </a:r>
            <a:endParaRPr lang="en-US" sz="1200" dirty="0"/>
          </a:p>
          <a:p>
            <a:pPr indent="0" marL="0">
              <a:spcBef>
                <a:spcPts val="700"/>
              </a:spcBef>
              <a:buNone/>
            </a:pPr>
            <a:r>
              <a:rPr lang="en-US" sz="1200" b="1" dirty="0">
                <a:solidFill>
                  <a:schemeClr val="accent1"/>
                </a:solidFill>
              </a:rPr>
              <a:t>3. Who supplies the underlying AI, and could those suppliers become competitors?</a:t>
            </a:r>
            <a:endParaRPr lang="en-US" sz="1200" dirty="0"/>
          </a:p>
          <a:p>
            <a:pPr indent="0" marL="0">
              <a:spcBef>
                <a:spcPts val="700"/>
              </a:spcBef>
              <a:buNone/>
            </a:pPr>
            <a:r>
              <a:rPr lang="en-US" sz="1200" b="1" dirty="0">
                <a:solidFill>
                  <a:schemeClr val="accent1"/>
                </a:solidFill>
              </a:rPr>
              <a:t>4. What does that positioning suggest for an Optum LS offering?</a:t>
            </a:r>
            <a:endParaRPr lang="en-US" sz="1200" dirty="0"/>
          </a:p>
        </p:txBody>
      </p:sp>
      <p:sp>
        <p:nvSpPr>
          <p:cNvPr id="25" name="our research response card"/>
          <p:cNvSpPr/>
          <p:nvPr/>
        </p:nvSpPr>
        <p:spPr>
          <a:xfrm>
            <a:off x="8321040" y="4114800"/>
            <a:ext cx="3319272"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6" name="label"/>
          <p:cNvSpPr txBox="1"/>
          <p:nvPr/>
        </p:nvSpPr>
        <p:spPr>
          <a:xfrm>
            <a:off x="8522208" y="4389120"/>
            <a:ext cx="29169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RESEARCH APPROACH</a:t>
            </a:r>
            <a:endParaRPr lang="en-US" sz="1300" dirty="0"/>
          </a:p>
        </p:txBody>
      </p:sp>
      <p:sp>
        <p:nvSpPr>
          <p:cNvPr id="27" name="Text 25"/>
          <p:cNvSpPr txBox="1"/>
          <p:nvPr/>
        </p:nvSpPr>
        <p:spPr>
          <a:xfrm>
            <a:off x="8522208" y="4754880"/>
            <a:ext cx="2916936" cy="1143000"/>
          </a:xfrm>
          <a:prstGeom prst="rect">
            <a:avLst/>
          </a:prstGeom>
          <a:noFill/>
          <a:ln/>
        </p:spPr>
        <p:txBody>
          <a:bodyPr wrap="square" lIns="0" tIns="0" rIns="0" bIns="0" rtlCol="0" anchor="t"/>
          <a:lstStyle/>
          <a:p>
            <a:pPr indent="0" marL="0">
              <a:buNone/>
            </a:pPr>
            <a:r>
              <a:rPr lang="en-US" sz="1150" b="1" dirty="0">
                <a:solidFill>
                  <a:schemeClr val="tx1"/>
                </a:solidFill>
              </a:rPr>
              <a:t>Vendors’ public product claims show what competitors choose to promise customers. That makes them direct evidence of competitive positioning—though not of performance, adoption or revenue.</a:t>
            </a:r>
            <a:endParaRPr lang="en-US" sz="1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
        <p:nvSpPr>
          <p:cNvPr id="28"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8" name="Invisible source link 3: https://investors.tempus.com/node/6451/pdf">
            <a:hlinkClick r:id="rId3"/>
          </p:cNvPr>
          <p:cNvSpPr/>
          <p:nvPr/>
        </p:nvSpPr>
        <p:spPr>
          <a:xfrm>
            <a:off x="548284" y="2627342"/>
            <a:ext cx="1804859"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3: https://www.komodohealth.com/press/komodo-health-unveils-new-generative-ai-offerings-to-enable-real-time-insights-across-330-million-patient-journeys/">
            <a:hlinkClick r:id="rId4"/>
          </p:cNvPr>
          <p:cNvSpPr/>
          <p:nvPr/>
        </p:nvSpPr>
        <p:spPr>
          <a:xfrm>
            <a:off x="548284" y="3208380"/>
            <a:ext cx="143985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3: https://www.komodohealth.com/press/komodo-health-introduces-marmot-the-ai-built-to-accelerate-healthcare-innovation/">
            <a:hlinkClick r:id="rId5"/>
          </p:cNvPr>
          <p:cNvSpPr/>
          <p:nvPr/>
        </p:nvSpPr>
        <p:spPr>
          <a:xfrm>
            <a:off x="3321354" y="2627342"/>
            <a:ext cx="1522182"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3: https://www.truveta.com/blog/announcement/truveta-unveils-truveta-intelligence/">
            <a:hlinkClick r:id="rId6"/>
          </p:cNvPr>
          <p:cNvSpPr/>
          <p:nvPr/>
        </p:nvSpPr>
        <p:spPr>
          <a:xfrm>
            <a:off x="6094082" y="2627342"/>
            <a:ext cx="180956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3: https://resources.flatiron.com/press/flatiron-health-launches-flatiron-telescope-a-new-ai-platform-delivering-oncology-insights-in-minutes">
            <a:hlinkClick r:id="rId7"/>
          </p:cNvPr>
          <p:cNvSpPr/>
          <p:nvPr/>
        </p:nvSpPr>
        <p:spPr>
          <a:xfrm>
            <a:off x="6094082" y="3048537"/>
            <a:ext cx="162911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3" name="Invisible source link 3: https://veranahealth.com/verana-health-introduces-new-ai-agents-to-expedite-and-streamline-rd-tasks/">
            <a:hlinkClick r:id="rId8"/>
          </p:cNvPr>
          <p:cNvSpPr/>
          <p:nvPr/>
        </p:nvSpPr>
        <p:spPr>
          <a:xfrm>
            <a:off x="8867165" y="2627342"/>
            <a:ext cx="174911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4" name="Invisible source link 3: https://www.norstella.com/press-releases/launches-real-world-data-agentic-platform-first-agent-replace-manual-cohort-building/">
            <a:hlinkClick r:id="rId9"/>
          </p:cNvPr>
          <p:cNvSpPr/>
          <p:nvPr/>
        </p:nvSpPr>
        <p:spPr>
          <a:xfrm>
            <a:off x="8867165" y="3048537"/>
            <a:ext cx="207459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LANDSCAPE</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most visible in RWE, where competitors market</a:t>
            </a:r>
            <a:br>
              <a:rPr lang="en-US" sz="2200" b="1" dirty="0">
                <a:solidFill>
                  <a:schemeClr val="accent1"/>
                </a:solidFill>
              </a:rPr>
            </a:br>
            <a:r>
              <a:rPr lang="en-US" sz="2200" b="1" dirty="0">
                <a:solidFill>
                  <a:schemeClr val="accent1"/>
                </a:solidFill>
              </a:rPr>
              <a:t>new access points to tasks Optum LS already serves</a:t>
            </a:r>
            <a:endParaRPr lang="en-US" sz="2200" dirty="0"/>
          </a:p>
        </p:txBody>
      </p:sp>
      <p:sp>
        <p:nvSpPr>
          <p:cNvPr id="4" name="kpi tile 45"/>
          <p:cNvSpPr/>
          <p:nvPr/>
        </p:nvSpPr>
        <p:spPr>
          <a:xfrm>
            <a:off x="548640" y="4846320"/>
            <a:ext cx="3937217" cy="1207008"/>
          </a:xfrm>
          <a:prstGeom prst="rect">
            <a:avLst/>
          </a:prstGeom>
          <a:solidFill>
            <a:schemeClr val="accent5"/>
          </a:solidFill>
          <a:ln/>
        </p:spPr>
        <p:txBody>
          <a:bodyPr/>
          <a:p/>
        </p:txBody>
      </p:sp>
      <p:sp>
        <p:nvSpPr>
          <p:cNvPr id="53" name="scope note"/>
          <p:cNvSpPr txBox="1"/>
          <p:nvPr/>
        </p:nvSpPr>
        <p:spPr>
          <a:xfrm>
            <a:off x="548640" y="4526280"/>
            <a:ext cx="8778240" cy="182880"/>
          </a:xfrm>
          <a:prstGeom prst="rect">
            <a:avLst/>
          </a:prstGeom>
          <a:noFill/>
          <a:ln/>
        </p:spPr>
        <p:txBody>
          <a:bodyPr wrap="square" lIns="0" tIns="0" rIns="0" bIns="0" rtlCol="0" anchor="t"/>
          <a:lstStyle/>
          <a:p>
            <a:pPr indent="0" marL="0">
              <a:buNone/>
            </a:pPr>
            <a:r>
              <a:rPr lang="en-US" sz="800" b="1" dirty="0">
                <a:solidFill>
                  <a:schemeClr val="accent4"/>
                </a:solidFill>
              </a:rPr>
              <a:t>Scope note: Offerings are organized by their primary domain; supporting data and analytics capabilities may serve more than one domain.</a:t>
            </a:r>
            <a:endParaRPr lang="en-US" sz="800" dirty="0"/>
          </a:p>
        </p:txBody>
      </p:sp>
      <p:sp>
        <p:nvSpPr>
          <p:cNvPr id="55" name="key takeaway card"/>
          <p:cNvSpPr/>
          <p:nvPr/>
        </p:nvSpPr>
        <p:spPr>
          <a:xfrm>
            <a:off x="4668737" y="4846320"/>
            <a:ext cx="6971574" cy="1207008"/>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4869905" y="4974336"/>
            <a:ext cx="3657600" cy="292608"/>
          </a:xfrm>
          <a:prstGeom prst="rect">
            <a:avLst/>
          </a:prstGeom>
          <a:noFill/>
          <a:ln/>
        </p:spPr>
        <p:txBody>
          <a:bodyPr wrap="square" lIns="0" tIns="0" rIns="0" bIns="0" rtlCol="0" anchor="t"/>
          <a:lstStyle/>
          <a:p>
            <a:pPr algn="l" indent="0" marL="0">
              <a:buNone/>
            </a:pPr>
            <a:r>
              <a:rPr lang="en-US" sz="1500" b="1" spc="150" kern="0" dirty="0">
                <a:solidFill>
                  <a:schemeClr val="accent2"/>
                </a:solidFill>
              </a:rPr>
              <a:t>KEY TAKEAWAY</a:t>
            </a:r>
            <a:endParaRPr lang="en-US" sz="1300" dirty="0"/>
          </a:p>
        </p:txBody>
      </p:sp>
      <p:sp>
        <p:nvSpPr>
          <p:cNvPr id="57" name="Text 54"/>
          <p:cNvSpPr txBox="1"/>
          <p:nvPr/>
        </p:nvSpPr>
        <p:spPr>
          <a:xfrm>
            <a:off x="4869905" y="5349240"/>
            <a:ext cx="6569238" cy="640080"/>
          </a:xfrm>
          <a:prstGeom prst="rect">
            <a:avLst/>
          </a:prstGeom>
          <a:noFill/>
          <a:ln/>
        </p:spPr>
        <p:txBody>
          <a:bodyPr wrap="square" lIns="0" tIns="0" rIns="0" bIns="0" rtlCol="0" anchor="t"/>
          <a:lstStyle/>
          <a:p>
            <a:pPr indent="0" marL="0" algn="l">
              <a:buNone/>
            </a:pPr>
            <a:r>
              <a:rPr lang="en-US" sz="1000" b="1" dirty="0">
                <a:solidFill>
                  <a:schemeClr val="tx1"/>
                </a:solidFill>
              </a:rPr>
              <a:t>Every domain now has competitors marketing conversational AI, from 9 in RWE to 2 in market access.</a:t>
            </a:r>
            <a:endParaRPr lang="en-US" sz="1050" dirty="0"/>
          </a:p>
          <a:p>
            <a:pPr indent="0" marL="0" algn="l">
              <a:spcBef>
                <a:spcPts val="800"/>
              </a:spcBef>
              <a:buNone/>
            </a:pPr>
            <a:r>
              <a:rPr lang="en-US" sz="1000" b="1" dirty="0">
                <a:solidFill>
                  <a:schemeClr val="tx1"/>
                </a:solidFill>
              </a:rPr>
              <a:t>Norstella alone markets Ella-branded assistants in four of the five.</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graphicFrame>
        <p:nvGraphicFramePr>
          <p:cNvPr id="5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1" cy="2971799"/>
        </p:xfrm>
        <a:graphic>
          <a:graphicData uri="http://schemas.openxmlformats.org/drawingml/2006/table">
            <a:tbl>
              <a:tblPr/>
              <a:tblGrid>
                <a:gridCol w="1619997"/>
                <a:gridCol w="3793465"/>
                <a:gridCol w="2835756"/>
                <a:gridCol w="2842453"/>
              </a:tblGrid>
              <a:tr h="329184">
                <a:tc>
                  <a:txBody>
                    <a:bodyPr/>
                    <a:lstStyle/>
                    <a:p>
                      <a:pPr algn="ctr" indent="0" marL="0">
                        <a:buNone/>
                      </a:pPr>
                      <a:r>
                        <a:rPr lang="en-US" sz="900" b="1" spc="100" kern="0" dirty="0">
                          <a:solidFill>
                            <a:schemeClr val="bg1"/>
                          </a:solidFill>
                        </a:rPr>
                        <a:t>DOMAIN</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WHO’S COMPETING</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WHAT THEY PITCH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28523">
                <a:tc>
                  <a:txBody>
                    <a:bodyPr/>
                    <a:lstStyle/>
                    <a:p>
                      <a:pPr algn="ctr" indent="0" marL="0">
                        <a:buNone/>
                      </a:pPr>
                      <a:r>
                        <a:rPr lang="en-US" sz="1050" b="1" dirty="0">
                          <a:solidFill>
                            <a:schemeClr val="accent1"/>
                          </a:solidFill>
                        </a:rPr>
                        <a:t>RWE</a:t>
                      </a:r>
                      <a:endParaRPr lang="en-US" sz="1050" dirty="0"/>
                    </a:p>
                    <a:p>
                      <a:pPr algn="ctr" indent="0" marL="0">
                        <a:buNone/>
                      </a:pPr>
                      <a:r>
                        <a:rPr lang="en-US" sz="900" dirty="0">
                          <a:solidFill>
                            <a:schemeClr val="accent1"/>
                          </a:solidFill>
                        </a:rPr>
                        <a:t>(most active)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Komodo, Truveta, Flatiron, Tempus, HealthVerity, Norstella, Truven, ConcertAI, Verana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Pre-sale data previews; self-service analysis; packaged studies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Analytics on Demand; epidemiology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28523">
                <a:tc>
                  <a:txBody>
                    <a:bodyPr/>
                    <a:lstStyle/>
                    <a:p>
                      <a:pPr algn="ctr" indent="0" marL="0">
                        <a:buNone/>
                      </a:pPr>
                      <a:r>
                        <a:rPr lang="en-US" sz="1050" b="1" dirty="0">
                          <a:solidFill>
                            <a:schemeClr val="accent1"/>
                          </a:solidFill>
                        </a:rPr>
                        <a:t>Commercial</a:t>
                      </a:r>
                      <a:br>
                        <a:rPr lang="en-US" sz="1050" b="1" dirty="0">
                          <a:solidFill>
                            <a:schemeClr val="accent1"/>
                          </a:solidFill>
                        </a:rPr>
                      </a:br>
                      <a:r>
                        <a:rPr lang="en-US" sz="1050" b="1" dirty="0">
                          <a:solidFill>
                            <a:schemeClr val="accent1"/>
                          </a:solidFill>
                        </a:rPr>
                        <a:t>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IQVIA, ZS, Trinity, Norstella (Evaluate)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AI inside the rep’s CRM; simulated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Market Clarity: portfolio and patient/prescriber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28523">
                <a:tc>
                  <a:txBody>
                    <a:bodyPr/>
                    <a:lstStyle/>
                    <a:p>
                      <a:pPr algn="ctr" indent="0" marL="0">
                        <a:buNone/>
                      </a:pPr>
                      <a:r>
                        <a:rPr lang="en-US" sz="1050" b="1" dirty="0">
                          <a:solidFill>
                            <a:schemeClr val="accent1"/>
                          </a:solidFill>
                        </a:rPr>
                        <a:t>Medical / Regulatory</a:t>
                      </a:r>
                      <a:br>
                        <a:rPr lang="en-US" sz="1050" b="1" dirty="0">
                          <a:solidFill>
                            <a:schemeClr val="accent1"/>
                          </a:solidFill>
                        </a:rPr>
                      </a:br>
                      <a:r>
                        <a:rPr lang="en-US" sz="1050" b="1" dirty="0">
                          <a:solidFill>
                            <a:schemeClr val="accent1"/>
                          </a:solidFill>
                        </a:rPr>
                        <a:t>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IQVIA, ZS, Veeva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Narrowly scoped tools; published limits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Postapproval safety studies; Market Clarity medical affairs insights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28523">
                <a:tc>
                  <a:txBody>
                    <a:bodyPr/>
                    <a:lstStyle/>
                    <a:p>
                      <a:pPr algn="ctr" indent="0" marL="0">
                        <a:buNone/>
                      </a:pPr>
                      <a:r>
                        <a:rPr lang="en-US" sz="1050" b="1" dirty="0">
                          <a:solidFill>
                            <a:schemeClr val="accent1"/>
                          </a:solidFill>
                        </a:rPr>
                        <a:t>Clinical</a:t>
                      </a:r>
                      <a:br>
                        <a:rPr lang="en-US" sz="1050" b="1" dirty="0">
                          <a:solidFill>
                            <a:schemeClr val="accent1"/>
                          </a:solidFill>
                        </a:rPr>
                      </a:br>
                      <a:r>
                        <a:rPr lang="en-US" sz="1050" b="1" dirty="0">
                          <a:solidFill>
                            <a:schemeClr val="accent1"/>
                          </a:solidFill>
                        </a:rPr>
                        <a:t>Trials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TriNetX, Norstella (Citeline), Veeva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Site selection; data-bounded EDC chat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Prospector; Digital Research Network; True Source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28523">
                <a:tc>
                  <a:txBody>
                    <a:bodyPr/>
                    <a:lstStyle/>
                    <a:p>
                      <a:pPr algn="ctr" indent="0" marL="0">
                        <a:buNone/>
                      </a:pPr>
                      <a:r>
                        <a:rPr lang="en-US" sz="1050" b="1" dirty="0">
                          <a:solidFill>
                            <a:schemeClr val="accent1"/>
                          </a:solidFill>
                        </a:rPr>
                        <a:t>Market</a:t>
                      </a:r>
                      <a:br>
                        <a:rPr lang="en-US" sz="1050" b="1" dirty="0">
                          <a:solidFill>
                            <a:schemeClr val="accent1"/>
                          </a:solidFill>
                        </a:rPr>
                      </a:br>
                      <a:r>
                        <a:rPr lang="en-US" sz="1050" b="1" dirty="0">
                          <a:solidFill>
                            <a:schemeClr val="accent1"/>
                          </a:solidFill>
                        </a:rPr>
                        <a:t>Access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200" dirty="0">
                          <a:solidFill>
                            <a:srgbClr val="4B4D4F"/>
                          </a:solidFill>
                        </a:rPr>
                        <a:t>EVERSANA, Norstella (MMIT)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Moving past chat answers; queryable payer feedback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200" dirty="0">
                          <a:solidFill>
                            <a:srgbClr val="4B4D4F"/>
                          </a:solidFill>
                        </a:rPr>
                        <a:t>HEOR/value evidence; Evidence Engine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5" name="Text 3"/>
          <p:cNvSpPr txBox="1"/>
          <p:nvPr/>
        </p:nvSpPr>
        <p:spPr>
          <a:xfrm>
            <a:off x="685800" y="4937759"/>
            <a:ext cx="1593704" cy="475488"/>
          </a:xfrm>
          <a:prstGeom prst="rect">
            <a:avLst/>
          </a:prstGeom>
          <a:noFill/>
          <a:ln/>
        </p:spPr>
        <p:txBody>
          <a:bodyPr wrap="square" lIns="0" tIns="0" rIns="0" bIns="0" rtlCol="0" anchor="t"/>
          <a:lstStyle/>
          <a:p>
            <a:pPr algn="ctr" indent="0" marL="0">
              <a:buNone/>
            </a:pPr>
            <a:r>
              <a:rPr lang="en-US" sz="2600" b="1" dirty="0">
                <a:solidFill>
                  <a:schemeClr val="accent1"/>
                </a:solidFill>
              </a:rPr>
              <a:t>43</a:t>
            </a:r>
            <a:endParaRPr lang="en-US" sz="2600" dirty="0"/>
          </a:p>
        </p:txBody>
      </p:sp>
      <p:sp>
        <p:nvSpPr>
          <p:cNvPr id="6" name="Text 4"/>
          <p:cNvSpPr txBox="1"/>
          <p:nvPr/>
        </p:nvSpPr>
        <p:spPr>
          <a:xfrm>
            <a:off x="685800" y="5449824"/>
            <a:ext cx="1593704" cy="457200"/>
          </a:xfrm>
          <a:prstGeom prst="rect">
            <a:avLst/>
          </a:prstGeom>
          <a:noFill/>
          <a:ln/>
        </p:spPr>
        <p:txBody>
          <a:bodyPr wrap="square" lIns="0" tIns="0" rIns="0" bIns="0" rtlCol="0" anchor="t"/>
          <a:lstStyle/>
          <a:p>
            <a:pPr indent="0" marL="0" algn="ctr">
              <a:buNone/>
            </a:pPr>
            <a:r>
              <a:rPr lang="en-US" sz="1100" b="1" dirty="0">
                <a:solidFill>
                  <a:schemeClr val="accent1"/>
                </a:solidFill>
              </a:rPr>
              <a:t>U.S. competitors</a:t>
            </a:r>
            <a:br>
              <a:rPr lang="en-US" sz="1100" b="1" dirty="0">
                <a:solidFill>
                  <a:schemeClr val="accent1"/>
                </a:solidFill>
              </a:rPr>
            </a:br>
            <a:r>
              <a:rPr lang="en-US" sz="1100" b="1" dirty="0">
                <a:solidFill>
                  <a:schemeClr val="accent1"/>
                </a:solidFill>
              </a:rPr>
              <a:t>screened</a:t>
            </a:r>
            <a:endParaRPr lang="en-US" sz="1100" dirty="0"/>
          </a:p>
        </p:txBody>
      </p:sp>
      <p:sp>
        <p:nvSpPr>
          <p:cNvPr id="9" name="Text 7"/>
          <p:cNvSpPr txBox="1"/>
          <p:nvPr/>
        </p:nvSpPr>
        <p:spPr>
          <a:xfrm>
            <a:off x="2754992" y="4937759"/>
            <a:ext cx="1593704" cy="475488"/>
          </a:xfrm>
          <a:prstGeom prst="rect">
            <a:avLst/>
          </a:prstGeom>
          <a:noFill/>
          <a:ln/>
        </p:spPr>
        <p:txBody>
          <a:bodyPr wrap="square" lIns="0" tIns="0" rIns="0" bIns="0" rtlCol="0" anchor="t"/>
          <a:lstStyle/>
          <a:p>
            <a:pPr algn="ctr" indent="0" marL="0">
              <a:buNone/>
            </a:pPr>
            <a:r>
              <a:rPr lang="en-US" sz="2600" b="1" dirty="0">
                <a:solidFill>
                  <a:schemeClr val="accent2"/>
                </a:solidFill>
              </a:rPr>
              <a:t>15</a:t>
            </a:r>
            <a:endParaRPr lang="en-US" sz="2600" dirty="0"/>
          </a:p>
        </p:txBody>
      </p:sp>
      <p:sp>
        <p:nvSpPr>
          <p:cNvPr id="10" name="Text 8"/>
          <p:cNvSpPr txBox="1"/>
          <p:nvPr/>
        </p:nvSpPr>
        <p:spPr>
          <a:xfrm>
            <a:off x="2754992" y="5449824"/>
            <a:ext cx="1593704" cy="457200"/>
          </a:xfrm>
          <a:prstGeom prst="rect">
            <a:avLst/>
          </a:prstGeom>
          <a:noFill/>
          <a:ln/>
        </p:spPr>
        <p:txBody>
          <a:bodyPr wrap="square" lIns="0" tIns="0" rIns="0" bIns="0" rtlCol="0" anchor="t"/>
          <a:lstStyle/>
          <a:p>
            <a:pPr indent="0" marL="0" algn="ctr">
              <a:buNone/>
            </a:pPr>
            <a:r>
              <a:rPr lang="en-US" sz="1100" b="1" dirty="0">
                <a:solidFill>
                  <a:schemeClr val="accent1"/>
                </a:solidFill>
              </a:rPr>
              <a:t>competitors marketing</a:t>
            </a:r>
            <a:br>
              <a:rPr lang="en-US" sz="1100" b="1" dirty="0">
                <a:solidFill>
                  <a:schemeClr val="accent1"/>
                </a:solidFill>
              </a:rPr>
            </a:br>
            <a:r>
              <a:rPr lang="en-US" sz="1100" b="1" dirty="0">
                <a:solidFill>
                  <a:schemeClr val="accent1"/>
                </a:solidFill>
              </a:rPr>
              <a:t>conversational AI</a:t>
            </a:r>
            <a:endParaRPr lang="en-US" sz="1100" dirty="0"/>
          </a:p>
        </p:txBody>
      </p:sp>
      <p:sp>
        <p:nvSpPr>
          <p:cNvPr id="7" name="flow arrow"/>
          <p:cNvSpPr/>
          <p:nvPr/>
        </p:nvSpPr>
        <p:spPr>
          <a:xfrm>
            <a:off x="2325224" y="5065776"/>
            <a:ext cx="384048" cy="219456"/>
          </a:xfrm>
          <a:prstGeom prst="rightArrow">
            <a:avLst/>
          </a:prstGeom>
          <a:solidFill>
            <a:schemeClr val="accent4"/>
          </a:solidFill>
          <a:ln/>
        </p:spPr>
        <p:txBody>
          <a:body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RWE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RWE, conversational AI now spans the workflow, from pre-sale data</a:t>
            </a:r>
            <a:br>
              <a:rPr lang="en-US" sz="2200" b="1" dirty="0">
                <a:solidFill>
                  <a:schemeClr val="accent1"/>
                </a:solidFill>
              </a:rPr>
            </a:br>
            <a:r>
              <a:rPr lang="en-US" sz="2200" b="1" dirty="0">
                <a:solidFill>
                  <a:schemeClr val="accent1"/>
                </a:solidFill>
              </a:rPr>
              <a:t>previews to analyses traditionally handled by specialists</a:t>
            </a:r>
            <a:endParaRPr lang="en-US" sz="2200" dirty="0"/>
          </a:p>
        </p:txBody>
      </p:sp>
      <p:graphicFrame>
        <p:nvGraphicFramePr>
          <p:cNvPr id="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008375"/>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64747">
                <a:tc>
                  <a:txBody>
                    <a:bodyPr/>
                    <a:lstStyle/>
                    <a:p>
                      <a:pPr algn="ctr" indent="0" marL="0">
                        <a:buNone/>
                      </a:pPr>
                      <a:r>
                        <a:rPr lang="en-US" sz="1050" b="1" dirty="0">
                          <a:solidFill>
                            <a:schemeClr val="accent1"/>
                          </a:solidFill>
                        </a:rPr>
                        <a:t>Identify and assess</a:t>
                      </a:r>
                      <a:br/>
                      <a:r>
                        <a:rPr lang="en-US" sz="1050" b="1" dirty="0">
                          <a:solidFill>
                            <a:schemeClr val="accent1"/>
                          </a:solidFill>
                        </a:rPr>
                        <a:t>suitable data</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Truven’s </a:t>
                      </a:r>
                      <a:r>
                        <a:rPr lang="en-US" sz="950" b="1" dirty="0" u="sng">
                          <a:solidFill>
                            <a:srgbClr val="002677"/>
                          </a:solidFill>
                          <a:uFill>
                            <a:solidFill>
                              <a:srgbClr val="9AA8CC"/>
                            </a:solidFill>
                          </a:uFill>
                        </a:rPr>
                        <a:t>MarketScan Snapshot</a:t>
                      </a:r>
                      <a:r>
                        <a:rPr lang="en-US" sz="950" dirty="0">
                          <a:solidFill>
                            <a:schemeClr val="tx1"/>
                          </a:solidFill>
                        </a:rPr>
                        <a:t>: Natural-language assessment of MarketScan data suitability;</a:t>
                      </a:r>
                      <a:endParaRPr lang="en-US" sz="950" dirty="0"/>
                    </a:p>
                    <a:p>
                      <a:pPr indent="0" marL="0">
                        <a:spcBef>
                          <a:spcPts val="400"/>
                        </a:spcBef>
                        <a:buNone/>
                      </a:pPr>
                      <a:r>
                        <a:rPr lang="en-US" sz="950" dirty="0" u="sng">
                          <a:solidFill>
                            <a:srgbClr val="002677"/>
                          </a:solidFill>
                          <a:uFill>
                            <a:solidFill>
                              <a:srgbClr val="9AA8CC"/>
                            </a:solidFill>
                          </a:uFill>
                        </a:rPr>
                        <a:t>Norstella’s </a:t>
                      </a:r>
                      <a:r>
                        <a:rPr lang="en-US" sz="950" b="1" dirty="0" u="sng">
                          <a:solidFill>
                            <a:srgbClr val="002677"/>
                          </a:solidFill>
                          <a:uFill>
                            <a:solidFill>
                              <a:srgbClr val="9AA8CC"/>
                            </a:solidFill>
                          </a:uFill>
                        </a:rPr>
                        <a:t>Ella AI</a:t>
                      </a:r>
                      <a:r>
                        <a:rPr lang="en-US" sz="950" dirty="0">
                          <a:solidFill>
                            <a:schemeClr val="tx1"/>
                          </a:solidFill>
                        </a:rPr>
                        <a:t>: Conversational dataset recommendations (along with cohort construction and documented RWE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 Data</a:t>
                      </a:r>
                      <a:r>
                        <a:rPr lang="en-US" sz="950" dirty="0" b="0">
                          <a:solidFill>
                            <a:schemeClr val="tx1"/>
                          </a:solidFill>
                        </a:rPr>
                        <a:t> (linked claims/EHR)</a:t>
                      </a:r>
                      <a:r>
                        <a:rPr lang="en-US" sz="950" dirty="0" b="0">
                          <a:solidFill>
                            <a:schemeClr val="tx1"/>
                          </a:solidFill>
                        </a:rPr>
                        <a:t>; </a:t>
                      </a:r>
                      <a:r>
                        <a:rPr lang="en-US" sz="950" dirty="0" b="1">
                          <a:solidFill>
                            <a:schemeClr val="tx1"/>
                          </a:solidFill>
                        </a:rPr>
                        <a:t>Enriched Clinical Data</a:t>
                      </a:r>
                      <a:r>
                        <a:rPr lang="en-US" sz="950" dirty="0" b="0">
                          <a:solidFill>
                            <a:schemeClr val="tx1"/>
                          </a:solidFill>
                        </a:rPr>
                        <a:t> (NLP-extracted clinical variables)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49697">
                <a:tc>
                  <a:txBody>
                    <a:bodyPr/>
                    <a:lstStyle/>
                    <a:p>
                      <a:pPr algn="ctr" indent="0" marL="0">
                        <a:buNone/>
                      </a:pPr>
                      <a:r>
                        <a:rPr lang="en-US" sz="1050" b="1" dirty="0">
                          <a:solidFill>
                            <a:schemeClr val="accent1"/>
                          </a:solidFill>
                        </a:rPr>
                        <a:t>Explore patient</a:t>
                      </a:r>
                      <a:br/>
                      <a:r>
                        <a:rPr lang="en-US" sz="1050" b="1" dirty="0">
                          <a:solidFill>
                            <a:schemeClr val="accent1"/>
                          </a:solidFill>
                        </a:rPr>
                        <a:t>populations and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Komodo Health’s </a:t>
                      </a:r>
                      <a:r>
                        <a:rPr lang="en-US" sz="950" b="1" dirty="0" u="sng">
                          <a:solidFill>
                            <a:srgbClr val="002677"/>
                          </a:solidFill>
                          <a:uFill>
                            <a:solidFill>
                              <a:srgbClr val="9AA8CC"/>
                            </a:solidFill>
                          </a:uFill>
                        </a:rPr>
                        <a:t>Marmot</a:t>
                      </a:r>
                      <a:r>
                        <a:rPr lang="en-US" sz="950" dirty="0">
                          <a:solidFill>
                            <a:schemeClr val="tx1"/>
                          </a:solidFill>
                        </a:rPr>
                        <a:t> and </a:t>
                      </a:r>
                      <a:r>
                        <a:rPr lang="en-US" sz="950" b="1" dirty="0" u="sng">
                          <a:solidFill>
                            <a:srgbClr val="002677"/>
                          </a:solidFill>
                          <a:uFill>
                            <a:solidFill>
                              <a:srgbClr val="9AA8CC"/>
                            </a:solidFill>
                          </a:uFill>
                        </a:rPr>
                        <a:t>MapAI</a:t>
                      </a:r>
                      <a:r>
                        <a:rPr lang="en-US" sz="950" dirty="0">
                          <a:solidFill>
                            <a:schemeClr val="tx1"/>
                          </a:solidFill>
                        </a:rPr>
                        <a:t>: conversational healthcare analytics and cohort exploration;</a:t>
                      </a:r>
                      <a:endParaRPr lang="en-US" sz="950" dirty="0"/>
                    </a:p>
                    <a:p>
                      <a:pPr indent="0" marL="0">
                        <a:spcBef>
                          <a:spcPts val="400"/>
                        </a:spcBef>
                        <a:buNone/>
                      </a:pPr>
                      <a:r>
                        <a:rPr lang="en-US" sz="950" dirty="0" u="sng">
                          <a:solidFill>
                            <a:srgbClr val="002677"/>
                          </a:solidFill>
                          <a:uFill>
                            <a:solidFill>
                              <a:srgbClr val="9AA8CC"/>
                            </a:solidFill>
                          </a:uFill>
                        </a:rPr>
                        <a:t>Truveta’s </a:t>
                      </a:r>
                      <a:r>
                        <a:rPr lang="en-US" sz="950" b="1" dirty="0" u="sng">
                          <a:solidFill>
                            <a:srgbClr val="002677"/>
                          </a:solidFill>
                          <a:uFill>
                            <a:solidFill>
                              <a:srgbClr val="9AA8CC"/>
                            </a:solidFill>
                          </a:uFill>
                        </a:rPr>
                        <a:t>Truveta Intelligence</a:t>
                      </a:r>
                      <a:r>
                        <a:rPr lang="en-US" sz="950" dirty="0">
                          <a:solidFill>
                            <a:schemeClr val="tx1"/>
                          </a:solidFill>
                        </a:rPr>
                        <a:t>: natural-language research questions over longitudinal clinical data;</a:t>
                      </a:r>
                      <a:endParaRPr lang="en-US" sz="950" dirty="0"/>
                    </a:p>
                    <a:p>
                      <a:pPr indent="0" marL="0">
                        <a:spcBef>
                          <a:spcPts val="400"/>
                        </a:spcBef>
                        <a:buNone/>
                      </a:pPr>
                      <a:r>
                        <a:rPr lang="en-US" sz="950" dirty="0" u="sng">
                          <a:solidFill>
                            <a:srgbClr val="002677"/>
                          </a:solidFill>
                          <a:uFill>
                            <a:solidFill>
                              <a:srgbClr val="9AA8CC"/>
                            </a:solidFill>
                          </a:uFill>
                        </a:rPr>
                        <a:t>Briya’s </a:t>
                      </a:r>
                      <a:r>
                        <a:rPr lang="en-US" sz="950" b="1" dirty="0" u="sng">
                          <a:solidFill>
                            <a:srgbClr val="002677"/>
                          </a:solidFill>
                          <a:uFill>
                            <a:solidFill>
                              <a:srgbClr val="9AA8CC"/>
                            </a:solidFill>
                          </a:uFill>
                        </a:rPr>
                        <a:t>AIRE Population Agent</a:t>
                      </a:r>
                      <a:r>
                        <a:rPr lang="en-US" sz="950" dirty="0">
                          <a:solidFill>
                            <a:schemeClr val="tx1"/>
                          </a:solidFill>
                        </a:rPr>
                        <a:t> </a:t>
                      </a:r>
                      <a:r>
                        <a:rPr lang="en-US" sz="950" dirty="0">
                          <a:solidFill>
                            <a:schemeClr val="tx1"/>
                          </a:solidFill>
                        </a:rPr>
                        <a:t>(Israel)</a:t>
                      </a:r>
                      <a:r>
                        <a:rPr lang="en-US" sz="950" dirty="0">
                          <a:solidFill>
                            <a:schemeClr val="tx1"/>
                          </a:solidFill>
                        </a:rPr>
                        <a:t>: natural-language cohort eligibility and feasibility assessment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Analytics on Demand</a:t>
                      </a:r>
                      <a:r>
                        <a:rPr lang="en-US" sz="950" dirty="0" b="0">
                          <a:solidFill>
                            <a:schemeClr val="tx1"/>
                          </a:solidFill>
                        </a:rPr>
                        <a:t> (advanced statistical models)</a:t>
                      </a:r>
                      <a:r>
                        <a:rPr lang="en-US" sz="950" dirty="0" b="0">
                          <a:solidFill>
                            <a:schemeClr val="tx1"/>
                          </a:solidFill>
                        </a:rPr>
                        <a:t>; </a:t>
                      </a:r>
                      <a:r>
                        <a:rPr lang="en-US" sz="950" dirty="0" b="1">
                          <a:solidFill>
                            <a:schemeClr val="tx1"/>
                          </a:solidFill>
                        </a:rPr>
                        <a:t>Clinical Notes Lab</a:t>
                      </a:r>
                      <a:r>
                        <a:rPr lang="en-US" sz="950" dirty="0" b="0">
                          <a:solidFill>
                            <a:schemeClr val="tx1"/>
                          </a:solidFill>
                        </a:rPr>
                        <a:t> (NLP/LLMs, custom AI models)</a:t>
                      </a:r>
                      <a:r>
                        <a:rPr lang="en-US" sz="950" dirty="0" b="0">
                          <a:solidFill>
                            <a:schemeClr val="tx1"/>
                          </a:solidFill>
                        </a:rPr>
                        <a:t>; </a:t>
                      </a:r>
                      <a:r>
                        <a:rPr lang="en-US" sz="950" dirty="0" b="1">
                          <a:solidFill>
                            <a:schemeClr val="tx1"/>
                          </a:solidFill>
                        </a:rPr>
                        <a:t>Prospector</a:t>
                      </a:r>
                      <a:r>
                        <a:rPr lang="en-US" sz="950" dirty="0" b="0">
                          <a:solidFill>
                            <a:schemeClr val="tx1"/>
                          </a:solidFill>
                        </a:rPr>
                        <a:t> (no-code cohort building, attrition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64747">
                <a:tc>
                  <a:txBody>
                    <a:bodyPr/>
                    <a:lstStyle/>
                    <a:p>
                      <a:pPr algn="ctr" indent="0" marL="0">
                        <a:buNone/>
                      </a:pPr>
                      <a:r>
                        <a:rPr lang="en-US" sz="1050" b="1" dirty="0">
                          <a:solidFill>
                            <a:schemeClr val="accent1"/>
                          </a:solidFill>
                        </a:rPr>
                        <a:t>Investigate broader</a:t>
                      </a:r>
                      <a:br/>
                      <a:r>
                        <a:rPr lang="en-US" sz="1050" b="1" dirty="0">
                          <a:solidFill>
                            <a:schemeClr val="accent1"/>
                          </a:solidFill>
                        </a:rPr>
                        <a:t>RWE questions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HealthVerity’s </a:t>
                      </a:r>
                      <a:r>
                        <a:rPr lang="en-US" sz="950" b="1" dirty="0" u="sng">
                          <a:solidFill>
                            <a:srgbClr val="002677"/>
                          </a:solidFill>
                          <a:uFill>
                            <a:solidFill>
                              <a:srgbClr val="9AA8CC"/>
                            </a:solidFill>
                          </a:uFill>
                        </a:rPr>
                        <a:t>eXOs</a:t>
                      </a:r>
                      <a:r>
                        <a:rPr lang="en-US" sz="950" dirty="0">
                          <a:solidFill>
                            <a:schemeClr val="tx1"/>
                          </a:solidFill>
                        </a:rPr>
                        <a:t>: Conversational data feasibility, cohort design and auditable RWE analysis;</a:t>
                      </a:r>
                      <a:endParaRPr lang="en-US" sz="950" dirty="0"/>
                    </a:p>
                    <a:p>
                      <a:pPr indent="0" marL="0">
                        <a:spcBef>
                          <a:spcPts val="400"/>
                        </a:spcBef>
                        <a:buNone/>
                      </a:pPr>
                      <a:r>
                        <a:rPr lang="en-US" sz="950" dirty="0" u="sng">
                          <a:solidFill>
                            <a:srgbClr val="002677"/>
                          </a:solidFill>
                          <a:uFill>
                            <a:solidFill>
                              <a:srgbClr val="9AA8CC"/>
                            </a:solidFill>
                          </a:uFill>
                        </a:rPr>
                        <a:t>BC Platforms’ </a:t>
                      </a:r>
                      <a:r>
                        <a:rPr lang="en-US" sz="950" b="1" dirty="0" u="sng">
                          <a:solidFill>
                            <a:srgbClr val="002677"/>
                          </a:solidFill>
                          <a:uFill>
                            <a:solidFill>
                              <a:srgbClr val="9AA8CC"/>
                            </a:solidFill>
                          </a:uFill>
                        </a:rPr>
                        <a:t>BC Catalyst</a:t>
                      </a:r>
                      <a:r>
                        <a:rPr lang="en-US" sz="950" dirty="0">
                          <a:solidFill>
                            <a:schemeClr val="tx1"/>
                          </a:solidFill>
                        </a:rPr>
                        <a:t> </a:t>
                      </a:r>
                      <a:r>
                        <a:rPr lang="en-US" sz="950" dirty="0">
                          <a:solidFill>
                            <a:schemeClr val="tx1"/>
                          </a:solidFill>
                        </a:rPr>
                        <a:t>(Finland)</a:t>
                      </a:r>
                      <a:r>
                        <a:rPr lang="en-US" sz="950" dirty="0">
                          <a:solidFill>
                            <a:schemeClr val="tx1"/>
                          </a:solidFill>
                        </a:rPr>
                        <a:t>: prompt-based cohort building and clinical/genomic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Analytics on Demand</a:t>
                      </a:r>
                      <a:r>
                        <a:rPr lang="en-US" sz="950" dirty="0" b="0">
                          <a:solidFill>
                            <a:schemeClr val="tx1"/>
                          </a:solidFill>
                        </a:rPr>
                        <a:t> (statistical modeling, decision trees)</a:t>
                      </a:r>
                      <a:r>
                        <a:rPr lang="en-US" sz="950" dirty="0" b="0">
                          <a:solidFill>
                            <a:schemeClr val="tx1"/>
                          </a:solidFill>
                        </a:rPr>
                        <a:t>; </a:t>
                      </a:r>
                      <a:r>
                        <a:rPr lang="en-US" sz="950" dirty="0">
                          <a:solidFill>
                            <a:schemeClr val="tx1"/>
                          </a:solidFill>
                        </a:rPr>
                        <a:t>epidemiology research services</a:t>
                      </a:r>
                      <a:r>
                        <a:rPr lang="en-US" sz="950" dirty="0" b="0">
                          <a:solidFill>
                            <a:schemeClr val="tx1"/>
                          </a:solidFill>
                        </a:rPr>
                        <a:t> (advanced study methods, scientific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end-to-end conversational rwe card"/>
          <p:cNvSpPr/>
          <p:nvPr/>
        </p:nvSpPr>
        <p:spPr>
          <a:xfrm>
            <a:off x="548640"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END-TO-END CONVERSATIONAL RWE</a:t>
            </a:r>
            <a:endParaRPr lang="en-US" sz="1300" dirty="0"/>
          </a:p>
        </p:txBody>
      </p:sp>
      <p:sp>
        <p:nvSpPr>
          <p:cNvPr id="17" name="Text 14"/>
          <p:cNvSpPr txBox="1"/>
          <p:nvPr/>
        </p:nvSpPr>
        <p:spPr>
          <a:xfrm>
            <a:off x="749808" y="5202936"/>
            <a:ext cx="5052060" cy="667512"/>
          </a:xfrm>
          <a:prstGeom prst="rect">
            <a:avLst/>
          </a:prstGeom>
          <a:noFill/>
          <a:ln/>
        </p:spPr>
        <p:txBody>
          <a:bodyPr wrap="square" lIns="0" tIns="0" rIns="0" bIns="0" rtlCol="0" anchor="t"/>
          <a:lstStyle/>
          <a:p>
            <a:pPr indent="0" marL="0">
              <a:buNone/>
            </a:pPr>
            <a:r>
              <a:rPr lang="en-US" sz="1050" b="1" dirty="0" u="sng">
                <a:solidFill>
                  <a:srgbClr val="002677"/>
                </a:solidFill>
                <a:uFill>
                  <a:solidFill>
                    <a:srgbClr val="9AA8CC"/>
                  </a:solidFill>
                </a:uFill>
              </a:rPr>
              <a:t>HealthVerity’s eXOs</a:t>
            </a:r>
            <a:r>
              <a:rPr lang="en-US" sz="1050" b="1" dirty="0">
                <a:solidFill>
                  <a:schemeClr val="tx1"/>
                </a:solidFill>
              </a:rPr>
              <a:t> and </a:t>
            </a:r>
            <a:r>
              <a:rPr lang="en-US" sz="1050" b="1" dirty="0" u="sng">
                <a:solidFill>
                  <a:srgbClr val="002677"/>
                </a:solidFill>
                <a:uFill>
                  <a:solidFill>
                    <a:srgbClr val="9AA8CC"/>
                  </a:solidFill>
                </a:uFill>
              </a:rPr>
              <a:t>Norstella’s Ella</a:t>
            </a:r>
            <a:r>
              <a:rPr lang="en-US" sz="1050" b="1" dirty="0">
                <a:solidFill>
                  <a:schemeClr val="tx1"/>
                </a:solidFill>
              </a:rPr>
              <a:t> market conversational AI as a multi-step workflow, not just search. HealthVerity’s eXOs advertises data feasibility, cohort design and RWE analysis, while Norstella’s Ella offers dataset recommendations, cohort construction and analytics.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
        <p:nvSpPr>
          <p:cNvPr id="9903" name="pre-engagement data evaluation card"/>
          <p:cNvSpPr/>
          <p:nvPr/>
        </p:nvSpPr>
        <p:spPr>
          <a:xfrm>
            <a:off x="6185916"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9904" name="label"/>
          <p:cNvSpPr txBox="1"/>
          <p:nvPr/>
        </p:nvSpPr>
        <p:spPr>
          <a:xfrm>
            <a:off x="6387084"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PRE-ENGAGEMENT DATA EVALUATION</a:t>
            </a:r>
            <a:endParaRPr lang="en-US" sz="1300" dirty="0"/>
          </a:p>
        </p:txBody>
      </p:sp>
      <p:sp>
        <p:nvSpPr>
          <p:cNvPr id="9905" name="Text 14"/>
          <p:cNvSpPr txBox="1"/>
          <p:nvPr/>
        </p:nvSpPr>
        <p:spPr>
          <a:xfrm>
            <a:off x="6387084"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Truven also uses its conversational AI as a sales tool, offering qualified prospects free </a:t>
            </a:r>
            <a:r>
              <a:rPr lang="en-US" sz="1050" b="1" dirty="0" u="sng">
                <a:solidFill>
                  <a:srgbClr val="002677"/>
                </a:solidFill>
                <a:uFill>
                  <a:solidFill>
                    <a:srgbClr val="9AA8CC"/>
                  </a:solidFill>
                </a:uFill>
              </a:rPr>
              <a:t>MarketScan Snapshot</a:t>
            </a:r>
            <a:r>
              <a:rPr lang="en-US" sz="1050" b="1" dirty="0">
                <a:solidFill>
                  <a:schemeClr val="tx1"/>
                </a:solidFill>
              </a:rPr>
              <a:t> access to cohort counts and summary statistics before they commit to a full RWE analysis.</a:t>
            </a:r>
            <a:endParaRPr lang="en-US" sz="1050" dirty="0"/>
          </a:p>
        </p:txBody>
      </p:sp>
      <p:sp>
        <p:nvSpPr>
          <p:cNvPr id="990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6: https://www.merative.com/newsroom/truven-launches-marketscan-snapshot-an-ai-powered-tool-to-evaluate-fit-for-purpose-real-world-data-in-minutes">
            <a:hlinkClick r:id="rId3"/>
          </p:cNvPr>
          <p:cNvSpPr/>
          <p:nvPr/>
        </p:nvSpPr>
        <p:spPr>
          <a:xfrm>
            <a:off x="2944075" y="2014500"/>
            <a:ext cx="1778690"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6: https://panalgo.com/ella/">
            <a:hlinkClick r:id="rId15"/>
          </p:cNvPr>
          <p:cNvSpPr/>
          <p:nvPr/>
        </p:nvSpPr>
        <p:spPr>
          <a:xfrm>
            <a:off x="2944075" y="2200975"/>
            <a:ext cx="98920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6: https://www.komodohealth.com/product/marmot/">
            <a:hlinkClick r:id="rId8"/>
          </p:cNvPr>
          <p:cNvSpPr/>
          <p:nvPr/>
        </p:nvSpPr>
        <p:spPr>
          <a:xfrm>
            <a:off x="2944075" y="2896134"/>
            <a:ext cx="138096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6: https://www.komodohealth.com/press/komodo-health-unveils-new-generative-ai-offerings-to-enable-real-time-insights-across-330-million-patient-journeys/">
            <a:hlinkClick r:id="rId9"/>
          </p:cNvPr>
          <p:cNvSpPr/>
          <p:nvPr/>
        </p:nvSpPr>
        <p:spPr>
          <a:xfrm>
            <a:off x="4593234" y="2896134"/>
            <a:ext cx="39449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6: https://www.truveta.com/blog/announcement/truveta-unveils-truveta-intelligence/">
            <a:hlinkClick r:id="rId10"/>
          </p:cNvPr>
          <p:cNvSpPr/>
          <p:nvPr/>
        </p:nvSpPr>
        <p:spPr>
          <a:xfrm>
            <a:off x="2944075" y="3082621"/>
            <a:ext cx="1677890"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6: https://briya.com/aire-population-agent/">
            <a:hlinkClick r:id="rId11"/>
          </p:cNvPr>
          <p:cNvSpPr/>
          <p:nvPr/>
        </p:nvSpPr>
        <p:spPr>
          <a:xfrm>
            <a:off x="2944075" y="3269095"/>
            <a:ext cx="170319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6: https://healthverity.com/news/announcing-healthverity-exos/">
            <a:hlinkClick r:id="rId4"/>
          </p:cNvPr>
          <p:cNvSpPr/>
          <p:nvPr/>
        </p:nvSpPr>
        <p:spPr>
          <a:xfrm>
            <a:off x="2944075" y="3828899"/>
            <a:ext cx="110764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6: https://www.bcplatforms.com/bc-catalyst">
            <a:hlinkClick r:id="rId16"/>
          </p:cNvPr>
          <p:cNvSpPr/>
          <p:nvPr/>
        </p:nvSpPr>
        <p:spPr>
          <a:xfrm>
            <a:off x="2944075" y="4015373"/>
            <a:ext cx="143855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6: https://healthverity.com/exos/">
            <a:hlinkClick r:id="rId18"/>
          </p:cNvPr>
          <p:cNvSpPr/>
          <p:nvPr/>
        </p:nvSpPr>
        <p:spPr>
          <a:xfrm>
            <a:off x="749515" y="5215373"/>
            <a:ext cx="1245930"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6: https://www.norstella.com/press-releases/panalgo-revolutionizes-real-world-data-launch-linqnotes-ella-ai/">
            <a:hlinkClick r:id="rId19"/>
          </p:cNvPr>
          <p:cNvSpPr/>
          <p:nvPr/>
        </p:nvSpPr>
        <p:spPr>
          <a:xfrm>
            <a:off x="2305443" y="5215373"/>
            <a:ext cx="943971"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6: https://www.prnewswire.com/news-releases/truven-launches-marketscan-snapshot-an-ai-powered-tool-to-evaluate-fit-for-purpose-real-world-data-in-minutes-302892187.html">
            <a:hlinkClick r:id="rId20"/>
          </p:cNvPr>
          <p:cNvSpPr/>
          <p:nvPr/>
        </p:nvSpPr>
        <p:spPr>
          <a:xfrm>
            <a:off x="7336078" y="5375216"/>
            <a:ext cx="1382191"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AND EVIDENCE GENERATION</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oncology and specialty data, vendors pitch conversational AI</a:t>
            </a:r>
            <a:br>
              <a:rPr lang="en-US" sz="2200" b="1" dirty="0">
                <a:solidFill>
                  <a:schemeClr val="accent1"/>
                </a:solidFill>
              </a:rPr>
            </a:br>
            <a:r>
              <a:rPr lang="en-US" sz="2200" b="1" dirty="0">
                <a:solidFill>
                  <a:schemeClr val="accent1"/>
                </a:solidFill>
              </a:rPr>
              <a:t>as a substitute for some routine analyst work</a:t>
            </a:r>
            <a:endParaRPr lang="en-US" sz="2200" dirty="0"/>
          </a:p>
        </p:txBody>
      </p:sp>
      <p:graphicFrame>
        <p:nvGraphicFramePr>
          <p:cNvPr id="7"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008375"/>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47830">
                <a:tc>
                  <a:txBody>
                    <a:bodyPr/>
                    <a:lstStyle/>
                    <a:p>
                      <a:pPr algn="ctr" indent="0" marL="0">
                        <a:buNone/>
                      </a:pPr>
                      <a:r>
                        <a:rPr lang="en-US" sz="1050" b="1" dirty="0">
                          <a:solidFill>
                            <a:schemeClr val="accent1"/>
                          </a:solidFill>
                        </a:rPr>
                        <a:t>Explore oncology and</a:t>
                      </a:r>
                      <a:br/>
                      <a:r>
                        <a:rPr lang="en-US" sz="1050" b="1" dirty="0">
                          <a:solidFill>
                            <a:schemeClr val="accent1"/>
                          </a:solidFill>
                        </a:rPr>
                        <a:t>specialty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Flatiron Health’s </a:t>
                      </a:r>
                      <a:r>
                        <a:rPr lang="en-US" sz="950" b="1" dirty="0" u="sng">
                          <a:solidFill>
                            <a:srgbClr val="002677"/>
                          </a:solidFill>
                          <a:uFill>
                            <a:solidFill>
                              <a:srgbClr val="9AA8CC"/>
                            </a:solidFill>
                          </a:uFill>
                        </a:rPr>
                        <a:t>Telescope</a:t>
                      </a:r>
                      <a:r>
                        <a:rPr lang="en-US" sz="950" dirty="0">
                          <a:solidFill>
                            <a:schemeClr val="tx1"/>
                          </a:solidFill>
                        </a:rPr>
                        <a:t>: conversational oncology cohort exploration;</a:t>
                      </a:r>
                      <a:endParaRPr lang="en-US" sz="950" dirty="0"/>
                    </a:p>
                    <a:p>
                      <a:pPr indent="0" marL="0">
                        <a:spcBef>
                          <a:spcPts val="400"/>
                        </a:spcBef>
                        <a:buNone/>
                      </a:pPr>
                      <a:r>
                        <a:rPr lang="en-US" sz="950" dirty="0" u="sng">
                          <a:solidFill>
                            <a:srgbClr val="002677"/>
                          </a:solidFill>
                          <a:uFill>
                            <a:solidFill>
                              <a:srgbClr val="9AA8CC"/>
                            </a:solidFill>
                          </a:uFill>
                        </a:rPr>
                        <a:t>Tempus’s </a:t>
                      </a:r>
                      <a:r>
                        <a:rPr lang="en-US" sz="950" b="1" dirty="0" u="sng">
                          <a:solidFill>
                            <a:srgbClr val="002677"/>
                          </a:solidFill>
                          <a:uFill>
                            <a:solidFill>
                              <a:srgbClr val="9AA8CC"/>
                            </a:solidFill>
                          </a:uFill>
                        </a:rPr>
                        <a:t>Lens</a:t>
                      </a:r>
                      <a:r>
                        <a:rPr lang="en-US" sz="950" dirty="0">
                          <a:solidFill>
                            <a:schemeClr val="tx1"/>
                          </a:solidFill>
                        </a:rPr>
                        <a:t>: clinical and molecular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Enriched Clinical Data</a:t>
                      </a:r>
                      <a:r>
                        <a:rPr lang="en-US" sz="950" dirty="0" b="0">
                          <a:solidFill>
                            <a:schemeClr val="tx1"/>
                          </a:solidFill>
                        </a:rPr>
                        <a:t> (NLP-derived disease attributes)</a:t>
                      </a:r>
                      <a:r>
                        <a:rPr lang="en-US" sz="950" dirty="0" b="0">
                          <a:solidFill>
                            <a:schemeClr val="tx1"/>
                          </a:solidFill>
                        </a:rPr>
                        <a:t>; </a:t>
                      </a:r>
                      <a:r>
                        <a:rPr lang="en-US" sz="950" dirty="0">
                          <a:solidFill>
                            <a:schemeClr val="tx1"/>
                          </a:solidFill>
                        </a:rPr>
                        <a:t>clinicogenomics datasets</a:t>
                      </a:r>
                      <a:r>
                        <a:rPr lang="en-US" sz="950" dirty="0" b="0">
                          <a:solidFill>
                            <a:schemeClr val="tx1"/>
                          </a:solidFill>
                        </a:rPr>
                        <a:t> (linked clinical/genomic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47818">
                <a:tc>
                  <a:txBody>
                    <a:bodyPr/>
                    <a:lstStyle/>
                    <a:p>
                      <a:pPr algn="ctr" indent="0" marL="0">
                        <a:buNone/>
                      </a:pPr>
                      <a:r>
                        <a:rPr lang="en-US" sz="1050" b="1" dirty="0">
                          <a:solidFill>
                            <a:schemeClr val="accent1"/>
                          </a:solidFill>
                        </a:rPr>
                        <a:t>Investigate specialty-</a:t>
                      </a:r>
                      <a:br/>
                      <a:r>
                        <a:rPr lang="en-US" sz="1050" b="1" dirty="0">
                          <a:solidFill>
                            <a:schemeClr val="accent1"/>
                          </a:solidFill>
                        </a:rPr>
                        <a:t>disease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ConcertAI’s </a:t>
                      </a:r>
                      <a:r>
                        <a:rPr lang="en-US" sz="950" b="1" dirty="0" u="sng">
                          <a:solidFill>
                            <a:srgbClr val="002677"/>
                          </a:solidFill>
                          <a:uFill>
                            <a:solidFill>
                              <a:srgbClr val="9AA8CC"/>
                            </a:solidFill>
                          </a:uFill>
                        </a:rPr>
                        <a:t>Precision Explorer</a:t>
                      </a:r>
                      <a:r>
                        <a:rPr lang="en-US" sz="950" dirty="0">
                          <a:solidFill>
                            <a:schemeClr val="tx1"/>
                          </a:solidFill>
                        </a:rPr>
                        <a:t>: oncology research analytics;</a:t>
                      </a:r>
                      <a:endParaRPr lang="en-US" sz="950" dirty="0"/>
                    </a:p>
                    <a:p>
                      <a:pPr indent="0" marL="0">
                        <a:spcBef>
                          <a:spcPts val="400"/>
                        </a:spcBef>
                        <a:buNone/>
                      </a:pPr>
                      <a:r>
                        <a:rPr lang="en-US" sz="950" dirty="0" u="sng">
                          <a:solidFill>
                            <a:srgbClr val="002677"/>
                          </a:solidFill>
                          <a:uFill>
                            <a:solidFill>
                              <a:srgbClr val="9AA8CC"/>
                            </a:solidFill>
                          </a:uFill>
                        </a:rPr>
                        <a:t>Verana Health’s </a:t>
                      </a:r>
                      <a:r>
                        <a:rPr lang="en-US" sz="950" b="1" dirty="0" u="sng">
                          <a:solidFill>
                            <a:srgbClr val="002677"/>
                          </a:solidFill>
                          <a:uFill>
                            <a:solidFill>
                              <a:srgbClr val="9AA8CC"/>
                            </a:solidFill>
                          </a:uFill>
                        </a:rPr>
                        <a:t>Agent Claire</a:t>
                      </a:r>
                      <a:r>
                        <a:rPr lang="en-US" sz="950" dirty="0">
                          <a:solidFill>
                            <a:schemeClr val="tx1"/>
                          </a:solidFill>
                        </a:rPr>
                        <a:t>: conversational specialty-data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Clinical Notes Lab</a:t>
                      </a:r>
                      <a:r>
                        <a:rPr lang="en-US" sz="950" dirty="0" b="0">
                          <a:solidFill>
                            <a:schemeClr val="tx1"/>
                          </a:solidFill>
                        </a:rPr>
                        <a:t> (NLP/LLMs, custom AI models)</a:t>
                      </a:r>
                      <a:r>
                        <a:rPr lang="en-US" sz="950" dirty="0" b="0">
                          <a:solidFill>
                            <a:schemeClr val="tx1"/>
                          </a:solidFill>
                        </a:rPr>
                        <a:t>; </a:t>
                      </a:r>
                      <a:r>
                        <a:rPr lang="en-US" sz="950" dirty="0">
                          <a:solidFill>
                            <a:schemeClr val="tx1"/>
                          </a:solidFill>
                        </a:rPr>
                        <a:t>epidemiology and observational research</a:t>
                      </a:r>
                      <a:r>
                        <a:rPr lang="en-US" sz="950" dirty="0" b="0">
                          <a:solidFill>
                            <a:schemeClr val="tx1"/>
                          </a:solidFill>
                        </a:rPr>
                        <a:t> (study design, comparative effectiveness)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83543">
                <a:tc>
                  <a:txBody>
                    <a:bodyPr/>
                    <a:lstStyle/>
                    <a:p>
                      <a:pPr algn="ctr" indent="0" marL="0">
                        <a:buNone/>
                      </a:pPr>
                      <a:r>
                        <a:rPr lang="en-US" sz="1050" b="1" dirty="0">
                          <a:solidFill>
                            <a:schemeClr val="accent1"/>
                          </a:solidFill>
                        </a:rPr>
                        <a:t>Analyze curated</a:t>
                      </a:r>
                      <a:br/>
                      <a:r>
                        <a:rPr lang="en-US" sz="1050" b="1" dirty="0">
                          <a:solidFill>
                            <a:schemeClr val="accent1"/>
                          </a:solidFill>
                        </a:rPr>
                        <a:t>research datasets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MDClone’s </a:t>
                      </a:r>
                      <a:r>
                        <a:rPr lang="en-US" sz="950" b="1" dirty="0" u="sng">
                          <a:solidFill>
                            <a:srgbClr val="002677"/>
                          </a:solidFill>
                          <a:uFill>
                            <a:solidFill>
                              <a:srgbClr val="9AA8CC"/>
                            </a:solidFill>
                          </a:uFill>
                        </a:rPr>
                        <a:t>ADAMS Copilot</a:t>
                      </a:r>
                      <a:r>
                        <a:rPr lang="en-US" sz="950" dirty="0">
                          <a:solidFill>
                            <a:schemeClr val="tx1"/>
                          </a:solidFill>
                        </a:rPr>
                        <a:t> </a:t>
                      </a:r>
                      <a:r>
                        <a:rPr lang="en-US" sz="950" dirty="0">
                          <a:solidFill>
                            <a:schemeClr val="tx1"/>
                          </a:solidFill>
                        </a:rPr>
                        <a:t>(Israel)</a:t>
                      </a:r>
                      <a:r>
                        <a:rPr lang="en-US" sz="950" dirty="0">
                          <a:solidFill>
                            <a:schemeClr val="tx1"/>
                          </a:solidFill>
                        </a:rPr>
                        <a:t>: conversational statistical analysis and visualization within controlled research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Analytics on Demand</a:t>
                      </a:r>
                      <a:r>
                        <a:rPr lang="en-US" sz="950" dirty="0" b="0">
                          <a:solidFill>
                            <a:schemeClr val="tx1"/>
                          </a:solidFill>
                        </a:rPr>
                        <a:t> (advanced statistical modeling, survival analysis)</a:t>
                      </a:r>
                      <a:r>
                        <a:rPr lang="en-US" sz="950" dirty="0" b="0">
                          <a:solidFill>
                            <a:schemeClr val="tx1"/>
                          </a:solidFill>
                        </a:rPr>
                        <a:t>; </a:t>
                      </a:r>
                      <a:r>
                        <a:rPr lang="en-US" sz="950" dirty="0">
                          <a:solidFill>
                            <a:schemeClr val="tx1"/>
                          </a:solidFill>
                        </a:rPr>
                        <a:t>research data and study environments</a:t>
                      </a:r>
                      <a:r>
                        <a:rPr lang="en-US" sz="950" dirty="0" b="0">
                          <a:solidFill>
                            <a:schemeClr val="tx1"/>
                          </a:solidFill>
                        </a:rPr>
                        <a:t> (curated data, analytical workspaces)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packaged outcomes studies card"/>
          <p:cNvSpPr/>
          <p:nvPr/>
        </p:nvSpPr>
        <p:spPr>
          <a:xfrm>
            <a:off x="548640"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PACKAGED OUTCOMES STUDIES</a:t>
            </a:r>
            <a:endParaRPr lang="en-US" sz="1300" dirty="0"/>
          </a:p>
        </p:txBody>
      </p:sp>
      <p:sp>
        <p:nvSpPr>
          <p:cNvPr id="17" name="Text 14"/>
          <p:cNvSpPr txBox="1"/>
          <p:nvPr/>
        </p:nvSpPr>
        <p:spPr>
          <a:xfrm>
            <a:off x="749808"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ConcertAI markets named Precision Explorer agents for guideline concordance, real-world outcomes and comorbidity analysis; it claims projects can shrink “</a:t>
            </a:r>
            <a:r>
              <a:rPr lang="en-US" sz="1050" b="1" dirty="0" u="sng">
                <a:solidFill>
                  <a:srgbClr val="002677"/>
                </a:solidFill>
                <a:uFill>
                  <a:solidFill>
                    <a:srgbClr val="9AA8CC"/>
                  </a:solidFill>
                </a:uFill>
              </a:rPr>
              <a:t>from 10-20 weeks to as little as 6 weeks</a:t>
            </a:r>
            <a:r>
              <a:rPr lang="en-US" sz="1050" b="1" dirty="0">
                <a:solidFill>
                  <a:schemeClr val="tx1"/>
                </a:solidFill>
              </a:rPr>
              <a:t>.”</a:t>
            </a:r>
            <a:endParaRPr lang="en-US" sz="1050" dirty="0"/>
          </a:p>
        </p:txBody>
      </p:sp>
      <p:sp>
        <p:nvSpPr>
          <p:cNvPr id="18" name="self-service analysis card"/>
          <p:cNvSpPr/>
          <p:nvPr/>
        </p:nvSpPr>
        <p:spPr>
          <a:xfrm>
            <a:off x="6185916"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6387084"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SELF-SERVICE ANALYSIS</a:t>
            </a:r>
            <a:endParaRPr lang="en-US" sz="1300" dirty="0"/>
          </a:p>
        </p:txBody>
      </p:sp>
      <p:sp>
        <p:nvSpPr>
          <p:cNvPr id="20" name="Text 17"/>
          <p:cNvSpPr txBox="1"/>
          <p:nvPr/>
        </p:nvSpPr>
        <p:spPr>
          <a:xfrm>
            <a:off x="6387084"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Specialty-data vendors market conversational AI as a way to supplant routine work by analysts: Flatiron’s Telescope delivers survival analyses on demand, “</a:t>
            </a:r>
            <a:r>
              <a:rPr lang="en-US" sz="1050" b="1" dirty="0" u="sng">
                <a:solidFill>
                  <a:srgbClr val="002677"/>
                </a:solidFill>
                <a:uFill>
                  <a:solidFill>
                    <a:srgbClr val="9AA8CC"/>
                  </a:solidFill>
                </a:uFill>
              </a:rPr>
              <a:t>eliminating the need to wait in analyst queues</a:t>
            </a:r>
            <a:r>
              <a:rPr lang="en-US" sz="1050" b="1" dirty="0">
                <a:solidFill>
                  <a:schemeClr val="tx1"/>
                </a:solidFill>
              </a:rPr>
              <a:t>,” while Verana’s Agent Claire offers data access “</a:t>
            </a:r>
            <a:r>
              <a:rPr lang="en-US" sz="1050" b="1" dirty="0" u="sng">
                <a:solidFill>
                  <a:srgbClr val="002677"/>
                </a:solidFill>
                <a:uFill>
                  <a:solidFill>
                    <a:srgbClr val="9AA8CC"/>
                  </a:solidFill>
                </a:uFill>
              </a:rPr>
              <a:t>without needing programming skills or analyst assistance</a:t>
            </a:r>
            <a:r>
              <a:rPr lang="en-US" sz="1050" b="1" dirty="0">
                <a:solidFill>
                  <a:schemeClr val="tx1"/>
                </a:solidFill>
              </a:rPr>
              <a:t>.”</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
        <p:nvSpPr>
          <p:cNvPr id="2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7: https://resources.flatiron.com/press/flatiron-health-launches-flatiron-telescope-a-new-ai-platform-delivering-oncology-insights-in-minutes">
            <a:hlinkClick r:id="rId3"/>
          </p:cNvPr>
          <p:cNvSpPr/>
          <p:nvPr/>
        </p:nvSpPr>
        <p:spPr>
          <a:xfrm>
            <a:off x="2944075" y="2073898"/>
            <a:ext cx="151337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7: https://www.tempus.com/solutions/lens/">
            <a:hlinkClick r:id="rId4"/>
          </p:cNvPr>
          <p:cNvSpPr/>
          <p:nvPr/>
        </p:nvSpPr>
        <p:spPr>
          <a:xfrm>
            <a:off x="2944075" y="2260372"/>
            <a:ext cx="85349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7: https://www.concertai.com/precision-explorer">
            <a:hlinkClick r:id="rId7"/>
          </p:cNvPr>
          <p:cNvSpPr/>
          <p:nvPr/>
        </p:nvSpPr>
        <p:spPr>
          <a:xfrm>
            <a:off x="2944075" y="2921700"/>
            <a:ext cx="174953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7: https://veranahealth.com/verana-health-introduces-new-ai-agents-to-expedite-and-streamline-rd-tasks/">
            <a:hlinkClick r:id="rId8"/>
          </p:cNvPr>
          <p:cNvSpPr/>
          <p:nvPr/>
        </p:nvSpPr>
        <p:spPr>
          <a:xfrm>
            <a:off x="2944075" y="3108174"/>
            <a:ext cx="162316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7: https://mdclone.com/meet-copilot/">
            <a:hlinkClick r:id="rId11"/>
          </p:cNvPr>
          <p:cNvSpPr/>
          <p:nvPr/>
        </p:nvSpPr>
        <p:spPr>
          <a:xfrm>
            <a:off x="2944075" y="3862731"/>
            <a:ext cx="150705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7: https://www.concertai.com/precision-explorer">
            <a:hlinkClick r:id="rId7"/>
          </p:cNvPr>
          <p:cNvSpPr/>
          <p:nvPr/>
        </p:nvSpPr>
        <p:spPr>
          <a:xfrm>
            <a:off x="749515" y="5535058"/>
            <a:ext cx="265887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7: https://resources.flatiron.com/press/flatiron-health-launches-flatiron-telescope-a-new-ai-platform-delivering-oncology-insights-in-minutes">
            <a:hlinkClick r:id="rId3"/>
          </p:cNvPr>
          <p:cNvSpPr/>
          <p:nvPr/>
        </p:nvSpPr>
        <p:spPr>
          <a:xfrm>
            <a:off x="6386753" y="5535058"/>
            <a:ext cx="305667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7: https://www.prnewswire.com/news-releases/verana-health-introduces-new-ai-agents-to-expedite-and-streamline-rd-302888122.html">
            <a:hlinkClick r:id="rId14"/>
          </p:cNvPr>
          <p:cNvSpPr/>
          <p:nvPr/>
        </p:nvSpPr>
        <p:spPr>
          <a:xfrm>
            <a:off x="7578472" y="5694900"/>
            <a:ext cx="3823361"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COMMERCIAL INTELLIGENCE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1"/>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bg1"/>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commercial intelligence, conversational AI reaches into reps’ daily workflow</a:t>
            </a:r>
            <a:br>
              <a:rPr lang="en-US" sz="2200" b="1" dirty="0">
                <a:solidFill>
                  <a:schemeClr val="accent1"/>
                </a:solidFill>
              </a:rPr>
            </a:br>
            <a:r>
              <a:rPr lang="en-US" sz="2200" b="1" dirty="0">
                <a:solidFill>
                  <a:schemeClr val="accent1"/>
                </a:solidFill>
              </a:rPr>
              <a:t>and simulated market research</a:t>
            </a:r>
            <a:endParaRPr lang="en-US" sz="2200" dirty="0"/>
          </a:p>
        </p:txBody>
      </p:sp>
      <p:graphicFrame>
        <p:nvGraphicFramePr>
          <p:cNvPr id="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008374"/>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1005992">
                <a:tc>
                  <a:txBody>
                    <a:bodyPr/>
                    <a:lstStyle/>
                    <a:p>
                      <a:pPr algn="ctr" indent="0" marL="0">
                        <a:buNone/>
                      </a:pPr>
                      <a:r>
                        <a:rPr lang="en-US" sz="1050" b="1" dirty="0">
                          <a:solidFill>
                            <a:schemeClr val="accent1"/>
                          </a:solidFill>
                        </a:rPr>
                        <a:t>Pharmaceutical market and portfolio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IQVIA’s </a:t>
                      </a:r>
                      <a:r>
                        <a:rPr lang="en-US" sz="950" b="1" dirty="0" u="sng">
                          <a:solidFill>
                            <a:srgbClr val="002677"/>
                          </a:solidFill>
                          <a:uFill>
                            <a:solidFill>
                              <a:srgbClr val="9AA8CC"/>
                            </a:solidFill>
                          </a:uFill>
                        </a:rPr>
                        <a:t>GMI Agent</a:t>
                      </a:r>
                      <a:r>
                        <a:rPr lang="en-US" sz="950" dirty="0">
                          <a:solidFill>
                            <a:schemeClr val="tx1"/>
                          </a:solidFill>
                        </a:rPr>
                        <a:t>: global market insights;</a:t>
                      </a:r>
                      <a:endParaRPr lang="en-US" sz="950" dirty="0"/>
                    </a:p>
                    <a:p>
                      <a:pPr indent="0" marL="0">
                        <a:spcBef>
                          <a:spcPts val="400"/>
                        </a:spcBef>
                        <a:buNone/>
                      </a:pPr>
                      <a:r>
                        <a:rPr lang="en-US" sz="950" dirty="0" u="sng">
                          <a:solidFill>
                            <a:srgbClr val="002677"/>
                          </a:solidFill>
                          <a:uFill>
                            <a:solidFill>
                              <a:srgbClr val="9AA8CC"/>
                            </a:solidFill>
                          </a:uFill>
                        </a:rPr>
                        <a:t>Norstella’s </a:t>
                      </a:r>
                      <a:r>
                        <a:rPr lang="en-US" sz="950" dirty="0" b="1" u="sng">
                          <a:solidFill>
                            <a:srgbClr val="002677"/>
                          </a:solidFill>
                          <a:uFill>
                            <a:solidFill>
                              <a:srgbClr val="9AA8CC"/>
                            </a:solidFill>
                          </a:uFill>
                        </a:rPr>
                        <a:t>Evaluate Ella</a:t>
                      </a:r>
                      <a:r>
                        <a:rPr lang="en-US" sz="950" dirty="0">
                          <a:solidFill>
                            <a:schemeClr val="tx1"/>
                          </a:solidFill>
                        </a:rPr>
                        <a:t>: plain-English questions on pharma markets, deals and forecasts;</a:t>
                      </a:r>
                      <a:endParaRPr lang="en-US" sz="950" dirty="0"/>
                    </a:p>
                    <a:p>
                      <a:pPr indent="0" marL="0">
                        <a:spcBef>
                          <a:spcPts val="400"/>
                        </a:spcBef>
                        <a:buNone/>
                      </a:pPr>
                      <a:r>
                        <a:rPr lang="en-US" sz="950" dirty="0" u="sng">
                          <a:solidFill>
                            <a:srgbClr val="002677"/>
                          </a:solidFill>
                          <a:uFill>
                            <a:solidFill>
                              <a:srgbClr val="9AA8CC"/>
                            </a:solidFill>
                          </a:uFill>
                        </a:rPr>
                        <a:t>GBI Health’s </a:t>
                      </a:r>
                      <a:r>
                        <a:rPr lang="en-US" sz="950" b="1" dirty="0" u="sng">
                          <a:solidFill>
                            <a:srgbClr val="002677"/>
                          </a:solidFill>
                          <a:uFill>
                            <a:solidFill>
                              <a:srgbClr val="9AA8CC"/>
                            </a:solidFill>
                          </a:uFill>
                        </a:rPr>
                        <a:t>GBI BOT</a:t>
                      </a:r>
                      <a:r>
                        <a:rPr lang="en-US" sz="950" dirty="0">
                          <a:solidFill>
                            <a:schemeClr val="tx1"/>
                          </a:solidFill>
                        </a:rPr>
                        <a:t> </a:t>
                      </a:r>
                      <a:r>
                        <a:rPr lang="en-US" sz="950" dirty="0">
                          <a:solidFill>
                            <a:schemeClr val="tx1"/>
                          </a:solidFill>
                        </a:rPr>
                        <a:t>(China)</a:t>
                      </a:r>
                      <a:r>
                        <a:rPr lang="en-US" sz="950" dirty="0">
                          <a:solidFill>
                            <a:schemeClr val="tx1"/>
                          </a:solidFill>
                        </a:rPr>
                        <a:t>: pharmaceutical database Q&amp;A and competitive intelligence;</a:t>
                      </a:r>
                      <a:endParaRPr lang="en-US" sz="950" dirty="0"/>
                    </a:p>
                    <a:p>
                      <a:pPr indent="0" marL="0">
                        <a:spcBef>
                          <a:spcPts val="400"/>
                        </a:spcBef>
                        <a:buNone/>
                      </a:pPr>
                      <a:r>
                        <a:rPr lang="en-US" sz="950" dirty="0" u="sng">
                          <a:solidFill>
                            <a:srgbClr val="002677"/>
                          </a:solidFill>
                          <a:uFill>
                            <a:solidFill>
                              <a:srgbClr val="9AA8CC"/>
                            </a:solidFill>
                          </a:uFill>
                        </a:rPr>
                        <a:t>Prospection’s </a:t>
                      </a:r>
                      <a:r>
                        <a:rPr lang="en-US" sz="950" b="1" dirty="0" u="sng">
                          <a:solidFill>
                            <a:srgbClr val="002677"/>
                          </a:solidFill>
                          <a:uFill>
                            <a:solidFill>
                              <a:srgbClr val="9AA8CC"/>
                            </a:solidFill>
                          </a:uFill>
                        </a:rPr>
                        <a:t>ProGPT</a:t>
                      </a:r>
                      <a:r>
                        <a:rPr lang="en-US" sz="950" dirty="0">
                          <a:solidFill>
                            <a:schemeClr val="tx1"/>
                          </a:solidFill>
                        </a:rPr>
                        <a:t> </a:t>
                      </a:r>
                      <a:r>
                        <a:rPr lang="en-US" sz="950" dirty="0">
                          <a:solidFill>
                            <a:schemeClr val="tx1"/>
                          </a:solidFill>
                        </a:rPr>
                        <a:t>(Australia)</a:t>
                      </a:r>
                      <a:r>
                        <a:rPr lang="en-US" sz="950" dirty="0">
                          <a:solidFill>
                            <a:schemeClr val="tx1"/>
                          </a:solidFill>
                        </a:rPr>
                        <a:t>: conversational patient and market insights for brand planning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(linked claims/EHR data, market attractiveness and portfolio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55217">
                <a:tc>
                  <a:txBody>
                    <a:bodyPr/>
                    <a:lstStyle/>
                    <a:p>
                      <a:pPr algn="ctr" indent="0" marL="0">
                        <a:buNone/>
                      </a:pPr>
                      <a:r>
                        <a:rPr lang="en-US" sz="1050" b="1" dirty="0">
                          <a:solidFill>
                            <a:schemeClr val="accent1"/>
                          </a:solidFill>
                        </a:rPr>
                        <a:t>Commercial field and prescribing decisions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IQVIA’s </a:t>
                      </a:r>
                      <a:r>
                        <a:rPr lang="en-US" sz="950" b="1" dirty="0" u="sng">
                          <a:solidFill>
                            <a:srgbClr val="002677"/>
                          </a:solidFill>
                          <a:uFill>
                            <a:solidFill>
                              <a:srgbClr val="9AA8CC"/>
                            </a:solidFill>
                          </a:uFill>
                        </a:rPr>
                        <a:t>Field Force Agent</a:t>
                      </a:r>
                      <a:r>
                        <a:rPr lang="en-US" sz="950" dirty="0">
                          <a:solidFill>
                            <a:schemeClr val="tx1"/>
                          </a:solidFill>
                        </a:rPr>
                        <a:t>: commercial field support;</a:t>
                      </a:r>
                      <a:endParaRPr lang="en-US" sz="950" dirty="0"/>
                    </a:p>
                    <a:p>
                      <a:pPr indent="0" marL="0">
                        <a:spcBef>
                          <a:spcPts val="400"/>
                        </a:spcBef>
                        <a:buNone/>
                      </a:pPr>
                      <a:r>
                        <a:rPr lang="en-US" sz="950" dirty="0" u="sng">
                          <a:solidFill>
                            <a:srgbClr val="002677"/>
                          </a:solidFill>
                          <a:uFill>
                            <a:solidFill>
                              <a:srgbClr val="9AA8CC"/>
                            </a:solidFill>
                          </a:uFill>
                        </a:rPr>
                        <a:t>ZS’s </a:t>
                      </a:r>
                      <a:r>
                        <a:rPr lang="en-US" sz="950" b="1" dirty="0" u="sng">
                          <a:solidFill>
                            <a:srgbClr val="002677"/>
                          </a:solidFill>
                          <a:uFill>
                            <a:solidFill>
                              <a:srgbClr val="9AA8CC"/>
                            </a:solidFill>
                          </a:uFill>
                        </a:rPr>
                        <a:t>ZAIDYN Conversational AI for Commercial</a:t>
                      </a:r>
                      <a:r>
                        <a:rPr lang="en-US" sz="950" dirty="0">
                          <a:solidFill>
                            <a:schemeClr val="tx1"/>
                          </a:solidFill>
                        </a:rPr>
                        <a:t>: commercial information and decision support;</a:t>
                      </a:r>
                      <a:endParaRPr lang="en-US" sz="950" dirty="0"/>
                    </a:p>
                    <a:p>
                      <a:pPr indent="0" marL="0">
                        <a:spcBef>
                          <a:spcPts val="400"/>
                        </a:spcBef>
                        <a:buNone/>
                      </a:pPr>
                      <a:r>
                        <a:rPr lang="en-US" sz="950" dirty="0" u="sng">
                          <a:solidFill>
                            <a:srgbClr val="002677"/>
                          </a:solidFill>
                          <a:uFill>
                            <a:solidFill>
                              <a:srgbClr val="9AA8CC"/>
                            </a:solidFill>
                          </a:uFill>
                        </a:rPr>
                        <a:t>Close-Up International’s </a:t>
                      </a:r>
                      <a:r>
                        <a:rPr lang="en-US" sz="950" b="1" dirty="0" u="sng">
                          <a:solidFill>
                            <a:srgbClr val="002677"/>
                          </a:solidFill>
                          <a:uFill>
                            <a:solidFill>
                              <a:srgbClr val="9AA8CC"/>
                            </a:solidFill>
                          </a:uFill>
                        </a:rPr>
                        <a:t>Xplora AI</a:t>
                      </a:r>
                      <a:r>
                        <a:rPr lang="en-US" sz="950" dirty="0">
                          <a:solidFill>
                            <a:schemeClr val="tx1"/>
                          </a:solidFill>
                        </a:rPr>
                        <a:t> </a:t>
                      </a:r>
                      <a:r>
                        <a:rPr lang="en-US" sz="950" dirty="0">
                          <a:solidFill>
                            <a:schemeClr val="tx1"/>
                          </a:solidFill>
                        </a:rPr>
                        <a:t>(Spain)</a:t>
                      </a:r>
                      <a:r>
                        <a:rPr lang="en-US" sz="950" dirty="0">
                          <a:solidFill>
                            <a:schemeClr val="tx1"/>
                          </a:solidFill>
                        </a:rPr>
                        <a:t>: AI-enabled pharmaceutical CRM and commercial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(patient/prescriber segmentation, treatment patterns, market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17981">
                <a:tc>
                  <a:txBody>
                    <a:bodyPr/>
                    <a:lstStyle/>
                    <a:p>
                      <a:pPr algn="ctr" indent="0" marL="0">
                        <a:buNone/>
                      </a:pPr>
                      <a:r>
                        <a:rPr lang="en-US" sz="1050" b="1" dirty="0">
                          <a:solidFill>
                            <a:schemeClr val="accent1"/>
                          </a:solidFill>
                        </a:rPr>
                        <a:t>Simulated stakeholder 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Trinity Life Sciences’ </a:t>
                      </a:r>
                      <a:r>
                        <a:rPr lang="en-US" sz="950" b="1" dirty="0" u="sng">
                          <a:solidFill>
                            <a:srgbClr val="002677"/>
                          </a:solidFill>
                          <a:uFill>
                            <a:solidFill>
                              <a:srgbClr val="9AA8CC"/>
                            </a:solidFill>
                          </a:uFill>
                        </a:rPr>
                        <a:t>InsightsEDGE Digital Twins</a:t>
                      </a:r>
                      <a:r>
                        <a:rPr lang="en-US" sz="950" dirty="0">
                          <a:solidFill>
                            <a:schemeClr val="tx1"/>
                          </a:solidFill>
                        </a:rPr>
                        <a:t>: conversational simulated personas;</a:t>
                      </a:r>
                      <a:endParaRPr lang="en-US" sz="950" dirty="0"/>
                    </a:p>
                    <a:p>
                      <a:pPr indent="0" marL="0">
                        <a:spcBef>
                          <a:spcPts val="400"/>
                        </a:spcBef>
                        <a:buNone/>
                      </a:pPr>
                      <a:r>
                        <a:rPr lang="en-US" sz="950" dirty="0" u="sng">
                          <a:solidFill>
                            <a:srgbClr val="002677"/>
                          </a:solidFill>
                          <a:uFill>
                            <a:solidFill>
                              <a:srgbClr val="9AA8CC"/>
                            </a:solidFill>
                          </a:uFill>
                        </a:rPr>
                        <a:t>Ipsos’s </a:t>
                      </a:r>
                      <a:r>
                        <a:rPr lang="en-US" sz="950" b="1" dirty="0" u="sng">
                          <a:solidFill>
                            <a:srgbClr val="002677"/>
                          </a:solidFill>
                          <a:uFill>
                            <a:solidFill>
                              <a:srgbClr val="9AA8CC"/>
                            </a:solidFill>
                          </a:uFill>
                        </a:rPr>
                        <a:t>Healthcare PersonaBot</a:t>
                      </a:r>
                      <a:r>
                        <a:rPr lang="en-US" sz="950" dirty="0">
                          <a:solidFill>
                            <a:schemeClr val="tx1"/>
                          </a:solidFill>
                        </a:rPr>
                        <a:t> </a:t>
                      </a:r>
                      <a:r>
                        <a:rPr lang="en-US" sz="950" dirty="0">
                          <a:solidFill>
                            <a:schemeClr val="tx1"/>
                          </a:solidFill>
                        </a:rPr>
                        <a:t>(France)</a:t>
                      </a:r>
                      <a:r>
                        <a:rPr lang="en-US" sz="950" dirty="0">
                          <a:solidFill>
                            <a:schemeClr val="tx1"/>
                          </a:solidFill>
                        </a:rPr>
                        <a:t>: interaction with simulated healthcare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(observed patient/prescriber insights)</a:t>
                      </a:r>
                      <a:r>
                        <a:rPr lang="en-US" sz="950" dirty="0" b="0">
                          <a:solidFill>
                            <a:schemeClr val="tx1"/>
                          </a:solidFill>
                        </a:rPr>
                        <a:t>; </a:t>
                      </a:r>
                      <a:r>
                        <a:rPr lang="en-US" sz="950" dirty="0" b="0">
                          <a:solidFill>
                            <a:schemeClr val="tx1"/>
                          </a:solidFill>
                        </a:rPr>
                        <a:t>no comparable simulated-persona offering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from insight to field action card"/>
          <p:cNvSpPr/>
          <p:nvPr/>
        </p:nvSpPr>
        <p:spPr>
          <a:xfrm>
            <a:off x="548640"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FROM INSIGHT TO FIELD ACTION</a:t>
            </a:r>
            <a:endParaRPr lang="en-US" sz="1300" dirty="0"/>
          </a:p>
        </p:txBody>
      </p:sp>
      <p:sp>
        <p:nvSpPr>
          <p:cNvPr id="17" name="Text 14"/>
          <p:cNvSpPr txBox="1"/>
          <p:nvPr/>
        </p:nvSpPr>
        <p:spPr>
          <a:xfrm>
            <a:off x="749808"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IQVIA’s Field Force Agent uses CRM activity and call notes to recommend next best actions, with a claimed </a:t>
            </a:r>
            <a:r>
              <a:rPr lang="en-US" sz="1050" b="1" dirty="0" u="sng">
                <a:solidFill>
                  <a:srgbClr val="002677"/>
                </a:solidFill>
                <a:uFill>
                  <a:solidFill>
                    <a:srgbClr val="9AA8CC"/>
                  </a:solidFill>
                </a:uFill>
              </a:rPr>
              <a:t>prep-time reduction of up to 27%</a:t>
            </a:r>
            <a:r>
              <a:rPr lang="en-US" sz="1050" b="1" dirty="0">
                <a:solidFill>
                  <a:schemeClr val="tx1"/>
                </a:solidFill>
              </a:rPr>
              <a:t>. ZS’s commercial assistant </a:t>
            </a:r>
            <a:r>
              <a:rPr lang="en-US" sz="1050" b="1" dirty="0" u="sng">
                <a:solidFill>
                  <a:srgbClr val="002677"/>
                </a:solidFill>
                <a:uFill>
                  <a:solidFill>
                    <a:srgbClr val="9AA8CC"/>
                  </a:solidFill>
                </a:uFill>
              </a:rPr>
              <a:t>generates call plans and draft emails</a:t>
            </a:r>
            <a:r>
              <a:rPr lang="en-US" sz="1050" b="1" dirty="0">
                <a:solidFill>
                  <a:schemeClr val="tx1"/>
                </a:solidFill>
              </a:rPr>
              <a:t>.</a:t>
            </a:r>
            <a:endParaRPr lang="en-US" sz="1050" dirty="0"/>
          </a:p>
        </p:txBody>
      </p:sp>
      <p:sp>
        <p:nvSpPr>
          <p:cNvPr id="18" name="synthetic stakeholder research card"/>
          <p:cNvSpPr/>
          <p:nvPr/>
        </p:nvSpPr>
        <p:spPr>
          <a:xfrm>
            <a:off x="6185916"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6387084"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SYNTHETIC STAKEHOLDER RESEARCH</a:t>
            </a:r>
            <a:endParaRPr lang="en-US" sz="1300" dirty="0"/>
          </a:p>
        </p:txBody>
      </p:sp>
      <p:sp>
        <p:nvSpPr>
          <p:cNvPr id="20" name="Text 17"/>
          <p:cNvSpPr txBox="1"/>
          <p:nvPr/>
        </p:nvSpPr>
        <p:spPr>
          <a:xfrm>
            <a:off x="6387084"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Trinity’s data-grounded digital twins simulate HCP, patient and payer responses to test messages “</a:t>
            </a:r>
            <a:r>
              <a:rPr lang="en-US" sz="1050" b="1" dirty="0" u="sng">
                <a:solidFill>
                  <a:srgbClr val="002677"/>
                </a:solidFill>
                <a:uFill>
                  <a:solidFill>
                    <a:srgbClr val="9AA8CC"/>
                  </a:solidFill>
                </a:uFill>
              </a:rPr>
              <a:t>without commissioning a new study every time</a:t>
            </a:r>
            <a:r>
              <a:rPr lang="en-US" sz="1050" b="1" dirty="0">
                <a:solidFill>
                  <a:schemeClr val="tx1"/>
                </a:solidFill>
              </a:rPr>
              <a:t>”; Ipsos’s PersonaBot hosts a “</a:t>
            </a:r>
            <a:r>
              <a:rPr lang="en-US" sz="1050" b="1" dirty="0" u="sng">
                <a:solidFill>
                  <a:srgbClr val="002677"/>
                </a:solidFill>
                <a:uFill>
                  <a:solidFill>
                    <a:srgbClr val="9AA8CC"/>
                  </a:solidFill>
                </a:uFill>
              </a:rPr>
              <a:t>focus group</a:t>
            </a:r>
            <a:r>
              <a:rPr lang="en-US" sz="1050" b="1" dirty="0">
                <a:solidFill>
                  <a:schemeClr val="tx1"/>
                </a:solidFill>
              </a:rPr>
              <a:t>” of personas drawn from clients’ existing research.</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
        <p:nvSpPr>
          <p:cNvPr id="26"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8: https://www.iqvia.com/solutions/commercialization/iqvia-commercial-agentic-ai">
            <a:hlinkClick r:id="rId3"/>
          </p:cNvPr>
          <p:cNvSpPr/>
          <p:nvPr/>
        </p:nvSpPr>
        <p:spPr>
          <a:xfrm>
            <a:off x="2944075" y="1966253"/>
            <a:ext cx="106049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8: https://www.gbihealth.com.cn/en/products/gbi-bot">
            <a:hlinkClick r:id="rId4"/>
          </p:cNvPr>
          <p:cNvSpPr/>
          <p:nvPr/>
        </p:nvSpPr>
        <p:spPr>
          <a:xfrm>
            <a:off x="2944075" y="2339214"/>
            <a:ext cx="120548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8: https://support.prospection.com/en_US/530415-using-progpt/8351360445583">
            <a:hlinkClick r:id="rId5"/>
          </p:cNvPr>
          <p:cNvSpPr/>
          <p:nvPr/>
        </p:nvSpPr>
        <p:spPr>
          <a:xfrm>
            <a:off x="2944075" y="2525701"/>
            <a:ext cx="119922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8: https://www.iqvia.com/solutions/commercialization/iqvia-commercial-agentic-ai">
            <a:hlinkClick r:id="rId3"/>
          </p:cNvPr>
          <p:cNvSpPr/>
          <p:nvPr/>
        </p:nvSpPr>
        <p:spPr>
          <a:xfrm>
            <a:off x="2944075" y="2972093"/>
            <a:ext cx="147521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8: https://zaidyn.zs.com/products/zaidyn-commercial/conversational-ai">
            <a:hlinkClick r:id="rId7"/>
          </p:cNvPr>
          <p:cNvSpPr/>
          <p:nvPr/>
        </p:nvSpPr>
        <p:spPr>
          <a:xfrm>
            <a:off x="2944075" y="3158580"/>
            <a:ext cx="272189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8: https://close-upinternational.com/es/crm-farmaceutico-nativo-en-ia-de-los-datos-a-las-decisiones-unificadas-2/">
            <a:hlinkClick r:id="rId8"/>
          </p:cNvPr>
          <p:cNvSpPr/>
          <p:nvPr/>
        </p:nvSpPr>
        <p:spPr>
          <a:xfrm>
            <a:off x="2944075" y="3345054"/>
            <a:ext cx="1837400"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8: https://www.evaluate.com/ask-ella/">
            <a:hlinkClick r:id="rId11"/>
          </p:cNvPr>
          <p:cNvSpPr/>
          <p:nvPr/>
        </p:nvSpPr>
        <p:spPr>
          <a:xfrm>
            <a:off x="2944075" y="2152740"/>
            <a:ext cx="136864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8: https://trinitylifesciences.com/products/insightsedge-digital-twins/">
            <a:hlinkClick r:id="rId9"/>
          </p:cNvPr>
          <p:cNvSpPr/>
          <p:nvPr/>
        </p:nvSpPr>
        <p:spPr>
          <a:xfrm>
            <a:off x="2944075" y="3969653"/>
            <a:ext cx="273088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8: https://www.ipsos.com/en/healthcare/healthcare-personabot">
            <a:hlinkClick r:id="rId10"/>
          </p:cNvPr>
          <p:cNvSpPr/>
          <p:nvPr/>
        </p:nvSpPr>
        <p:spPr>
          <a:xfrm>
            <a:off x="2944075" y="4156140"/>
            <a:ext cx="172893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8: https://www.iqvia.com/solutions/commercialization/commercial-analytics/omnichannel-engagement-and-insights/field-force-agent">
            <a:hlinkClick r:id="rId12"/>
          </p:cNvPr>
          <p:cNvSpPr/>
          <p:nvPr/>
        </p:nvSpPr>
        <p:spPr>
          <a:xfrm>
            <a:off x="2538717" y="5375216"/>
            <a:ext cx="210653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8: https://zaidyn.zs.com/products/zaidyn-commercial/conversational-ai">
            <a:hlinkClick r:id="rId7"/>
          </p:cNvPr>
          <p:cNvSpPr/>
          <p:nvPr/>
        </p:nvSpPr>
        <p:spPr>
          <a:xfrm>
            <a:off x="1360805" y="5535058"/>
            <a:ext cx="235780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8: https://trinitylifesciences.com/company/press-releases/trinity-launches-insightsedge-digital-twins/">
            <a:hlinkClick r:id="rId13"/>
          </p:cNvPr>
          <p:cNvSpPr/>
          <p:nvPr/>
        </p:nvSpPr>
        <p:spPr>
          <a:xfrm>
            <a:off x="7497222" y="5375216"/>
            <a:ext cx="314612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3" name="Invisible source link 8: https://www.ipsos.com/en/launch-ipsos-personabot-groundbreaking-ai-powered-solution-enhance-segmentation-research">
            <a:hlinkClick r:id="rId14"/>
          </p:cNvPr>
          <p:cNvSpPr/>
          <p:nvPr/>
        </p:nvSpPr>
        <p:spPr>
          <a:xfrm>
            <a:off x="7666782" y="5535058"/>
            <a:ext cx="898694"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MEDICAL / REGULATORY RESEARCH</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1"/>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bg1"/>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medical and regulatory work, conversational AI operates within tighter bounds, and one vendor publishes where it fails</a:t>
            </a:r>
            <a:endParaRPr lang="en-US" sz="2200" dirty="0"/>
          </a:p>
        </p:txBody>
      </p:sp>
      <p:graphicFrame>
        <p:nvGraphicFramePr>
          <p:cNvPr id="9"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2848354"/>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777565">
                <a:tc>
                  <a:txBody>
                    <a:bodyPr/>
                    <a:lstStyle/>
                    <a:p>
                      <a:pPr algn="ctr" indent="0" marL="0">
                        <a:buNone/>
                      </a:pPr>
                      <a:r>
                        <a:rPr lang="en-US" sz="1050" b="1" dirty="0">
                          <a:solidFill>
                            <a:schemeClr val="accent1"/>
                          </a:solidFill>
                        </a:rPr>
                        <a:t>Search and synthesize</a:t>
                      </a:r>
                      <a:br/>
                      <a:r>
                        <a:rPr lang="en-US" sz="1050" b="1" dirty="0">
                          <a:solidFill>
                            <a:schemeClr val="accent1"/>
                          </a:solidFill>
                        </a:rPr>
                        <a:t>scientific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IQVIA’s </a:t>
                      </a:r>
                      <a:r>
                        <a:rPr lang="en-US" sz="950" b="1" dirty="0" u="sng">
                          <a:solidFill>
                            <a:srgbClr val="002677"/>
                          </a:solidFill>
                          <a:uFill>
                            <a:solidFill>
                              <a:srgbClr val="9AA8CC"/>
                            </a:solidFill>
                          </a:uFill>
                        </a:rPr>
                        <a:t>Med-R1 Deep Research Agent</a:t>
                      </a:r>
                      <a:r>
                        <a:rPr lang="en-US" sz="950" dirty="0">
                          <a:solidFill>
                            <a:schemeClr val="tx1"/>
                          </a:solidFill>
                        </a:rPr>
                        <a:t>: synthesizes biomedical, clinical and regulatory sources to answer complex research questions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Epidemiology research</a:t>
                      </a:r>
                      <a:r>
                        <a:rPr lang="en-US" sz="950" dirty="0" b="0">
                          <a:solidFill>
                            <a:schemeClr val="tx1"/>
                          </a:solidFill>
                        </a:rPr>
                        <a:t> (study design, RWE generation)</a:t>
                      </a:r>
                      <a:r>
                        <a:rPr lang="en-US" sz="950" dirty="0" b="0">
                          <a:solidFill>
                            <a:schemeClr val="tx1"/>
                          </a:solidFill>
                        </a:rPr>
                        <a:t>; </a:t>
                      </a:r>
                      <a:r>
                        <a:rPr lang="en-US" sz="950" dirty="0">
                          <a:solidFill>
                            <a:schemeClr val="tx1"/>
                          </a:solidFill>
                        </a:rPr>
                        <a:t>postapproval safety and comparative-effectiveness studies</a:t>
                      </a:r>
                      <a:r>
                        <a:rPr lang="en-US" sz="950" dirty="0" b="0">
                          <a:solidFill>
                            <a:schemeClr val="tx1"/>
                          </a:solidFill>
                        </a:rPr>
                        <a:t> (statistical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64040">
                <a:tc>
                  <a:txBody>
                    <a:bodyPr/>
                    <a:lstStyle/>
                    <a:p>
                      <a:pPr algn="ctr" indent="0" marL="0">
                        <a:buNone/>
                      </a:pPr>
                      <a:r>
                        <a:rPr lang="en-US" sz="1050" b="1" dirty="0">
                          <a:solidFill>
                            <a:schemeClr val="accent1"/>
                          </a:solidFill>
                        </a:rPr>
                        <a:t>Explore medical insights and</a:t>
                      </a:r>
                      <a:br/>
                      <a:r>
                        <a:rPr lang="en-US" sz="1050" b="1" dirty="0">
                          <a:solidFill>
                            <a:schemeClr val="accent1"/>
                          </a:solidFill>
                        </a:rPr>
                        <a:t>support scientific engagement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ZS’s </a:t>
                      </a:r>
                      <a:r>
                        <a:rPr lang="en-US" sz="950" b="1" dirty="0" u="sng">
                          <a:solidFill>
                            <a:srgbClr val="002677"/>
                          </a:solidFill>
                          <a:uFill>
                            <a:solidFill>
                              <a:srgbClr val="9AA8CC"/>
                            </a:solidFill>
                          </a:uFill>
                        </a:rPr>
                        <a:t>ZAIDYN Conversational AI for Medical</a:t>
                      </a:r>
                      <a:r>
                        <a:rPr lang="en-US" sz="950" dirty="0">
                          <a:solidFill>
                            <a:schemeClr val="tx1"/>
                          </a:solidFill>
                        </a:rPr>
                        <a:t>: natural-language analysis of care gaps, scientific insights and opinion-leader information;</a:t>
                      </a:r>
                      <a:endParaRPr lang="en-US" sz="950" dirty="0"/>
                    </a:p>
                    <a:p>
                      <a:pPr indent="0" marL="0">
                        <a:spcBef>
                          <a:spcPts val="400"/>
                        </a:spcBef>
                        <a:buNone/>
                      </a:pPr>
                      <a:r>
                        <a:rPr lang="en-US" sz="950" dirty="0" u="sng">
                          <a:solidFill>
                            <a:srgbClr val="002677"/>
                          </a:solidFill>
                          <a:uFill>
                            <a:solidFill>
                              <a:srgbClr val="9AA8CC"/>
                            </a:solidFill>
                          </a:uFill>
                        </a:rPr>
                        <a:t>Evidenze’s </a:t>
                      </a:r>
                      <a:r>
                        <a:rPr lang="en-US" sz="950" b="1" dirty="0" u="sng">
                          <a:solidFill>
                            <a:srgbClr val="002677"/>
                          </a:solidFill>
                          <a:uFill>
                            <a:solidFill>
                              <a:srgbClr val="9AA8CC"/>
                            </a:solidFill>
                          </a:uFill>
                        </a:rPr>
                        <a:t>AI medical-education chatbots</a:t>
                      </a:r>
                      <a:r>
                        <a:rPr lang="en-US" sz="950" dirty="0">
                          <a:solidFill>
                            <a:schemeClr val="tx1"/>
                          </a:solidFill>
                        </a:rPr>
                        <a:t> </a:t>
                      </a:r>
                      <a:r>
                        <a:rPr lang="en-US" sz="950" dirty="0">
                          <a:solidFill>
                            <a:schemeClr val="tx1"/>
                          </a:solidFill>
                        </a:rPr>
                        <a:t>(Spain)</a:t>
                      </a:r>
                      <a:r>
                        <a:rPr lang="en-US" sz="950" dirty="0">
                          <a:solidFill>
                            <a:schemeClr val="tx1"/>
                          </a:solidFill>
                        </a:rPr>
                        <a:t>: conversational medical education and knowledge support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(medical affairs evidence, MSL insights, HCP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77565">
                <a:tc>
                  <a:txBody>
                    <a:bodyPr/>
                    <a:lstStyle/>
                    <a:p>
                      <a:pPr algn="ctr" indent="0" marL="0">
                        <a:buNone/>
                      </a:pPr>
                      <a:r>
                        <a:rPr lang="en-US" sz="1050" b="1" dirty="0">
                          <a:solidFill>
                            <a:schemeClr val="accent1"/>
                          </a:solidFill>
                        </a:rPr>
                        <a:t>Question and navigate</a:t>
                      </a:r>
                      <a:br/>
                      <a:r>
                        <a:rPr lang="en-US" sz="1050" b="1" dirty="0">
                          <a:solidFill>
                            <a:schemeClr val="accent1"/>
                          </a:solidFill>
                        </a:rPr>
                        <a:t>regulated documents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Veeva’s </a:t>
                      </a:r>
                      <a:r>
                        <a:rPr lang="en-US" sz="950" b="1" dirty="0" u="sng">
                          <a:solidFill>
                            <a:srgbClr val="002677"/>
                          </a:solidFill>
                          <a:uFill>
                            <a:solidFill>
                              <a:srgbClr val="9AA8CC"/>
                            </a:solidFill>
                          </a:uFill>
                        </a:rPr>
                        <a:t>Vault AI Chat</a:t>
                      </a:r>
                      <a:r>
                        <a:rPr lang="en-US" sz="950" dirty="0">
                          <a:solidFill>
                            <a:schemeClr val="tx1"/>
                          </a:solidFill>
                        </a:rPr>
                        <a:t>: questions, summaries and follow-up interactions within authorized Vault documents and records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Safety and evidence-research services</a:t>
                      </a:r>
                      <a:r>
                        <a:rPr lang="en-US" sz="950" dirty="0" b="0">
                          <a:solidFill>
                            <a:schemeClr val="tx1"/>
                          </a:solidFill>
                        </a:rPr>
                        <a:t> (scientific analysis)</a:t>
                      </a:r>
                      <a:r>
                        <a:rPr lang="en-US" sz="950" dirty="0" b="0">
                          <a:solidFill>
                            <a:schemeClr val="tx1"/>
                          </a:solidFill>
                        </a:rPr>
                        <a:t>; </a:t>
                      </a:r>
                      <a:r>
                        <a:rPr lang="en-US" sz="950" dirty="0" b="0">
                          <a:solidFill>
                            <a:schemeClr val="tx1"/>
                          </a:solidFill>
                        </a:rPr>
                        <a:t>no comparable regulated-document assistant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tracking medical affairs impact card"/>
          <p:cNvSpPr/>
          <p:nvPr/>
        </p:nvSpPr>
        <p:spPr>
          <a:xfrm>
            <a:off x="548640" y="4512564"/>
            <a:ext cx="5454396" cy="154076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469544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TRACKING MEDICAL AFFAIRS IMPACT</a:t>
            </a:r>
            <a:endParaRPr lang="en-US" sz="1300" dirty="0"/>
          </a:p>
        </p:txBody>
      </p:sp>
      <p:sp>
        <p:nvSpPr>
          <p:cNvPr id="17" name="Text 14"/>
          <p:cNvSpPr txBox="1"/>
          <p:nvPr/>
        </p:nvSpPr>
        <p:spPr>
          <a:xfrm>
            <a:off x="749808" y="5042916"/>
            <a:ext cx="5052060" cy="827532"/>
          </a:xfrm>
          <a:prstGeom prst="rect">
            <a:avLst/>
          </a:prstGeom>
          <a:noFill/>
          <a:ln/>
        </p:spPr>
        <p:txBody>
          <a:bodyPr wrap="square" lIns="0" tIns="0" rIns="0" bIns="0" rtlCol="0" anchor="t"/>
          <a:lstStyle/>
          <a:p>
            <a:pPr indent="0" marL="0">
              <a:buNone/>
            </a:pPr>
            <a:r>
              <a:rPr lang="en-US" sz="1050" b="1" dirty="0">
                <a:solidFill>
                  <a:schemeClr val="tx1"/>
                </a:solidFill>
              </a:rPr>
              <a:t>ZS positions its medical-affairs analytics as the answer to “</a:t>
            </a:r>
            <a:r>
              <a:rPr lang="en-US" sz="1050" b="1" dirty="0" u="sng">
                <a:solidFill>
                  <a:srgbClr val="002677"/>
                </a:solidFill>
                <a:uFill>
                  <a:solidFill>
                    <a:srgbClr val="9AA8CC"/>
                  </a:solidFill>
                </a:uFill>
              </a:rPr>
              <a:t>what is medical affairs actually achieving?</a:t>
            </a:r>
            <a:r>
              <a:rPr lang="en-US" sz="1050" b="1" dirty="0">
                <a:solidFill>
                  <a:schemeClr val="tx1"/>
                </a:solidFill>
              </a:rPr>
              <a:t>” The suite tracks care gaps in patient-level claims data and compares engaged and non-engaged populations over time; a conversational assistant lets teams query the results.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
        <p:nvSpPr>
          <p:cNvPr id="26" name="limits in the open card"/>
          <p:cNvSpPr/>
          <p:nvPr/>
        </p:nvSpPr>
        <p:spPr>
          <a:xfrm>
            <a:off x="6185916" y="4512564"/>
            <a:ext cx="5454396" cy="154076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7" name="label"/>
          <p:cNvSpPr txBox="1"/>
          <p:nvPr/>
        </p:nvSpPr>
        <p:spPr>
          <a:xfrm>
            <a:off x="6387084" y="469544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LIMITS IN THE OPEN</a:t>
            </a:r>
            <a:endParaRPr lang="en-US" sz="1300" dirty="0"/>
          </a:p>
        </p:txBody>
      </p:sp>
      <p:sp>
        <p:nvSpPr>
          <p:cNvPr id="28" name="Text 14"/>
          <p:cNvSpPr txBox="1"/>
          <p:nvPr/>
        </p:nvSpPr>
        <p:spPr>
          <a:xfrm>
            <a:off x="6387084" y="5042916"/>
            <a:ext cx="5052060" cy="827532"/>
          </a:xfrm>
          <a:prstGeom prst="rect">
            <a:avLst/>
          </a:prstGeom>
          <a:noFill/>
          <a:ln/>
        </p:spPr>
        <p:txBody>
          <a:bodyPr wrap="square" lIns="0" tIns="0" rIns="0" bIns="0" rtlCol="0" anchor="t"/>
          <a:lstStyle/>
          <a:p>
            <a:pPr indent="0" marL="0">
              <a:buNone/>
            </a:pPr>
            <a:r>
              <a:rPr lang="en-US" sz="1050" b="1" dirty="0">
                <a:solidFill>
                  <a:schemeClr val="tx1"/>
                </a:solidFill>
              </a:rPr>
              <a:t>IQVIA says its small Med-R1 research agent can “</a:t>
            </a:r>
            <a:r>
              <a:rPr lang="en-US" sz="1050" b="1" dirty="0" u="sng">
                <a:solidFill>
                  <a:srgbClr val="002677"/>
                </a:solidFill>
                <a:uFill>
                  <a:solidFill>
                    <a:srgbClr val="9AA8CC"/>
                  </a:solidFill>
                </a:uFill>
              </a:rPr>
              <a:t>outperform much larger general-purpose models</a:t>
            </a:r>
            <a:r>
              <a:rPr lang="en-US" sz="1050" b="1" dirty="0">
                <a:solidFill>
                  <a:schemeClr val="tx1"/>
                </a:solidFill>
              </a:rPr>
              <a:t>,” while conceding that multi-step biomedical reasoning remains unsolved. In its December 2025 benchmark, Med-R1 answered 21 of 50 questions—and none of the 10 hardest, where OpenAI’s and Google’s agents managed one between them.</a:t>
            </a:r>
            <a:endParaRPr lang="en-US" sz="1050" dirty="0"/>
          </a:p>
        </p:txBody>
      </p:sp>
      <p:sp>
        <p:nvSpPr>
          <p:cNvPr id="29"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9: https://www.iqvia.com/solutions/innovative-models/artificial-intelligence-and-machine-learning/iqvia-ai-platform">
            <a:hlinkClick r:id="rId3"/>
          </p:cNvPr>
          <p:cNvSpPr/>
          <p:nvPr/>
        </p:nvSpPr>
        <p:spPr>
          <a:xfrm>
            <a:off x="2944075" y="2063815"/>
            <a:ext cx="217001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9: https://zaidyn.zs.com/products/zaidyn-medical/conversational-ai-for-medical">
            <a:hlinkClick r:id="rId5"/>
          </p:cNvPr>
          <p:cNvSpPr/>
          <p:nvPr/>
        </p:nvSpPr>
        <p:spPr>
          <a:xfrm>
            <a:off x="2944075" y="2773376"/>
            <a:ext cx="247349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9: https://evidenze.com/">
            <a:hlinkClick r:id="rId6"/>
          </p:cNvPr>
          <p:cNvSpPr/>
          <p:nvPr/>
        </p:nvSpPr>
        <p:spPr>
          <a:xfrm>
            <a:off x="2944075" y="3095575"/>
            <a:ext cx="235622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9: https://platform.veevavault.help/en/lr/950642">
            <a:hlinkClick r:id="rId8"/>
          </p:cNvPr>
          <p:cNvSpPr/>
          <p:nvPr/>
        </p:nvSpPr>
        <p:spPr>
          <a:xfrm>
            <a:off x="2944075" y="3804781"/>
            <a:ext cx="122357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9: https://zaidyn.zs.com/products/zaidyn-medical/patient-outcome-intelligence">
            <a:hlinkClick r:id="rId9"/>
          </p:cNvPr>
          <p:cNvSpPr/>
          <p:nvPr/>
        </p:nvSpPr>
        <p:spPr>
          <a:xfrm>
            <a:off x="4420308" y="5055531"/>
            <a:ext cx="104939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9: https://zaidyn.zs.com/products/zaidyn-medical/patient-outcome-intelligence">
            <a:hlinkClick r:id="rId9"/>
          </p:cNvPr>
          <p:cNvSpPr/>
          <p:nvPr/>
        </p:nvSpPr>
        <p:spPr>
          <a:xfrm>
            <a:off x="749515" y="5215373"/>
            <a:ext cx="172332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9: https://www.iqvia.com/blogs/2025/12/introducing-iqvia-med-r1-deep-research-agent">
            <a:hlinkClick r:id="rId10"/>
          </p:cNvPr>
          <p:cNvSpPr/>
          <p:nvPr/>
        </p:nvSpPr>
        <p:spPr>
          <a:xfrm>
            <a:off x="9434314" y="5055531"/>
            <a:ext cx="1571140"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9: https://www.iqvia.com/blogs/2025/12/introducing-iqvia-med-r1-deep-research-agent">
            <a:hlinkClick r:id="rId10"/>
          </p:cNvPr>
          <p:cNvSpPr/>
          <p:nvPr/>
        </p:nvSpPr>
        <p:spPr>
          <a:xfrm>
            <a:off x="6386753" y="5215373"/>
            <a:ext cx="1642595"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CLINICAL TRIALS AND MARKET ACCESS</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1"/>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bg1"/>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1"/>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bg1"/>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In trials and market access, vendors limit what conversational AI can see and how far its answers go</a:t>
            </a:r>
            <a:endParaRPr lang="en-US" sz="2200" dirty="0"/>
          </a:p>
        </p:txBody>
      </p:sp>
      <p:graphicFrame>
        <p:nvGraphicFramePr>
          <p:cNvPr id="10"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008374"/>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1150" b="1" spc="100" kern="0" dirty="0">
                          <a:solidFill>
                            <a:srgbClr val="FF612B"/>
                          </a:solidFill>
                        </a:rPr>
                        <a:t>CLINICAL TRIALS: </a:t>
                      </a: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652932">
                <a:tc>
                  <a:txBody>
                    <a:bodyPr/>
                    <a:lstStyle/>
                    <a:p>
                      <a:pPr algn="ctr" indent="0" marL="0">
                        <a:buNone/>
                      </a:pPr>
                      <a:r>
                        <a:rPr lang="en-US" sz="1050" b="1" dirty="0">
                          <a:solidFill>
                            <a:schemeClr val="accent1"/>
                          </a:solidFill>
                        </a:rPr>
                        <a:t>Trial feasibility, site and investigator identification</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TriNetX’s </a:t>
                      </a:r>
                      <a:r>
                        <a:rPr lang="en-US" sz="950" dirty="0" b="1" u="sng">
                          <a:solidFill>
                            <a:srgbClr val="002677"/>
                          </a:solidFill>
                          <a:uFill>
                            <a:solidFill>
                              <a:srgbClr val="9AA8CC"/>
                            </a:solidFill>
                          </a:uFill>
                        </a:rPr>
                        <a:t>LIVE Conversational AI + Terrain</a:t>
                      </a:r>
                      <a:r>
                        <a:rPr lang="en-US" sz="950" dirty="0">
                          <a:solidFill>
                            <a:schemeClr val="tx1"/>
                          </a:solidFill>
                        </a:rPr>
                        <a:t>: Natural-language protocol feasibility, clinical-code generation and site/investigator intelligence;</a:t>
                      </a:r>
                      <a:endParaRPr lang="en-US" sz="950" dirty="0"/>
                    </a:p>
                    <a:p>
                      <a:pPr indent="0" marL="0">
                        <a:spcBef>
                          <a:spcPts val="400"/>
                        </a:spcBef>
                        <a:buNone/>
                      </a:pPr>
                      <a:r>
                        <a:rPr lang="en-US" sz="950" dirty="0" u="sng">
                          <a:solidFill>
                            <a:srgbClr val="002677"/>
                          </a:solidFill>
                          <a:uFill>
                            <a:solidFill>
                              <a:srgbClr val="9AA8CC"/>
                            </a:solidFill>
                          </a:uFill>
                        </a:rPr>
                        <a:t>Norstella’s </a:t>
                      </a:r>
                      <a:r>
                        <a:rPr lang="en-US" sz="950" dirty="0" b="1" u="sng">
                          <a:solidFill>
                            <a:srgbClr val="002677"/>
                          </a:solidFill>
                          <a:uFill>
                            <a:solidFill>
                              <a:srgbClr val="9AA8CC"/>
                            </a:solidFill>
                          </a:uFill>
                        </a:rPr>
                        <a:t>Citeline Ella</a:t>
                      </a:r>
                      <a:r>
                        <a:rPr lang="en-US" sz="950" dirty="0">
                          <a:solidFill>
                            <a:schemeClr val="tx1"/>
                          </a:solidFill>
                        </a:rPr>
                        <a:t>: trial and site search strategies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Prospector</a:t>
                      </a:r>
                      <a:r>
                        <a:rPr lang="en-US" sz="950" dirty="0" b="0">
                          <a:solidFill>
                            <a:schemeClr val="tx1"/>
                          </a:solidFill>
                        </a:rPr>
                        <a:t> (no-code cohort building, attrition funnels)</a:t>
                      </a:r>
                      <a:r>
                        <a:rPr lang="en-US" sz="950" dirty="0" b="0">
                          <a:solidFill>
                            <a:schemeClr val="tx1"/>
                          </a:solidFill>
                        </a:rPr>
                        <a:t>; </a:t>
                      </a:r>
                      <a:r>
                        <a:rPr lang="en-US" sz="950" dirty="0" b="1">
                          <a:solidFill>
                            <a:schemeClr val="tx1"/>
                          </a:solidFill>
                        </a:rPr>
                        <a:t>Digital Research Network</a:t>
                      </a:r>
                      <a:r>
                        <a:rPr lang="en-US" sz="950" dirty="0" b="0">
                          <a:solidFill>
                            <a:schemeClr val="tx1"/>
                          </a:solidFill>
                        </a:rPr>
                        <a:t> (patient identification, recruitment infrastructure)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466445">
                <a:tc>
                  <a:txBody>
                    <a:bodyPr/>
                    <a:lstStyle/>
                    <a:p>
                      <a:pPr algn="ctr" indent="0" marL="0">
                        <a:buNone/>
                      </a:pPr>
                      <a:r>
                        <a:rPr lang="en-US" sz="1050" b="1" dirty="0">
                          <a:solidFill>
                            <a:schemeClr val="accent1"/>
                          </a:solidFill>
                        </a:rPr>
                        <a:t>Clinical-data operations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Veeva’s </a:t>
                      </a:r>
                      <a:r>
                        <a:rPr lang="en-US" sz="950" dirty="0" b="1" u="sng">
                          <a:solidFill>
                            <a:srgbClr val="002677"/>
                          </a:solidFill>
                          <a:uFill>
                            <a:solidFill>
                              <a:srgbClr val="9AA8CC"/>
                            </a:solidFill>
                          </a:uFill>
                        </a:rPr>
                        <a:t>EDC AI Tab</a:t>
                      </a:r>
                      <a:r>
                        <a:rPr lang="en-US" sz="950" dirty="0">
                          <a:solidFill>
                            <a:schemeClr val="tx1"/>
                          </a:solidFill>
                        </a:rPr>
                        <a:t>: questions on study operational data and help content, excluding site-entered casebook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True Source</a:t>
                      </a:r>
                      <a:r>
                        <a:rPr lang="en-US" sz="950" dirty="0">
                          <a:solidFill>
                            <a:schemeClr val="tx1"/>
                          </a:solidFill>
                        </a:rPr>
                        <a:t> (electronic source-data capture); no comparable conversational assistant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1150" b="1" spc="100" kern="0" dirty="0">
                          <a:solidFill>
                            <a:srgbClr val="FF612B"/>
                          </a:solidFill>
                        </a:rPr>
                        <a:t>MARKET ACCESS: </a:t>
                      </a: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737882">
                <a:tc>
                  <a:txBody>
                    <a:bodyPr/>
                    <a:lstStyle/>
                    <a:p>
                      <a:pPr algn="ctr" indent="0" marL="0">
                        <a:buNone/>
                      </a:pPr>
                      <a:r>
                        <a:rPr lang="en-US" sz="1050" b="1" dirty="0">
                          <a:solidFill>
                            <a:schemeClr val="accent1"/>
                          </a:solidFill>
                        </a:rPr>
                        <a:t>Pharmaceutical pricing and market-access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EVERSANA’s </a:t>
                      </a:r>
                      <a:r>
                        <a:rPr lang="en-US" sz="950" b="1" dirty="0" u="sng">
                          <a:solidFill>
                            <a:srgbClr val="002677"/>
                          </a:solidFill>
                          <a:uFill>
                            <a:solidFill>
                              <a:srgbClr val="9AA8CC"/>
                            </a:solidFill>
                          </a:uFill>
                        </a:rPr>
                        <a:t>Ask NAVLIN</a:t>
                      </a:r>
                      <a:r>
                        <a:rPr lang="en-US" sz="950" dirty="0">
                          <a:solidFill>
                            <a:schemeClr val="tx1"/>
                          </a:solidFill>
                        </a:rPr>
                        <a:t>: conversational access to pricing, reimbursement and market-access information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HEOR/value evidence</a:t>
                      </a:r>
                      <a:r>
                        <a:rPr lang="en-US" sz="950" dirty="0" b="0">
                          <a:solidFill>
                            <a:schemeClr val="tx1"/>
                          </a:solidFill>
                        </a:rPr>
                        <a:t> (outcomes research, economic analysis)</a:t>
                      </a:r>
                      <a:r>
                        <a:rPr lang="en-US" sz="950" dirty="0" b="0">
                          <a:solidFill>
                            <a:schemeClr val="tx1"/>
                          </a:solidFill>
                        </a:rPr>
                        <a:t>; </a:t>
                      </a:r>
                      <a:r>
                        <a:rPr lang="en-US" sz="950" dirty="0" b="1">
                          <a:solidFill>
                            <a:schemeClr val="tx1"/>
                          </a:solidFill>
                        </a:rPr>
                        <a:t>Evidence Engine</a:t>
                      </a:r>
                      <a:r>
                        <a:rPr lang="en-US" sz="950" dirty="0" b="0">
                          <a:solidFill>
                            <a:schemeClr val="tx1"/>
                          </a:solidFill>
                        </a:rPr>
                        <a:t> (evidence-generation support)</a:t>
                      </a:r>
                      <a:r>
                        <a:rPr lang="en-US" sz="950" dirty="0" b="0">
                          <a:solidFill>
                            <a:schemeClr val="tx1"/>
                          </a:solidFill>
                        </a:rPr>
                        <a:t>; </a:t>
                      </a:r>
                      <a:r>
                        <a:rPr lang="en-US" sz="950" dirty="0">
                          <a:solidFill>
                            <a:schemeClr val="tx1"/>
                          </a:solidFill>
                        </a:rPr>
                        <a:t>health economic and budget impact modeling</a:t>
                      </a:r>
                      <a:r>
                        <a:rPr lang="en-US" sz="950" dirty="0" b="0">
                          <a:solidFill>
                            <a:schemeClr val="tx1"/>
                          </a:solidFill>
                        </a:rPr>
                        <a:t> (cost and budget scenarios)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492747">
                <a:tc>
                  <a:txBody>
                    <a:bodyPr/>
                    <a:lstStyle/>
                    <a:p>
                      <a:pPr algn="ctr" indent="0" marL="0">
                        <a:buNone/>
                      </a:pPr>
                      <a:r>
                        <a:rPr lang="en-US" sz="1050" b="1" dirty="0">
                          <a:solidFill>
                            <a:schemeClr val="accent1"/>
                          </a:solidFill>
                        </a:rPr>
                        <a:t>Payer feedback and coverage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Norstella’s </a:t>
                      </a:r>
                      <a:r>
                        <a:rPr lang="en-US" sz="950" dirty="0" b="1" u="sng">
                          <a:solidFill>
                            <a:srgbClr val="002677"/>
                          </a:solidFill>
                          <a:uFill>
                            <a:solidFill>
                              <a:srgbClr val="9AA8CC"/>
                            </a:solidFill>
                          </a:uFill>
                        </a:rPr>
                        <a:t>MMIT Ella</a:t>
                      </a:r>
                      <a:r>
                        <a:rPr lang="en-US" sz="950" dirty="0">
                          <a:solidFill>
                            <a:schemeClr val="tx1"/>
                          </a:solidFill>
                        </a:rPr>
                        <a:t>: plain-language answers grounded in formulary, coverage and payer-feedback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No comparable offering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8" name="defined data boundaries card"/>
          <p:cNvSpPr/>
          <p:nvPr/>
        </p:nvSpPr>
        <p:spPr>
          <a:xfrm>
            <a:off x="548640"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749808"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DEFINED DATA BOUNDARIES</a:t>
            </a:r>
            <a:endParaRPr lang="en-US" sz="1300" dirty="0"/>
          </a:p>
        </p:txBody>
      </p:sp>
      <p:sp>
        <p:nvSpPr>
          <p:cNvPr id="20" name="Text 16"/>
          <p:cNvSpPr txBox="1"/>
          <p:nvPr/>
        </p:nvSpPr>
        <p:spPr>
          <a:xfrm>
            <a:off x="749808"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Veeva draws an explicit line around its new trial assistant: the EDC AI Tab answers questions from study operational data and help pages, but “</a:t>
            </a:r>
            <a:r>
              <a:rPr lang="en-US" sz="1050" b="1" dirty="0" u="sng">
                <a:solidFill>
                  <a:srgbClr val="002677"/>
                </a:solidFill>
                <a:uFill>
                  <a:solidFill>
                    <a:srgbClr val="9AA8CC"/>
                  </a:solidFill>
                </a:uFill>
              </a:rPr>
              <a:t>no site-entered casebook data is referenced by the AI agent</a:t>
            </a:r>
            <a:r>
              <a:rPr lang="en-US" sz="1050" b="1" dirty="0">
                <a:solidFill>
                  <a:schemeClr val="tx1"/>
                </a:solidFill>
              </a:rPr>
              <a:t>.”</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
        <p:nvSpPr>
          <p:cNvPr id="26" name="from answers to workflows card"/>
          <p:cNvSpPr/>
          <p:nvPr/>
        </p:nvSpPr>
        <p:spPr>
          <a:xfrm>
            <a:off x="6185916" y="4672584"/>
            <a:ext cx="5454396" cy="13807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7" name="label"/>
          <p:cNvSpPr txBox="1"/>
          <p:nvPr/>
        </p:nvSpPr>
        <p:spPr>
          <a:xfrm>
            <a:off x="6387084" y="485546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FROM ANSWERS TO WORKFLOWS</a:t>
            </a:r>
            <a:endParaRPr lang="en-US" sz="1300" dirty="0"/>
          </a:p>
        </p:txBody>
      </p:sp>
      <p:sp>
        <p:nvSpPr>
          <p:cNvPr id="28" name="Text 16"/>
          <p:cNvSpPr txBox="1"/>
          <p:nvPr/>
        </p:nvSpPr>
        <p:spPr>
          <a:xfrm>
            <a:off x="6387084" y="5202936"/>
            <a:ext cx="5052060" cy="667512"/>
          </a:xfrm>
          <a:prstGeom prst="rect">
            <a:avLst/>
          </a:prstGeom>
          <a:noFill/>
          <a:ln/>
        </p:spPr>
        <p:txBody>
          <a:bodyPr wrap="square" lIns="0" tIns="0" rIns="0" bIns="0" rtlCol="0" anchor="t"/>
          <a:lstStyle/>
          <a:p>
            <a:pPr indent="0" marL="0">
              <a:buNone/>
            </a:pPr>
            <a:r>
              <a:rPr lang="en-US" sz="1050" b="1" dirty="0">
                <a:solidFill>
                  <a:schemeClr val="tx1"/>
                </a:solidFill>
              </a:rPr>
              <a:t>EVERSANA is moving market-access AI past chat answers. While offering Ask NAVLIN over pricing data from 100+ countries, it says “</a:t>
            </a:r>
            <a:r>
              <a:rPr lang="en-US" sz="1050" b="1" dirty="0" u="sng">
                <a:solidFill>
                  <a:srgbClr val="002677"/>
                </a:solidFill>
                <a:uFill>
                  <a:solidFill>
                    <a:srgbClr val="9AA8CC"/>
                  </a:solidFill>
                </a:uFill>
              </a:rPr>
              <a:t>for important decisions, a good-looking AI answer is rarely enough</a:t>
            </a:r>
            <a:r>
              <a:rPr lang="en-US" sz="1050" b="1" dirty="0">
                <a:solidFill>
                  <a:schemeClr val="tx1"/>
                </a:solidFill>
              </a:rPr>
              <a:t>” and is building early workflows where “</a:t>
            </a:r>
            <a:r>
              <a:rPr lang="en-US" sz="1050" b="1" dirty="0" u="sng">
                <a:solidFill>
                  <a:srgbClr val="002677"/>
                </a:solidFill>
                <a:uFill>
                  <a:solidFill>
                    <a:srgbClr val="9AA8CC"/>
                  </a:solidFill>
                </a:uFill>
              </a:rPr>
              <a:t>sources and assumptions remain visible</a:t>
            </a:r>
            <a:r>
              <a:rPr lang="en-US" sz="1050" b="1" dirty="0">
                <a:solidFill>
                  <a:schemeClr val="tx1"/>
                </a:solidFill>
              </a:rPr>
              <a:t>” for expert review.</a:t>
            </a:r>
            <a:endParaRPr lang="en-US" sz="1050" dirty="0"/>
          </a:p>
        </p:txBody>
      </p:sp>
      <p:sp>
        <p:nvSpPr>
          <p:cNvPr id="29"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21" name="Invisible source link 10: https://trinetx.com/press-releases/trinetx-unveils-conversational-ai-interface-and-enhanced-api-capabilities/">
            <a:hlinkClick r:id="rId10"/>
          </p:cNvPr>
          <p:cNvSpPr/>
          <p:nvPr/>
        </p:nvSpPr>
        <p:spPr>
          <a:xfrm>
            <a:off x="2944075" y="1908303"/>
            <a:ext cx="241084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10: https://www.navlin.com/products/tender">
            <a:hlinkClick r:id="rId6"/>
          </p:cNvPr>
          <p:cNvSpPr/>
          <p:nvPr/>
        </p:nvSpPr>
        <p:spPr>
          <a:xfrm>
            <a:off x="2944075" y="3491942"/>
            <a:ext cx="149032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10: https://citeline.com/plus">
            <a:hlinkClick r:id="rId11"/>
          </p:cNvPr>
          <p:cNvSpPr/>
          <p:nvPr/>
        </p:nvSpPr>
        <p:spPr>
          <a:xfrm>
            <a:off x="2944075" y="2230502"/>
            <a:ext cx="1307444"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10: https://clinicaldata.veevavault.help/en/lr/rn/limited-releases/26r3/new-features">
            <a:hlinkClick r:id="rId12"/>
          </p:cNvPr>
          <p:cNvSpPr/>
          <p:nvPr/>
        </p:nvSpPr>
        <p:spPr>
          <a:xfrm>
            <a:off x="2944075" y="2560981"/>
            <a:ext cx="112744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10: https://www.mmitnetwork.com/mosaic/">
            <a:hlinkClick r:id="rId13"/>
          </p:cNvPr>
          <p:cNvSpPr/>
          <p:nvPr/>
        </p:nvSpPr>
        <p:spPr>
          <a:xfrm>
            <a:off x="2944075" y="4107181"/>
            <a:ext cx="118109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10: https://clinicaldata.veevavault.help/en/lr/rn/limited-releases/26r3/new-features">
            <a:hlinkClick r:id="rId12"/>
          </p:cNvPr>
          <p:cNvSpPr/>
          <p:nvPr/>
        </p:nvSpPr>
        <p:spPr>
          <a:xfrm>
            <a:off x="5037945" y="5375216"/>
            <a:ext cx="54208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10: https://clinicaldata.veevavault.help/en/lr/rn/limited-releases/26r3/new-features">
            <a:hlinkClick r:id="rId12"/>
          </p:cNvPr>
          <p:cNvSpPr/>
          <p:nvPr/>
        </p:nvSpPr>
        <p:spPr>
          <a:xfrm>
            <a:off x="749515" y="5535058"/>
            <a:ext cx="338427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10: https://www.eversana.com/insights/from-ai-answers-to-decision-grade-market-access/">
            <a:hlinkClick r:id="rId14"/>
          </p:cNvPr>
          <p:cNvSpPr/>
          <p:nvPr/>
        </p:nvSpPr>
        <p:spPr>
          <a:xfrm>
            <a:off x="9793548" y="5375216"/>
            <a:ext cx="1577539"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10: https://www.eversana.com/insights/from-ai-answers-to-decision-grade-market-access/">
            <a:hlinkClick r:id="rId14"/>
          </p:cNvPr>
          <p:cNvSpPr/>
          <p:nvPr/>
        </p:nvSpPr>
        <p:spPr>
          <a:xfrm>
            <a:off x="6386753" y="5535058"/>
            <a:ext cx="2735287"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10: https://www.eversana.com/insights/from-ai-answers-to-decision-grade-market-access/">
            <a:hlinkClick r:id="rId14"/>
          </p:cNvPr>
          <p:cNvSpPr/>
          <p:nvPr/>
        </p:nvSpPr>
        <p:spPr>
          <a:xfrm>
            <a:off x="6805393" y="5694900"/>
            <a:ext cx="268960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ACROSS ALL FIVE DOMAINS: HOW THE PRODUCTS ARE BUILT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Behind the products, competitors lead with their data and controls;</a:t>
            </a:r>
            <a:br>
              <a:rPr lang="en-US" sz="2200" b="1" dirty="0">
                <a:solidFill>
                  <a:schemeClr val="accent1"/>
                </a:solidFill>
              </a:rPr>
            </a:br>
            <a:r>
              <a:rPr lang="en-US" sz="2200" b="1" dirty="0">
                <a:solidFill>
                  <a:schemeClr val="accent1"/>
                </a:solidFill>
              </a:rPr>
              <a:t>outside suppliers can provide the model, and even the interface</a:t>
            </a: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graphicFrame>
        <p:nvGraphicFramePr>
          <p:cNvPr id="2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168395"/>
        </p:xfrm>
        <a:graphic>
          <a:graphicData uri="http://schemas.openxmlformats.org/drawingml/2006/table">
            <a:tbl>
              <a:tblPr/>
              <a:tblGrid>
                <a:gridCol w="1737360"/>
                <a:gridCol w="7086600"/>
                <a:gridCol w="2267712"/>
              </a:tblGrid>
              <a:tr h="329184">
                <a:tc>
                  <a:txBody>
                    <a:bodyPr/>
                    <a:lstStyle/>
                    <a:p>
                      <a:pPr algn="ctr" indent="0" marL="0">
                        <a:buNone/>
                      </a:pPr>
                      <a:r>
                        <a:rPr lang="en-US" sz="900" b="1" spc="100" kern="0" dirty="0">
                          <a:solidFill>
                            <a:schemeClr val="bg1"/>
                          </a:solidFill>
                        </a:rPr>
                        <a:t>LAYER</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WHAT COMPETITORS SHOW</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TAKEAWAY</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663181">
                <a:tc>
                  <a:txBody>
                    <a:bodyPr/>
                    <a:lstStyle/>
                    <a:p>
                      <a:pPr algn="ctr" indent="0" marL="0">
                        <a:buNone/>
                      </a:pPr>
                      <a:r>
                        <a:rPr lang="en-US" sz="1050" b="1" dirty="0">
                          <a:solidFill>
                            <a:schemeClr val="accent1"/>
                          </a:solidFill>
                        </a:rPr>
                        <a:t>Model</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Veeva’s </a:t>
                      </a:r>
                      <a:r>
                        <a:rPr lang="en-US" sz="950" dirty="0" b="1" u="sng">
                          <a:solidFill>
                            <a:srgbClr val="002677"/>
                          </a:solidFill>
                          <a:uFill>
                            <a:solidFill>
                              <a:srgbClr val="9AA8CC"/>
                            </a:solidFill>
                          </a:uFill>
                        </a:rPr>
                        <a:t>Vault AI</a:t>
                      </a:r>
                      <a:r>
                        <a:rPr lang="en-US" sz="950" dirty="0">
                          <a:solidFill>
                            <a:schemeClr val="tx1"/>
                          </a:solidFill>
                        </a:rPr>
                        <a:t>: Anthropic and Amazon models;</a:t>
                      </a:r>
                      <a:endParaRPr lang="en-US" sz="950" dirty="0"/>
                    </a:p>
                    <a:p>
                      <a:pPr indent="0" marL="0">
                        <a:spcBef>
                          <a:spcPts val="400"/>
                        </a:spcBef>
                        <a:buNone/>
                      </a:pPr>
                      <a:r>
                        <a:rPr lang="en-US" sz="950" dirty="0" u="sng">
                          <a:solidFill>
                            <a:srgbClr val="002677"/>
                          </a:solidFill>
                          <a:uFill>
                            <a:solidFill>
                              <a:srgbClr val="9AA8CC"/>
                            </a:solidFill>
                          </a:uFill>
                        </a:rPr>
                        <a:t>IQVIA’s </a:t>
                      </a:r>
                      <a:r>
                        <a:rPr lang="en-US" sz="950" dirty="0" b="1" u="sng">
                          <a:solidFill>
                            <a:srgbClr val="002677"/>
                          </a:solidFill>
                          <a:uFill>
                            <a:solidFill>
                              <a:srgbClr val="9AA8CC"/>
                            </a:solidFill>
                          </a:uFill>
                        </a:rPr>
                        <a:t>IQVIA.ai</a:t>
                      </a:r>
                      <a:r>
                        <a:rPr lang="en-US" sz="950" dirty="0">
                          <a:solidFill>
                            <a:schemeClr val="tx1"/>
                          </a:solidFill>
                        </a:rPr>
                        <a:t>: NVIDIA Nemotron; </a:t>
                      </a:r>
                      <a:r>
                        <a:rPr lang="en-US" sz="950" dirty="0" b="1" u="sng">
                          <a:solidFill>
                            <a:srgbClr val="002677"/>
                          </a:solidFill>
                          <a:uFill>
                            <a:solidFill>
                              <a:srgbClr val="9AA8CC"/>
                            </a:solidFill>
                          </a:uFill>
                        </a:rPr>
                        <a:t>Med-R1</a:t>
                      </a:r>
                      <a:r>
                        <a:rPr lang="en-US" sz="950" dirty="0">
                          <a:solidFill>
                            <a:schemeClr val="tx1"/>
                          </a:solidFill>
                        </a:rPr>
                        <a:t>: developed separately;</a:t>
                      </a:r>
                      <a:endParaRPr lang="en-US" sz="950" dirty="0"/>
                    </a:p>
                    <a:p>
                      <a:pPr indent="0" marL="0">
                        <a:spcBef>
                          <a:spcPts val="400"/>
                        </a:spcBef>
                        <a:buNone/>
                      </a:pPr>
                      <a:r>
                        <a:rPr lang="en-US" sz="950" dirty="0" u="sng">
                          <a:solidFill>
                            <a:srgbClr val="002677"/>
                          </a:solidFill>
                          <a:uFill>
                            <a:solidFill>
                              <a:srgbClr val="9AA8CC"/>
                            </a:solidFill>
                          </a:uFill>
                        </a:rPr>
                        <a:t>Tempus’s </a:t>
                      </a:r>
                      <a:r>
                        <a:rPr lang="en-US" sz="950" dirty="0" b="1" u="sng">
                          <a:solidFill>
                            <a:srgbClr val="002677"/>
                          </a:solidFill>
                          <a:uFill>
                            <a:solidFill>
                              <a:srgbClr val="9AA8CC"/>
                            </a:solidFill>
                          </a:uFill>
                        </a:rPr>
                        <a:t>Lens</a:t>
                      </a:r>
                      <a:r>
                        <a:rPr lang="en-US" sz="950" dirty="0">
                          <a:solidFill>
                            <a:schemeClr val="tx1"/>
                          </a:solidFill>
                        </a:rPr>
                        <a:t>: frontier LLMs paired with its own oncology models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rgbClr val="1A1A1A"/>
                          </a:solidFill>
                        </a:rPr>
                        <a:t>Often sourced or adapted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63181">
                <a:tc>
                  <a:txBody>
                    <a:bodyPr/>
                    <a:lstStyle/>
                    <a:p>
                      <a:pPr algn="ctr" indent="0" marL="0">
                        <a:buNone/>
                      </a:pPr>
                      <a:r>
                        <a:rPr lang="en-US" sz="1050" b="1" dirty="0">
                          <a:solidFill>
                            <a:schemeClr val="accent1"/>
                          </a:solidFill>
                        </a:rPr>
                        <a:t>Data and domain</a:t>
                      </a:r>
                      <a:br>
                        <a:rPr lang="en-US" sz="1050" b="1" dirty="0">
                          <a:solidFill>
                            <a:schemeClr val="accent1"/>
                          </a:solidFill>
                        </a:rPr>
                      </a:br>
                      <a:r>
                        <a:rPr lang="en-US" sz="1050" b="1" dirty="0">
                          <a:solidFill>
                            <a:schemeClr val="accent1"/>
                          </a:solidFill>
                        </a:rPr>
                        <a:t>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Komodo Health’s </a:t>
                      </a:r>
                      <a:r>
                        <a:rPr lang="en-US" sz="950" dirty="0" b="1" u="sng">
                          <a:solidFill>
                            <a:srgbClr val="002677"/>
                          </a:solidFill>
                          <a:uFill>
                            <a:solidFill>
                              <a:srgbClr val="9AA8CC"/>
                            </a:solidFill>
                          </a:uFill>
                        </a:rPr>
                        <a:t>Healthcare Map</a:t>
                      </a:r>
                      <a:r>
                        <a:rPr lang="en-US" sz="950" dirty="0">
                          <a:solidFill>
                            <a:schemeClr val="tx1"/>
                          </a:solidFill>
                        </a:rPr>
                        <a:t>: de-identified patient journeys; </a:t>
                      </a:r>
                      <a:r>
                        <a:rPr lang="en-US" sz="950" dirty="0" b="1" u="sng">
                          <a:solidFill>
                            <a:srgbClr val="002677"/>
                          </a:solidFill>
                          <a:uFill>
                            <a:solidFill>
                              <a:srgbClr val="9AA8CC"/>
                            </a:solidFill>
                          </a:uFill>
                        </a:rPr>
                        <a:t>Marmot</a:t>
                      </a:r>
                      <a:r>
                        <a:rPr lang="en-US" sz="950" dirty="0">
                          <a:solidFill>
                            <a:schemeClr val="tx1"/>
                          </a:solidFill>
                        </a:rPr>
                        <a:t>: a knowledge graph built from prior analyses;</a:t>
                      </a:r>
                      <a:endParaRPr lang="en-US" sz="950" dirty="0"/>
                    </a:p>
                    <a:p>
                      <a:pPr indent="0" marL="0">
                        <a:spcBef>
                          <a:spcPts val="400"/>
                        </a:spcBef>
                        <a:buNone/>
                      </a:pPr>
                      <a:r>
                        <a:rPr lang="en-US" sz="950" dirty="0" u="sng">
                          <a:solidFill>
                            <a:srgbClr val="002677"/>
                          </a:solidFill>
                          <a:uFill>
                            <a:solidFill>
                              <a:srgbClr val="9AA8CC"/>
                            </a:solidFill>
                          </a:uFill>
                        </a:rPr>
                        <a:t>Truveta’s </a:t>
                      </a:r>
                      <a:r>
                        <a:rPr lang="en-US" sz="950" dirty="0" b="1" u="sng">
                          <a:solidFill>
                            <a:srgbClr val="002677"/>
                          </a:solidFill>
                          <a:uFill>
                            <a:solidFill>
                              <a:srgbClr val="9AA8CC"/>
                            </a:solidFill>
                          </a:uFill>
                        </a:rPr>
                        <a:t>Truveta Data</a:t>
                      </a:r>
                      <a:r>
                        <a:rPr lang="en-US" sz="950" dirty="0">
                          <a:solidFill>
                            <a:schemeClr val="tx1"/>
                          </a:solidFill>
                        </a:rPr>
                        <a:t>: continuously refreshed EHR data from member health systems;</a:t>
                      </a:r>
                      <a:endParaRPr lang="en-US" sz="950" dirty="0"/>
                    </a:p>
                    <a:p>
                      <a:pPr indent="0" marL="0">
                        <a:spcBef>
                          <a:spcPts val="400"/>
                        </a:spcBef>
                        <a:buNone/>
                      </a:pPr>
                      <a:r>
                        <a:rPr lang="en-US" sz="950" dirty="0" u="sng">
                          <a:solidFill>
                            <a:srgbClr val="002677"/>
                          </a:solidFill>
                          <a:uFill>
                            <a:solidFill>
                              <a:srgbClr val="9AA8CC"/>
                            </a:solidFill>
                          </a:uFill>
                        </a:rPr>
                        <a:t>Norstella’s </a:t>
                      </a:r>
                      <a:r>
                        <a:rPr lang="en-US" sz="950" dirty="0" b="1" u="sng">
                          <a:solidFill>
                            <a:srgbClr val="002677"/>
                          </a:solidFill>
                          <a:uFill>
                            <a:solidFill>
                              <a:srgbClr val="9AA8CC"/>
                            </a:solidFill>
                          </a:uFill>
                        </a:rPr>
                        <a:t>NorstellaLinQ</a:t>
                      </a:r>
                      <a:r>
                        <a:rPr lang="en-US" sz="950" dirty="0">
                          <a:solidFill>
                            <a:schemeClr val="tx1"/>
                          </a:solidFill>
                        </a:rPr>
                        <a:t>: patient data, plus Citeline trial, Evaluate commercial and MMIT payer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rgbClr val="1A1A1A"/>
                          </a:solidFill>
                        </a:rPr>
                        <a:t>What launches lead with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63181">
                <a:tc>
                  <a:txBody>
                    <a:bodyPr/>
                    <a:lstStyle/>
                    <a:p>
                      <a:pPr algn="ctr" indent="0" marL="0">
                        <a:buNone/>
                      </a:pPr>
                      <a:r>
                        <a:rPr lang="en-US" sz="1050" b="1" dirty="0">
                          <a:solidFill>
                            <a:schemeClr val="accent1"/>
                          </a:solidFill>
                        </a:rPr>
                        <a:t>Execution and</a:t>
                      </a:r>
                      <a:br>
                        <a:rPr lang="en-US" sz="1050" b="1" dirty="0">
                          <a:solidFill>
                            <a:schemeClr val="accent1"/>
                          </a:solidFill>
                        </a:rPr>
                      </a:br>
                      <a:r>
                        <a:rPr lang="en-US" sz="1050" b="1" dirty="0">
                          <a:solidFill>
                            <a:schemeClr val="accent1"/>
                          </a:solidFill>
                        </a:rPr>
                        <a:t>controls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u="sng">
                          <a:solidFill>
                            <a:srgbClr val="002677"/>
                          </a:solidFill>
                          <a:uFill>
                            <a:solidFill>
                              <a:srgbClr val="9AA8CC"/>
                            </a:solidFill>
                          </a:uFill>
                        </a:rPr>
                        <a:t>Komodo Health’s </a:t>
                      </a:r>
                      <a:r>
                        <a:rPr lang="en-US" sz="950" dirty="0" b="1" u="sng">
                          <a:solidFill>
                            <a:srgbClr val="002677"/>
                          </a:solidFill>
                          <a:uFill>
                            <a:solidFill>
                              <a:srgbClr val="9AA8CC"/>
                            </a:solidFill>
                          </a:uFill>
                        </a:rPr>
                        <a:t>Marmot</a:t>
                      </a:r>
                      <a:r>
                        <a:rPr lang="en-US" sz="950" dirty="0">
                          <a:solidFill>
                            <a:schemeClr val="tx1"/>
                          </a:solidFill>
                        </a:rPr>
                        <a:t>: “</a:t>
                      </a:r>
                      <a:r>
                        <a:rPr lang="en-US" sz="950" dirty="0" u="sng">
                          <a:solidFill>
                            <a:srgbClr val="002677"/>
                          </a:solidFill>
                          <a:uFill>
                            <a:solidFill>
                              <a:srgbClr val="9AA8CC"/>
                            </a:solidFill>
                          </a:uFill>
                        </a:rPr>
                        <a:t>The LLM never touches numbers.</a:t>
                      </a:r>
                      <a:r>
                        <a:rPr lang="en-US" sz="950" dirty="0">
                          <a:solidFill>
                            <a:schemeClr val="tx1"/>
                          </a:solidFill>
                        </a:rPr>
                        <a:t>”;</a:t>
                      </a:r>
                      <a:endParaRPr lang="en-US" sz="950" dirty="0"/>
                    </a:p>
                    <a:p>
                      <a:pPr indent="0" marL="0">
                        <a:spcBef>
                          <a:spcPts val="400"/>
                        </a:spcBef>
                        <a:buNone/>
                      </a:pPr>
                      <a:r>
                        <a:rPr lang="en-US" sz="950" dirty="0" u="sng">
                          <a:solidFill>
                            <a:srgbClr val="002677"/>
                          </a:solidFill>
                          <a:uFill>
                            <a:solidFill>
                              <a:srgbClr val="9AA8CC"/>
                            </a:solidFill>
                          </a:uFill>
                        </a:rPr>
                        <a:t>HealthVerity’s </a:t>
                      </a:r>
                      <a:r>
                        <a:rPr lang="en-US" sz="950" dirty="0" b="1" u="sng">
                          <a:solidFill>
                            <a:srgbClr val="002677"/>
                          </a:solidFill>
                          <a:uFill>
                            <a:solidFill>
                              <a:srgbClr val="9AA8CC"/>
                            </a:solidFill>
                          </a:uFill>
                        </a:rPr>
                        <a:t>eXOs</a:t>
                      </a:r>
                      <a:r>
                        <a:rPr lang="en-US" sz="950" dirty="0">
                          <a:solidFill>
                            <a:schemeClr val="tx1"/>
                          </a:solidFill>
                        </a:rPr>
                        <a:t>: “</a:t>
                      </a:r>
                      <a:r>
                        <a:rPr lang="en-US" sz="950" dirty="0" u="sng">
                          <a:solidFill>
                            <a:srgbClr val="002677"/>
                          </a:solidFill>
                          <a:uFill>
                            <a:solidFill>
                              <a:srgbClr val="9AA8CC"/>
                            </a:solidFill>
                          </a:uFill>
                        </a:rPr>
                        <a:t>nothing runs until you review, edit and approve it.</a:t>
                      </a:r>
                      <a:r>
                        <a:rPr lang="en-US" sz="950" dirty="0">
                          <a:solidFill>
                            <a:schemeClr val="tx1"/>
                          </a:solidFill>
                        </a:rPr>
                        <a:t>”;</a:t>
                      </a:r>
                      <a:endParaRPr lang="en-US" sz="950" dirty="0"/>
                    </a:p>
                    <a:p>
                      <a:pPr indent="0" marL="0">
                        <a:spcBef>
                          <a:spcPts val="400"/>
                        </a:spcBef>
                        <a:buNone/>
                      </a:pPr>
                      <a:r>
                        <a:rPr lang="en-US" sz="950" dirty="0" u="sng">
                          <a:solidFill>
                            <a:srgbClr val="002677"/>
                          </a:solidFill>
                          <a:uFill>
                            <a:solidFill>
                              <a:srgbClr val="9AA8CC"/>
                            </a:solidFill>
                          </a:uFill>
                        </a:rPr>
                        <a:t>Veeva’s </a:t>
                      </a:r>
                      <a:r>
                        <a:rPr lang="en-US" sz="950" dirty="0" b="1" u="sng">
                          <a:solidFill>
                            <a:srgbClr val="002677"/>
                          </a:solidFill>
                          <a:uFill>
                            <a:solidFill>
                              <a:srgbClr val="9AA8CC"/>
                            </a:solidFill>
                          </a:uFill>
                        </a:rPr>
                        <a:t>EDC AI Tab</a:t>
                      </a:r>
                      <a:r>
                        <a:rPr lang="en-US" sz="950" dirty="0">
                          <a:solidFill>
                            <a:schemeClr val="tx1"/>
                          </a:solidFill>
                        </a:rPr>
                        <a:t>: reads no site-entered casebook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rgbClr val="1A1A1A"/>
                          </a:solidFill>
                        </a:rPr>
                        <a:t>How AI work is constrained and checked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49668">
                <a:tc>
                  <a:txBody>
                    <a:bodyPr/>
                    <a:lstStyle/>
                    <a:p>
                      <a:pPr algn="ctr" indent="0" marL="0">
                        <a:buNone/>
                      </a:pPr>
                      <a:r>
                        <a:rPr lang="en-US" sz="1050" b="1" dirty="0">
                          <a:solidFill>
                            <a:schemeClr val="accent1"/>
                          </a:solidFill>
                        </a:rPr>
                        <a:t>Interface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Most build chat into their own products; some also design for other companies’ assistants, platforms or APIs:</a:t>
                      </a:r>
                      <a:endParaRPr lang="en-US" sz="950" dirty="0"/>
                    </a:p>
                    <a:p>
                      <a:pPr indent="0" marL="0">
                        <a:spcBef>
                          <a:spcPts val="400"/>
                        </a:spcBef>
                        <a:buNone/>
                      </a:pPr>
                      <a:r>
                        <a:rPr lang="en-US" sz="950" dirty="0" u="sng">
                          <a:solidFill>
                            <a:srgbClr val="002677"/>
                          </a:solidFill>
                          <a:uFill>
                            <a:solidFill>
                              <a:srgbClr val="9AA8CC"/>
                            </a:solidFill>
                          </a:uFill>
                        </a:rPr>
                        <a:t>Verana Health’s </a:t>
                      </a:r>
                      <a:r>
                        <a:rPr lang="en-US" sz="950" dirty="0" b="1" u="sng">
                          <a:solidFill>
                            <a:srgbClr val="002677"/>
                          </a:solidFill>
                          <a:uFill>
                            <a:solidFill>
                              <a:srgbClr val="9AA8CC"/>
                            </a:solidFill>
                          </a:uFill>
                        </a:rPr>
                        <a:t>Agent Claire</a:t>
                      </a:r>
                      <a:r>
                        <a:rPr lang="en-US" sz="950" dirty="0">
                          <a:solidFill>
                            <a:schemeClr val="tx1"/>
                          </a:solidFill>
                        </a:rPr>
                        <a:t>: callable from Claude, Gemini and Copilot;</a:t>
                      </a:r>
                      <a:endParaRPr lang="en-US" sz="950" dirty="0"/>
                    </a:p>
                    <a:p>
                      <a:pPr indent="0" marL="0">
                        <a:spcBef>
                          <a:spcPts val="400"/>
                        </a:spcBef>
                        <a:buNone/>
                      </a:pPr>
                      <a:r>
                        <a:rPr lang="en-US" sz="950" dirty="0" u="sng">
                          <a:solidFill>
                            <a:srgbClr val="002677"/>
                          </a:solidFill>
                          <a:uFill>
                            <a:solidFill>
                              <a:srgbClr val="9AA8CC"/>
                            </a:solidFill>
                          </a:uFill>
                        </a:rPr>
                        <a:t>ZS’s </a:t>
                      </a:r>
                      <a:r>
                        <a:rPr lang="en-US" sz="950" dirty="0" b="1" u="sng">
                          <a:solidFill>
                            <a:srgbClr val="002677"/>
                          </a:solidFill>
                          <a:uFill>
                            <a:solidFill>
                              <a:srgbClr val="9AA8CC"/>
                            </a:solidFill>
                          </a:uFill>
                        </a:rPr>
                        <a:t>ZAIDYN</a:t>
                      </a:r>
                      <a:r>
                        <a:rPr lang="en-US" sz="950" dirty="0">
                          <a:solidFill>
                            <a:schemeClr val="tx1"/>
                          </a:solidFill>
                        </a:rPr>
                        <a:t>: brought into Salesforce’s Agentforce Life Sciences;</a:t>
                      </a:r>
                      <a:endParaRPr lang="en-US" sz="950" dirty="0"/>
                    </a:p>
                    <a:p>
                      <a:pPr indent="0" marL="0">
                        <a:spcBef>
                          <a:spcPts val="400"/>
                        </a:spcBef>
                        <a:buNone/>
                      </a:pPr>
                      <a:r>
                        <a:rPr lang="en-US" sz="950" dirty="0" u="sng">
                          <a:solidFill>
                            <a:srgbClr val="002677"/>
                          </a:solidFill>
                          <a:uFill>
                            <a:solidFill>
                              <a:srgbClr val="9AA8CC"/>
                            </a:solidFill>
                          </a:uFill>
                        </a:rPr>
                        <a:t>TriNetX’s </a:t>
                      </a:r>
                      <a:r>
                        <a:rPr lang="en-US" sz="950" dirty="0" b="1" u="sng">
                          <a:solidFill>
                            <a:srgbClr val="002677"/>
                          </a:solidFill>
                          <a:uFill>
                            <a:solidFill>
                              <a:srgbClr val="9AA8CC"/>
                            </a:solidFill>
                          </a:uFill>
                        </a:rPr>
                        <a:t>LIVE API</a:t>
                      </a:r>
                      <a:r>
                        <a:rPr lang="en-US" sz="950" dirty="0">
                          <a:solidFill>
                            <a:schemeClr val="tx1"/>
                          </a:solidFill>
                        </a:rPr>
                        <a:t>: conversational AI integration through enhanced API capabilities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rgbClr val="1A1A1A"/>
                          </a:solidFill>
                        </a:rPr>
                        <a:t>Not always the vendor’s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27" name="supplier and seller card"/>
          <p:cNvSpPr/>
          <p:nvPr/>
        </p:nvSpPr>
        <p:spPr>
          <a:xfrm>
            <a:off x="548640" y="4832604"/>
            <a:ext cx="5454396" cy="122072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8" name="label"/>
          <p:cNvSpPr txBox="1"/>
          <p:nvPr/>
        </p:nvSpPr>
        <p:spPr>
          <a:xfrm>
            <a:off x="749808" y="501548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SUPPLIER AND SELLER</a:t>
            </a:r>
            <a:endParaRPr lang="en-US" sz="1300" dirty="0"/>
          </a:p>
        </p:txBody>
      </p:sp>
      <p:sp>
        <p:nvSpPr>
          <p:cNvPr id="29" name="Text 14"/>
          <p:cNvSpPr txBox="1"/>
          <p:nvPr/>
        </p:nvSpPr>
        <p:spPr>
          <a:xfrm>
            <a:off x="749808" y="5362956"/>
            <a:ext cx="5052060" cy="507491"/>
          </a:xfrm>
          <a:prstGeom prst="rect">
            <a:avLst/>
          </a:prstGeom>
          <a:noFill/>
          <a:ln/>
        </p:spPr>
        <p:txBody>
          <a:bodyPr wrap="square" lIns="0" tIns="0" rIns="0" bIns="0" rtlCol="0" anchor="t"/>
          <a:lstStyle/>
          <a:p>
            <a:pPr indent="0" marL="0">
              <a:buNone/>
            </a:pPr>
            <a:r>
              <a:rPr lang="en-US" sz="1050" b="1" dirty="0" u="sng">
                <a:solidFill>
                  <a:srgbClr val="002677"/>
                </a:solidFill>
                <a:uFill>
                  <a:solidFill>
                    <a:srgbClr val="9AA8CC"/>
                  </a:solidFill>
                </a:uFill>
              </a:rPr>
              <a:t>Medeloop powers HealthVerity’s eXOs</a:t>
            </a:r>
            <a:r>
              <a:rPr lang="en-US" sz="1050" b="1" dirty="0">
                <a:solidFill>
                  <a:schemeClr val="tx1"/>
                </a:solidFill>
              </a:rPr>
              <a:t> and also sells its own analytics platform, preloaded with “</a:t>
            </a:r>
            <a:r>
              <a:rPr lang="en-US" sz="1050" b="1" dirty="0" u="sng">
                <a:solidFill>
                  <a:srgbClr val="002677"/>
                </a:solidFill>
                <a:uFill>
                  <a:solidFill>
                    <a:srgbClr val="9AA8CC"/>
                  </a:solidFill>
                </a:uFill>
              </a:rPr>
              <a:t>38 million de-identified patients from HealthVerity’s all-payer claims dataset</a:t>
            </a:r>
            <a:r>
              <a:rPr lang="en-US" sz="1050" b="1" dirty="0">
                <a:solidFill>
                  <a:schemeClr val="tx1"/>
                </a:solidFill>
              </a:rPr>
              <a:t>.”</a:t>
            </a:r>
            <a:endParaRPr lang="en-US" sz="1050" dirty="0"/>
          </a:p>
        </p:txBody>
      </p:sp>
      <p:sp>
        <p:nvSpPr>
          <p:cNvPr id="30" name="the interface isn’t always the vendor’s card"/>
          <p:cNvSpPr/>
          <p:nvPr/>
        </p:nvSpPr>
        <p:spPr>
          <a:xfrm>
            <a:off x="6185916" y="4832604"/>
            <a:ext cx="5454396" cy="122072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31" name="label"/>
          <p:cNvSpPr txBox="1"/>
          <p:nvPr/>
        </p:nvSpPr>
        <p:spPr>
          <a:xfrm>
            <a:off x="6387084" y="5015484"/>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INTERFACE ISN’T ALWAYS THE VENDOR’S</a:t>
            </a:r>
            <a:endParaRPr lang="en-US" sz="1300" dirty="0"/>
          </a:p>
        </p:txBody>
      </p:sp>
      <p:sp>
        <p:nvSpPr>
          <p:cNvPr id="32" name="Text 14"/>
          <p:cNvSpPr txBox="1"/>
          <p:nvPr/>
        </p:nvSpPr>
        <p:spPr>
          <a:xfrm>
            <a:off x="6387084" y="5362956"/>
            <a:ext cx="5052060" cy="507491"/>
          </a:xfrm>
          <a:prstGeom prst="rect">
            <a:avLst/>
          </a:prstGeom>
          <a:noFill/>
          <a:ln/>
        </p:spPr>
        <p:txBody>
          <a:bodyPr wrap="square" lIns="0" tIns="0" rIns="0" bIns="0" rtlCol="0" anchor="t"/>
          <a:lstStyle/>
          <a:p>
            <a:pPr indent="0" marL="0">
              <a:buNone/>
            </a:pPr>
            <a:r>
              <a:rPr lang="en-US" sz="1050" b="1" dirty="0">
                <a:solidFill>
                  <a:schemeClr val="tx1"/>
                </a:solidFill>
              </a:rPr>
              <a:t>Verana markets Agent Claire as </a:t>
            </a:r>
            <a:r>
              <a:rPr lang="en-US" sz="1050" b="1" dirty="0" u="sng">
                <a:solidFill>
                  <a:srgbClr val="002677"/>
                </a:solidFill>
                <a:uFill>
                  <a:solidFill>
                    <a:srgbClr val="9AA8CC"/>
                  </a:solidFill>
                </a:uFill>
              </a:rPr>
              <a:t>callable from Claude, Gemini and Copilot</a:t>
            </a:r>
            <a:r>
              <a:rPr lang="en-US" sz="1050" b="1" dirty="0">
                <a:solidFill>
                  <a:schemeClr val="tx1"/>
                </a:solidFill>
              </a:rPr>
              <a:t>; ZS has announced it is bringing ZAIDYN “</a:t>
            </a:r>
            <a:r>
              <a:rPr lang="en-US" sz="1050" b="1" dirty="0" u="sng">
                <a:solidFill>
                  <a:srgbClr val="002677"/>
                </a:solidFill>
                <a:uFill>
                  <a:solidFill>
                    <a:srgbClr val="9AA8CC"/>
                  </a:solidFill>
                </a:uFill>
              </a:rPr>
              <a:t>directly into Salesforce’s Agentforce Life Sciences</a:t>
            </a:r>
            <a:r>
              <a:rPr lang="en-US" sz="1050" b="1" dirty="0">
                <a:solidFill>
                  <a:schemeClr val="tx1"/>
                </a:solidFill>
              </a:rPr>
              <a:t>.”</a:t>
            </a:r>
            <a:endParaRPr lang="en-US" sz="1050" dirty="0"/>
          </a:p>
        </p:txBody>
      </p:sp>
      <p:sp>
        <p:nvSpPr>
          <p:cNvPr id="33"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11" name="Invisible source link 14: https://www.veeva.com/products/vault-ai/">
            <a:hlinkClick r:id="rId2"/>
          </p:cNvPr>
          <p:cNvSpPr/>
          <p:nvPr/>
        </p:nvSpPr>
        <p:spPr>
          <a:xfrm>
            <a:off x="2395435" y="1888135"/>
            <a:ext cx="92188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2" name="Invisible source link 14: https://www.iqvia.com/newsroom/2026/03/iqvia-unveils-iqvia-ai-a-unified-agentic-ai-platform">
            <a:hlinkClick r:id="rId3"/>
          </p:cNvPr>
          <p:cNvSpPr/>
          <p:nvPr/>
        </p:nvSpPr>
        <p:spPr>
          <a:xfrm>
            <a:off x="2395435" y="2074622"/>
            <a:ext cx="92333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3" name="Invisible source link 14: https://www.iqvia.com/blogs/2025/12/introducing-iqvia-med-r1-deep-research-agent">
            <a:hlinkClick r:id="rId4"/>
          </p:cNvPr>
          <p:cNvSpPr/>
          <p:nvPr/>
        </p:nvSpPr>
        <p:spPr>
          <a:xfrm>
            <a:off x="4375073" y="2074622"/>
            <a:ext cx="46793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4" name="Invisible source link 14: https://lens.tempus.com/">
            <a:hlinkClick r:id="rId5"/>
          </p:cNvPr>
          <p:cNvSpPr/>
          <p:nvPr/>
        </p:nvSpPr>
        <p:spPr>
          <a:xfrm>
            <a:off x="2395435" y="2261096"/>
            <a:ext cx="85349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5" name="Invisible source link 14: https://www.komodohealth.com/product/healthcare-map/">
            <a:hlinkClick r:id="rId6"/>
          </p:cNvPr>
          <p:cNvSpPr/>
          <p:nvPr/>
        </p:nvSpPr>
        <p:spPr>
          <a:xfrm>
            <a:off x="2395435" y="2551253"/>
            <a:ext cx="186977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6" name="Invisible source link 14: https://www.komodohealth.com/press/komodo-health-introduces-marmot-the-ai-built-to-accelerate-healthcare-innovation/">
            <a:hlinkClick r:id="rId7"/>
          </p:cNvPr>
          <p:cNvSpPr/>
          <p:nvPr/>
        </p:nvSpPr>
        <p:spPr>
          <a:xfrm>
            <a:off x="5903645" y="2551253"/>
            <a:ext cx="46792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7" name="Invisible source link 14: https://www.truveta.com/blog/data/approach-to-real-world-data-quality/">
            <a:hlinkClick r:id="rId8"/>
          </p:cNvPr>
          <p:cNvSpPr/>
          <p:nvPr/>
        </p:nvSpPr>
        <p:spPr>
          <a:xfrm>
            <a:off x="2395435" y="2737740"/>
            <a:ext cx="127720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8" name="Invisible source link 14: https://www.norstella.com/press-releases/norstella-introduces-norstellalinq/">
            <a:hlinkClick r:id="rId9"/>
          </p:cNvPr>
          <p:cNvSpPr/>
          <p:nvPr/>
        </p:nvSpPr>
        <p:spPr>
          <a:xfrm>
            <a:off x="2395435" y="2924214"/>
            <a:ext cx="141436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9" name="Invisible source link 14: https://www.komodohealth.com/perspectives/building-the-framework-for-trusted-ai-in-healthcare/">
            <a:hlinkClick r:id="rId10"/>
          </p:cNvPr>
          <p:cNvSpPr/>
          <p:nvPr/>
        </p:nvSpPr>
        <p:spPr>
          <a:xfrm>
            <a:off x="2395435" y="3214371"/>
            <a:ext cx="141581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0" name="Invisible source link 14: https://healthverity.com/exos/">
            <a:hlinkClick r:id="rId11"/>
          </p:cNvPr>
          <p:cNvSpPr/>
          <p:nvPr/>
        </p:nvSpPr>
        <p:spPr>
          <a:xfrm>
            <a:off x="2395435" y="3400858"/>
            <a:ext cx="110764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1" name="Invisible source link 14: https://clinicaldata.veevavault.help/en/lr/rn/limited-releases/26r3/new-features/">
            <a:hlinkClick r:id="rId12"/>
          </p:cNvPr>
          <p:cNvSpPr/>
          <p:nvPr/>
        </p:nvSpPr>
        <p:spPr>
          <a:xfrm>
            <a:off x="2395435" y="3587332"/>
            <a:ext cx="1127447"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14: https://veranahealth.com/verana-health-introduces-new-ai-agents-to-expedite-and-streamline-rd-tasks/">
            <a:hlinkClick r:id="rId13"/>
          </p:cNvPr>
          <p:cNvSpPr/>
          <p:nvPr/>
        </p:nvSpPr>
        <p:spPr>
          <a:xfrm>
            <a:off x="2395435" y="4063976"/>
            <a:ext cx="162316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3" name="Invisible source link 14: https://www.zs.com/about/newsroom/zs-press-salesforce-zaidyn-crm">
            <a:hlinkClick r:id="rId14"/>
          </p:cNvPr>
          <p:cNvSpPr/>
          <p:nvPr/>
        </p:nvSpPr>
        <p:spPr>
          <a:xfrm>
            <a:off x="2395435" y="4250462"/>
            <a:ext cx="75305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14: https://trinetx.com/blog/trinetx-named-best-of-show-finalist-at-scope-advancing-clinical-trial-planning-with-conversational-ai-and-enhanced-api-capabilities/">
            <a:hlinkClick r:id="rId15"/>
          </p:cNvPr>
          <p:cNvSpPr/>
          <p:nvPr/>
        </p:nvSpPr>
        <p:spPr>
          <a:xfrm>
            <a:off x="2395435" y="4436937"/>
            <a:ext cx="105148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14: https://healthverity.com/news/announcing-healthverity-exos/">
            <a:hlinkClick r:id="rId16"/>
          </p:cNvPr>
          <p:cNvSpPr/>
          <p:nvPr/>
        </p:nvSpPr>
        <p:spPr>
          <a:xfrm>
            <a:off x="749515" y="5375216"/>
            <a:ext cx="240088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14: https://medeloop.ai/analytics">
            <a:hlinkClick r:id="rId17"/>
          </p:cNvPr>
          <p:cNvSpPr/>
          <p:nvPr/>
        </p:nvSpPr>
        <p:spPr>
          <a:xfrm>
            <a:off x="1720659" y="5535058"/>
            <a:ext cx="386406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14: https://medeloop.ai/analytics">
            <a:hlinkClick r:id="rId17"/>
          </p:cNvPr>
          <p:cNvSpPr/>
          <p:nvPr/>
        </p:nvSpPr>
        <p:spPr>
          <a:xfrm>
            <a:off x="749515" y="5694900"/>
            <a:ext cx="101619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14: https://veranahealth.com/verana-health-introduces-new-ai-agents-to-expedite-and-streamline-rd-tasks/">
            <a:hlinkClick r:id="rId13"/>
          </p:cNvPr>
          <p:cNvSpPr/>
          <p:nvPr/>
        </p:nvSpPr>
        <p:spPr>
          <a:xfrm>
            <a:off x="8399881" y="5375216"/>
            <a:ext cx="2629147"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14: https://www.zs.com/about/newsroom/zs-press-salesforce-zaidyn-crm">
            <a:hlinkClick r:id="rId14"/>
          </p:cNvPr>
          <p:cNvSpPr/>
          <p:nvPr/>
        </p:nvSpPr>
        <p:spPr>
          <a:xfrm>
            <a:off x="8754607" y="5535058"/>
            <a:ext cx="2633983"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14: https://www.zs.com/about/newsroom/zs-press-salesforce-zaidyn-crm">
            <a:hlinkClick r:id="rId14"/>
          </p:cNvPr>
          <p:cNvSpPr/>
          <p:nvPr/>
        </p:nvSpPr>
        <p:spPr>
          <a:xfrm>
            <a:off x="6386753" y="5694900"/>
            <a:ext cx="67778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14: https://www.komodohealth.com/perspectives/building-the-framework-for-trusted-ai-in-healthcare/">
            <a:hlinkClick r:id="rId10"/>
          </p:cNvPr>
          <p:cNvSpPr/>
          <p:nvPr/>
        </p:nvSpPr>
        <p:spPr>
          <a:xfrm>
            <a:off x="3843328" y="3214371"/>
            <a:ext cx="191403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14: https://healthverity.com/exos/">
            <a:hlinkClick r:id="rId11"/>
          </p:cNvPr>
          <p:cNvSpPr/>
          <p:nvPr/>
        </p:nvSpPr>
        <p:spPr>
          <a:xfrm>
            <a:off x="3535163" y="3400858"/>
            <a:ext cx="2722953"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THE MODEL SUPPLIERS: LLM PROVIDERS IN LIFE SCIENCES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LLM providers are entering pharma through research workbenches</a:t>
            </a:r>
            <a:br>
              <a:rPr lang="en-US" sz="2200" b="1" dirty="0">
                <a:solidFill>
                  <a:schemeClr val="accent1"/>
                </a:solidFill>
              </a:rPr>
            </a:br>
            <a:r>
              <a:rPr lang="en-US" sz="2200" b="1" dirty="0">
                <a:solidFill>
                  <a:schemeClr val="accent1"/>
                </a:solidFill>
              </a:rPr>
              <a:t>and enterprise deployments, not patient-level data</a:t>
            </a:r>
            <a:endParaRPr lang="en-US" sz="2200" dirty="0"/>
          </a:p>
        </p:txBody>
      </p:sp>
      <p:sp>
        <p:nvSpPr>
          <p:cNvPr id="4" name="label"/>
          <p:cNvSpPr txBox="1"/>
          <p:nvPr/>
        </p:nvSpPr>
        <p:spPr>
          <a:xfrm>
            <a:off x="548640" y="1828800"/>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THREE WAYS LLM PROVIDERS REACH OPTUM LS’S CUSTOMERS</a:t>
            </a:r>
            <a:endParaRPr lang="en-US" sz="10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2075688"/>
          <a:ext cx="11091672" cy="2871215"/>
        </p:xfrm>
        <a:graphic>
          <a:graphicData uri="http://schemas.openxmlformats.org/drawingml/2006/table">
            <a:tbl>
              <a:tblPr/>
              <a:tblGrid>
                <a:gridCol w="1554480"/>
                <a:gridCol w="1234440"/>
                <a:gridCol w="5029200"/>
                <a:gridCol w="3273552"/>
              </a:tblGrid>
              <a:tr h="402336">
                <a:tc>
                  <a:txBody>
                    <a:bodyPr/>
                    <a:lstStyle/>
                    <a:p>
                      <a:pPr indent="0" marL="0" algn="ctr">
                        <a:buNone/>
                      </a:pPr>
                      <a:r>
                        <a:rPr lang="en-US" sz="850" b="1" spc="100" kern="0" dirty="0">
                          <a:solidFill>
                            <a:schemeClr val="bg1"/>
                          </a:solidFill>
                        </a:rPr>
                        <a:t>APPROACH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lgn="ctr">
                        <a:buNone/>
                      </a:pPr>
                      <a:r>
                        <a:rPr lang="en-US" sz="850" b="1" spc="100" kern="0" dirty="0">
                          <a:solidFill>
                            <a:schemeClr val="bg1"/>
                          </a:solidFill>
                        </a:rPr>
                        <a:t>LAYER REACHED</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lgn="ctr">
                        <a:buNone/>
                      </a:pPr>
                      <a:r>
                        <a:rPr lang="en-US" sz="850" b="1" spc="100" kern="0" dirty="0">
                          <a:solidFill>
                            <a:schemeClr val="bg1"/>
                          </a:solidFill>
                        </a:rPr>
                        <a:t>SELECTED PUBLIC DEVELOPMENTS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lgn="ctr">
                        <a:buNone/>
                      </a:pPr>
                      <a:r>
                        <a:rPr lang="en-US" sz="850" b="1" spc="100" kern="0" dirty="0">
                          <a:solidFill>
                            <a:schemeClr val="bg1"/>
                          </a:solidFill>
                        </a:rPr>
                        <a:t>COMPETITIVE SIGNIFICANCE FOR OPTUM LS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99761">
                <a:tc>
                  <a:txBody>
                    <a:bodyPr/>
                    <a:lstStyle/>
                    <a:p>
                      <a:pPr algn="ctr" indent="0" marL="0">
                        <a:buNone/>
                      </a:pPr>
                      <a:r>
                        <a:rPr lang="en-US" sz="1000" b="1" dirty="0">
                          <a:solidFill>
                            <a:schemeClr val="accent1"/>
                          </a:solidFill>
                        </a:rPr>
                        <a:t>Own research workbenches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lgn="ctr">
                        <a:buNone/>
                      </a:pPr>
                      <a:r>
                        <a:rPr lang="en-US" sz="950" dirty="0" b="1">
                          <a:solidFill>
                            <a:srgbClr val="1A1A1A"/>
                          </a:solidFill>
                        </a:rPr>
                        <a:t>Interface</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00" dirty="0" b="1">
                          <a:solidFill>
                            <a:schemeClr val="tx1"/>
                          </a:solidFill>
                        </a:rPr>
                        <a:t>Anthropic’s </a:t>
                      </a:r>
                      <a:r>
                        <a:rPr lang="en-US" sz="900" dirty="0" b="1" u="sng">
                          <a:solidFill>
                            <a:srgbClr val="002677"/>
                          </a:solidFill>
                          <a:uFill>
                            <a:solidFill>
                              <a:srgbClr val="9AA8CC"/>
                            </a:solidFill>
                          </a:uFill>
                        </a:rPr>
                        <a:t>Claude Science</a:t>
                      </a:r>
                      <a:r>
                        <a:rPr lang="en-US" sz="900" dirty="0">
                          <a:solidFill>
                            <a:schemeClr val="tx1"/>
                          </a:solidFill>
                        </a:rPr>
                        <a:t> (beta, June 2026): “</a:t>
                      </a:r>
                      <a:r>
                        <a:rPr lang="en-US" sz="900" dirty="0" u="sng">
                          <a:solidFill>
                            <a:srgbClr val="002677"/>
                          </a:solidFill>
                          <a:uFill>
                            <a:solidFill>
                              <a:srgbClr val="9AA8CC"/>
                            </a:solidFill>
                          </a:uFill>
                        </a:rPr>
                        <a:t>over 60 curated skills and connectors</a:t>
                      </a:r>
                      <a:r>
                        <a:rPr lang="en-US" sz="900" dirty="0">
                          <a:solidFill>
                            <a:schemeClr val="tx1"/>
                          </a:solidFill>
                        </a:rPr>
                        <a:t>,” drawing on public databases such as UniProt and ClinVar plus users’ own data;</a:t>
                      </a:r>
                      <a:endParaRPr lang="en-US" sz="900" dirty="0"/>
                    </a:p>
                    <a:p>
                      <a:pPr indent="0" marL="0">
                        <a:spcBef>
                          <a:spcPts val="200"/>
                        </a:spcBef>
                        <a:buNone/>
                      </a:pPr>
                      <a:r>
                        <a:rPr lang="en-US" sz="900" dirty="0" b="1">
                          <a:solidFill>
                            <a:schemeClr val="tx1"/>
                          </a:solidFill>
                        </a:rPr>
                        <a:t>OpenAI’s </a:t>
                      </a:r>
                      <a:r>
                        <a:rPr lang="en-US" sz="900" dirty="0" b="1" u="sng">
                          <a:solidFill>
                            <a:srgbClr val="002677"/>
                          </a:solidFill>
                          <a:uFill>
                            <a:solidFill>
                              <a:srgbClr val="9AA8CC"/>
                            </a:solidFill>
                          </a:uFill>
                        </a:rPr>
                        <a:t>GPT-Rosalind</a:t>
                      </a:r>
                      <a:r>
                        <a:rPr lang="en-US" sz="900" dirty="0">
                          <a:solidFill>
                            <a:schemeClr val="tx1"/>
                          </a:solidFill>
                        </a:rPr>
                        <a:t>: trusted access for eligible organizations since September 2026;</a:t>
                      </a:r>
                      <a:endParaRPr lang="en-US" sz="900" dirty="0"/>
                    </a:p>
                    <a:p>
                      <a:pPr indent="0" marL="0">
                        <a:spcBef>
                          <a:spcPts val="200"/>
                        </a:spcBef>
                        <a:buNone/>
                      </a:pPr>
                      <a:r>
                        <a:rPr lang="en-US" sz="900" dirty="0" b="1" u="sng">
                          <a:solidFill>
                            <a:srgbClr val="002677"/>
                          </a:solidFill>
                          <a:uFill>
                            <a:solidFill>
                              <a:srgbClr val="9AA8CC"/>
                            </a:solidFill>
                          </a:uFill>
                        </a:rPr>
                        <a:t>Microsoft Discovery</a:t>
                      </a:r>
                      <a:r>
                        <a:rPr lang="en-US" sz="900" dirty="0">
                          <a:solidFill>
                            <a:schemeClr val="tx1"/>
                          </a:solidFill>
                        </a:rPr>
                        <a:t>: generally available June 2026, with GSK named;</a:t>
                      </a:r>
                      <a:endParaRPr lang="en-US" sz="900" dirty="0"/>
                    </a:p>
                    <a:p>
                      <a:pPr indent="0" marL="0">
                        <a:spcBef>
                          <a:spcPts val="200"/>
                        </a:spcBef>
                        <a:buNone/>
                      </a:pPr>
                      <a:r>
                        <a:rPr lang="en-US" sz="900" dirty="0" b="1">
                          <a:solidFill>
                            <a:schemeClr val="tx1"/>
                          </a:solidFill>
                        </a:rPr>
                        <a:t>Google’s </a:t>
                      </a:r>
                      <a:r>
                        <a:rPr lang="en-US" sz="900" dirty="0" b="1" u="sng">
                          <a:solidFill>
                            <a:srgbClr val="002677"/>
                          </a:solidFill>
                          <a:uFill>
                            <a:solidFill>
                              <a:srgbClr val="9AA8CC"/>
                            </a:solidFill>
                          </a:uFill>
                        </a:rPr>
                        <a:t>Co-Scientist</a:t>
                      </a:r>
                      <a:r>
                        <a:rPr lang="en-US" sz="900" dirty="0">
                          <a:solidFill>
                            <a:schemeClr val="tx1"/>
                          </a:solidFill>
                        </a:rPr>
                        <a:t>: enterprise preview that includes Daiichi Sankyo</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050" dirty="0">
                          <a:solidFill>
                            <a:schemeClr val="tx1"/>
                          </a:solidFill>
                        </a:rPr>
                        <a:t>Discovery-stage research on public and customer data; little overlap with RWE, commercial or HEOR</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48643">
                <a:tc>
                  <a:txBody>
                    <a:bodyPr/>
                    <a:lstStyle/>
                    <a:p>
                      <a:pPr algn="ctr" indent="0" marL="0">
                        <a:buNone/>
                      </a:pPr>
                      <a:r>
                        <a:rPr lang="en-US" sz="1000" b="1" dirty="0">
                          <a:solidFill>
                            <a:schemeClr val="accent1"/>
                          </a:solidFill>
                        </a:rPr>
                        <a:t>Become pharma’s enterprise layer</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lgn="ctr">
                        <a:buNone/>
                      </a:pPr>
                      <a:r>
                        <a:rPr lang="en-US" sz="950" dirty="0" b="1">
                          <a:solidFill>
                            <a:srgbClr val="1A1A1A"/>
                          </a:solidFill>
                        </a:rPr>
                        <a:t>Interface and workflow</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b="1" u="sng">
                          <a:solidFill>
                            <a:srgbClr val="002677"/>
                          </a:solidFill>
                          <a:uFill>
                            <a:solidFill>
                              <a:srgbClr val="9AA8CC"/>
                            </a:solidFill>
                          </a:uFill>
                        </a:rPr>
                        <a:t>BMS</a:t>
                      </a:r>
                      <a:r>
                        <a:rPr lang="en-US" sz="900" dirty="0">
                          <a:solidFill>
                            <a:schemeClr val="tx1"/>
                          </a:solidFill>
                        </a:rPr>
                        <a:t>: positions “</a:t>
                      </a:r>
                      <a:r>
                        <a:rPr lang="en-US" sz="900" dirty="0" u="sng">
                          <a:solidFill>
                            <a:srgbClr val="002677"/>
                          </a:solidFill>
                          <a:uFill>
                            <a:solidFill>
                              <a:srgbClr val="9AA8CC"/>
                            </a:solidFill>
                          </a:uFill>
                        </a:rPr>
                        <a:t>Claude Enterprise as the Shared Intelligence Platform</a:t>
                      </a:r>
                      <a:r>
                        <a:rPr lang="en-US" sz="900" dirty="0">
                          <a:solidFill>
                            <a:schemeClr val="tx1"/>
                          </a:solidFill>
                        </a:rPr>
                        <a:t>” across research, clinical, commercial and corporate functions, including “</a:t>
                      </a:r>
                      <a:r>
                        <a:rPr lang="en-US" sz="900" dirty="0" u="sng">
                          <a:solidFill>
                            <a:srgbClr val="002677"/>
                          </a:solidFill>
                          <a:uFill>
                            <a:solidFill>
                              <a:srgbClr val="9AA8CC"/>
                            </a:solidFill>
                          </a:uFill>
                        </a:rPr>
                        <a:t>turning field insights into structured intelligence</a:t>
                      </a:r>
                      <a:r>
                        <a:rPr lang="en-US" sz="900" dirty="0">
                          <a:solidFill>
                            <a:schemeClr val="tx1"/>
                          </a:solidFill>
                        </a:rPr>
                        <a:t>” for HCP engagement;</a:t>
                      </a:r>
                      <a:endParaRPr lang="en-US" sz="900" dirty="0"/>
                    </a:p>
                    <a:p>
                      <a:pPr indent="0" marL="0">
                        <a:spcBef>
                          <a:spcPts val="200"/>
                        </a:spcBef>
                        <a:buNone/>
                      </a:pPr>
                      <a:r>
                        <a:rPr lang="en-US" sz="900" dirty="0" b="1">
                          <a:solidFill>
                            <a:schemeClr val="tx1"/>
                          </a:solidFill>
                        </a:rPr>
                        <a:t>Novo Nordisk</a:t>
                      </a:r>
                      <a:r>
                        <a:rPr lang="en-US" sz="900" dirty="0">
                          <a:solidFill>
                            <a:schemeClr val="tx1"/>
                          </a:solidFill>
                        </a:rPr>
                        <a:t>: partnered with </a:t>
                      </a:r>
                      <a:r>
                        <a:rPr lang="en-US" sz="900" dirty="0" u="sng">
                          <a:solidFill>
                            <a:srgbClr val="002677"/>
                          </a:solidFill>
                          <a:uFill>
                            <a:solidFill>
                              <a:srgbClr val="9AA8CC"/>
                            </a:solidFill>
                          </a:uFill>
                        </a:rPr>
                        <a:t>OpenAI</a:t>
                      </a:r>
                      <a:r>
                        <a:rPr lang="en-US" sz="900" dirty="0">
                          <a:solidFill>
                            <a:schemeClr val="tx1"/>
                          </a:solidFill>
                        </a:rPr>
                        <a:t> (April 2026, reaching into “</a:t>
                      </a:r>
                      <a:r>
                        <a:rPr lang="en-US" sz="900" dirty="0" u="sng">
                          <a:solidFill>
                            <a:srgbClr val="002677"/>
                          </a:solidFill>
                          <a:uFill>
                            <a:solidFill>
                              <a:srgbClr val="9AA8CC"/>
                            </a:solidFill>
                          </a:uFill>
                        </a:rPr>
                        <a:t>commercial execution</a:t>
                      </a:r>
                      <a:r>
                        <a:rPr lang="en-US" sz="900" dirty="0">
                          <a:solidFill>
                            <a:schemeClr val="tx1"/>
                          </a:solidFill>
                        </a:rPr>
                        <a:t>”) and with </a:t>
                      </a:r>
                      <a:r>
                        <a:rPr lang="en-US" sz="900" dirty="0" u="sng">
                          <a:solidFill>
                            <a:srgbClr val="002677"/>
                          </a:solidFill>
                          <a:uFill>
                            <a:solidFill>
                              <a:srgbClr val="9AA8CC"/>
                            </a:solidFill>
                          </a:uFill>
                        </a:rPr>
                        <a:t>Anthropic</a:t>
                      </a:r>
                      <a:r>
                        <a:rPr lang="en-US" sz="900" dirty="0">
                          <a:solidFill>
                            <a:schemeClr val="tx1"/>
                          </a:solidFill>
                        </a:rPr>
                        <a:t> (September 2026)</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050" dirty="0">
                          <a:solidFill>
                            <a:schemeClr val="tx1"/>
                          </a:solidFill>
                        </a:rPr>
                        <a:t>The closest overlap with Optum LS: pharma companies analyze their own data and systems inside the provider’s assistant, including in commercial functions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20475">
                <a:tc>
                  <a:txBody>
                    <a:bodyPr/>
                    <a:lstStyle/>
                    <a:p>
                      <a:pPr algn="ctr" indent="0" marL="0">
                        <a:buNone/>
                      </a:pPr>
                      <a:r>
                        <a:rPr lang="en-US" sz="1000" b="1" dirty="0">
                          <a:solidFill>
                            <a:schemeClr val="accent1"/>
                          </a:solidFill>
                        </a:rPr>
                        <a:t>Acquire research capability and customers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lgn="ctr">
                        <a:buNone/>
                      </a:pPr>
                      <a:r>
                        <a:rPr lang="en-US" sz="950" dirty="0" b="1">
                          <a:solidFill>
                            <a:srgbClr val="1A1A1A"/>
                          </a:solidFill>
                        </a:rPr>
                        <a:t>Domain expertise</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b="1" u="sng">
                          <a:solidFill>
                            <a:srgbClr val="002677"/>
                          </a:solidFill>
                          <a:uFill>
                            <a:solidFill>
                              <a:srgbClr val="9AA8CC"/>
                            </a:solidFill>
                          </a:uFill>
                        </a:rPr>
                        <a:t>Cohere + Reliant AI</a:t>
                      </a:r>
                      <a:r>
                        <a:rPr lang="en-US" sz="900" dirty="0">
                          <a:solidFill>
                            <a:schemeClr val="tx1"/>
                          </a:solidFill>
                        </a:rPr>
                        <a:t> (May 2026): adds “</a:t>
                      </a:r>
                      <a:r>
                        <a:rPr lang="en-US" sz="900" dirty="0" u="sng">
                          <a:solidFill>
                            <a:srgbClr val="002677"/>
                          </a:solidFill>
                          <a:uFill>
                            <a:solidFill>
                              <a:srgbClr val="9AA8CC"/>
                            </a:solidFill>
                          </a:uFill>
                        </a:rPr>
                        <a:t>proprietary biomedical datasets</a:t>
                      </a:r>
                      <a:r>
                        <a:rPr lang="en-US" sz="900" dirty="0">
                          <a:solidFill>
                            <a:schemeClr val="tx1"/>
                          </a:solidFill>
                        </a:rPr>
                        <a:t>” and customers “</a:t>
                      </a:r>
                      <a:r>
                        <a:rPr lang="en-US" sz="900" dirty="0" u="sng">
                          <a:solidFill>
                            <a:srgbClr val="002677"/>
                          </a:solidFill>
                          <a:uFill>
                            <a:solidFill>
                              <a:srgbClr val="9AA8CC"/>
                            </a:solidFill>
                          </a:uFill>
                        </a:rPr>
                        <a:t>including GSK, Medicus Pharma, and Kyowa Kirin</a:t>
                      </a:r>
                      <a:r>
                        <a:rPr lang="en-US" sz="900" dirty="0">
                          <a:solidFill>
                            <a:schemeClr val="tx1"/>
                          </a:solidFill>
                        </a:rPr>
                        <a:t>”; North for Pharma is announced;</a:t>
                      </a:r>
                      <a:endParaRPr lang="en-US" sz="900" dirty="0"/>
                    </a:p>
                    <a:p>
                      <a:pPr indent="0" marL="0">
                        <a:spcBef>
                          <a:spcPts val="200"/>
                        </a:spcBef>
                        <a:buNone/>
                      </a:pPr>
                      <a:r>
                        <a:rPr lang="en-US" sz="900" dirty="0" b="1" u="sng">
                          <a:solidFill>
                            <a:srgbClr val="002677"/>
                          </a:solidFill>
                          <a:uFill>
                            <a:solidFill>
                              <a:srgbClr val="9AA8CC"/>
                            </a:solidFill>
                          </a:uFill>
                        </a:rPr>
                        <a:t>Anthropic + Coefficient Bio</a:t>
                      </a:r>
                      <a:r>
                        <a:rPr lang="en-US" sz="900" dirty="0">
                          <a:solidFill>
                            <a:schemeClr val="tx1"/>
                          </a:solidFill>
                        </a:rPr>
                        <a:t> (April 2026): a team of </a:t>
                      </a:r>
                      <a:r>
                        <a:rPr lang="en-US" sz="900" dirty="0" u="sng">
                          <a:solidFill>
                            <a:srgbClr val="002677"/>
                          </a:solidFill>
                          <a:uFill>
                            <a:solidFill>
                              <a:srgbClr val="9AA8CC"/>
                            </a:solidFill>
                          </a:uFill>
                        </a:rPr>
                        <a:t>fewer than 10</a:t>
                      </a:r>
                      <a:r>
                        <a:rPr lang="en-US" sz="900" dirty="0">
                          <a:solidFill>
                            <a:schemeClr val="tx1"/>
                          </a:solidFill>
                        </a:rPr>
                        <a:t> building biology-specific models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1050" dirty="0">
                          <a:solidFill>
                            <a:schemeClr val="tx1"/>
                          </a:solidFill>
                        </a:rPr>
                        <a:t>Research teams, literature-derived data and pharma accounts, not patient-level RWD</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6" name="strategic question card"/>
          <p:cNvSpPr/>
          <p:nvPr/>
        </p:nvSpPr>
        <p:spPr>
          <a:xfrm>
            <a:off x="548640" y="5129784"/>
            <a:ext cx="11091672" cy="923544"/>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icon circle"/>
          <p:cNvSpPr/>
          <p:nvPr/>
        </p:nvSpPr>
        <p:spPr>
          <a:xfrm>
            <a:off x="749808" y="5390388"/>
            <a:ext cx="402336" cy="402336"/>
          </a:xfrm>
          <a:prstGeom prst="ellipse">
            <a:avLst/>
          </a:prstGeom>
          <a:solidFill>
            <a:schemeClr val="accent5"/>
          </a:solidFill>
          <a:ln/>
        </p:spPr>
        <p:txBody>
          <a:bodyPr/>
          <a:p/>
        </p:txBody>
      </p:sp>
      <p:pic>
        <p:nvPicPr>
          <p:cNvPr id="8" name="icon MdOutlineLightbulb" descr="preencoded.png">    </p:cNvPr>
          <p:cNvPicPr>
            <a:picLocks noChangeAspect="1"/>
          </p:cNvPicPr>
          <p:nvPr/>
        </p:nvPicPr>
        <p:blipFill>
          <a:blip r:embed="rId1"/>
          <a:stretch>
            <a:fillRect/>
          </a:stretch>
        </p:blipFill>
        <p:spPr>
          <a:xfrm>
            <a:off x="838322" y="5478902"/>
            <a:ext cx="225308" cy="225308"/>
          </a:xfrm>
          <a:prstGeom prst="rect">
            <a:avLst/>
          </a:prstGeom>
        </p:spPr>
      </p:pic>
      <p:sp>
        <p:nvSpPr>
          <p:cNvPr id="9" name="label"/>
          <p:cNvSpPr txBox="1"/>
          <p:nvPr/>
        </p:nvSpPr>
        <p:spPr>
          <a:xfrm>
            <a:off x="1280160" y="5239512"/>
            <a:ext cx="7315200" cy="274320"/>
          </a:xfrm>
          <a:prstGeom prst="rect">
            <a:avLst/>
          </a:prstGeom>
          <a:noFill/>
          <a:ln/>
        </p:spPr>
        <p:txBody>
          <a:bodyPr wrap="square" lIns="0" tIns="0" rIns="0" bIns="0" rtlCol="0" anchor="ctr"/>
          <a:lstStyle/>
          <a:p>
            <a:pPr indent="0" marL="0">
              <a:buNone/>
            </a:pPr>
            <a:r>
              <a:rPr lang="en-US" sz="1300" b="1" spc="150" kern="0" dirty="0">
                <a:solidFill>
                  <a:schemeClr val="accent2"/>
                </a:solidFill>
              </a:rPr>
              <a:t>THE OVERLAP IS THE INTERFACE, NOT THE DATA</a:t>
            </a:r>
            <a:endParaRPr lang="en-US" sz="1300" dirty="0"/>
          </a:p>
        </p:txBody>
      </p:sp>
      <p:sp>
        <p:nvSpPr>
          <p:cNvPr id="10" name="Text 6"/>
          <p:cNvSpPr txBox="1"/>
          <p:nvPr/>
        </p:nvSpPr>
        <p:spPr>
          <a:xfrm>
            <a:off x="1280160" y="5532120"/>
            <a:ext cx="10131552" cy="411480"/>
          </a:xfrm>
          <a:prstGeom prst="rect">
            <a:avLst/>
          </a:prstGeom>
          <a:noFill/>
          <a:ln/>
        </p:spPr>
        <p:txBody>
          <a:bodyPr wrap="square" lIns="0" tIns="0" rIns="0" bIns="0" rtlCol="0" anchor="t"/>
          <a:lstStyle/>
          <a:p>
            <a:pPr indent="0" marL="0">
              <a:buNone/>
            </a:pPr>
            <a:r>
              <a:rPr lang="en-US" sz="1100" b="1" dirty="0">
                <a:solidFill>
                  <a:schemeClr val="accent1"/>
                </a:solidFill>
              </a:rPr>
              <a:t>None of these products markets patient-level RWD of its own. But BMS is making Claude its “</a:t>
            </a:r>
            <a:r>
              <a:rPr lang="en-US" sz="1100" b="1" dirty="0" u="sng">
                <a:solidFill>
                  <a:srgbClr val="002677"/>
                </a:solidFill>
                <a:uFill>
                  <a:solidFill>
                    <a:srgbClr val="9AA8CC"/>
                  </a:solidFill>
                </a:uFill>
              </a:rPr>
              <a:t>shared intelligence platform</a:t>
            </a:r>
            <a:r>
              <a:rPr lang="en-US" sz="1100" b="1" dirty="0">
                <a:solidFill>
                  <a:schemeClr val="accent1"/>
                </a:solidFill>
              </a:rPr>
              <a:t>,” and Veeva’s newest agent “</a:t>
            </a:r>
            <a:r>
              <a:rPr lang="en-US" sz="1100" b="1" dirty="0" u="sng">
                <a:solidFill>
                  <a:srgbClr val="002677"/>
                </a:solidFill>
                <a:uFill>
                  <a:solidFill>
                    <a:srgbClr val="9AA8CC"/>
                  </a:solidFill>
                </a:uFill>
              </a:rPr>
              <a:t>is delivered as a Claude Cowork plugin</a:t>
            </a:r>
            <a:r>
              <a:rPr lang="en-US" sz="1100" b="1" dirty="0">
                <a:solidFill>
                  <a:schemeClr val="accent1"/>
                </a:solidFill>
              </a:rPr>
              <a:t>.” The near-term overlap with Optum LS is where pharma teams do the analysis.</a:t>
            </a:r>
            <a:endParaRPr lang="en-US" sz="11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
        <p:nvSpPr>
          <p:cNvPr id="26" name="starting point band"/>
          <p:cNvSpPr/>
          <p:nvPr/>
        </p:nvSpPr>
        <p:spPr>
          <a:xfrm>
            <a:off x="548640" y="1481328"/>
            <a:ext cx="11091672" cy="274320"/>
          </a:xfrm>
          <a:prstGeom prst="rect">
            <a:avLst/>
          </a:prstGeom>
          <a:solidFill>
            <a:srgbClr val="E6EC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starting point"/>
          <p:cNvSpPr txBox="1"/>
          <p:nvPr/>
        </p:nvSpPr>
        <p:spPr>
          <a:xfrm>
            <a:off x="731520" y="1481328"/>
            <a:ext cx="10789920" cy="274320"/>
          </a:xfrm>
          <a:prstGeom prst="rect">
            <a:avLst/>
          </a:prstGeom>
          <a:noFill/>
        </p:spPr>
        <p:txBody>
          <a:bodyPr wrap="square" anchor="ctr" lIns="0" tIns="0" rIns="0" bIns="0">
            <a:spAutoFit/>
          </a:bodyPr>
          <a:lstStyle/>
          <a:p>
            <a:r>
              <a:rPr sz="1050" b="1">
                <a:solidFill>
                  <a:srgbClr val="002677"/>
                </a:solidFill>
              </a:rPr>
              <a:t>STARTING POINT: </a:t>
            </a:r>
            <a:r>
              <a:rPr sz="1050">
                <a:solidFill>
                  <a:srgbClr val="002677"/>
                </a:solidFill>
              </a:rPr>
              <a:t>LLM providers already supply the model to competitors such as </a:t>
            </a:r>
            <a:r>
              <a:rPr sz="1050" u="sng">
                <a:solidFill>
                  <a:srgbClr val="002677"/>
                </a:solidFill>
                <a:uFill>
                  <a:solidFill>
                    <a:srgbClr val="9AA8CC"/>
                  </a:solidFill>
                </a:uFill>
              </a:rPr>
              <a:t>Veeva</a:t>
            </a:r>
            <a:r>
              <a:rPr sz="1050">
                <a:solidFill>
                  <a:srgbClr val="002677"/>
                </a:solidFill>
              </a:rPr>
              <a:t> (Anthropic and Amazon) and </a:t>
            </a:r>
            <a:r>
              <a:rPr sz="1050" u="sng">
                <a:solidFill>
                  <a:srgbClr val="002677"/>
                </a:solidFill>
                <a:uFill>
                  <a:solidFill>
                    <a:srgbClr val="9AA8CC"/>
                  </a:solidFill>
                </a:uFill>
              </a:rPr>
              <a:t>IQVIA</a:t>
            </a:r>
            <a:r>
              <a:rPr sz="1050">
                <a:solidFill>
                  <a:srgbClr val="002677"/>
                </a:solidFill>
              </a:rPr>
              <a:t> (NVIDIA) (previous slide).</a:t>
            </a:r>
          </a:p>
        </p:txBody>
      </p:sp>
      <p:sp>
        <p:nvSpPr>
          <p:cNvPr id="28" name="link legend"/>
          <p:cNvSpPr txBox="1"/>
          <p:nvPr/>
        </p:nvSpPr>
        <p:spPr>
          <a:xfrm>
            <a:off x="2944368" y="6309360"/>
            <a:ext cx="4572000" cy="201168"/>
          </a:xfrm>
          <a:prstGeom prst="rect">
            <a:avLst/>
          </a:prstGeom>
          <a:noFill/>
        </p:spPr>
        <p:txBody>
          <a:bodyPr wrap="square" lIns="0" tIns="0" rIns="0" bIns="0" anchor="ctr">
            <a:spAutoFit/>
          </a:bodyPr>
          <a:lstStyle/>
          <a:p>
            <a:r>
              <a:rPr sz="900">
                <a:solidFill>
                  <a:schemeClr val="accent4"/>
                </a:solidFill>
              </a:rPr>
              <a:t>·  Underlined text links to public sources</a:t>
            </a:r>
          </a:p>
        </p:txBody>
      </p:sp>
      <p:sp>
        <p:nvSpPr>
          <p:cNvPr id="9713" name="Invisible source link 11: https://www.veeva.com/products/veeva-ai/">
            <a:hlinkClick r:id="rId9"/>
          </p:cNvPr>
          <p:cNvSpPr/>
          <p:nvPr/>
        </p:nvSpPr>
        <p:spPr>
          <a:xfrm>
            <a:off x="5656681" y="1550941"/>
            <a:ext cx="367758"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4" name="Invisible source link 11: https://www.iqvia.com/newsroom/2026/03/iqvia-unveils-iqvia-ai-a-unified-agentic-ai-platform">
            <a:hlinkClick r:id="rId10"/>
          </p:cNvPr>
          <p:cNvSpPr/>
          <p:nvPr/>
        </p:nvSpPr>
        <p:spPr>
          <a:xfrm>
            <a:off x="7778165" y="1550941"/>
            <a:ext cx="353506" cy="14864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5" name="Invisible source link 11: https://www.anthropic.com/news/claude-science-ai-workbench">
            <a:hlinkClick r:id="rId11"/>
          </p:cNvPr>
          <p:cNvSpPr/>
          <p:nvPr/>
        </p:nvSpPr>
        <p:spPr>
          <a:xfrm>
            <a:off x="4108323" y="2569036"/>
            <a:ext cx="84381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6" name="Invisible source link 11: https://www.anthropic.com/news/claude-science-ai-workbench">
            <a:hlinkClick r:id="rId11"/>
          </p:cNvPr>
          <p:cNvSpPr/>
          <p:nvPr/>
        </p:nvSpPr>
        <p:spPr>
          <a:xfrm>
            <a:off x="5943093" y="2569036"/>
            <a:ext cx="199386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7" name="Invisible source link 11: https://openai.com/index/introducing-gpt-rosalind">
            <a:hlinkClick r:id="rId12"/>
          </p:cNvPr>
          <p:cNvSpPr/>
          <p:nvPr/>
        </p:nvSpPr>
        <p:spPr>
          <a:xfrm>
            <a:off x="3975836" y="2850912"/>
            <a:ext cx="780159"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8" name="Invisible source link 11: https://azure.microsoft.com/en-us/blog/announcing-microsoft-discovery-general-availability-and-microsoft-discovery-app-preview/">
            <a:hlinkClick r:id="rId13"/>
          </p:cNvPr>
          <p:cNvSpPr/>
          <p:nvPr/>
        </p:nvSpPr>
        <p:spPr>
          <a:xfrm>
            <a:off x="3446995" y="3004633"/>
            <a:ext cx="1122868"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9" name="Invisible source link 11: https://deepmind.google/blog/co-scientist-a-multi-agent-ai-partner-to-accelerate-research/">
            <a:hlinkClick r:id="rId14"/>
          </p:cNvPr>
          <p:cNvSpPr/>
          <p:nvPr/>
        </p:nvSpPr>
        <p:spPr>
          <a:xfrm>
            <a:off x="3962158" y="3158354"/>
            <a:ext cx="697711"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0"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3446995" y="3468678"/>
            <a:ext cx="28479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1"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4245682" y="3468678"/>
            <a:ext cx="280092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2"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6210261" y="3596834"/>
            <a:ext cx="1803832"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3446995" y="3725003"/>
            <a:ext cx="609798"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4" name="Invisible source link 11: https://www.biopharminternational.com/view/novo-nordisk-partners-with-openai-for-drug-discovery">
            <a:hlinkClick r:id="rId16"/>
          </p:cNvPr>
          <p:cNvSpPr/>
          <p:nvPr/>
        </p:nvSpPr>
        <p:spPr>
          <a:xfrm>
            <a:off x="5007597" y="3878723"/>
            <a:ext cx="387049"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5" name="Invisible source link 11: https://www.biopharminternational.com/view/novo-nordisk-partners-with-openai-for-drug-discovery">
            <a:hlinkClick r:id="rId16"/>
          </p:cNvPr>
          <p:cNvSpPr/>
          <p:nvPr/>
        </p:nvSpPr>
        <p:spPr>
          <a:xfrm>
            <a:off x="6728156" y="3878723"/>
            <a:ext cx="1217753"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6" name="Invisible source link 11: https://www.novonordisk.com/news-and-media/news-and-ir-materials/news-details.html?id=916768">
            <a:hlinkClick r:id="rId17"/>
          </p:cNvPr>
          <p:cNvSpPr/>
          <p:nvPr/>
        </p:nvSpPr>
        <p:spPr>
          <a:xfrm>
            <a:off x="3681717" y="4006879"/>
            <a:ext cx="482523"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7" name="Invisible source link 11: https://www.hpcwire.com/aiwire/2026/05/19/cohere-acquires-reliant-ai-to-expand-sovereign-enterprise-ai-for-global-biopharma-and-healthcare-sectors/">
            <a:hlinkClick r:id="rId18"/>
          </p:cNvPr>
          <p:cNvSpPr/>
          <p:nvPr/>
        </p:nvSpPr>
        <p:spPr>
          <a:xfrm>
            <a:off x="3446995" y="4317191"/>
            <a:ext cx="1047128"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8" name="Invisible source link 11: https://www.hpcwire.com/aiwire/2026/05/19/cohere-acquires-reliant-ai-to-expand-sovereign-enterprise-ai-for-global-biopharma-and-healthcare-sectors/">
            <a:hlinkClick r:id="rId18"/>
          </p:cNvPr>
          <p:cNvSpPr/>
          <p:nvPr/>
        </p:nvSpPr>
        <p:spPr>
          <a:xfrm>
            <a:off x="5445233" y="4317191"/>
            <a:ext cx="1664006"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9" name="Invisible source link 11: https://www.hpcwire.com/aiwire/2026/05/19/cohere-acquires-reliant-ai-to-expand-sovereign-enterprise-ai-for-global-biopharma-and-healthcare-sectors/">
            <a:hlinkClick r:id="rId18"/>
          </p:cNvPr>
          <p:cNvSpPr/>
          <p:nvPr/>
        </p:nvSpPr>
        <p:spPr>
          <a:xfrm>
            <a:off x="3446995" y="4445359"/>
            <a:ext cx="2639585"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0" name="Invisible source link 11: https://www.fiercebiotech.com/biotech/anthropic-acquires-stealth-ai-startup-coefficient-bio-400m-deal">
            <a:hlinkClick r:id="rId19"/>
          </p:cNvPr>
          <p:cNvSpPr/>
          <p:nvPr/>
        </p:nvSpPr>
        <p:spPr>
          <a:xfrm>
            <a:off x="3446995" y="4599080"/>
            <a:ext cx="147516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1" name="Invisible source link 11: https://www.rdworldonline.com/anthropics-400m-acquisition-of-coefficient-bio-signals-a-deeper-push-into-drug-discovery/">
            <a:hlinkClick r:id="rId20"/>
          </p:cNvPr>
          <p:cNvSpPr/>
          <p:nvPr/>
        </p:nvSpPr>
        <p:spPr>
          <a:xfrm>
            <a:off x="6115685" y="4599080"/>
            <a:ext cx="691560" cy="12775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2" name="Invisible source link 11: https://news.bms.com/news/details/2026/Bristol-Myers-Squibb-Announces-Strategic-Agreement-with-Anthropic-to-Position-Claude-Enterprise-as-the-Shared-Intelligence-Platform-Across-Its-Global-Operations/default.aspx">
            <a:hlinkClick r:id="rId15"/>
          </p:cNvPr>
          <p:cNvSpPr/>
          <p:nvPr/>
        </p:nvSpPr>
        <p:spPr>
          <a:xfrm>
            <a:off x="7429613" y="5545389"/>
            <a:ext cx="2055641" cy="1558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3" name="Invisible source link 11: https://www.veeva.com/resources/new-veeva-study-builder-agent-to-configure-clinical-studies-in-as-little-as-one-day/">
            <a:hlinkClick r:id="rId21"/>
          </p:cNvPr>
          <p:cNvSpPr/>
          <p:nvPr/>
        </p:nvSpPr>
        <p:spPr>
          <a:xfrm>
            <a:off x="1280160" y="5713156"/>
            <a:ext cx="2779527" cy="1558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KEY ASSUMPTIONS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Four assumptions shape this view, and each can be tested with internal evidence</a:t>
            </a:r>
            <a:endParaRPr lang="en-US" sz="22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1" cy="4571998"/>
        </p:xfrm>
        <a:graphic>
          <a:graphicData uri="http://schemas.openxmlformats.org/drawingml/2006/table">
            <a:tbl>
              <a:tblPr/>
              <a:tblGrid>
                <a:gridCol w="3154680"/>
                <a:gridCol w="3886200"/>
                <a:gridCol w="4050791"/>
              </a:tblGrid>
              <a:tr h="402336">
                <a:tc>
                  <a:txBody>
                    <a:bodyPr/>
                    <a:lstStyle/>
                    <a:p>
                      <a:pPr indent="0" marL="0">
                        <a:buNone/>
                      </a:pPr>
                      <a:r>
                        <a:rPr lang="en-US" sz="900" b="1" spc="100" kern="0" dirty="0">
                          <a:solidFill>
                            <a:schemeClr val="bg1"/>
                          </a:solidFill>
                        </a:rPr>
                        <a:t>ASSUMPTION</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WHY IT MATTERS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HOW TO TEST IT (WHO HOLDS THE EVIDENCE)</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1042409">
                <a:tc>
                  <a:txBody>
                    <a:bodyPr/>
                    <a:lstStyle/>
                    <a:p>
                      <a:pPr algn="l" indent="0" marL="0">
                        <a:buNone/>
                      </a:pPr>
                      <a:r>
                        <a:rPr lang="en-US" sz="1100" b="1" dirty="0">
                          <a:solidFill>
                            <a:schemeClr val="accent1"/>
                          </a:solidFill>
                        </a:rPr>
                        <a:t>Optum LS is developing or evaluating conversational AI it doesn’t yet market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100" dirty="0">
                          <a:solidFill>
                            <a:schemeClr val="tx1"/>
                          </a:solidFill>
                        </a:rPr>
                        <a:t>If not, the four choices become a decision about whether to build at all, not design choices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100" dirty="0">
                          <a:solidFill>
                            <a:schemeClr val="tx1"/>
                          </a:solidFill>
                        </a:rPr>
                        <a:t>Product roadmap (product, technology)</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1042422">
                <a:tc>
                  <a:txBody>
                    <a:bodyPr/>
                    <a:lstStyle/>
                    <a:p>
                      <a:pPr algn="l" indent="0" marL="0">
                        <a:buNone/>
                      </a:pPr>
                      <a:r>
                        <a:rPr lang="en-US" sz="1100" b="1" dirty="0">
                          <a:solidFill>
                            <a:schemeClr val="accent1"/>
                          </a:solidFill>
                        </a:rPr>
                        <a:t>Conversational AI influences what customers buy</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100" dirty="0">
                          <a:solidFill>
                            <a:schemeClr val="tx1"/>
                          </a:solidFill>
                        </a:rPr>
                        <a:t>It decides whether this is a revenue question or a feature question, and it’s the basis for any dollar estimate</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100" dirty="0">
                          <a:solidFill>
                            <a:schemeClr val="tx1"/>
                          </a:solidFill>
                        </a:rPr>
                        <a:t>Win/loss notes, RFP requirements, pricing (commercial, finance); customer interviews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1042422">
                <a:tc>
                  <a:txBody>
                    <a:bodyPr/>
                    <a:lstStyle/>
                    <a:p>
                      <a:pPr algn="l" indent="0" marL="0">
                        <a:buNone/>
                      </a:pPr>
                      <a:r>
                        <a:rPr lang="en-US" sz="1100" b="1" dirty="0">
                          <a:solidFill>
                            <a:schemeClr val="accent1"/>
                          </a:solidFill>
                        </a:rPr>
                        <a:t>Vendor claims hold up in practice</a:t>
                      </a:r>
                      <a:r>
                        <a:rPr lang="en-US" sz="1100" dirty="0">
                          <a:solidFill>
                            <a:schemeClr val="accent1"/>
                          </a:solidFill>
                        </a:rPr>
                        <a:t> (27% prep time, 6-week studies)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100" dirty="0">
                          <a:solidFill>
                            <a:schemeClr val="tx1"/>
                          </a:solidFill>
                        </a:rPr>
                        <a:t>These claims set the bar an Optum LS offering would be measured against</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100" dirty="0">
                          <a:solidFill>
                            <a:schemeClr val="tx1"/>
                          </a:solidFill>
                        </a:rPr>
                        <a:t>Customer references, independent tests (data and analytics). IQVIA’s own benchmark shows the limits.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1042409">
                <a:tc>
                  <a:txBody>
                    <a:bodyPr/>
                    <a:lstStyle/>
                    <a:p>
                      <a:pPr algn="l" indent="0" marL="0">
                        <a:buNone/>
                      </a:pPr>
                      <a:r>
                        <a:rPr lang="en-US" sz="1100" b="1" dirty="0">
                          <a:solidFill>
                            <a:schemeClr val="accent1"/>
                          </a:solidFill>
                        </a:rPr>
                        <a:t>LLM providers remain suppliers more than rivals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1100" dirty="0">
                          <a:solidFill>
                            <a:schemeClr val="tx1"/>
                          </a:solidFill>
                        </a:rPr>
                        <a:t>Partnering for the model could create a future competitor</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1100" dirty="0">
                          <a:solidFill>
                            <a:schemeClr val="tx1"/>
                          </a:solidFill>
                        </a:rPr>
                        <a:t>Partnership terms (strategy and enterprise development); see the LLM providers slide</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a:t>
            </a:r>
            <a:endParaRPr lang="en-US" sz="1000" dirty="0"/>
          </a:p>
        </p:txBody>
      </p:sp>
      <p:sp>
        <p:nvSpPr>
          <p:cNvPr id="3" name="1. sources"/>
          <p:cNvSpPr/>
          <p:nvPr/>
        </p:nvSpPr>
        <p:spPr>
          <a:xfrm>
            <a:off x="548640" y="1481328"/>
            <a:ext cx="11091672" cy="62179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777240" y="1655064"/>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1. SOURCES</a:t>
            </a:r>
            <a:endParaRPr lang="en-US" sz="1000" dirty="0"/>
          </a:p>
        </p:txBody>
      </p:sp>
      <p:sp>
        <p:nvSpPr>
          <p:cNvPr id="5" name="Text 3"/>
          <p:cNvSpPr txBox="1"/>
          <p:nvPr/>
        </p:nvSpPr>
        <p:spPr>
          <a:xfrm>
            <a:off x="3657600" y="1687068"/>
            <a:ext cx="7754112" cy="210312"/>
          </a:xfrm>
          <a:prstGeom prst="rect">
            <a:avLst/>
          </a:prstGeom>
          <a:noFill/>
          <a:ln/>
        </p:spPr>
        <p:txBody>
          <a:bodyPr wrap="square" lIns="0" tIns="0" rIns="0" bIns="0" rtlCol="0" anchor="t"/>
          <a:lstStyle/>
          <a:p>
            <a:pPr indent="0" marL="0">
              <a:buNone/>
            </a:pPr>
            <a:r>
              <a:rPr lang="en-US" sz="1200" dirty="0">
                <a:solidFill>
                  <a:schemeClr val="tx1"/>
                </a:solidFill>
              </a:rPr>
              <a:t>Official vendor pages and announcements, reviewed through October 16, 2026.</a:t>
            </a:r>
            <a:endParaRPr lang="en-US" sz="1000" dirty="0"/>
          </a:p>
        </p:txBody>
      </p:sp>
      <p:sp>
        <p:nvSpPr>
          <p:cNvPr id="6" name="2. domains"/>
          <p:cNvSpPr/>
          <p:nvPr/>
        </p:nvSpPr>
        <p:spPr>
          <a:xfrm>
            <a:off x="548640" y="2240280"/>
            <a:ext cx="11091672" cy="80467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777240" y="2505456"/>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2. DOMAINS</a:t>
            </a:r>
            <a:endParaRPr lang="en-US" sz="1000" dirty="0"/>
          </a:p>
        </p:txBody>
      </p:sp>
      <p:sp>
        <p:nvSpPr>
          <p:cNvPr id="8" name="Text 6"/>
          <p:cNvSpPr txBox="1"/>
          <p:nvPr/>
        </p:nvSpPr>
        <p:spPr>
          <a:xfrm>
            <a:off x="3657600" y="2446020"/>
            <a:ext cx="7754112" cy="393192"/>
          </a:xfrm>
          <a:prstGeom prst="rect">
            <a:avLst/>
          </a:prstGeom>
          <a:noFill/>
          <a:ln/>
        </p:spPr>
        <p:txBody>
          <a:bodyPr wrap="square" lIns="0" tIns="0" rIns="0" bIns="0" rtlCol="0" anchor="t"/>
          <a:lstStyle/>
          <a:p>
            <a:pPr indent="0" marL="0">
              <a:buNone/>
            </a:pPr>
            <a:r>
              <a:rPr lang="en-US" sz="1200" dirty="0">
                <a:solidFill>
                  <a:schemeClr val="tx1"/>
                </a:solidFill>
              </a:rPr>
              <a:t>Five customer-task areas where Optum LS publicly markets offerings and competitors sell comparable ones. They classify the research; they are not Optum LS’s own business categories.</a:t>
            </a:r>
            <a:endParaRPr lang="en-US" sz="1000" dirty="0"/>
          </a:p>
        </p:txBody>
      </p:sp>
      <p:sp>
        <p:nvSpPr>
          <p:cNvPr id="9" name="3. qualification"/>
          <p:cNvSpPr/>
          <p:nvPr/>
        </p:nvSpPr>
        <p:spPr>
          <a:xfrm>
            <a:off x="548640" y="3182112"/>
            <a:ext cx="11091672" cy="80467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777240" y="3447288"/>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3. QUALIFICATION</a:t>
            </a:r>
            <a:endParaRPr lang="en-US" sz="1000" dirty="0"/>
          </a:p>
        </p:txBody>
      </p:sp>
      <p:sp>
        <p:nvSpPr>
          <p:cNvPr id="11" name="Text 9"/>
          <p:cNvSpPr txBox="1"/>
          <p:nvPr/>
        </p:nvSpPr>
        <p:spPr>
          <a:xfrm>
            <a:off x="3657600" y="3387852"/>
            <a:ext cx="7754112" cy="393192"/>
          </a:xfrm>
          <a:prstGeom prst="rect">
            <a:avLst/>
          </a:prstGeom>
          <a:noFill/>
          <a:ln/>
        </p:spPr>
        <p:txBody>
          <a:bodyPr wrap="square" lIns="0" tIns="0" rIns="0" bIns="0" rtlCol="0" anchor="t"/>
          <a:lstStyle/>
          <a:p>
            <a:pPr indent="0" marL="0">
              <a:buNone/>
            </a:pPr>
            <a:r>
              <a:rPr lang="en-US" sz="1200" dirty="0">
                <a:solidFill>
                  <a:schemeClr val="tx1"/>
                </a:solidFill>
              </a:rPr>
              <a:t>An offering qualified only if its public materials describe a conversational interface for a biopharma customer task; general AI or agentic claims did not.</a:t>
            </a:r>
            <a:endParaRPr lang="en-US" sz="1000" dirty="0"/>
          </a:p>
        </p:txBody>
      </p:sp>
      <p:sp>
        <p:nvSpPr>
          <p:cNvPr id="15" name="4. counts"/>
          <p:cNvSpPr/>
          <p:nvPr/>
        </p:nvSpPr>
        <p:spPr>
          <a:xfrm>
            <a:off x="548640" y="4123944"/>
            <a:ext cx="11091672" cy="98755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77240" y="4480560"/>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4. COUNTS</a:t>
            </a:r>
            <a:endParaRPr lang="en-US" sz="1000" dirty="0"/>
          </a:p>
        </p:txBody>
      </p:sp>
      <p:sp>
        <p:nvSpPr>
          <p:cNvPr id="17" name="Text 15"/>
          <p:cNvSpPr txBox="1"/>
          <p:nvPr/>
        </p:nvSpPr>
        <p:spPr>
          <a:xfrm>
            <a:off x="3657600" y="4329684"/>
            <a:ext cx="7754112" cy="576072"/>
          </a:xfrm>
          <a:prstGeom prst="rect">
            <a:avLst/>
          </a:prstGeom>
          <a:noFill/>
          <a:ln/>
        </p:spPr>
        <p:txBody>
          <a:bodyPr wrap="square" lIns="0" tIns="0" rIns="0" bIns="0" rtlCol="0" anchor="t"/>
          <a:lstStyle/>
          <a:p>
            <a:pPr indent="0" marL="0">
              <a:buNone/>
            </a:pPr>
            <a:r>
              <a:rPr lang="en-US" sz="1200" dirty="0">
                <a:solidFill>
                  <a:schemeClr val="tx1"/>
                </a:solidFill>
              </a:rPr>
              <a:t>43 U.S. competitor groups screened; 15 market 23 qualifying offerings. Domain counts overlap. Screens are not exhaustive. Fourteen country and region screens added eight international examples, shown in the domain tables but not counted with the U.S.</a:t>
            </a:r>
            <a:endParaRPr lang="en-US" sz="1000" dirty="0"/>
          </a:p>
        </p:txBody>
      </p:sp>
      <p:sp>
        <p:nvSpPr>
          <p:cNvPr id="18" name="5. comparison and ai use"/>
          <p:cNvSpPr/>
          <p:nvPr/>
        </p:nvSpPr>
        <p:spPr>
          <a:xfrm>
            <a:off x="548640" y="5248656"/>
            <a:ext cx="11091672" cy="80467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777240" y="5513832"/>
            <a:ext cx="274320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5. COMPARISON AND AI USE</a:t>
            </a:r>
            <a:endParaRPr lang="en-US" sz="1000" dirty="0"/>
          </a:p>
        </p:txBody>
      </p:sp>
      <p:sp>
        <p:nvSpPr>
          <p:cNvPr id="20" name="Text 18"/>
          <p:cNvSpPr txBox="1"/>
          <p:nvPr/>
        </p:nvSpPr>
        <p:spPr>
          <a:xfrm>
            <a:off x="3657600" y="5454396"/>
            <a:ext cx="7754112" cy="393192"/>
          </a:xfrm>
          <a:prstGeom prst="rect">
            <a:avLst/>
          </a:prstGeom>
          <a:noFill/>
          <a:ln/>
        </p:spPr>
        <p:txBody>
          <a:bodyPr wrap="square" lIns="0" tIns="0" rIns="0" bIns="0" rtlCol="0" anchor="t"/>
          <a:lstStyle/>
          <a:p>
            <a:pPr indent="0" marL="0">
              <a:buNone/>
            </a:pPr>
            <a:r>
              <a:rPr lang="en-US" sz="1200" dirty="0">
                <a:solidFill>
                  <a:schemeClr val="tx1"/>
                </a:solidFill>
              </a:rPr>
              <a:t>Offerings were compared by customer task, not assumed to be equivalent. Vendor metrics are reported as claims. LLM-provider developments sit outside the counts. AI tools assisted the research and drafting.</a:t>
            </a:r>
            <a:endParaRPr lang="en-US" sz="1000" dirty="0"/>
          </a:p>
        </p:txBody>
      </p:sp>
      <p:sp>
        <p:nvSpPr>
          <p:cNvPr id="21"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Findings reflect public positioning, not tested performance</a:t>
            </a: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ptum LS Strategy">
  <a:themeElements>
    <a:clrScheme name="Optum LS Strategy">
      <a:dk1>
        <a:srgbClr val="4B4D4F"/>
      </a:dk1>
      <a:lt1>
        <a:srgbClr val="FFFFFF"/>
      </a:lt1>
      <a:dk2>
        <a:srgbClr val="002677"/>
      </a:dk2>
      <a:lt2>
        <a:srgbClr val="FAF8F2"/>
      </a:lt2>
      <a:accent1>
        <a:srgbClr val="002677"/>
      </a:accent1>
      <a:accent2>
        <a:srgbClr val="FF612B"/>
      </a:accent2>
      <a:accent3>
        <a:srgbClr val="D9D4C7"/>
      </a:accent3>
      <a:accent4>
        <a:srgbClr val="7A7C7E"/>
      </a:accent4>
      <a:accent5>
        <a:srgbClr val="E6ECF5"/>
      </a:accent5>
      <a:accent6>
        <a:srgbClr val="196ECF"/>
      </a:accent6>
      <a:hlink>
        <a:srgbClr val="196ECF"/>
      </a:hlink>
      <a:folHlink>
        <a:srgbClr val="7A7C7E"/>
      </a:folHlink>
    </a:clrScheme>
    <a:fontScheme name="Optum LS Strateg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Conversational AI in Life Sciences — Independent Competitive Intelligence Work Sample</dc:title>
  <dc:subject/>
  <dc:creator>Joseph Marino</dc:creator>
  <cp:lastModifiedBy>Joseph Marino</cp:lastModifiedBy>
  <cp:revision>1</cp:revision>
  <dcterms:created xsi:type="dcterms:W3CDTF">2026-10-14T02:26:17Z</dcterms:created>
  <dcterms:modified xsi:type="dcterms:W3CDTF">2026-10-14T02:26:17Z</dcterms:modified>
</cp:coreProperties>
</file>