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60" r:id="rId6"/>
    <p:sldId id="261" r:id="rId7"/>
    <p:sldId id="262" r:id="rId8"/>
    <p:sldId id="263" r:id="rId9"/>
    <p:sldId id="264" r:id="rId10"/>
    <p:sldId id="270" r:id="rId20"/>
    <p:sldId id="265" r:id="rId11"/>
    <p:sldId id="269" r:id="rId13"/>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 Id="rId20"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8" Type="http://schemas.openxmlformats.org/officeDocument/2006/relationships/hyperlink" Target="https://healthverity.com/exos/" TargetMode="External"/><Relationship Id="rId19" Type="http://schemas.openxmlformats.org/officeDocument/2006/relationships/hyperlink" Target="https://www.norstella.com/press-releases/panalgo-revolutionizes-real-world-data-launch-linqnotes-ella-ai/" TargetMode="External"/><Relationship Id="rId20" Type="http://schemas.openxmlformats.org/officeDocument/2006/relationships/hyperlink" Target="https://www.prnewswire.com/news-releases/truven-launches-marketscan-snapshot-an-ai-powered-tool-to-evaluate-fit-for-purpose-real-world-data-in-minutes-302892187.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11" Type="http://schemas.openxmlformats.org/officeDocument/2006/relationships/hyperlink" Target="https://mdclone.com/meet-copilot/" TargetMode="External"/><Relationship Id="rId14" Type="http://schemas.openxmlformats.org/officeDocument/2006/relationships/hyperlink" Target="https://www.prnewswire.com/news-releases/verana-health-introduces-new-ai-agents-to-expedite-and-streamline-rd-302888122.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 Id="rId11" Type="http://schemas.openxmlformats.org/officeDocument/2006/relationships/hyperlink" Target="https://www.evaluate.com/ask-ella/" TargetMode="External"/><Relationship Id="rId12" Type="http://schemas.openxmlformats.org/officeDocument/2006/relationships/hyperlink" Target="https://www.iqvia.com/solutions/commercialization/commercial-analytics/omnichannel-engagement-and-insights/field-force-agent" TargetMode="External"/><Relationship Id="rId13" Type="http://schemas.openxmlformats.org/officeDocument/2006/relationships/hyperlink" Target="https://trinitylifesciences.com/company/press-releases/trinity-launches-insightsedge-digital-twins/" TargetMode="External"/><Relationship Id="rId14" Type="http://schemas.openxmlformats.org/officeDocument/2006/relationships/hyperlink" Target="https://www.ipsos.com/en/launch-ipsos-personabot-groundbreaking-ai-powered-solution-enhance-segmentation-resear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8" Type="http://schemas.openxmlformats.org/officeDocument/2006/relationships/hyperlink" Target="https://platform.veevavault.help/en/lr/950642" TargetMode="External"/><Relationship Id="rId9" Type="http://schemas.openxmlformats.org/officeDocument/2006/relationships/hyperlink" Target="https://zaidyn.zs.com/products/zaidyn-medical/patient-outcome-intelligence" TargetMode="External"/><Relationship Id="rId10" Type="http://schemas.openxmlformats.org/officeDocument/2006/relationships/hyperlink" Target="https://www.iqvia.com/blogs/2025/12/introducing-iqvia-med-r1-deep-research-agen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6" Type="http://schemas.openxmlformats.org/officeDocument/2006/relationships/hyperlink" Target="https://www.navlin.com/products/tender" TargetMode="External"/><Relationship Id="rId10" Type="http://schemas.openxmlformats.org/officeDocument/2006/relationships/hyperlink" Target="https://trinetx.com/blog/powering-clinical-research-innovation-how-trinetx-uses-databricks-to-accelerate-drug-development" TargetMode="External"/><Relationship Id="rId11" Type="http://schemas.openxmlformats.org/officeDocument/2006/relationships/hyperlink" Target="https://trinetx.com/solutions/trinetx-live/terrain" TargetMode="External"/><Relationship Id="rId12" Type="http://schemas.openxmlformats.org/officeDocument/2006/relationships/hyperlink" Target="https://www.citeline.com/en/resources/citeline-elevate-spring-2025-brainpower-in-boston" TargetMode="External"/><Relationship Id="rId13" Type="http://schemas.openxmlformats.org/officeDocument/2006/relationships/hyperlink" Target="https://clinicaldata.veevavault.help/en/lr/rn/limited-releases/26r3/new-features" TargetMode="External"/><Relationship Id="rId14" Type="http://schemas.openxmlformats.org/officeDocument/2006/relationships/hyperlink" Target="https://www.mmitnetwork.com/mosaic/" TargetMode="External"/><Relationship Id="rId15" Type="http://schemas.openxmlformats.org/officeDocument/2006/relationships/hyperlink" Target="https://www.navlin.com/products/navlin-price-access-data" TargetMode="External"/><Relationship Id="rId16" Type="http://schemas.openxmlformats.org/officeDocument/2006/relationships/hyperlink" Target="https://www.eversana.com/insights/from-ai-answers-to-decision-grade-market-acces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veeva.com/products/vault-ai/" TargetMode="External"/><Relationship Id="rId3" Type="http://schemas.openxmlformats.org/officeDocument/2006/relationships/hyperlink" Target="https://www.iqvia.com/newsroom/2026/03/iqvia-unveils-iqvia-ai-a-unified-agentic-ai-platform" TargetMode="External"/><Relationship Id="rId4" Type="http://schemas.openxmlformats.org/officeDocument/2006/relationships/hyperlink" Target="https://www.iqvia.com/blogs/2025/12/introducing-iqvia-med-r1-deep-research-agent" TargetMode="External"/><Relationship Id="rId5" Type="http://schemas.openxmlformats.org/officeDocument/2006/relationships/hyperlink" Target="https://lens.tempus.com/" TargetMode="External"/><Relationship Id="rId6" Type="http://schemas.openxmlformats.org/officeDocument/2006/relationships/hyperlink" Target="https://www.komodohealth.com/product/healthcare-map/" TargetMode="External"/><Relationship Id="rId7" Type="http://schemas.openxmlformats.org/officeDocument/2006/relationships/hyperlink" Target="https://www.komodohealth.com/press/komodo-health-introduces-marmot-the-ai-built-to-accelerate-healthcare-innovation/" TargetMode="External"/><Relationship Id="rId8" Type="http://schemas.openxmlformats.org/officeDocument/2006/relationships/hyperlink" Target="https://www.truveta.com/blog/data/approach-to-real-world-data-quality/" TargetMode="External"/><Relationship Id="rId9" Type="http://schemas.openxmlformats.org/officeDocument/2006/relationships/hyperlink" Target="https://www.norstella.com/press-releases/norstella-introduces-norstellalinq/" TargetMode="External"/><Relationship Id="rId10" Type="http://schemas.openxmlformats.org/officeDocument/2006/relationships/hyperlink" Target="https://www.komodohealth.com/perspectives/building-the-framework-for-trusted-ai-in-healthcare/" TargetMode="External"/><Relationship Id="rId11" Type="http://schemas.openxmlformats.org/officeDocument/2006/relationships/hyperlink" Target="https://healthverity.com/exos/" TargetMode="External"/><Relationship Id="rId12" Type="http://schemas.openxmlformats.org/officeDocument/2006/relationships/hyperlink" Target="https://clinicaldata.veevavault.help/en/lr/rn/limited-releases/26r3/new-features/" TargetMode="External"/><Relationship Id="rId13" Type="http://schemas.openxmlformats.org/officeDocument/2006/relationships/hyperlink" Target="https://veranahealth.com/verana-health-introduces-new-ai-agents-to-expedite-and-streamline-rd-tasks/" TargetMode="External"/><Relationship Id="rId14" Type="http://schemas.openxmlformats.org/officeDocument/2006/relationships/hyperlink" Target="https://www.zs.com/about/newsroom/zs-press-salesforce-zaidyn-crm" TargetMode="External"/><Relationship Id="rId15" Type="http://schemas.openxmlformats.org/officeDocument/2006/relationships/hyperlink" Target="https://trinetx.com/blog/trinetx-named-best-of-show-finalist-at-scope-advancing-clinical-trial-planning-with-conversational-ai-and-enhanced-api-capabilities/" TargetMode="External"/><Relationship Id="rId16" Type="http://schemas.openxmlformats.org/officeDocument/2006/relationships/hyperlink" Target="https://healthverity.com/news/announcing-healthverity-exos/" TargetMode="External"/><Relationship Id="rId17" Type="http://schemas.openxmlformats.org/officeDocument/2006/relationships/hyperlink" Target="https://medeloop.ai/analytics"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9" Type="http://schemas.openxmlformats.org/officeDocument/2006/relationships/hyperlink" Target="https://www.veeva.com/products/veeva-ai/" TargetMode="External"/><Relationship Id="rId10" Type="http://schemas.openxmlformats.org/officeDocument/2006/relationships/hyperlink" Target="https://www.iqvia.com/newsroom/2026/03/iqvia-unveils-iqvia-ai-a-unified-agentic-ai-platform" TargetMode="External"/><Relationship Id="rId11" Type="http://schemas.openxmlformats.org/officeDocument/2006/relationships/hyperlink" Target="https://www.anthropic.com/news/claude-science-ai-workbench" TargetMode="External"/><Relationship Id="rId12" Type="http://schemas.openxmlformats.org/officeDocument/2006/relationships/hyperlink" Target="https://openai.com/index/introducing-gpt-rosalind" TargetMode="External"/><Relationship Id="rId13" Type="http://schemas.openxmlformats.org/officeDocument/2006/relationships/hyperlink" Target="https://azure.microsoft.com/en-us/blog/announcing-microsoft-discovery-general-availability-and-microsoft-discovery-app-preview/" TargetMode="External"/><Relationship Id="rId14" Type="http://schemas.openxmlformats.org/officeDocument/2006/relationships/hyperlink" Target="https://deepmind.google/blog/co-scientist-a-multi-agent-ai-partner-to-accelerate-research/" TargetMode="External"/><Relationship Id="rId15" Type="http://schemas.openxmlformats.org/officeDocument/2006/relationships/hyperlink" Target="https://news.bms.com/news/details/2026/Bristol-Myers-Squibb-Announces-Strategic-Agreement-with-Anthropic-to-Position-Claude-Enterprise-as-the-Shared-Intelligence-Platform-Across-Its-Global-Operations/default.aspx" TargetMode="External"/><Relationship Id="rId16" Type="http://schemas.openxmlformats.org/officeDocument/2006/relationships/hyperlink" Target="https://www.biopharminternational.com/view/novo-nordisk-partners-with-openai-for-drug-discovery" TargetMode="External"/><Relationship Id="rId17" Type="http://schemas.openxmlformats.org/officeDocument/2006/relationships/hyperlink" Target="https://www.novonordisk.com/news-and-media/news-and-ir-materials/news-details.html?id=916768" TargetMode="External"/><Relationship Id="rId18" Type="http://schemas.openxmlformats.org/officeDocument/2006/relationships/hyperlink" Target="https://www.hpcwire.com/aiwire/2026/05/19/cohere-acquires-reliant-ai-to-expand-sovereign-enterprise-ai-for-global-biopharma-and-healthcare-sectors/" TargetMode="External"/><Relationship Id="rId19" Type="http://schemas.openxmlformats.org/officeDocument/2006/relationships/hyperlink" Target="https://www.fiercebiotech.com/biotech/anthropic-acquires-stealth-ai-startup-coefficient-bio-400m-deal" TargetMode="External"/><Relationship Id="rId20" Type="http://schemas.openxmlformats.org/officeDocument/2006/relationships/hyperlink" Target="https://www.rdworldonline.com/anthropics-400m-acquisition-of-coefficient-bio-signals-a-deeper-push-into-drug-discovery/" TargetMode="External"/><Relationship Id="rId21" Type="http://schemas.openxmlformats.org/officeDocument/2006/relationships/hyperlink" Target="https://www.veeva.com/resources/new-veeva-study-builder-agent-to-configure-clinical-studies-in-as-little-as-one-da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682495"/>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2093976"/>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871215"/>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10" name="cover scope"/>
          <p:cNvSpPr txBox="1"/>
          <p:nvPr/>
        </p:nvSpPr>
        <p:spPr>
          <a:xfrm>
            <a:off x="822960" y="3392424"/>
            <a:ext cx="10515600" cy="274320"/>
          </a:xfrm>
          <a:prstGeom prst="rect">
            <a:avLst/>
          </a:prstGeom>
          <a:noFill/>
        </p:spPr>
        <p:txBody>
          <a:bodyPr wrap="square" lIns="0" rIns="0" tIns="0" bIns="0" anchor="t">
            <a:spAutoFit/>
          </a:bodyPr>
          <a:lstStyle/>
          <a:p>
            <a:pPr algn="l"/>
            <a:r>
              <a:rPr sz="1300" b="0">
                <a:solidFill>
                  <a:srgbClr val="4B4D4F"/>
                </a:solidFill>
                <a:latin typeface="Arial"/>
              </a:rPr>
              <a:t>An outside-in assessment of publicly marketed conversational AI offerings</a:t>
            </a:r>
          </a:p>
        </p:txBody>
      </p:sp>
      <p:cxnSp>
        <p:nvCxnSpPr>
          <p:cNvPr id="11" name="Connector 10"/>
          <p:cNvCxnSpPr/>
          <p:nvPr/>
        </p:nvCxnSpPr>
        <p:spPr>
          <a:xfrm>
            <a:off x="822960" y="3941064"/>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123944"/>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443983"/>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16, 2026</a:t>
            </a:r>
          </a:p>
        </p:txBody>
      </p:sp>
      <p:sp>
        <p:nvSpPr>
          <p:cNvPr id="14" name="cover disclaimer"/>
          <p:cNvSpPr txBox="1"/>
          <p:nvPr/>
        </p:nvSpPr>
        <p:spPr>
          <a:xfrm>
            <a:off x="822960" y="5312664"/>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4736592"/>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conversational AI points to four choices for any Optum LS offering</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6" name="label"/>
          <p:cNvSpPr txBox="1"/>
          <p:nvPr/>
        </p:nvSpPr>
        <p:spPr>
          <a:xfrm>
            <a:off x="548640" y="1161288"/>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 FOUR CHOICES</a:t>
            </a:r>
            <a:endParaRPr lang="en-US" sz="1000" dirty="0"/>
          </a:p>
        </p:txBody>
      </p:sp>
      <p:sp>
        <p:nvSpPr>
          <p:cNvPr id="27" name="choice tile 1"/>
          <p:cNvSpPr/>
          <p:nvPr/>
        </p:nvSpPr>
        <p:spPr>
          <a:xfrm>
            <a:off x="548640" y="1417320"/>
            <a:ext cx="2670048" cy="1005840"/>
          </a:xfrm>
          <a:prstGeom prst="rect">
            <a:avLst/>
          </a:prstGeom>
          <a:solidFill>
            <a:schemeClr val="accent5"/>
          </a:solidFill>
          <a:ln/>
        </p:spPr>
        <p:txBody>
          <a:bodyPr/>
          <a:p/>
        </p:txBody>
      </p:sp>
      <p:sp>
        <p:nvSpPr>
          <p:cNvPr id="28" name="card label"/>
          <p:cNvSpPr txBox="1"/>
          <p:nvPr/>
        </p:nvSpPr>
        <p:spPr>
          <a:xfrm>
            <a:off x="694944"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1. WHERE IT SITS</a:t>
            </a:r>
            <a:endParaRPr lang="en-US" sz="1300" dirty="0"/>
          </a:p>
        </p:txBody>
      </p:sp>
      <p:sp>
        <p:nvSpPr>
          <p:cNvPr id="29" name="Text 29"/>
          <p:cNvSpPr txBox="1"/>
          <p:nvPr/>
        </p:nvSpPr>
        <p:spPr>
          <a:xfrm>
            <a:off x="694944"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Before purchase, in place of analyst requests, inside CRM, or across a portfolio</a:t>
            </a:r>
            <a:endParaRPr lang="en-US" sz="1100" dirty="0"/>
          </a:p>
        </p:txBody>
      </p:sp>
      <p:sp>
        <p:nvSpPr>
          <p:cNvPr id="30" name="Text 29"/>
          <p:cNvSpPr txBox="1"/>
          <p:nvPr/>
        </p:nvSpPr>
        <p:spPr>
          <a:xfrm>
            <a:off x="694944"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Truven, Flatiron, IQVIA, Norstella</a:t>
            </a:r>
            <a:endParaRPr lang="en-US" sz="1100" dirty="0"/>
          </a:p>
        </p:txBody>
      </p:sp>
      <p:sp>
        <p:nvSpPr>
          <p:cNvPr id="31" name="choice tile 2"/>
          <p:cNvSpPr/>
          <p:nvPr/>
        </p:nvSpPr>
        <p:spPr>
          <a:xfrm>
            <a:off x="3355848" y="1417320"/>
            <a:ext cx="2670048" cy="1005840"/>
          </a:xfrm>
          <a:prstGeom prst="rect">
            <a:avLst/>
          </a:prstGeom>
          <a:solidFill>
            <a:schemeClr val="accent5"/>
          </a:solidFill>
          <a:ln/>
        </p:spPr>
        <p:txBody>
          <a:bodyPr/>
          <a:p/>
        </p:txBody>
      </p:sp>
      <p:sp>
        <p:nvSpPr>
          <p:cNvPr id="32" name="card label"/>
          <p:cNvSpPr txBox="1"/>
          <p:nvPr/>
        </p:nvSpPr>
        <p:spPr>
          <a:xfrm>
            <a:off x="3502152"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2. HOW IT SHOWS ITS WORK</a:t>
            </a:r>
            <a:endParaRPr lang="en-US" sz="1300" dirty="0"/>
          </a:p>
        </p:txBody>
      </p:sp>
      <p:sp>
        <p:nvSpPr>
          <p:cNvPr id="33" name="Text 29"/>
          <p:cNvSpPr txBox="1"/>
          <p:nvPr/>
        </p:nvSpPr>
        <p:spPr>
          <a:xfrm>
            <a:off x="3502152"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Sources and assumptions kept visible; limits published</a:t>
            </a:r>
            <a:endParaRPr lang="en-US" sz="1100" dirty="0"/>
          </a:p>
        </p:txBody>
      </p:sp>
      <p:sp>
        <p:nvSpPr>
          <p:cNvPr id="34" name="Text 29"/>
          <p:cNvSpPr txBox="1"/>
          <p:nvPr/>
        </p:nvSpPr>
        <p:spPr>
          <a:xfrm>
            <a:off x="3502152"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EVERSANA, IQVIA</a:t>
            </a:r>
            <a:endParaRPr lang="en-US" sz="1100" dirty="0"/>
          </a:p>
        </p:txBody>
      </p:sp>
      <p:sp>
        <p:nvSpPr>
          <p:cNvPr id="35" name="choice tile 3"/>
          <p:cNvSpPr/>
          <p:nvPr/>
        </p:nvSpPr>
        <p:spPr>
          <a:xfrm>
            <a:off x="6163056" y="1417320"/>
            <a:ext cx="2670048" cy="1005840"/>
          </a:xfrm>
          <a:prstGeom prst="rect">
            <a:avLst/>
          </a:prstGeom>
          <a:solidFill>
            <a:schemeClr val="accent5"/>
          </a:solidFill>
          <a:ln/>
        </p:spPr>
        <p:txBody>
          <a:bodyPr/>
          <a:p/>
        </p:txBody>
      </p:sp>
      <p:sp>
        <p:nvSpPr>
          <p:cNvPr id="36" name="card label"/>
          <p:cNvSpPr txBox="1"/>
          <p:nvPr/>
        </p:nvSpPr>
        <p:spPr>
          <a:xfrm>
            <a:off x="6309360"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3. HOW MUCH AUTONOMY</a:t>
            </a:r>
            <a:endParaRPr lang="en-US" sz="1300" dirty="0"/>
          </a:p>
        </p:txBody>
      </p:sp>
      <p:sp>
        <p:nvSpPr>
          <p:cNvPr id="37" name="Text 29"/>
          <p:cNvSpPr txBox="1"/>
          <p:nvPr/>
        </p:nvSpPr>
        <p:spPr>
          <a:xfrm>
            <a:off x="6309360"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Highest in RWE analysis; narrower in medical and regulatory work</a:t>
            </a:r>
            <a:endParaRPr lang="en-US" sz="1100" dirty="0"/>
          </a:p>
        </p:txBody>
      </p:sp>
      <p:sp>
        <p:nvSpPr>
          <p:cNvPr id="38" name="Text 29"/>
          <p:cNvSpPr txBox="1"/>
          <p:nvPr/>
        </p:nvSpPr>
        <p:spPr>
          <a:xfrm>
            <a:off x="6309360"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Flatiron, Verana, ZS, Veeva</a:t>
            </a:r>
            <a:endParaRPr lang="en-US" sz="1100" dirty="0"/>
          </a:p>
        </p:txBody>
      </p:sp>
      <p:sp>
        <p:nvSpPr>
          <p:cNvPr id="39" name="choice tile 4"/>
          <p:cNvSpPr/>
          <p:nvPr/>
        </p:nvSpPr>
        <p:spPr>
          <a:xfrm>
            <a:off x="8970264" y="1417320"/>
            <a:ext cx="2670048" cy="1005840"/>
          </a:xfrm>
          <a:prstGeom prst="rect">
            <a:avLst/>
          </a:prstGeom>
          <a:solidFill>
            <a:schemeClr val="accent5"/>
          </a:solidFill>
          <a:ln/>
        </p:spPr>
        <p:txBody>
          <a:bodyPr/>
          <a:p/>
        </p:txBody>
      </p:sp>
      <p:sp>
        <p:nvSpPr>
          <p:cNvPr id="40" name="card label"/>
          <p:cNvSpPr txBox="1"/>
          <p:nvPr/>
        </p:nvSpPr>
        <p:spPr>
          <a:xfrm>
            <a:off x="9116568"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4. HOW IT’S ASSEMBLED</a:t>
            </a:r>
            <a:endParaRPr lang="en-US" sz="1300" dirty="0"/>
          </a:p>
        </p:txBody>
      </p:sp>
      <p:sp>
        <p:nvSpPr>
          <p:cNvPr id="41" name="Text 29"/>
          <p:cNvSpPr txBox="1"/>
          <p:nvPr/>
        </p:nvSpPr>
        <p:spPr>
          <a:xfrm>
            <a:off x="9116568"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Models, engines and interfaces can be built, adapted or sourced separately</a:t>
            </a:r>
            <a:endParaRPr lang="en-US" sz="1100" dirty="0"/>
          </a:p>
        </p:txBody>
      </p:sp>
      <p:sp>
        <p:nvSpPr>
          <p:cNvPr id="42" name="Text 29"/>
          <p:cNvSpPr txBox="1"/>
          <p:nvPr/>
        </p:nvSpPr>
        <p:spPr>
          <a:xfrm>
            <a:off x="9116568"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Komodo, HealthVerity, Veeva, Anthropic</a:t>
            </a:r>
            <a:endParaRPr lang="en-US" sz="1100" dirty="0"/>
          </a:p>
        </p:txBody>
      </p:sp>
      <p:sp>
        <p:nvSpPr>
          <p:cNvPr id="43" name="key findings card"/>
          <p:cNvSpPr/>
          <p:nvPr/>
        </p:nvSpPr>
        <p:spPr>
          <a:xfrm>
            <a:off x="548640" y="2578608"/>
            <a:ext cx="3026664"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4" name="card label"/>
          <p:cNvSpPr txBox="1"/>
          <p:nvPr/>
        </p:nvSpPr>
        <p:spPr>
          <a:xfrm>
            <a:off x="731520" y="2706624"/>
            <a:ext cx="2697480" cy="219456"/>
          </a:xfrm>
          <a:prstGeom prst="rect">
            <a:avLst/>
          </a:prstGeom>
          <a:noFill/>
          <a:ln/>
        </p:spPr>
        <p:txBody>
          <a:bodyPr wrap="square" lIns="0" tIns="0" rIns="0" bIns="0" rtlCol="0" anchor="ctr"/>
          <a:lstStyle/>
          <a:p>
            <a:pPr indent="0" marL="0">
              <a:buNone/>
            </a:pPr>
            <a:r>
              <a:rPr lang="en-US" sz="1200" b="1" spc="150" kern="0" dirty="0">
                <a:solidFill>
                  <a:srgbClr val="FF612B"/>
                </a:solidFill>
              </a:rPr>
              <a:t>KEY FINDINGS</a:t>
            </a:r>
            <a:endParaRPr lang="en-US" sz="1300" dirty="0"/>
          </a:p>
        </p:txBody>
      </p:sp>
      <p:sp>
        <p:nvSpPr>
          <p:cNvPr id="45" name="hero 19"/>
          <p:cNvSpPr txBox="1"/>
          <p:nvPr/>
        </p:nvSpPr>
        <p:spPr>
          <a:xfrm>
            <a:off x="621792" y="305409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23</a:t>
            </a:r>
            <a:endParaRPr lang="en-US" sz="3400" dirty="0"/>
          </a:p>
        </p:txBody>
      </p:sp>
      <p:sp>
        <p:nvSpPr>
          <p:cNvPr id="46" name="Text 29"/>
          <p:cNvSpPr txBox="1"/>
          <p:nvPr/>
        </p:nvSpPr>
        <p:spPr>
          <a:xfrm>
            <a:off x="1207007" y="309067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conversational AI offerings</a:t>
            </a:r>
            <a:r>
              <a:rPr lang="en-US" sz="950" dirty="0">
                <a:solidFill>
                  <a:srgbClr val="4B4D4F"/>
                </a:solidFill>
              </a:rPr>
              <a:t>, marketed by </a:t>
            </a:r>
            <a:r>
              <a:rPr lang="en-US" sz="950" dirty="0" b="1">
                <a:solidFill>
                  <a:srgbClr val="4B4D4F"/>
                </a:solidFill>
              </a:rPr>
              <a:t>15 of 43 U.S. competitors</a:t>
            </a:r>
            <a:endParaRPr lang="en-US" sz="1100" dirty="0"/>
          </a:p>
        </p:txBody>
      </p:sp>
      <p:sp>
        <p:nvSpPr>
          <p:cNvPr id="47" name="hero 19"/>
          <p:cNvSpPr txBox="1"/>
          <p:nvPr/>
        </p:nvSpPr>
        <p:spPr>
          <a:xfrm>
            <a:off x="621792" y="369417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9</a:t>
            </a:r>
            <a:endParaRPr lang="en-US" sz="3400" dirty="0"/>
          </a:p>
        </p:txBody>
      </p:sp>
      <p:sp>
        <p:nvSpPr>
          <p:cNvPr id="48" name="Text 29"/>
          <p:cNvSpPr txBox="1"/>
          <p:nvPr/>
        </p:nvSpPr>
        <p:spPr>
          <a:xfrm>
            <a:off x="1207007" y="373075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of 34 RWE competitors</a:t>
            </a:r>
            <a:r>
              <a:rPr lang="en-US" sz="950" dirty="0">
                <a:solidFill>
                  <a:srgbClr val="4B4D4F"/>
                </a:solidFill>
              </a:rPr>
              <a:t> market one, the highest share of any domain</a:t>
            </a:r>
            <a:endParaRPr lang="en-US" sz="1100" dirty="0"/>
          </a:p>
        </p:txBody>
      </p:sp>
      <p:sp>
        <p:nvSpPr>
          <p:cNvPr id="49" name="optum ls positioning card"/>
          <p:cNvSpPr/>
          <p:nvPr/>
        </p:nvSpPr>
        <p:spPr>
          <a:xfrm>
            <a:off x="3758184" y="2578608"/>
            <a:ext cx="7882127"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0" name="card label"/>
          <p:cNvSpPr txBox="1"/>
          <p:nvPr/>
        </p:nvSpPr>
        <p:spPr>
          <a:xfrm>
            <a:off x="3959352" y="2811780"/>
            <a:ext cx="5486400" cy="274320"/>
          </a:xfrm>
          <a:prstGeom prst="rect">
            <a:avLst/>
          </a:prstGeom>
          <a:noFill/>
          <a:ln/>
        </p:spPr>
        <p:txBody>
          <a:bodyPr wrap="square" lIns="0" tIns="0" rIns="0" bIns="0" rtlCol="0" anchor="ctr"/>
          <a:lstStyle/>
          <a:p>
            <a:pPr indent="0" marL="0">
              <a:buNone/>
            </a:pPr>
            <a:r>
              <a:rPr lang="en-US" sz="1400" b="1" spc="150" kern="0" dirty="0">
                <a:solidFill>
                  <a:srgbClr val="FF612B"/>
                </a:solidFill>
              </a:rPr>
              <a:t>OPTUM LS POSITIONING</a:t>
            </a:r>
            <a:endParaRPr lang="en-US" sz="1300" dirty="0"/>
          </a:p>
        </p:txBody>
      </p:sp>
      <p:sp>
        <p:nvSpPr>
          <p:cNvPr id="51" name="Text 29"/>
          <p:cNvSpPr txBox="1"/>
          <p:nvPr/>
        </p:nvSpPr>
        <p:spPr>
          <a:xfrm>
            <a:off x="3959352" y="3282696"/>
            <a:ext cx="7479792" cy="786384"/>
          </a:xfrm>
          <a:prstGeom prst="rect">
            <a:avLst/>
          </a:prstGeom>
          <a:noFill/>
          <a:ln/>
        </p:spPr>
        <p:txBody>
          <a:bodyPr wrap="square" lIns="0" tIns="0" rIns="0" bIns="0" rtlCol="0" anchor="t"/>
          <a:lstStyle/>
          <a:p>
            <a:pPr indent="0" marL="0">
              <a:spcAft>
                <a:spcPts val="900"/>
              </a:spcAft>
              <a:buNone/>
            </a:pPr>
            <a:r>
              <a:rPr lang="en-US" sz="1100" dirty="0" b="1">
                <a:solidFill>
                  <a:srgbClr val="1A1A1A"/>
                </a:solidFill>
              </a:rPr>
              <a:t>Optum LS publicly emphasizes linked healthcare data, AI-enabled research tools and scientific expertise.</a:t>
            </a:r>
            <a:endParaRPr lang="en-US" sz="1100" dirty="0"/>
          </a:p>
          <a:p>
            <a:pPr indent="0" marL="0">
              <a:spcAft>
                <a:spcPts val="900"/>
              </a:spcAft>
              <a:buNone/>
            </a:pPr>
            <a:r>
              <a:rPr lang="en-US" sz="1100" dirty="0" b="1">
                <a:solidFill>
                  <a:srgbClr val="1A1A1A"/>
                </a:solidFill>
              </a:rPr>
              <a:t>Several competitors lead with conversational AI for comparable tasks.</a:t>
            </a:r>
            <a:endParaRPr lang="en-US" sz="1100" dirty="0"/>
          </a:p>
          <a:p>
            <a:pPr indent="0" marL="0">
              <a:spcAft>
                <a:spcPts val="900"/>
              </a:spcAft>
              <a:buNone/>
            </a:pPr>
            <a:r>
              <a:rPr lang="en-US" sz="1100" b="1" dirty="0">
                <a:solidFill>
                  <a:srgbClr val="002677"/>
                </a:solidFill>
              </a:rPr>
              <a:t>This analysis assumes Optum LS is developing or evaluating its own.</a:t>
            </a:r>
            <a:endParaRPr lang="en-US" sz="1100" dirty="0"/>
          </a:p>
        </p:txBody>
      </p:sp>
      <p:sp>
        <p:nvSpPr>
          <p:cNvPr id="52" name="research scope card"/>
          <p:cNvSpPr/>
          <p:nvPr/>
        </p:nvSpPr>
        <p:spPr>
          <a:xfrm>
            <a:off x="3758184" y="4544568"/>
            <a:ext cx="7882127" cy="150875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3" name="card label"/>
          <p:cNvSpPr txBox="1"/>
          <p:nvPr/>
        </p:nvSpPr>
        <p:spPr>
          <a:xfrm>
            <a:off x="3959352" y="4672584"/>
            <a:ext cx="7479792" cy="219456"/>
          </a:xfrm>
          <a:prstGeom prst="rect">
            <a:avLst/>
          </a:prstGeom>
          <a:noFill/>
          <a:ln/>
        </p:spPr>
        <p:txBody>
          <a:bodyPr wrap="square" lIns="0" tIns="0" rIns="0" bIns="0" rtlCol="0" anchor="ctr"/>
          <a:lstStyle/>
          <a:p>
            <a:pPr indent="0" marL="0">
              <a:buNone/>
            </a:pPr>
            <a:r>
              <a:rPr lang="en-US" sz="1200" b="1" spc="150" kern="0" dirty="0">
                <a:solidFill>
                  <a:srgbClr val="FF612B"/>
                </a:solidFill>
              </a:rPr>
              <a:t>RESEARCH SCOPE</a:t>
            </a:r>
            <a:endParaRPr lang="en-US" sz="1300" dirty="0"/>
          </a:p>
        </p:txBody>
      </p:sp>
      <p:sp>
        <p:nvSpPr>
          <p:cNvPr id="54" name="Text 29"/>
          <p:cNvSpPr txBox="1"/>
          <p:nvPr/>
        </p:nvSpPr>
        <p:spPr>
          <a:xfrm>
            <a:off x="3959352" y="5047488"/>
            <a:ext cx="7479792" cy="420624"/>
          </a:xfrm>
          <a:prstGeom prst="rect">
            <a:avLst/>
          </a:prstGeom>
          <a:noFill/>
          <a:ln/>
        </p:spPr>
        <p:txBody>
          <a:bodyPr wrap="square" lIns="0" tIns="0" rIns="0" bIns="0" rtlCol="0" anchor="t"/>
          <a:lstStyle/>
          <a:p>
            <a:pPr indent="0" marL="0">
              <a:spcAft>
                <a:spcPts val="900"/>
              </a:spcAft>
              <a:buNone/>
            </a:pPr>
            <a:r>
              <a:rPr lang="en-US" sz="1050" dirty="0">
                <a:solidFill>
                  <a:srgbClr val="4B4D4F"/>
                </a:solidFill>
              </a:rPr>
              <a:t>Competitor products were sorted by customer task rather than by vendor, to match each with a specific Optum LS offering.</a:t>
            </a:r>
            <a:endParaRPr lang="en-US" sz="1100" dirty="0"/>
          </a:p>
          <a:p>
            <a:pPr indent="0" marL="0">
              <a:spcAft>
                <a:spcPts val="900"/>
              </a:spcAft>
              <a:buNone/>
            </a:pPr>
            <a:r>
              <a:rPr lang="en-US" sz="1050" dirty="0">
                <a:solidFill>
                  <a:srgbClr val="4B4D4F"/>
                </a:solidFill>
              </a:rPr>
              <a:t>Those tasks were then grouped into five domains where both Optum LS and its competitors publicly market products:</a:t>
            </a:r>
            <a:endParaRPr lang="en-US" sz="1100" dirty="0"/>
          </a:p>
        </p:txBody>
      </p:sp>
      <p:sp>
        <p:nvSpPr>
          <p:cNvPr id="9" name="workflow chip RWE"/>
          <p:cNvSpPr/>
          <p:nvPr/>
        </p:nvSpPr>
        <p:spPr>
          <a:xfrm>
            <a:off x="3959352" y="5623559"/>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3959352" y="5623559"/>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4473519" y="5623559"/>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4473519" y="5623559"/>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6342827" y="5623559"/>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6342827" y="5623559"/>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8618677" y="5623559"/>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8618677" y="5623559"/>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9945929" y="5623559"/>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10311689" y="5623559"/>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10311689" y="5623559"/>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55" name="aside rule"/>
          <p:cNvSpPr/>
          <p:nvPr/>
        </p:nvSpPr>
        <p:spPr>
          <a:xfrm>
            <a:off x="548640" y="4672584"/>
            <a:ext cx="32004" cy="1252727"/>
          </a:xfrm>
          <a:prstGeom prst="rect">
            <a:avLst/>
          </a:prstGeom>
          <a:solidFill>
            <a:srgbClr val="D9D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ard label"/>
          <p:cNvSpPr txBox="1"/>
          <p:nvPr/>
        </p:nvSpPr>
        <p:spPr>
          <a:xfrm>
            <a:off x="694944" y="4672584"/>
            <a:ext cx="2843784" cy="329184"/>
          </a:xfrm>
          <a:prstGeom prst="rect">
            <a:avLst/>
          </a:prstGeom>
          <a:noFill/>
          <a:ln/>
        </p:spPr>
        <p:txBody>
          <a:bodyPr wrap="square" lIns="0" tIns="0" rIns="0" bIns="0" rtlCol="0" anchor="ctr"/>
          <a:lstStyle/>
          <a:p>
            <a:pPr indent="0" marL="0">
              <a:buNone/>
            </a:pPr>
            <a:r>
              <a:rPr lang="en-US" sz="900" b="1" spc="100" kern="0" dirty="0">
                <a:solidFill>
                  <a:srgbClr val="7A7C7E"/>
                </a:solidFill>
              </a:rPr>
              <a:t>WHAT COUNTS AS CONVERSATIONAL AI?</a:t>
            </a:r>
            <a:endParaRPr lang="en-US" sz="1300" dirty="0"/>
          </a:p>
        </p:txBody>
      </p:sp>
      <p:sp>
        <p:nvSpPr>
          <p:cNvPr id="57" name="Text 29"/>
          <p:cNvSpPr txBox="1"/>
          <p:nvPr/>
        </p:nvSpPr>
        <p:spPr>
          <a:xfrm>
            <a:off x="694944" y="5001768"/>
            <a:ext cx="2843784" cy="960120"/>
          </a:xfrm>
          <a:prstGeom prst="rect">
            <a:avLst/>
          </a:prstGeom>
          <a:noFill/>
          <a:ln/>
        </p:spPr>
        <p:txBody>
          <a:bodyPr wrap="square" lIns="0" tIns="0" rIns="0" bIns="0" rtlCol="0" anchor="t"/>
          <a:lstStyle/>
          <a:p>
            <a:pPr indent="0" marL="0">
              <a:spcAft>
                <a:spcPts val="900"/>
              </a:spcAft>
              <a:buNone/>
            </a:pPr>
            <a:r>
              <a:rPr lang="en-US" sz="1000" dirty="0">
                <a:solidFill>
                  <a:srgbClr val="7A7C7E"/>
                </a:solidFill>
              </a:rPr>
              <a:t>A publicly marketed interface that lets life-sciences customers use natural language to interact with data, research or business workflows. Excludes patient-facing chatbots, clinician scribes and AI without a natural-language interface.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Seven RWE AI launches since 2024 warrant a wider look across life sciences</a:t>
            </a:r>
            <a:endParaRPr lang="en-US" sz="2200" dirty="0"/>
          </a:p>
        </p:txBody>
      </p:sp>
      <p:sp>
        <p:nvSpPr>
          <p:cNvPr id="4" name="label"/>
          <p:cNvSpPr txBox="1"/>
          <p:nvPr/>
        </p:nvSpPr>
        <p:spPr>
          <a:xfrm>
            <a:off x="548640" y="1389888"/>
            <a:ext cx="7315200" cy="237744"/>
          </a:xfrm>
          <a:prstGeom prst="rect">
            <a:avLst/>
          </a:prstGeom>
          <a:noFill/>
          <a:ln/>
        </p:spPr>
        <p:txBody>
          <a:bodyPr wrap="square" lIns="0" tIns="0" rIns="0" bIns="0" rtlCol="0" anchor="t"/>
          <a:lstStyle/>
          <a:p>
            <a:pPr indent="0" marL="0">
              <a:buNone/>
            </a:pPr>
            <a:r>
              <a:rPr lang="en-US" sz="12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Tempus’s </a:t>
            </a:r>
            <a:r>
              <a:rPr lang="en-US" sz="1050" b="1" dirty="0" u="sng">
                <a:solidFill>
                  <a:srgbClr val="002677"/>
                </a:solidFill>
                <a:uFill>
                  <a:solidFill>
                    <a:srgbClr val="9AA8CC"/>
                  </a:solidFill>
                </a:uFill>
              </a:rPr>
              <a:t>Tempus One / Lens</a:t>
            </a:r>
            <a:r>
              <a:rPr lang="en-US" sz="1050" dirty="0">
                <a:solidFill>
                  <a:schemeClr val="tx1"/>
                </a:solidFill>
              </a:rPr>
              <a:t> — AI-assisted research and cohort exploration (February)</a:t>
            </a:r>
            <a:endParaRPr lang="en-US" sz="1050" dirty="0"/>
          </a:p>
          <a:p>
            <a:pPr indent="0" marL="0">
              <a:spcBef>
                <a:spcPts val="800"/>
              </a:spcBef>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MapAI</a:t>
            </a: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Marmot</a:t>
            </a: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Truveta’s </a:t>
            </a:r>
            <a:r>
              <a:rPr lang="en-US" sz="1050" b="1" dirty="0" u="sng">
                <a:solidFill>
                  <a:srgbClr val="002677"/>
                </a:solidFill>
                <a:uFill>
                  <a:solidFill>
                    <a:srgbClr val="9AA8CC"/>
                  </a:solidFill>
                </a:uFill>
              </a:rPr>
              <a:t>Truveta Intelligence</a:t>
            </a:r>
            <a:r>
              <a:rPr lang="en-US" sz="1050" dirty="0">
                <a:solidFill>
                  <a:schemeClr val="tx1"/>
                </a:solidFill>
              </a:rPr>
              <a:t> — natural-language RWE research questions</a:t>
            </a:r>
            <a:endParaRPr lang="en-US" sz="1050" dirty="0"/>
          </a:p>
          <a:p>
            <a:pPr indent="0" marL="0">
              <a:spcBef>
                <a:spcPts val="800"/>
              </a:spcBef>
              <a:buNone/>
            </a:pPr>
            <a:r>
              <a:rPr lang="en-US" sz="1050" dirty="0" u="sng">
                <a:solidFill>
                  <a:srgbClr val="002677"/>
                </a:solidFill>
                <a:uFill>
                  <a:solidFill>
                    <a:srgbClr val="9AA8CC"/>
                  </a:solidFill>
                </a:uFill>
              </a:rPr>
              <a:t>Flatiron Health’s </a:t>
            </a:r>
            <a:r>
              <a:rPr lang="en-US" sz="1050" b="1" dirty="0" u="sng">
                <a:solidFill>
                  <a:srgbClr val="002677"/>
                </a:solidFill>
                <a:uFill>
                  <a:solidFill>
                    <a:srgbClr val="9AA8CC"/>
                  </a:solidFill>
                </a:uFill>
              </a:rPr>
              <a:t>Telescope</a:t>
            </a: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Verana Health’s </a:t>
            </a:r>
            <a:r>
              <a:rPr lang="en-US" sz="1050" b="1" dirty="0" u="sng">
                <a:solidFill>
                  <a:srgbClr val="002677"/>
                </a:solidFill>
                <a:uFill>
                  <a:solidFill>
                    <a:srgbClr val="9AA8CC"/>
                  </a:solidFill>
                </a:uFill>
              </a:rPr>
              <a:t>Agent Claire</a:t>
            </a:r>
            <a:r>
              <a:rPr lang="en-US" sz="1050" dirty="0">
                <a:solidFill>
                  <a:schemeClr val="tx1"/>
                </a:solidFill>
              </a:rPr>
              <a:t> — conversational specialty-data research</a:t>
            </a:r>
            <a:endParaRPr lang="en-US" sz="1050" dirty="0"/>
          </a:p>
          <a:p>
            <a:pPr indent="0" marL="0">
              <a:spcBef>
                <a:spcPts val="800"/>
              </a:spcBef>
              <a:buNone/>
            </a:pPr>
            <a:r>
              <a:rPr lang="en-US" sz="1050" dirty="0" u="sng">
                <a:solidFill>
                  <a:srgbClr val="002677"/>
                </a:solidFill>
                <a:uFill>
                  <a:solidFill>
                    <a:srgbClr val="9AA8CC"/>
                  </a:solidFill>
                </a:uFill>
              </a:rPr>
              <a:t>Norstella’s </a:t>
            </a:r>
            <a:r>
              <a:rPr lang="en-US" sz="1050" b="1" dirty="0" u="sng">
                <a:solidFill>
                  <a:srgbClr val="002677"/>
                </a:solidFill>
                <a:uFill>
                  <a:solidFill>
                    <a:srgbClr val="9AA8CC"/>
                  </a:solidFill>
                </a:uFill>
              </a:rPr>
              <a:t>Atlas Patient Analytics</a:t>
            </a: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7589520"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389120"/>
            <a:ext cx="7187184"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QUESTIONS</a:t>
            </a:r>
            <a:endParaRPr lang="en-US" sz="1300" dirty="0"/>
          </a:p>
        </p:txBody>
      </p:sp>
      <p:sp>
        <p:nvSpPr>
          <p:cNvPr id="24" name="Text 22"/>
          <p:cNvSpPr txBox="1"/>
          <p:nvPr/>
        </p:nvSpPr>
        <p:spPr>
          <a:xfrm>
            <a:off x="749808" y="4754880"/>
            <a:ext cx="7187184" cy="1143000"/>
          </a:xfrm>
          <a:prstGeom prst="rect">
            <a:avLst/>
          </a:prstGeom>
          <a:noFill/>
          <a:ln/>
        </p:spPr>
        <p:txBody>
          <a:bodyPr wrap="square" lIns="0" tIns="0" rIns="0" bIns="0" rtlCol="0" anchor="t"/>
          <a:lstStyle/>
          <a:p>
            <a:pPr indent="0" marL="0">
              <a:buNone/>
            </a:pPr>
            <a:r>
              <a:rPr lang="en-US" sz="1200" b="1" dirty="0">
                <a:solidFill>
                  <a:schemeClr val="accent1"/>
                </a:solidFill>
              </a:rPr>
              <a:t>1. How widely are life-sciences vendors marketing conversational AI, and in which domains?</a:t>
            </a:r>
            <a:endParaRPr lang="en-US" sz="1200" dirty="0"/>
          </a:p>
          <a:p>
            <a:pPr indent="0" marL="0">
              <a:spcBef>
                <a:spcPts val="700"/>
              </a:spcBef>
              <a:buNone/>
            </a:pPr>
            <a:r>
              <a:rPr lang="en-US" sz="1200" b="1" dirty="0">
                <a:solidFill>
                  <a:schemeClr val="accent1"/>
                </a:solidFill>
              </a:rPr>
              <a:t>2. Which customer tasks does it target, and what do vendors promise?</a:t>
            </a:r>
            <a:endParaRPr lang="en-US" sz="1200" dirty="0"/>
          </a:p>
          <a:p>
            <a:pPr indent="0" marL="0">
              <a:spcBef>
                <a:spcPts val="700"/>
              </a:spcBef>
              <a:buNone/>
            </a:pPr>
            <a:r>
              <a:rPr lang="en-US" sz="1200" b="1" dirty="0">
                <a:solidFill>
                  <a:schemeClr val="accent1"/>
                </a:solidFill>
              </a:rPr>
              <a:t>3. Who supplies the underlying AI, and could those suppliers become competitors?</a:t>
            </a:r>
            <a:endParaRPr lang="en-US" sz="1200" dirty="0"/>
          </a:p>
          <a:p>
            <a:pPr indent="0" marL="0">
              <a:spcBef>
                <a:spcPts val="700"/>
              </a:spcBef>
              <a:buNone/>
            </a:pPr>
            <a:r>
              <a:rPr lang="en-US" sz="1200" b="1" dirty="0">
                <a:solidFill>
                  <a:schemeClr val="accent1"/>
                </a:solidFill>
              </a:rPr>
              <a:t>4. What does that positioning suggest for an Optum LS offering?</a:t>
            </a:r>
            <a:endParaRPr lang="en-US" sz="1200" dirty="0"/>
          </a:p>
        </p:txBody>
      </p:sp>
      <p:sp>
        <p:nvSpPr>
          <p:cNvPr id="25" name="our research response card"/>
          <p:cNvSpPr/>
          <p:nvPr/>
        </p:nvSpPr>
        <p:spPr>
          <a:xfrm>
            <a:off x="8321040" y="4114800"/>
            <a:ext cx="3319272"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8522208" y="4389120"/>
            <a:ext cx="29169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RESEARCH APPROACH</a:t>
            </a:r>
            <a:endParaRPr lang="en-US" sz="1300" dirty="0"/>
          </a:p>
        </p:txBody>
      </p:sp>
      <p:sp>
        <p:nvSpPr>
          <p:cNvPr id="27" name="Text 25"/>
          <p:cNvSpPr txBox="1"/>
          <p:nvPr/>
        </p:nvSpPr>
        <p:spPr>
          <a:xfrm>
            <a:off x="8522208" y="4754880"/>
            <a:ext cx="2916936" cy="1143000"/>
          </a:xfrm>
          <a:prstGeom prst="rect">
            <a:avLst/>
          </a:prstGeom>
          <a:noFill/>
          <a:ln/>
        </p:spPr>
        <p:txBody>
          <a:bodyPr wrap="square" lIns="0" tIns="0" rIns="0" bIns="0" rtlCol="0" anchor="t"/>
          <a:lstStyle/>
          <a:p>
            <a:pPr indent="0" marL="0">
              <a:buNone/>
            </a:pPr>
            <a:r>
              <a:rPr lang="en-US" sz="1150" b="1" dirty="0">
                <a:solidFill>
                  <a:schemeClr val="tx1"/>
                </a:solidFill>
              </a:rPr>
              <a:t>Vendors’ public product claims show what competitors choose to promise customers. That makes them direct evidence of competitive positioning—though not of performance, adoption or revenue.</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8" name="Invisible source link 3: https://investors.tempus.com/node/6451/pdf">
            <a:hlinkClick r:id="rId3"/>
          </p:cNvPr>
          <p:cNvSpPr/>
          <p:nvPr/>
        </p:nvSpPr>
        <p:spPr>
          <a:xfrm>
            <a:off x="548284" y="2627342"/>
            <a:ext cx="180485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3: https://www.komodohealth.com/press/komodo-health-unveils-new-generative-ai-offerings-to-enable-real-time-insights-across-330-million-patient-journeys/">
            <a:hlinkClick r:id="rId4"/>
          </p:cNvPr>
          <p:cNvSpPr/>
          <p:nvPr/>
        </p:nvSpPr>
        <p:spPr>
          <a:xfrm>
            <a:off x="548284" y="3208380"/>
            <a:ext cx="143985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3: https://www.komodohealth.com/press/komodo-health-introduces-marmot-the-ai-built-to-accelerate-healthcare-innovation/">
            <a:hlinkClick r:id="rId5"/>
          </p:cNvPr>
          <p:cNvSpPr/>
          <p:nvPr/>
        </p:nvSpPr>
        <p:spPr>
          <a:xfrm>
            <a:off x="3321354" y="2627342"/>
            <a:ext cx="152218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3: https://www.truveta.com/blog/announcement/truveta-unveils-truveta-intelligence/">
            <a:hlinkClick r:id="rId6"/>
          </p:cNvPr>
          <p:cNvSpPr/>
          <p:nvPr/>
        </p:nvSpPr>
        <p:spPr>
          <a:xfrm>
            <a:off x="6094082" y="2627342"/>
            <a:ext cx="18095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3: https://resources.flatiron.com/press/flatiron-health-launches-flatiron-telescope-a-new-ai-platform-delivering-oncology-insights-in-minutes">
            <a:hlinkClick r:id="rId7"/>
          </p:cNvPr>
          <p:cNvSpPr/>
          <p:nvPr/>
        </p:nvSpPr>
        <p:spPr>
          <a:xfrm>
            <a:off x="6094082" y="3048537"/>
            <a:ext cx="162911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3: https://veranahealth.com/verana-health-introduces-new-ai-agents-to-expedite-and-streamline-rd-tasks/">
            <a:hlinkClick r:id="rId8"/>
          </p:cNvPr>
          <p:cNvSpPr/>
          <p:nvPr/>
        </p:nvSpPr>
        <p:spPr>
          <a:xfrm>
            <a:off x="8867165" y="2627342"/>
            <a:ext cx="174911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3: https://www.norstella.com/press-releases/launches-real-world-data-agentic-platform-first-agent-replace-manual-cohort-building/">
            <a:hlinkClick r:id="rId9"/>
          </p:cNvPr>
          <p:cNvSpPr/>
          <p:nvPr/>
        </p:nvSpPr>
        <p:spPr>
          <a:xfrm>
            <a:off x="8867165" y="3048537"/>
            <a:ext cx="20745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visible in RWE, where competitors market</a:t>
            </a:r>
            <a:br>
              <a:rPr lang="en-US" sz="2200" b="1" dirty="0">
                <a:solidFill>
                  <a:schemeClr val="accent1"/>
                </a:solidFill>
              </a:rPr>
            </a:br>
            <a:r>
              <a:rPr lang="en-US" sz="2200" b="1" dirty="0">
                <a:solidFill>
                  <a:schemeClr val="accent1"/>
                </a:solidFill>
              </a:rPr>
              <a:t>new access points to tasks Optum LS already serves</a:t>
            </a:r>
            <a:endParaRPr lang="en-US" sz="2200" dirty="0"/>
          </a:p>
        </p:txBody>
      </p:sp>
      <p:sp>
        <p:nvSpPr>
          <p:cNvPr id="4" name="kpi tile 45"/>
          <p:cNvSpPr/>
          <p:nvPr/>
        </p:nvSpPr>
        <p:spPr>
          <a:xfrm>
            <a:off x="548640" y="4846320"/>
            <a:ext cx="3937217" cy="1207008"/>
          </a:xfrm>
          <a:prstGeom prst="rect">
            <a:avLst/>
          </a:prstGeom>
          <a:solidFill>
            <a:schemeClr val="accent5"/>
          </a:solidFill>
          <a:ln/>
        </p:spPr>
        <p:txBody>
          <a:bodyPr/>
          <a:p/>
        </p:txBody>
      </p:sp>
      <p:sp>
        <p:nvSpPr>
          <p:cNvPr id="53" name="scope note"/>
          <p:cNvSpPr txBox="1"/>
          <p:nvPr/>
        </p:nvSpPr>
        <p:spPr>
          <a:xfrm>
            <a:off x="548640" y="4526280"/>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4668737" y="4846320"/>
            <a:ext cx="6971574" cy="1207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4869905" y="4974336"/>
            <a:ext cx="3657600" cy="292608"/>
          </a:xfrm>
          <a:prstGeom prst="rect">
            <a:avLst/>
          </a:prstGeom>
          <a:noFill/>
          <a:ln/>
        </p:spPr>
        <p:txBody>
          <a:bodyPr wrap="square" lIns="0" tIns="0" rIns="0" bIns="0" rtlCol="0" anchor="t"/>
          <a:lstStyle/>
          <a:p>
            <a:pPr algn="l" indent="0" marL="0">
              <a:buNone/>
            </a:pPr>
            <a:r>
              <a:rPr lang="en-US" sz="1500" b="1" spc="150" kern="0" dirty="0">
                <a:solidFill>
                  <a:schemeClr val="accent2"/>
                </a:solidFill>
              </a:rPr>
              <a:t>KEY TAKEAWAY</a:t>
            </a:r>
            <a:endParaRPr lang="en-US" sz="1300" dirty="0"/>
          </a:p>
        </p:txBody>
      </p:sp>
      <p:sp>
        <p:nvSpPr>
          <p:cNvPr id="57" name="Text 54"/>
          <p:cNvSpPr txBox="1"/>
          <p:nvPr/>
        </p:nvSpPr>
        <p:spPr>
          <a:xfrm>
            <a:off x="4869905" y="5349240"/>
            <a:ext cx="6569238" cy="640080"/>
          </a:xfrm>
          <a:prstGeom prst="rect">
            <a:avLst/>
          </a:prstGeom>
          <a:noFill/>
          <a:ln/>
        </p:spPr>
        <p:txBody>
          <a:bodyPr wrap="square" lIns="0" tIns="0" rIns="0" bIns="0" rtlCol="0" anchor="t"/>
          <a:lstStyle/>
          <a:p>
            <a:pPr indent="0" marL="0" algn="l">
              <a:buNone/>
            </a:pPr>
            <a:r>
              <a:rPr lang="en-US" sz="1000" b="1" dirty="0">
                <a:solidFill>
                  <a:schemeClr val="tx1"/>
                </a:solidFill>
              </a:rPr>
              <a:t>Every domain now has competitors marketing conversational AI, from 9 in RWE to 2 in market access.</a:t>
            </a:r>
            <a:endParaRPr lang="en-US" sz="1050" dirty="0"/>
          </a:p>
          <a:p>
            <a:pPr indent="0" marL="0" algn="l">
              <a:spcBef>
                <a:spcPts val="800"/>
              </a:spcBef>
              <a:buNone/>
            </a:pPr>
            <a:r>
              <a:rPr lang="en-US" sz="1000" b="1" dirty="0">
                <a:solidFill>
                  <a:schemeClr val="tx1"/>
                </a:solidFill>
              </a:rPr>
              <a:t>Norstella alone markets Ella-branded assistants in four of the five.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graphicFrame>
        <p:nvGraphicFramePr>
          <p:cNvPr id="5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2971799"/>
        </p:xfrm>
        <a:graphic>
          <a:graphicData uri="http://schemas.openxmlformats.org/drawingml/2006/table">
            <a:tbl>
              <a:tblPr/>
              <a:tblGrid>
                <a:gridCol w="1619997"/>
                <a:gridCol w="3793465"/>
                <a:gridCol w="2835756"/>
                <a:gridCol w="2842453"/>
              </a:tblGrid>
              <a:tr h="329184">
                <a:tc>
                  <a:txBody>
                    <a:bodyPr/>
                    <a:lstStyle/>
                    <a:p>
                      <a:pPr algn="ctr" indent="0" marL="0">
                        <a:buNone/>
                      </a:pPr>
                      <a:r>
                        <a:rPr lang="en-US" sz="900" b="1" spc="100" kern="0" dirty="0">
                          <a:solidFill>
                            <a:schemeClr val="bg1"/>
                          </a:solidFill>
                        </a:rPr>
                        <a:t>DOMAIN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WHO’S COMPETING</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THEY PITCH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28523">
                <a:tc>
                  <a:txBody>
                    <a:bodyPr/>
                    <a:lstStyle/>
                    <a:p>
                      <a:pPr algn="ctr" indent="0" marL="0">
                        <a:buNone/>
                      </a:pPr>
                      <a:r>
                        <a:rPr lang="en-US" sz="1050" b="1" dirty="0">
                          <a:solidFill>
                            <a:schemeClr val="accent1"/>
                          </a:solidFill>
                        </a:rPr>
                        <a:t>RWE</a:t>
                      </a:r>
                      <a:endParaRPr lang="en-US" sz="1050" dirty="0"/>
                    </a:p>
                    <a:p>
                      <a:pPr algn="ctr" indent="0" marL="0">
                        <a:buNone/>
                      </a:pPr>
                      <a:r>
                        <a:rPr lang="en-US" sz="900" dirty="0">
                          <a:solidFill>
                            <a:schemeClr val="accent1"/>
                          </a:solidFill>
                        </a:rPr>
                        <a:t>(most active)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Komodo, Truveta, Flatiron, Tempus, HealthVerity, Norstella, Truven, ConcertAI, Verana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Pre-sale data previews; self-service analysis; packaged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Analytics on Demand; epidemiology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Commercial</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Trinity, Norstella (Evaluate)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AI inside the rep’s CRM; simulated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Market Clarity: portfolio and patient/prescriber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Medical / Regulatory</a:t>
                      </a:r>
                      <a:br>
                        <a:rPr lang="en-US" sz="1050" b="1" dirty="0">
                          <a:solidFill>
                            <a:schemeClr val="accent1"/>
                          </a:solidFill>
                        </a:rPr>
                      </a:br>
                      <a:r>
                        <a:rPr lang="en-US" sz="1050" b="1" dirty="0">
                          <a:solidFill>
                            <a:schemeClr val="accent1"/>
                          </a:solidFill>
                        </a:rPr>
                        <a:t>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Narrowly scoped tools; published limits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Postapproval safety studies; Market Clarity medical affairs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Clinical</a:t>
                      </a:r>
                      <a:br>
                        <a:rPr lang="en-US" sz="1050" b="1" dirty="0">
                          <a:solidFill>
                            <a:schemeClr val="accent1"/>
                          </a:solidFill>
                        </a:rPr>
                      </a:br>
                      <a:r>
                        <a:rPr lang="en-US" sz="1050" b="1" dirty="0">
                          <a:solidFill>
                            <a:schemeClr val="accent1"/>
                          </a:solidFill>
                        </a:rPr>
                        <a:t>Trials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TriNetX, Norstella (Citeline),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Site selection; data-bounded EDC chat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Prospector; Digital Research Network; True Source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Market</a:t>
                      </a:r>
                      <a:br>
                        <a:rPr lang="en-US" sz="1050" b="1" dirty="0">
                          <a:solidFill>
                            <a:schemeClr val="accent1"/>
                          </a:solidFill>
                        </a:rPr>
                      </a:br>
                      <a:r>
                        <a:rPr lang="en-US" sz="1050" b="1" dirty="0">
                          <a:solidFill>
                            <a:schemeClr val="accent1"/>
                          </a:solidFill>
                        </a:rPr>
                        <a:t>Access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EVERSANA, Norstella (MMIT)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Moving past chat answers; queryable payer feedback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HEOR/value evidence; Evidence Engine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5" name="Text 3"/>
          <p:cNvSpPr txBox="1"/>
          <p:nvPr/>
        </p:nvSpPr>
        <p:spPr>
          <a:xfrm>
            <a:off x="685800" y="4937759"/>
            <a:ext cx="1593704" cy="475488"/>
          </a:xfrm>
          <a:prstGeom prst="rect">
            <a:avLst/>
          </a:prstGeom>
          <a:noFill/>
          <a:ln/>
        </p:spPr>
        <p:txBody>
          <a:bodyPr wrap="square" lIns="0" tIns="0" rIns="0" bIns="0" rtlCol="0" anchor="t"/>
          <a:lstStyle/>
          <a:p>
            <a:pPr algn="ctr" indent="0" marL="0">
              <a:buNone/>
            </a:pPr>
            <a:r>
              <a:rPr lang="en-US" sz="2600" b="1" dirty="0">
                <a:solidFill>
                  <a:schemeClr val="accent1"/>
                </a:solidFill>
              </a:rPr>
              <a:t>43</a:t>
            </a:r>
            <a:endParaRPr lang="en-US" sz="2600" dirty="0"/>
          </a:p>
        </p:txBody>
      </p:sp>
      <p:sp>
        <p:nvSpPr>
          <p:cNvPr id="6" name="Text 4"/>
          <p:cNvSpPr txBox="1"/>
          <p:nvPr/>
        </p:nvSpPr>
        <p:spPr>
          <a:xfrm>
            <a:off x="685800"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U.S. competitors</a:t>
            </a:r>
            <a:br>
              <a:rPr lang="en-US" sz="1100" b="1" dirty="0">
                <a:solidFill>
                  <a:schemeClr val="accent1"/>
                </a:solidFill>
              </a:rPr>
            </a:br>
            <a:r>
              <a:rPr lang="en-US" sz="1100" b="1" dirty="0">
                <a:solidFill>
                  <a:schemeClr val="accent1"/>
                </a:solidFill>
              </a:rPr>
              <a:t>screened</a:t>
            </a:r>
            <a:endParaRPr lang="en-US" sz="1100" dirty="0"/>
          </a:p>
        </p:txBody>
      </p:sp>
      <p:sp>
        <p:nvSpPr>
          <p:cNvPr id="9" name="Text 7"/>
          <p:cNvSpPr txBox="1"/>
          <p:nvPr/>
        </p:nvSpPr>
        <p:spPr>
          <a:xfrm>
            <a:off x="2754992" y="4937759"/>
            <a:ext cx="1593704" cy="475488"/>
          </a:xfrm>
          <a:prstGeom prst="rect">
            <a:avLst/>
          </a:prstGeom>
          <a:noFill/>
          <a:ln/>
        </p:spPr>
        <p:txBody>
          <a:bodyPr wrap="square" lIns="0" tIns="0" rIns="0" bIns="0" rtlCol="0" anchor="t"/>
          <a:lstStyle/>
          <a:p>
            <a:pPr algn="ctr" indent="0" marL="0">
              <a:buNone/>
            </a:pPr>
            <a:r>
              <a:rPr lang="en-US" sz="2600" b="1" dirty="0">
                <a:solidFill>
                  <a:schemeClr val="accent2"/>
                </a:solidFill>
              </a:rPr>
              <a:t>15</a:t>
            </a:r>
            <a:endParaRPr lang="en-US" sz="2600" dirty="0"/>
          </a:p>
        </p:txBody>
      </p:sp>
      <p:sp>
        <p:nvSpPr>
          <p:cNvPr id="10" name="Text 8"/>
          <p:cNvSpPr txBox="1"/>
          <p:nvPr/>
        </p:nvSpPr>
        <p:spPr>
          <a:xfrm>
            <a:off x="2754992"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competitors marketing</a:t>
            </a:r>
            <a:br>
              <a:rPr lang="en-US" sz="1100" b="1" dirty="0">
                <a:solidFill>
                  <a:schemeClr val="accent1"/>
                </a:solidFill>
              </a:rPr>
            </a:br>
            <a:r>
              <a:rPr lang="en-US" sz="1100" b="1" dirty="0">
                <a:solidFill>
                  <a:schemeClr val="accent1"/>
                </a:solidFill>
              </a:rPr>
              <a:t>conversational AI</a:t>
            </a:r>
            <a:endParaRPr lang="en-US" sz="1100" dirty="0"/>
          </a:p>
        </p:txBody>
      </p:sp>
      <p:sp>
        <p:nvSpPr>
          <p:cNvPr id="7" name="flow arrow"/>
          <p:cNvSpPr/>
          <p:nvPr/>
        </p:nvSpPr>
        <p:spPr>
          <a:xfrm>
            <a:off x="2325224" y="5065776"/>
            <a:ext cx="384048" cy="219456"/>
          </a:xfrm>
          <a:prstGeom prst="rightArrow">
            <a:avLst/>
          </a:prstGeom>
          <a:solidFill>
            <a:schemeClr val="accent4"/>
          </a:solidFill>
          <a:ln/>
        </p:spPr>
        <p:txBody>
          <a:body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RWE, conversational AI now spans the workflow, from pre-sale data</a:t>
            </a:r>
            <a:br>
              <a:rPr lang="en-US" sz="2200" b="1" dirty="0">
                <a:solidFill>
                  <a:schemeClr val="accent1"/>
                </a:solidFill>
              </a:rPr>
            </a:br>
            <a:r>
              <a:rPr lang="en-US" sz="2200" b="1" dirty="0">
                <a:solidFill>
                  <a:schemeClr val="accent1"/>
                </a:solidFill>
              </a:rPr>
              <a:t>previews to analyses traditionally handled by specialists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64747">
                <a:tc>
                  <a:txBody>
                    <a:bodyPr/>
                    <a:lstStyle/>
                    <a:p>
                      <a:pPr algn="ctr" indent="0" marL="0">
                        <a:buNone/>
                      </a:pPr>
                      <a:r>
                        <a:rPr lang="en-US" sz="1050" b="1" dirty="0">
                          <a:solidFill>
                            <a:schemeClr val="accent1"/>
                          </a:solidFill>
                        </a:rPr>
                        <a:t>Identify and assess</a:t>
                      </a:r>
                      <a:b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Truven’s </a:t>
                      </a:r>
                      <a:r>
                        <a:rPr lang="en-US" sz="950" b="1" dirty="0" u="sng">
                          <a:solidFill>
                            <a:srgbClr val="002677"/>
                          </a:solidFill>
                          <a:uFill>
                            <a:solidFill>
                              <a:srgbClr val="9AA8CC"/>
                            </a:solidFill>
                          </a:u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b="1" dirty="0" u="sng">
                          <a:solidFill>
                            <a:srgbClr val="002677"/>
                          </a:solidFill>
                          <a:uFill>
                            <a:solidFill>
                              <a:srgbClr val="9AA8CC"/>
                            </a:solidFill>
                          </a:u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 Data</a:t>
                      </a:r>
                      <a:r>
                        <a:rPr lang="en-US" sz="950" dirty="0" b="0">
                          <a:solidFill>
                            <a:schemeClr val="tx1"/>
                          </a:solidFill>
                        </a:rPr>
                        <a:t> (linked claims/EHR)</a:t>
                      </a:r>
                      <a:r>
                        <a:rPr lang="en-US" sz="950" dirty="0" b="0">
                          <a:solidFill>
                            <a:schemeClr val="tx1"/>
                          </a:solidFill>
                        </a:rPr>
                        <a:t>; </a:t>
                      </a:r>
                      <a:r>
                        <a:rPr lang="en-US" sz="950" dirty="0" b="1">
                          <a:solidFill>
                            <a:schemeClr val="tx1"/>
                          </a:solid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49697">
                <a:tc>
                  <a:txBody>
                    <a:bodyPr/>
                    <a:lstStyle/>
                    <a:p>
                      <a:pPr algn="ctr" indent="0" marL="0">
                        <a:buNone/>
                      </a:pPr>
                      <a:r>
                        <a:rPr lang="en-US" sz="1050" b="1" dirty="0">
                          <a:solidFill>
                            <a:schemeClr val="accent1"/>
                          </a:solidFill>
                        </a:rPr>
                        <a:t>Explore patient</a:t>
                      </a:r>
                      <a:b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b="1" dirty="0" u="sng">
                          <a:solidFill>
                            <a:srgbClr val="002677"/>
                          </a:solidFill>
                          <a:uFill>
                            <a:solidFill>
                              <a:srgbClr val="9AA8CC"/>
                            </a:solidFill>
                          </a:uFill>
                        </a:rPr>
                        <a:t>Marmot</a:t>
                      </a:r>
                      <a:r>
                        <a:rPr lang="en-US" sz="950" dirty="0">
                          <a:solidFill>
                            <a:schemeClr val="tx1"/>
                          </a:solidFill>
                        </a:rPr>
                        <a:t> and </a:t>
                      </a:r>
                      <a:r>
                        <a:rPr lang="en-US" sz="950" b="1" dirty="0" u="sng">
                          <a:solidFill>
                            <a:srgbClr val="002677"/>
                          </a:solidFill>
                          <a:uFill>
                            <a:solidFill>
                              <a:srgbClr val="9AA8CC"/>
                            </a:solidFill>
                          </a:uFill>
                        </a:rPr>
                        <a:t>MapAI</a:t>
                      </a:r>
                      <a:r>
                        <a:rPr lang="en-US" sz="950" dirty="0">
                          <a:solidFill>
                            <a:schemeClr val="tx1"/>
                          </a:solidFill>
                        </a:rPr>
                        <a:t>: conversational healthcare analytics and cohort exploration;</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b="1" dirty="0" u="sng">
                          <a:solidFill>
                            <a:srgbClr val="002677"/>
                          </a:solidFill>
                          <a:uFill>
                            <a:solidFill>
                              <a:srgbClr val="9AA8CC"/>
                            </a:solidFill>
                          </a:uFill>
                        </a:rPr>
                        <a:t>Truveta Intelligence</a:t>
                      </a: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u="sng">
                          <a:solidFill>
                            <a:srgbClr val="002677"/>
                          </a:solidFill>
                          <a:uFill>
                            <a:solidFill>
                              <a:srgbClr val="9AA8CC"/>
                            </a:solidFill>
                          </a:uFill>
                        </a:rPr>
                        <a:t>Briya’s </a:t>
                      </a:r>
                      <a:r>
                        <a:rPr lang="en-US" sz="950" b="1" dirty="0" u="sng">
                          <a:solidFill>
                            <a:srgbClr val="002677"/>
                          </a:solidFill>
                          <a:uFill>
                            <a:solidFill>
                              <a:srgbClr val="9AA8CC"/>
                            </a:solidFill>
                          </a:uFill>
                        </a:rPr>
                        <a:t>AIRE Population Agent</a:t>
                      </a:r>
                      <a:r>
                        <a:rPr lang="en-US" sz="950" dirty="0">
                          <a:solidFill>
                            <a:schemeClr val="tx1"/>
                          </a:solidFill>
                        </a:rPr>
                        <a:t> </a:t>
                      </a:r>
                      <a:r>
                        <a:rPr lang="en-US" sz="950" dirty="0">
                          <a:solidFill>
                            <a:schemeClr val="tx1"/>
                          </a:solidFill>
                        </a:rPr>
                        <a:t>(Israel)</a:t>
                      </a: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models)</a:t>
                      </a:r>
                      <a:r>
                        <a:rPr lang="en-US" sz="950" dirty="0" b="0">
                          <a:solidFill>
                            <a:schemeClr val="tx1"/>
                          </a:solidFill>
                        </a:rPr>
                        <a:t>; </a:t>
                      </a: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64747">
                <a:tc>
                  <a:txBody>
                    <a:bodyPr/>
                    <a:lstStyle/>
                    <a:p>
                      <a:pPr algn="ctr" indent="0" marL="0">
                        <a:buNone/>
                      </a:pPr>
                      <a:r>
                        <a:rPr lang="en-US" sz="1050" b="1" dirty="0">
                          <a:solidFill>
                            <a:schemeClr val="accent1"/>
                          </a:solidFill>
                        </a:rPr>
                        <a:t>Investigate broader</a:t>
                      </a:r>
                      <a:b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HealthVerity’s </a:t>
                      </a:r>
                      <a:r>
                        <a:rPr lang="en-US" sz="950" b="1" dirty="0" u="sng">
                          <a:solidFill>
                            <a:srgbClr val="002677"/>
                          </a:solidFill>
                          <a:uFill>
                            <a:solidFill>
                              <a:srgbClr val="9AA8CC"/>
                            </a:solidFill>
                          </a:u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u="sng">
                          <a:solidFill>
                            <a:srgbClr val="002677"/>
                          </a:solidFill>
                          <a:uFill>
                            <a:solidFill>
                              <a:srgbClr val="9AA8CC"/>
                            </a:solidFill>
                          </a:uFill>
                        </a:rPr>
                        <a:t>BC Platforms’ </a:t>
                      </a:r>
                      <a:r>
                        <a:rPr lang="en-US" sz="950" b="1" dirty="0" u="sng">
                          <a:solidFill>
                            <a:srgbClr val="002677"/>
                          </a:solidFill>
                          <a:uFill>
                            <a:solidFill>
                              <a:srgbClr val="9AA8CC"/>
                            </a:solidFill>
                          </a:uFill>
                        </a:rPr>
                        <a:t>BC Catalyst</a:t>
                      </a:r>
                      <a:r>
                        <a:rPr lang="en-US" sz="950" dirty="0">
                          <a:solidFill>
                            <a:schemeClr val="tx1"/>
                          </a:solidFill>
                        </a:rPr>
                        <a:t> </a:t>
                      </a:r>
                      <a:r>
                        <a:rPr lang="en-US" sz="950" dirty="0">
                          <a:solidFill>
                            <a:schemeClr val="tx1"/>
                          </a:solidFill>
                        </a:rPr>
                        <a:t>(Finland)</a:t>
                      </a: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(statistical modeling, decision trees)</a:t>
                      </a:r>
                      <a:r>
                        <a:rPr lang="en-US" sz="950" dirty="0" b="0">
                          <a:solidFill>
                            <a:schemeClr val="tx1"/>
                          </a:solidFill>
                        </a:rPr>
                        <a:t>; </a:t>
                      </a:r>
                      <a:r>
                        <a:rPr lang="en-US" sz="950" dirty="0">
                          <a:solidFill>
                            <a:schemeClr val="tx1"/>
                          </a:solid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HealthVerity’s eXOs</a:t>
            </a:r>
            <a:r>
              <a:rPr lang="en-US" sz="1050" b="1" dirty="0">
                <a:solidFill>
                  <a:schemeClr val="tx1"/>
                </a:solidFill>
              </a:rPr>
              <a:t> and </a:t>
            </a:r>
            <a:r>
              <a:rPr lang="en-US" sz="1050" b="1" dirty="0" u="sng">
                <a:solidFill>
                  <a:srgbClr val="002677"/>
                </a:solidFill>
                <a:uFill>
                  <a:solidFill>
                    <a:srgbClr val="9AA8CC"/>
                  </a:solidFill>
                </a:uFill>
              </a:rPr>
              <a:t>Norstella’s Ella</a:t>
            </a:r>
            <a:r>
              <a:rPr lang="en-US" sz="1050" b="1" dirty="0">
                <a:solidFill>
                  <a:schemeClr val="tx1"/>
                </a:solidFill>
              </a:rPr>
              <a:t> market conversational AI as a multi-step workflow, not just search. HealthVerity’s eXOs advertises data feasibility, cohort design and RWE analysis, while Norstella’s Ella offers dataset recommendations, cohort construction and analytics.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9903" name="pre-engagement data evaluation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Truven also uses its conversational AI as a sales tool, offering qualified prospects free </a:t>
            </a:r>
            <a:r>
              <a:rPr lang="en-US" sz="1050" b="1" dirty="0" u="sng">
                <a:solidFill>
                  <a:srgbClr val="002677"/>
                </a:solidFill>
                <a:uFill>
                  <a:solidFill>
                    <a:srgbClr val="9AA8CC"/>
                  </a:solidFill>
                </a:uFill>
              </a:rPr>
              <a:t>MarketScan Snapshot</a:t>
            </a:r>
            <a:r>
              <a:rPr lang="en-US" sz="1050" b="1" dirty="0">
                <a:solidFill>
                  <a:schemeClr val="tx1"/>
                </a:solidFill>
              </a:rPr>
              <a:t> access to cohort counts and summary statistics before they commit to a full RWE analysis.</a:t>
            </a:r>
            <a:endParaRPr lang="en-US" sz="1050" dirty="0"/>
          </a:p>
        </p:txBody>
      </p:sp>
      <p:sp>
        <p:nvSpPr>
          <p:cNvPr id="990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6: https://www.merative.com/newsroom/truven-launches-marketscan-snapshot-an-ai-powered-tool-to-evaluate-fit-for-purpose-real-world-data-in-minutes">
            <a:hlinkClick r:id="rId3"/>
          </p:cNvPr>
          <p:cNvSpPr/>
          <p:nvPr/>
        </p:nvSpPr>
        <p:spPr>
          <a:xfrm>
            <a:off x="2944075" y="2014500"/>
            <a:ext cx="17786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6: https://panalgo.com/ella/">
            <a:hlinkClick r:id="rId15"/>
          </p:cNvPr>
          <p:cNvSpPr/>
          <p:nvPr/>
        </p:nvSpPr>
        <p:spPr>
          <a:xfrm>
            <a:off x="2944075" y="2200975"/>
            <a:ext cx="98920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6: https://www.komodohealth.com/product/marmot/">
            <a:hlinkClick r:id="rId8"/>
          </p:cNvPr>
          <p:cNvSpPr/>
          <p:nvPr/>
        </p:nvSpPr>
        <p:spPr>
          <a:xfrm>
            <a:off x="2944075" y="2896134"/>
            <a:ext cx="138096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6: https://www.komodohealth.com/press/komodo-health-unveils-new-generative-ai-offerings-to-enable-real-time-insights-across-330-million-patient-journeys/">
            <a:hlinkClick r:id="rId9"/>
          </p:cNvPr>
          <p:cNvSpPr/>
          <p:nvPr/>
        </p:nvSpPr>
        <p:spPr>
          <a:xfrm>
            <a:off x="4593234" y="2896134"/>
            <a:ext cx="3944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6: https://www.truveta.com/blog/announcement/truveta-unveils-truveta-intelligence/">
            <a:hlinkClick r:id="rId10"/>
          </p:cNvPr>
          <p:cNvSpPr/>
          <p:nvPr/>
        </p:nvSpPr>
        <p:spPr>
          <a:xfrm>
            <a:off x="2944075" y="3082621"/>
            <a:ext cx="16778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6: https://briya.com/aire-population-agent/">
            <a:hlinkClick r:id="rId11"/>
          </p:cNvPr>
          <p:cNvSpPr/>
          <p:nvPr/>
        </p:nvSpPr>
        <p:spPr>
          <a:xfrm>
            <a:off x="2944075" y="3269095"/>
            <a:ext cx="170319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6: https://healthverity.com/news/announcing-healthverity-exos/">
            <a:hlinkClick r:id="rId4"/>
          </p:cNvPr>
          <p:cNvSpPr/>
          <p:nvPr/>
        </p:nvSpPr>
        <p:spPr>
          <a:xfrm>
            <a:off x="2944075" y="3828899"/>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6: https://www.bcplatforms.com/bc-catalyst">
            <a:hlinkClick r:id="rId16"/>
          </p:cNvPr>
          <p:cNvSpPr/>
          <p:nvPr/>
        </p:nvSpPr>
        <p:spPr>
          <a:xfrm>
            <a:off x="2944075" y="4015373"/>
            <a:ext cx="143855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6: https://healthverity.com/exos/">
            <a:hlinkClick r:id="rId18"/>
          </p:cNvPr>
          <p:cNvSpPr/>
          <p:nvPr/>
        </p:nvSpPr>
        <p:spPr>
          <a:xfrm>
            <a:off x="749515" y="5215373"/>
            <a:ext cx="124593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6: https://www.norstella.com/press-releases/panalgo-revolutionizes-real-world-data-launch-linqnotes-ella-ai/">
            <a:hlinkClick r:id="rId19"/>
          </p:cNvPr>
          <p:cNvSpPr/>
          <p:nvPr/>
        </p:nvSpPr>
        <p:spPr>
          <a:xfrm>
            <a:off x="2305443" y="5215373"/>
            <a:ext cx="94397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6: https://www.prnewswire.com/news-releases/truven-launches-marketscan-snapshot-an-ai-powered-tool-to-evaluate-fit-for-purpose-real-world-data-in-minutes-302892187.html">
            <a:hlinkClick r:id="rId20"/>
          </p:cNvPr>
          <p:cNvSpPr/>
          <p:nvPr/>
        </p:nvSpPr>
        <p:spPr>
          <a:xfrm>
            <a:off x="7336078" y="5375216"/>
            <a:ext cx="138219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oncology and specialty data, vendors pitch conversational AI</a:t>
            </a:r>
            <a:br>
              <a:rPr lang="en-US" sz="2200" b="1" dirty="0">
                <a:solidFill>
                  <a:schemeClr val="accent1"/>
                </a:solidFill>
              </a:rPr>
            </a:br>
            <a:r>
              <a:rPr lang="en-US" sz="2200" b="1" dirty="0">
                <a:solidFill>
                  <a:schemeClr val="accent1"/>
                </a:solidFill>
              </a:rPr>
              <a:t>as a substitute for some routine analyst work</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94490">
                <a:tc>
                  <a:txBody>
                    <a:bodyPr/>
                    <a:lstStyle/>
                    <a:p>
                      <a:pPr algn="ctr" indent="0" marL="0">
                        <a:buNone/>
                      </a:pPr>
                      <a:r>
                        <a:rPr lang="en-US" sz="1050" b="1" dirty="0">
                          <a:solidFill>
                            <a:schemeClr val="accent1"/>
                          </a:solidFill>
                        </a:rPr>
                        <a:t>Explore oncology and</a:t>
                      </a:r>
                      <a:b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Flatiron Health’s </a:t>
                      </a:r>
                      <a:r>
                        <a:rPr lang="en-US" sz="950" b="1" dirty="0" u="sng">
                          <a:solidFill>
                            <a:srgbClr val="002677"/>
                          </a:solidFill>
                          <a:uFill>
                            <a:solidFill>
                              <a:srgbClr val="9AA8CC"/>
                            </a:solidFill>
                          </a:uFill>
                        </a:rPr>
                        <a:t>Telescope</a:t>
                      </a:r>
                      <a:r>
                        <a:rPr lang="en-US" sz="950" dirty="0">
                          <a:solidFill>
                            <a:schemeClr val="tx1"/>
                          </a:solidFill>
                        </a:rPr>
                        <a:t>: conversational oncology cohort exploration;</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b="1" dirty="0" u="sng">
                          <a:solidFill>
                            <a:srgbClr val="002677"/>
                          </a:solidFill>
                          <a:uFill>
                            <a:solidFill>
                              <a:srgbClr val="9AA8CC"/>
                            </a:solidFill>
                          </a:uFill>
                        </a:rPr>
                        <a:t>Lens</a:t>
                      </a: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Enriched Clinical Data</a:t>
                      </a:r>
                      <a:r>
                        <a:rPr lang="en-US" sz="950" dirty="0" b="0">
                          <a:solidFill>
                            <a:schemeClr val="tx1"/>
                          </a:solidFill>
                        </a:rPr>
                        <a:t> (NLP-derived disease attributes)</a:t>
                      </a:r>
                      <a:r>
                        <a:rPr lang="en-US" sz="950" dirty="0" b="0">
                          <a:solidFill>
                            <a:schemeClr val="tx1"/>
                          </a:solidFill>
                        </a:rPr>
                        <a:t>; </a:t>
                      </a:r>
                      <a:r>
                        <a:rPr lang="en-US" sz="950" dirty="0">
                          <a:solidFill>
                            <a:schemeClr val="tx1"/>
                          </a:solid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94478">
                <a:tc>
                  <a:txBody>
                    <a:bodyPr/>
                    <a:lstStyle/>
                    <a:p>
                      <a:pPr algn="ctr" indent="0" marL="0">
                        <a:buNone/>
                      </a:pPr>
                      <a:r>
                        <a:rPr lang="en-US" sz="1050" b="1" dirty="0">
                          <a:solidFill>
                            <a:schemeClr val="accent1"/>
                          </a:solidFill>
                        </a:rPr>
                        <a:t>Investigate specialty-</a:t>
                      </a:r>
                      <a:b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ConcertAI’s </a:t>
                      </a:r>
                      <a:r>
                        <a:rPr lang="en-US" sz="950" b="1" dirty="0" u="sng">
                          <a:solidFill>
                            <a:srgbClr val="002677"/>
                          </a:solidFill>
                          <a:uFill>
                            <a:solidFill>
                              <a:srgbClr val="9AA8CC"/>
                            </a:solidFill>
                          </a:uFill>
                        </a:rPr>
                        <a:t>Precision Explorer</a:t>
                      </a:r>
                      <a:r>
                        <a:rPr lang="en-US" sz="950" dirty="0">
                          <a:solidFill>
                            <a:schemeClr val="tx1"/>
                          </a:solidFill>
                        </a:rPr>
                        <a:t>: oncology research analytics;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b="1" dirty="0" u="sng">
                          <a:solidFill>
                            <a:srgbClr val="002677"/>
                          </a:solidFill>
                          <a:uFill>
                            <a:solidFill>
                              <a:srgbClr val="9AA8CC"/>
                            </a:solidFill>
                          </a:uFill>
                        </a:rPr>
                        <a:t>Agent Claire</a:t>
                      </a: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a:solidFill>
                            <a:schemeClr val="tx1"/>
                          </a:solid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30203">
                <a:tc>
                  <a:txBody>
                    <a:bodyPr/>
                    <a:lstStyle/>
                    <a:p>
                      <a:pPr algn="ctr" indent="0" marL="0">
                        <a:buNone/>
                      </a:pPr>
                      <a:r>
                        <a:rPr lang="en-US" sz="1050" b="1" dirty="0">
                          <a:solidFill>
                            <a:schemeClr val="accent1"/>
                          </a:solidFill>
                        </a:rPr>
                        <a:t>Analyze curated</a:t>
                      </a:r>
                      <a:b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MDClone’s </a:t>
                      </a:r>
                      <a:r>
                        <a:rPr lang="en-US" sz="950" b="1" dirty="0" u="sng">
                          <a:solidFill>
                            <a:srgbClr val="002677"/>
                          </a:solidFill>
                          <a:uFill>
                            <a:solidFill>
                              <a:srgbClr val="9AA8CC"/>
                            </a:solidFill>
                          </a:uFill>
                        </a:rPr>
                        <a:t>ADAMS Copilot</a:t>
                      </a:r>
                      <a:r>
                        <a:rPr lang="en-US" sz="950" dirty="0">
                          <a:solidFill>
                            <a:schemeClr val="tx1"/>
                          </a:solidFill>
                        </a:rPr>
                        <a:t> </a:t>
                      </a:r>
                      <a:r>
                        <a:rPr lang="en-US" sz="950" dirty="0">
                          <a:solidFill>
                            <a:schemeClr val="tx1"/>
                          </a:solidFill>
                        </a:rPr>
                        <a:t>(Israel)</a:t>
                      </a: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packaged outcomes studies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PACKAGED OUTCOMES STUDIES</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ConcertAI markets named Precision Explorer agents for guideline concordance, real-world outcomes and comorbidity analysis; it claims projects can shrink “</a:t>
            </a:r>
            <a:r>
              <a:rPr lang="en-US" sz="1050" b="1" dirty="0" u="sng">
                <a:solidFill>
                  <a:srgbClr val="002677"/>
                </a:solidFill>
                <a:uFill>
                  <a:solidFill>
                    <a:srgbClr val="9AA8CC"/>
                  </a:solidFill>
                </a:uFill>
              </a:rPr>
              <a:t>from 10-20 weeks to as little as 6 weeks</a:t>
            </a:r>
            <a:r>
              <a:rPr lang="en-US" sz="1050" b="1" dirty="0">
                <a:solidFill>
                  <a:schemeClr val="tx1"/>
                </a:solidFill>
              </a:rPr>
              <a:t>.”</a:t>
            </a:r>
            <a:endParaRPr lang="en-US" sz="1050" dirty="0"/>
          </a:p>
        </p:txBody>
      </p:sp>
      <p:sp>
        <p:nvSpPr>
          <p:cNvPr id="18" name="self-service analysis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SELF-SERVICE ANALYSIS</a:t>
            </a:r>
            <a:endParaRPr lang="en-US" sz="1300" dirty="0"/>
          </a:p>
        </p:txBody>
      </p:sp>
      <p:sp>
        <p:nvSpPr>
          <p:cNvPr id="20" name="Text 17"/>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Specialty-data vendors market conversational AI as a way to reduce dependence on analyst queues: Flatiron’s Telescope delivers survival analyses on demand, “</a:t>
            </a:r>
            <a:r>
              <a:rPr lang="en-US" sz="1050" b="1" dirty="0" u="sng">
                <a:solidFill>
                  <a:srgbClr val="002677"/>
                </a:solidFill>
                <a:uFill>
                  <a:solidFill>
                    <a:srgbClr val="9AA8CC"/>
                  </a:solidFill>
                </a:uFill>
              </a:rPr>
              <a:t>eliminating the need to wait in analyst queues</a:t>
            </a:r>
            <a:r>
              <a:rPr lang="en-US" sz="1050" b="1" dirty="0">
                <a:solidFill>
                  <a:schemeClr val="tx1"/>
                </a:solidFill>
              </a:rPr>
              <a:t>,” while Verana’s Agent Claire offers data access “</a:t>
            </a:r>
            <a:r>
              <a:rPr lang="en-US" sz="1050" b="1" dirty="0" u="sng">
                <a:solidFill>
                  <a:srgbClr val="002677"/>
                </a:solidFill>
                <a:uFill>
                  <a:solidFill>
                    <a:srgbClr val="9AA8CC"/>
                  </a:solidFill>
                </a:uFill>
              </a:rPr>
              <a:t>without needing programming skills or analyst assistance</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7: https://resources.flatiron.com/press/flatiron-health-launches-flatiron-telescope-a-new-ai-platform-delivering-oncology-insights-in-minutes">
            <a:hlinkClick r:id="rId3"/>
          </p:cNvPr>
          <p:cNvSpPr/>
          <p:nvPr/>
        </p:nvSpPr>
        <p:spPr>
          <a:xfrm>
            <a:off x="2944075" y="2046898"/>
            <a:ext cx="15133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7: https://www.tempus.com/solutions/lens/">
            <a:hlinkClick r:id="rId4"/>
          </p:cNvPr>
          <p:cNvSpPr/>
          <p:nvPr/>
        </p:nvSpPr>
        <p:spPr>
          <a:xfrm>
            <a:off x="2944075" y="2233372"/>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7: https://www.concertai.com/precision-explorer">
            <a:hlinkClick r:id="rId7"/>
          </p:cNvPr>
          <p:cNvSpPr/>
          <p:nvPr/>
        </p:nvSpPr>
        <p:spPr>
          <a:xfrm>
            <a:off x="2944075" y="2841055"/>
            <a:ext cx="174953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7: https://veranahealth.com/verana-health-introduces-new-ai-agents-to-expedite-and-streamline-rd-tasks/">
            <a:hlinkClick r:id="rId8"/>
          </p:cNvPr>
          <p:cNvSpPr/>
          <p:nvPr/>
        </p:nvSpPr>
        <p:spPr>
          <a:xfrm>
            <a:off x="2944075" y="3027541"/>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7: https://mdclone.com/meet-copilot/">
            <a:hlinkClick r:id="rId11"/>
          </p:cNvPr>
          <p:cNvSpPr/>
          <p:nvPr/>
        </p:nvSpPr>
        <p:spPr>
          <a:xfrm>
            <a:off x="2944075" y="3728454"/>
            <a:ext cx="150705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7: https://www.concertai.com/precision-explorer">
            <a:hlinkClick r:id="rId7"/>
          </p:cNvPr>
          <p:cNvSpPr/>
          <p:nvPr/>
        </p:nvSpPr>
        <p:spPr>
          <a:xfrm>
            <a:off x="749515" y="5375216"/>
            <a:ext cx="265887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7: https://resources.flatiron.com/press/flatiron-health-launches-flatiron-telescope-a-new-ai-platform-delivering-oncology-insights-in-minutes">
            <a:hlinkClick r:id="rId3"/>
          </p:cNvPr>
          <p:cNvSpPr/>
          <p:nvPr/>
        </p:nvSpPr>
        <p:spPr>
          <a:xfrm>
            <a:off x="7165693" y="5375216"/>
            <a:ext cx="305821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7: https://www.prnewswire.com/news-releases/verana-health-introduces-new-ai-agents-to-expedite-and-streamline-rd-302888122.html">
            <a:hlinkClick r:id="rId14"/>
          </p:cNvPr>
          <p:cNvSpPr/>
          <p:nvPr/>
        </p:nvSpPr>
        <p:spPr>
          <a:xfrm>
            <a:off x="8395107" y="5535058"/>
            <a:ext cx="3003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7: https://www.prnewswire.com/news-releases/verana-health-introduces-new-ai-agents-to-expedite-and-streamline-rd-302888122.html">
            <a:hlinkClick r:id="rId14"/>
          </p:cNvPr>
          <p:cNvSpPr/>
          <p:nvPr/>
        </p:nvSpPr>
        <p:spPr>
          <a:xfrm>
            <a:off x="6386753" y="5694900"/>
            <a:ext cx="78003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commercial intelligence, conversational AI reaches into reps’ daily workflow</a:t>
            </a:r>
            <a:br>
              <a:rPr lang="en-US" sz="2200" b="1" dirty="0">
                <a:solidFill>
                  <a:schemeClr val="accent1"/>
                </a:solidFill>
              </a:rPr>
            </a:br>
            <a:r>
              <a:rPr lang="en-US" sz="2200" b="1" dirty="0">
                <a:solidFill>
                  <a:schemeClr val="accent1"/>
                </a:solidFill>
              </a:rPr>
              <a:t>and simulated market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1005992">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GMI Agent</a:t>
                      </a:r>
                      <a:r>
                        <a:rPr lang="en-US" sz="950" dirty="0">
                          <a:solidFill>
                            <a:schemeClr val="tx1"/>
                          </a:solidFill>
                        </a:rPr>
                        <a:t>: global market insights;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Evaluate — Ask Ella</a:t>
                      </a:r>
                      <a:r>
                        <a:rPr lang="en-US" sz="950" dirty="0">
                          <a:solidFill>
                            <a:schemeClr val="tx1"/>
                          </a:solidFill>
                        </a:rPr>
                        <a:t>: plain-English questions on pharma markets, deals and forecasts;</a:t>
                      </a:r>
                      <a:endParaRPr lang="en-US" sz="950" dirty="0"/>
                    </a:p>
                    <a:p>
                      <a:pPr indent="0" marL="0">
                        <a:spcBef>
                          <a:spcPts val="400"/>
                        </a:spcBef>
                        <a:buNone/>
                      </a:pPr>
                      <a:r>
                        <a:rPr lang="en-US" sz="950" dirty="0" u="sng">
                          <a:solidFill>
                            <a:srgbClr val="002677"/>
                          </a:solidFill>
                          <a:uFill>
                            <a:solidFill>
                              <a:srgbClr val="9AA8CC"/>
                            </a:solidFill>
                          </a:uFill>
                        </a:rPr>
                        <a:t>GBI Health’s </a:t>
                      </a:r>
                      <a:r>
                        <a:rPr lang="en-US" sz="950" b="1" dirty="0" u="sng">
                          <a:solidFill>
                            <a:srgbClr val="002677"/>
                          </a:solidFill>
                          <a:uFill>
                            <a:solidFill>
                              <a:srgbClr val="9AA8CC"/>
                            </a:solidFill>
                          </a:uFill>
                        </a:rPr>
                        <a:t>GBI BOT</a:t>
                      </a:r>
                      <a:r>
                        <a:rPr lang="en-US" sz="950" dirty="0">
                          <a:solidFill>
                            <a:schemeClr val="tx1"/>
                          </a:solidFill>
                        </a:rPr>
                        <a:t> </a:t>
                      </a:r>
                      <a:r>
                        <a:rPr lang="en-US" sz="950" dirty="0">
                          <a:solidFill>
                            <a:schemeClr val="tx1"/>
                          </a:solidFill>
                        </a:rPr>
                        <a:t>(China)</a:t>
                      </a:r>
                      <a:r>
                        <a:rPr lang="en-US" sz="950" dirty="0">
                          <a:solidFill>
                            <a:schemeClr val="tx1"/>
                          </a:solidFill>
                        </a:rPr>
                        <a:t>: pharmaceutical database Q&amp;A and competitive intelligence;</a:t>
                      </a:r>
                      <a:endParaRPr lang="en-US" sz="950" dirty="0"/>
                    </a:p>
                    <a:p>
                      <a:pPr indent="0" marL="0">
                        <a:spcBef>
                          <a:spcPts val="400"/>
                        </a:spcBef>
                        <a:buNone/>
                      </a:pPr>
                      <a:r>
                        <a:rPr lang="en-US" sz="950" dirty="0" u="sng">
                          <a:solidFill>
                            <a:srgbClr val="002677"/>
                          </a:solidFill>
                          <a:uFill>
                            <a:solidFill>
                              <a:srgbClr val="9AA8CC"/>
                            </a:solidFill>
                          </a:uFill>
                        </a:rPr>
                        <a:t>Prospection’s </a:t>
                      </a:r>
                      <a:r>
                        <a:rPr lang="en-US" sz="950" b="1" dirty="0" u="sng">
                          <a:solidFill>
                            <a:srgbClr val="002677"/>
                          </a:solidFill>
                          <a:uFill>
                            <a:solidFill>
                              <a:srgbClr val="9AA8CC"/>
                            </a:solidFill>
                          </a:uFill>
                        </a:rPr>
                        <a:t>ProGPT</a:t>
                      </a:r>
                      <a:r>
                        <a:rPr lang="en-US" sz="950" dirty="0">
                          <a:solidFill>
                            <a:schemeClr val="tx1"/>
                          </a:solidFill>
                        </a:rPr>
                        <a:t> </a:t>
                      </a:r>
                      <a:r>
                        <a:rPr lang="en-US" sz="950" dirty="0">
                          <a:solidFill>
                            <a:schemeClr val="tx1"/>
                          </a:solidFill>
                        </a:rPr>
                        <a:t>(Australia)</a:t>
                      </a: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55217">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Field Force Agent</a:t>
                      </a:r>
                      <a:r>
                        <a:rPr lang="en-US" sz="950" dirty="0">
                          <a:solidFill>
                            <a:schemeClr val="tx1"/>
                          </a:solidFill>
                        </a:rPr>
                        <a:t>: commercial field support;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Commercial</a:t>
                      </a:r>
                      <a:r>
                        <a:rPr lang="en-US" sz="950" dirty="0">
                          <a:solidFill>
                            <a:schemeClr val="tx1"/>
                          </a:solidFill>
                        </a:rPr>
                        <a:t>: commercial information and decision support;</a:t>
                      </a:r>
                      <a:endParaRPr lang="en-US" sz="950" dirty="0"/>
                    </a:p>
                    <a:p>
                      <a:pPr indent="0" marL="0">
                        <a:spcBef>
                          <a:spcPts val="400"/>
                        </a:spcBef>
                        <a:buNone/>
                      </a:pPr>
                      <a:r>
                        <a:rPr lang="en-US" sz="950" dirty="0" u="sng">
                          <a:solidFill>
                            <a:srgbClr val="002677"/>
                          </a:solidFill>
                          <a:uFill>
                            <a:solidFill>
                              <a:srgbClr val="9AA8CC"/>
                            </a:solidFill>
                          </a:uFill>
                        </a:rPr>
                        <a:t>Close-Up International’s </a:t>
                      </a:r>
                      <a:r>
                        <a:rPr lang="en-US" sz="950" b="1" dirty="0" u="sng">
                          <a:solidFill>
                            <a:srgbClr val="002677"/>
                          </a:solidFill>
                          <a:uFill>
                            <a:solidFill>
                              <a:srgbClr val="9AA8CC"/>
                            </a:solidFill>
                          </a:uFill>
                        </a:rPr>
                        <a:t>Xplora AI</a:t>
                      </a:r>
                      <a:r>
                        <a:rPr lang="en-US" sz="950" dirty="0">
                          <a:solidFill>
                            <a:schemeClr val="tx1"/>
                          </a:solidFill>
                        </a:rPr>
                        <a:t> </a:t>
                      </a:r>
                      <a:r>
                        <a:rPr lang="en-US" sz="950" dirty="0">
                          <a:solidFill>
                            <a:schemeClr val="tx1"/>
                          </a:solidFill>
                        </a:rPr>
                        <a:t>(Spain)</a:t>
                      </a: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17981">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Trinity Life Sciences’ </a:t>
                      </a:r>
                      <a:r>
                        <a:rPr lang="en-US" sz="950" b="1" dirty="0" u="sng">
                          <a:solidFill>
                            <a:srgbClr val="002677"/>
                          </a:solidFill>
                          <a:uFill>
                            <a:solidFill>
                              <a:srgbClr val="9AA8CC"/>
                            </a:solidFill>
                          </a:uFill>
                        </a:rPr>
                        <a:t>InsightsEDGE Digital Twins</a:t>
                      </a:r>
                      <a:r>
                        <a:rPr lang="en-US" sz="950" dirty="0">
                          <a:solidFill>
                            <a:schemeClr val="tx1"/>
                          </a:solidFill>
                        </a:rPr>
                        <a:t>: conversational simulated personas;</a:t>
                      </a:r>
                      <a:endParaRPr lang="en-US" sz="950" dirty="0"/>
                    </a:p>
                    <a:p>
                      <a:pPr indent="0" marL="0">
                        <a:spcBef>
                          <a:spcPts val="400"/>
                        </a:spcBef>
                        <a:buNone/>
                      </a:pPr>
                      <a:r>
                        <a:rPr lang="en-US" sz="950" dirty="0" u="sng">
                          <a:solidFill>
                            <a:srgbClr val="002677"/>
                          </a:solidFill>
                          <a:uFill>
                            <a:solidFill>
                              <a:srgbClr val="9AA8CC"/>
                            </a:solidFill>
                          </a:uFill>
                        </a:rPr>
                        <a:t>Ipsos’s </a:t>
                      </a:r>
                      <a:r>
                        <a:rPr lang="en-US" sz="950" b="1" dirty="0" u="sng">
                          <a:solidFill>
                            <a:srgbClr val="002677"/>
                          </a:solidFill>
                          <a:uFill>
                            <a:solidFill>
                              <a:srgbClr val="9AA8CC"/>
                            </a:solidFill>
                          </a:uFill>
                        </a:rPr>
                        <a:t>Healthcare PersonaBot</a:t>
                      </a:r>
                      <a:r>
                        <a:rPr lang="en-US" sz="950" dirty="0">
                          <a:solidFill>
                            <a:schemeClr val="tx1"/>
                          </a:solidFill>
                        </a:rPr>
                        <a:t> </a:t>
                      </a:r>
                      <a:r>
                        <a:rPr lang="en-US" sz="950" dirty="0">
                          <a:solidFill>
                            <a:schemeClr val="tx1"/>
                          </a:solidFill>
                        </a:rPr>
                        <a:t>(France)</a:t>
                      </a: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from insight to field action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INSIGHT TO FIELD ACTION</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IQVIA’s Field Force Agent uses CRM activity and call notes to recommend next best actions, with a claimed </a:t>
            </a:r>
            <a:r>
              <a:rPr lang="en-US" sz="1050" b="1" dirty="0" u="sng">
                <a:solidFill>
                  <a:srgbClr val="002677"/>
                </a:solidFill>
                <a:uFill>
                  <a:solidFill>
                    <a:srgbClr val="9AA8CC"/>
                  </a:solidFill>
                </a:uFill>
              </a:rPr>
              <a:t>prep-time reduction of up to 27%</a:t>
            </a:r>
            <a:r>
              <a:rPr lang="en-US" sz="1050" b="1" dirty="0">
                <a:solidFill>
                  <a:schemeClr val="tx1"/>
                </a:solidFill>
              </a:rPr>
              <a:t>. ZS’s commercial assistant </a:t>
            </a:r>
            <a:r>
              <a:rPr lang="en-US" sz="1050" b="1" dirty="0" u="sng">
                <a:solidFill>
                  <a:srgbClr val="002677"/>
                </a:solidFill>
                <a:uFill>
                  <a:solidFill>
                    <a:srgbClr val="9AA8CC"/>
                  </a:solidFill>
                </a:uFill>
              </a:rPr>
              <a:t>generates call plans and draft emails</a:t>
            </a:r>
            <a:r>
              <a:rPr lang="en-US" sz="1050" b="1" dirty="0">
                <a:solidFill>
                  <a:schemeClr val="tx1"/>
                </a:solidFill>
              </a:rPr>
              <a:t>.</a:t>
            </a:r>
            <a:endParaRPr lang="en-US" sz="1050" dirty="0"/>
          </a:p>
        </p:txBody>
      </p:sp>
      <p:sp>
        <p:nvSpPr>
          <p:cNvPr id="18" name="synthetic stakeholder research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SYNTHETIC STAKEHOLDER RESEARCH</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Trinity’s data-grounded digital twins simulate HCP, patient and payer responses to test messages “</a:t>
            </a:r>
            <a:r>
              <a:rPr lang="en-US" sz="1050" b="1" dirty="0" u="sng">
                <a:solidFill>
                  <a:srgbClr val="002677"/>
                </a:solidFill>
                <a:uFill>
                  <a:solidFill>
                    <a:srgbClr val="9AA8CC"/>
                  </a:solidFill>
                </a:uFill>
              </a:rPr>
              <a:t>without commissioning a new study every time</a:t>
            </a:r>
            <a:r>
              <a:rPr lang="en-US" sz="1050" b="1" dirty="0">
                <a:solidFill>
                  <a:schemeClr val="tx1"/>
                </a:solidFill>
              </a:rPr>
              <a:t>”; Ipsos’s PersonaBot hosts a “</a:t>
            </a:r>
            <a:r>
              <a:rPr lang="en-US" sz="1050" b="1" dirty="0" u="sng">
                <a:solidFill>
                  <a:srgbClr val="002677"/>
                </a:solidFill>
                <a:uFill>
                  <a:solidFill>
                    <a:srgbClr val="9AA8CC"/>
                  </a:solidFill>
                </a:uFill>
              </a:rPr>
              <a:t>focus group</a:t>
            </a:r>
            <a:r>
              <a:rPr lang="en-US" sz="1050" b="1" dirty="0">
                <a:solidFill>
                  <a:schemeClr val="tx1"/>
                </a:solidFill>
              </a:rPr>
              <a:t>” of personas drawn from clients’ existing research.</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8: https://www.iqvia.com/solutions/commercialization/iqvia-commercial-agentic-ai">
            <a:hlinkClick r:id="rId3"/>
          </p:cNvPr>
          <p:cNvSpPr/>
          <p:nvPr/>
        </p:nvSpPr>
        <p:spPr>
          <a:xfrm>
            <a:off x="2944075" y="1966253"/>
            <a:ext cx="10604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8: https://www.gbihealth.com.cn/en/products/gbi-bot">
            <a:hlinkClick r:id="rId4"/>
          </p:cNvPr>
          <p:cNvSpPr/>
          <p:nvPr/>
        </p:nvSpPr>
        <p:spPr>
          <a:xfrm>
            <a:off x="2944075" y="2339214"/>
            <a:ext cx="120548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8: https://support.prospection.com/en_US/530415-using-progpt/8351360445583">
            <a:hlinkClick r:id="rId5"/>
          </p:cNvPr>
          <p:cNvSpPr/>
          <p:nvPr/>
        </p:nvSpPr>
        <p:spPr>
          <a:xfrm>
            <a:off x="2944075" y="2525701"/>
            <a:ext cx="119922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8: https://www.iqvia.com/solutions/commercialization/iqvia-commercial-agentic-ai">
            <a:hlinkClick r:id="rId3"/>
          </p:cNvPr>
          <p:cNvSpPr/>
          <p:nvPr/>
        </p:nvSpPr>
        <p:spPr>
          <a:xfrm>
            <a:off x="2944075" y="2972093"/>
            <a:ext cx="14752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8: https://zaidyn.zs.com/products/zaidyn-commercial/conversational-ai">
            <a:hlinkClick r:id="rId7"/>
          </p:cNvPr>
          <p:cNvSpPr/>
          <p:nvPr/>
        </p:nvSpPr>
        <p:spPr>
          <a:xfrm>
            <a:off x="2944075" y="3158580"/>
            <a:ext cx="272189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8: https://close-upinternational.com/es/crm-farmaceutico-nativo-en-ia-de-los-datos-a-las-decisiones-unificadas-2/">
            <a:hlinkClick r:id="rId8"/>
          </p:cNvPr>
          <p:cNvSpPr/>
          <p:nvPr/>
        </p:nvSpPr>
        <p:spPr>
          <a:xfrm>
            <a:off x="2944075" y="3345054"/>
            <a:ext cx="183740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8: https://www.evaluate.com/ask-ella/">
            <a:hlinkClick r:id="rId11"/>
          </p:cNvPr>
          <p:cNvSpPr/>
          <p:nvPr/>
        </p:nvSpPr>
        <p:spPr>
          <a:xfrm>
            <a:off x="2944075" y="2152740"/>
            <a:ext cx="177221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8: https://trinitylifesciences.com/products/insightsedge-digital-twins/">
            <a:hlinkClick r:id="rId9"/>
          </p:cNvPr>
          <p:cNvSpPr/>
          <p:nvPr/>
        </p:nvSpPr>
        <p:spPr>
          <a:xfrm>
            <a:off x="2944075" y="3969653"/>
            <a:ext cx="2730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8: https://www.ipsos.com/en/healthcare/healthcare-personabot">
            <a:hlinkClick r:id="rId10"/>
          </p:cNvPr>
          <p:cNvSpPr/>
          <p:nvPr/>
        </p:nvSpPr>
        <p:spPr>
          <a:xfrm>
            <a:off x="2944075" y="4156140"/>
            <a:ext cx="172893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8: https://www.iqvia.com/solutions/commercialization/commercial-analytics/omnichannel-engagement-and-insights/field-force-agent">
            <a:hlinkClick r:id="rId12"/>
          </p:cNvPr>
          <p:cNvSpPr/>
          <p:nvPr/>
        </p:nvSpPr>
        <p:spPr>
          <a:xfrm>
            <a:off x="2538717" y="5375216"/>
            <a:ext cx="210653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8: https://zaidyn.zs.com/products/zaidyn-commercial/conversational-ai">
            <a:hlinkClick r:id="rId7"/>
          </p:cNvPr>
          <p:cNvSpPr/>
          <p:nvPr/>
        </p:nvSpPr>
        <p:spPr>
          <a:xfrm>
            <a:off x="1360805" y="5535058"/>
            <a:ext cx="23578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8: https://trinitylifesciences.com/company/press-releases/trinity-launches-insightsedge-digital-twins/">
            <a:hlinkClick r:id="rId13"/>
          </p:cNvPr>
          <p:cNvSpPr/>
          <p:nvPr/>
        </p:nvSpPr>
        <p:spPr>
          <a:xfrm>
            <a:off x="7497222" y="5375216"/>
            <a:ext cx="314612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8: https://www.ipsos.com/en/launch-ipsos-personabot-groundbreaking-ai-powered-solution-enhance-segmentation-research">
            <a:hlinkClick r:id="rId14"/>
          </p:cNvPr>
          <p:cNvSpPr/>
          <p:nvPr/>
        </p:nvSpPr>
        <p:spPr>
          <a:xfrm>
            <a:off x="7666782" y="5535058"/>
            <a:ext cx="8986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medical and regulatory work, conversational AI operates within tighter bounds, and one vendor publishes where it fails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77565">
                <a:tc>
                  <a:txBody>
                    <a:bodyPr/>
                    <a:lstStyle/>
                    <a:p>
                      <a:pPr algn="ctr" indent="0" marL="0">
                        <a:buNone/>
                      </a:pPr>
                      <a:r>
                        <a:rPr lang="en-US" sz="1050" b="1" dirty="0">
                          <a:solidFill>
                            <a:schemeClr val="accent1"/>
                          </a:solidFill>
                        </a:rPr>
                        <a:t>Search and synthesize</a:t>
                      </a:r>
                      <a:b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Med-R1 Deep Research Agent</a:t>
                      </a: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a:t>
                      </a:r>
                      <a:r>
                        <a:rPr lang="en-US" sz="950" dirty="0" b="0">
                          <a:solidFill>
                            <a:schemeClr val="tx1"/>
                          </a:solidFill>
                        </a:rPr>
                        <a:t> (study design, RWE generation)</a:t>
                      </a:r>
                      <a:r>
                        <a:rPr lang="en-US" sz="950" dirty="0" b="0">
                          <a:solidFill>
                            <a:schemeClr val="tx1"/>
                          </a:solidFill>
                        </a:rPr>
                        <a:t>; </a:t>
                      </a:r>
                      <a:r>
                        <a:rPr lang="en-US" sz="950" dirty="0">
                          <a:solidFill>
                            <a:schemeClr val="tx1"/>
                          </a:solid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64040">
                <a:tc>
                  <a:txBody>
                    <a:bodyPr/>
                    <a:lstStyle/>
                    <a:p>
                      <a:pPr algn="ctr" indent="0" marL="0">
                        <a:buNone/>
                      </a:pPr>
                      <a:r>
                        <a:rPr lang="en-US" sz="1050" b="1" dirty="0">
                          <a:solidFill>
                            <a:schemeClr val="accent1"/>
                          </a:solidFill>
                        </a:rPr>
                        <a:t>Explore medical insights and</a:t>
                      </a:r>
                      <a:b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Medical</a:t>
                      </a: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u="sng">
                          <a:solidFill>
                            <a:srgbClr val="002677"/>
                          </a:solidFill>
                          <a:uFill>
                            <a:solidFill>
                              <a:srgbClr val="9AA8CC"/>
                            </a:solidFill>
                          </a:uFill>
                        </a:rPr>
                        <a:t>Evidenze’s </a:t>
                      </a:r>
                      <a:r>
                        <a:rPr lang="en-US" sz="950" b="1" dirty="0" u="sng">
                          <a:solidFill>
                            <a:srgbClr val="002677"/>
                          </a:solidFill>
                          <a:uFill>
                            <a:solidFill>
                              <a:srgbClr val="9AA8CC"/>
                            </a:solidFill>
                          </a:uFill>
                        </a:rPr>
                        <a:t>AI medical-education chatbots</a:t>
                      </a:r>
                      <a:r>
                        <a:rPr lang="en-US" sz="950" dirty="0">
                          <a:solidFill>
                            <a:schemeClr val="tx1"/>
                          </a:solidFill>
                        </a:rPr>
                        <a:t> </a:t>
                      </a:r>
                      <a:r>
                        <a:rPr lang="en-US" sz="950" dirty="0">
                          <a:solidFill>
                            <a:schemeClr val="tx1"/>
                          </a:solidFill>
                        </a:rPr>
                        <a:t>(Spain)</a:t>
                      </a: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77565">
                <a:tc>
                  <a:txBody>
                    <a:bodyPr/>
                    <a:lstStyle/>
                    <a:p>
                      <a:pPr algn="ctr" indent="0" marL="0">
                        <a:buNone/>
                      </a:pPr>
                      <a:r>
                        <a:rPr lang="en-US" sz="1050" b="1" dirty="0">
                          <a:solidFill>
                            <a:schemeClr val="accent1"/>
                          </a:solidFill>
                        </a:rPr>
                        <a:t>Question and navigate</a:t>
                      </a:r>
                      <a:b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b="1" dirty="0" u="sng">
                          <a:solidFill>
                            <a:srgbClr val="002677"/>
                          </a:solidFill>
                          <a:uFill>
                            <a:solidFill>
                              <a:srgbClr val="9AA8CC"/>
                            </a:solidFill>
                          </a:uFill>
                        </a:rPr>
                        <a:t>Vault AI Chat</a:t>
                      </a: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tracking medical affairs impact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TRACKING MEDICAL AFFAIRS IMPACT</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ZS positions its medical-affairs analytics as the answer to “</a:t>
            </a:r>
            <a:r>
              <a:rPr lang="en-US" sz="1050" b="1" dirty="0" u="sng">
                <a:solidFill>
                  <a:srgbClr val="002677"/>
                </a:solidFill>
                <a:uFill>
                  <a:solidFill>
                    <a:srgbClr val="9AA8CC"/>
                  </a:solidFill>
                </a:uFill>
              </a:rPr>
              <a:t>what is medical affairs actually achieving?</a:t>
            </a:r>
            <a:r>
              <a:rPr lang="en-US" sz="1050" b="1" dirty="0">
                <a:solidFill>
                  <a:schemeClr val="tx1"/>
                </a:solidFill>
              </a:rPr>
              <a:t>” The suite tracks care gaps in patient-level claims data and compares engaged and non-engaged populations over time; a conversational assistant lets teams query the results.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limits in the open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LIMITS IN THE OPEN</a:t>
            </a:r>
            <a:endParaRPr lang="en-US" sz="1300" dirty="0"/>
          </a:p>
        </p:txBody>
      </p:sp>
      <p:sp>
        <p:nvSpPr>
          <p:cNvPr id="28" name="Text 14"/>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IQVIA says its 8B-parameter Med-R1 agent can “</a:t>
            </a:r>
            <a:r>
              <a:rPr lang="en-US" sz="1050" b="1" dirty="0" u="sng">
                <a:solidFill>
                  <a:srgbClr val="002677"/>
                </a:solidFill>
                <a:uFill>
                  <a:solidFill>
                    <a:srgbClr val="9AA8CC"/>
                  </a:solidFill>
                </a:uFill>
              </a:rPr>
              <a:t>outperform much larger general-purpose models</a:t>
            </a:r>
            <a:r>
              <a:rPr lang="en-US" sz="1050" b="1" dirty="0">
                <a:solidFill>
                  <a:schemeClr val="tx1"/>
                </a:solidFill>
              </a:rPr>
              <a:t>” on some biomedical reasoning tasks, while conceding that multi-step reasoning remains unsolved. In its December 2025 benchmark, Med-R1 answered 21 of 50 questions (versus 25 for OpenAI o3 and 24 for Google Gemini)—and none of the 10 hardest, where OpenAI’s and Google’s agents managed one between them.</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9: https://www.iqvia.com/solutions/innovative-models/artificial-intelligence-and-machine-learning/iqvia-ai-platform">
            <a:hlinkClick r:id="rId3"/>
          </p:cNvPr>
          <p:cNvSpPr/>
          <p:nvPr/>
        </p:nvSpPr>
        <p:spPr>
          <a:xfrm>
            <a:off x="2944075" y="2063815"/>
            <a:ext cx="217001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9: https://zaidyn.zs.com/products/zaidyn-medical/conversational-ai-for-medical">
            <a:hlinkClick r:id="rId5"/>
          </p:cNvPr>
          <p:cNvSpPr/>
          <p:nvPr/>
        </p:nvSpPr>
        <p:spPr>
          <a:xfrm>
            <a:off x="2944075" y="2773376"/>
            <a:ext cx="247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9: https://evidenze.com/">
            <a:hlinkClick r:id="rId6"/>
          </p:cNvPr>
          <p:cNvSpPr/>
          <p:nvPr/>
        </p:nvSpPr>
        <p:spPr>
          <a:xfrm>
            <a:off x="2944075" y="3095575"/>
            <a:ext cx="235622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9: https://platform.veevavault.help/en/lr/950642">
            <a:hlinkClick r:id="rId8"/>
          </p:cNvPr>
          <p:cNvSpPr/>
          <p:nvPr/>
        </p:nvSpPr>
        <p:spPr>
          <a:xfrm>
            <a:off x="2944075" y="3804781"/>
            <a:ext cx="122357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9: https://zaidyn.zs.com/products/zaidyn-medical/patient-outcome-intelligence">
            <a:hlinkClick r:id="rId9"/>
          </p:cNvPr>
          <p:cNvSpPr/>
          <p:nvPr/>
        </p:nvSpPr>
        <p:spPr>
          <a:xfrm>
            <a:off x="4420308" y="5055531"/>
            <a:ext cx="104939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zaidyn.zs.com/products/zaidyn-medical/patient-outcome-intelligence">
            <a:hlinkClick r:id="rId9"/>
          </p:cNvPr>
          <p:cNvSpPr/>
          <p:nvPr/>
        </p:nvSpPr>
        <p:spPr>
          <a:xfrm>
            <a:off x="749515" y="5215373"/>
            <a:ext cx="172332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www.iqvia.com/blogs/2025/12/introducing-iqvia-med-r1-deep-research-agent">
            <a:hlinkClick r:id="rId10"/>
          </p:cNvPr>
          <p:cNvSpPr/>
          <p:nvPr/>
        </p:nvSpPr>
        <p:spPr>
          <a:xfrm>
            <a:off x="9360390" y="5055531"/>
            <a:ext cx="157198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9: https://www.iqvia.com/blogs/2025/12/introducing-iqvia-med-r1-deep-research-agent">
            <a:hlinkClick r:id="rId10"/>
          </p:cNvPr>
          <p:cNvSpPr/>
          <p:nvPr/>
        </p:nvSpPr>
        <p:spPr>
          <a:xfrm>
            <a:off x="6386753" y="5215373"/>
            <a:ext cx="160596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trials and market access, vendors limit what conversational AI can see and how far its answers go</a:t>
            </a:r>
            <a:endParaRPr lang="en-US" sz="22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CLINICAL TRIALS: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25579">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Query Assistant</a:t>
                      </a:r>
                      <a:r>
                        <a:rPr lang="en-US" sz="950" dirty="0">
                          <a:solidFill>
                            <a:schemeClr val="tx1"/>
                          </a:solidFill>
                        </a:rPr>
                        <a:t>; </a:t>
                      </a:r>
                      <a:r>
                        <a:rPr lang="en-US" sz="950" dirty="0" b="1" u="sng">
                          <a:solidFill>
                            <a:srgbClr val="002677"/>
                          </a:solidFill>
                          <a:uFill>
                            <a:solidFill>
                              <a:srgbClr val="9AA8CC"/>
                            </a:solidFill>
                          </a:uFill>
                        </a:rPr>
                        <a:t>Terrain AI Assistant</a:t>
                      </a:r>
                      <a:r>
                        <a:rPr lang="en-US" sz="950" dirty="0">
                          <a:solidFill>
                            <a:schemeClr val="tx1"/>
                          </a:solidFill>
                        </a:rPr>
                        <a:t>: Natural-language protocol feasibility, clinical-code generation and site/investigator intelligence;</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Citeline Ella</a:t>
                      </a:r>
                      <a:r>
                        <a:rPr lang="en-US" sz="950" dirty="0">
                          <a:solidFill>
                            <a:schemeClr val="tx1"/>
                          </a:solidFill>
                        </a:rPr>
                        <a:t>: trial and site search strategies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Prospector</a:t>
                      </a:r>
                      <a:r>
                        <a:rPr lang="en-US" sz="950" dirty="0" b="0">
                          <a:solidFill>
                            <a:schemeClr val="tx1"/>
                          </a:solidFill>
                        </a:rPr>
                        <a:t> (no-code cohort building, attrition funnels)</a:t>
                      </a:r>
                      <a:r>
                        <a:rPr lang="en-US" sz="950" dirty="0" b="0">
                          <a:solidFill>
                            <a:schemeClr val="tx1"/>
                          </a:solidFill>
                        </a:rPr>
                        <a:t>; </a:t>
                      </a:r>
                      <a:r>
                        <a:rPr lang="en-US" sz="950" dirty="0" b="1">
                          <a:solidFill>
                            <a:schemeClr val="tx1"/>
                          </a:solid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439092">
                <a:tc>
                  <a:txBody>
                    <a:bodyPr/>
                    <a:lstStyle/>
                    <a:p>
                      <a:pPr algn="ctr" indent="0" marL="0">
                        <a:buNone/>
                      </a:pPr>
                      <a:r>
                        <a:rPr lang="en-US" sz="1050" b="1" dirty="0">
                          <a:solidFill>
                            <a:schemeClr val="accent1"/>
                          </a:solidFill>
                        </a:rPr>
                        <a:t>Clinical-data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questions on study operational data and help content, excluding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True Source</a:t>
                      </a:r>
                      <a:r>
                        <a:rPr lang="en-US" sz="950" dirty="0">
                          <a:solidFill>
                            <a:schemeClr val="tx1"/>
                          </a:solidFill>
                        </a:rPr>
                        <a:t> (electronic source-data capture); no comparable conversational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MARKET ACCESS: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10530">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EVERSANA’s </a:t>
                      </a:r>
                      <a:r>
                        <a:rPr lang="en-US" sz="950" b="1" dirty="0" u="sng">
                          <a:solidFill>
                            <a:srgbClr val="002677"/>
                          </a:solidFill>
                          <a:uFill>
                            <a:solidFill>
                              <a:srgbClr val="9AA8CC"/>
                            </a:solidFill>
                          </a:uFill>
                        </a:rPr>
                        <a:t>Ask NAVLIN</a:t>
                      </a: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HEOR/value evidence</a:t>
                      </a:r>
                      <a:r>
                        <a:rPr lang="en-US" sz="950" dirty="0" b="0">
                          <a:solidFill>
                            <a:schemeClr val="tx1"/>
                          </a:solidFill>
                        </a:rPr>
                        <a:t> (outcomes research, economic analysis)</a:t>
                      </a:r>
                      <a:r>
                        <a:rPr lang="en-US" sz="950" dirty="0" b="0">
                          <a:solidFill>
                            <a:schemeClr val="tx1"/>
                          </a:solidFill>
                        </a:rPr>
                        <a:t>; </a:t>
                      </a:r>
                      <a:r>
                        <a:rPr lang="en-US" sz="950" dirty="0" b="1">
                          <a:solidFill>
                            <a:schemeClr val="tx1"/>
                          </a:solidFill>
                        </a:rPr>
                        <a:t>Evidence Engine</a:t>
                      </a:r>
                      <a:r>
                        <a:rPr lang="en-US" sz="950" dirty="0" b="0">
                          <a:solidFill>
                            <a:schemeClr val="tx1"/>
                          </a:solidFill>
                        </a:rPr>
                        <a:t> (evidence-generation support)</a:t>
                      </a:r>
                      <a:r>
                        <a:rPr lang="en-US" sz="950" dirty="0" b="0">
                          <a:solidFill>
                            <a:schemeClr val="tx1"/>
                          </a:solidFill>
                        </a:rPr>
                        <a:t>; </a:t>
                      </a:r>
                      <a:r>
                        <a:rPr lang="en-US" sz="950" dirty="0">
                          <a:solidFill>
                            <a:schemeClr val="tx1"/>
                          </a:solid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74805">
                <a:tc>
                  <a:txBody>
                    <a:bodyPr/>
                    <a:lstStyle/>
                    <a:p>
                      <a:pPr algn="ctr" indent="0" marL="0">
                        <a:buNone/>
                      </a:pPr>
                      <a:r>
                        <a:rPr lang="en-US" sz="1050" b="1" dirty="0">
                          <a:solidFill>
                            <a:schemeClr val="accent1"/>
                          </a:solidFill>
                        </a:rPr>
                        <a:t>Payer feedback and coverage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MMIT Ella</a:t>
                      </a:r>
                      <a:r>
                        <a:rPr lang="en-US" sz="950" dirty="0">
                          <a:solidFill>
                            <a:schemeClr val="tx1"/>
                          </a:solidFill>
                        </a:rPr>
                        <a:t>: plain-language answers grounded in formulary, coverage and payer-feedback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No comparable self-service payer/formulary assistant established; </a:t>
                      </a:r>
                      <a:r>
                        <a:rPr lang="en-US" sz="950" dirty="0" b="1">
                          <a:solidFill>
                            <a:schemeClr val="tx1"/>
                          </a:solidFill>
                        </a:rPr>
                        <a:t>Evidence Engine</a:t>
                      </a:r>
                      <a:r>
                        <a:rPr lang="en-US" sz="950" dirty="0">
                          <a:solidFill>
                            <a:schemeClr val="tx1"/>
                          </a:solidFill>
                        </a:rPr>
                        <a:t> offers stakeholder-feedback and market-access consulting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defined data boundar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DEFINED DATA BOUNDARIES</a:t>
            </a:r>
            <a:endParaRPr lang="en-US" sz="1300" dirty="0"/>
          </a:p>
        </p:txBody>
      </p:sp>
      <p:sp>
        <p:nvSpPr>
          <p:cNvPr id="20" name="Text 16"/>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Veeva draws an explicit line around its new trial assistant: the EDC AI Tab answers questions from study operational data and help pages, but “</a:t>
            </a:r>
            <a:r>
              <a:rPr lang="en-US" sz="1050" b="1" dirty="0" u="sng">
                <a:solidFill>
                  <a:srgbClr val="002677"/>
                </a:solidFill>
                <a:uFill>
                  <a:solidFill>
                    <a:srgbClr val="9AA8CC"/>
                  </a:solidFill>
                </a:uFill>
              </a:rPr>
              <a:t>no site-entered casebook data is referenced by the AI agent</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from answers to workflow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ANSWERS TO WORKFLOWS</a:t>
            </a:r>
            <a:endParaRPr lang="en-US" sz="1300" dirty="0"/>
          </a:p>
        </p:txBody>
      </p:sp>
      <p:sp>
        <p:nvSpPr>
          <p:cNvPr id="28" name="Text 16"/>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EVERSANA is moving market-access AI past chat answers. While offering Ask NAVLIN over </a:t>
            </a:r>
            <a:r>
              <a:rPr lang="en-US" sz="1050" b="1" dirty="0" u="sng">
                <a:solidFill>
                  <a:srgbClr val="002677"/>
                </a:solidFill>
                <a:uFill>
                  <a:solidFill>
                    <a:srgbClr val="9AA8CC"/>
                  </a:solidFill>
                </a:uFill>
              </a:rPr>
              <a:t>pricing data from 100+ countries</a:t>
            </a:r>
            <a:r>
              <a:rPr lang="en-US" sz="1050" b="1" dirty="0">
                <a:solidFill>
                  <a:schemeClr val="tx1"/>
                </a:solidFill>
              </a:rPr>
              <a:t>, it says “</a:t>
            </a:r>
            <a:r>
              <a:rPr lang="en-US" sz="1050" b="1" dirty="0" u="sng">
                <a:solidFill>
                  <a:srgbClr val="002677"/>
                </a:solidFill>
                <a:uFill>
                  <a:solidFill>
                    <a:srgbClr val="9AA8CC"/>
                  </a:solidFill>
                </a:uFill>
              </a:rPr>
              <a:t>for important decisions, a good-looking AI answer is rarely enough</a:t>
            </a:r>
            <a:r>
              <a:rPr lang="en-US" sz="1050" b="1" dirty="0">
                <a:solidFill>
                  <a:schemeClr val="tx1"/>
                </a:solidFill>
              </a:rPr>
              <a:t>” and is building early workflows where “</a:t>
            </a:r>
            <a:r>
              <a:rPr lang="en-US" sz="1050" b="1" dirty="0" u="sng">
                <a:solidFill>
                  <a:srgbClr val="002677"/>
                </a:solidFill>
                <a:uFill>
                  <a:solidFill>
                    <a:srgbClr val="9AA8CC"/>
                  </a:solidFill>
                </a:uFill>
              </a:rPr>
              <a:t>sources and assumptions remain visible</a:t>
            </a:r>
            <a:r>
              <a:rPr lang="en-US" sz="1050" b="1" dirty="0">
                <a:solidFill>
                  <a:schemeClr val="tx1"/>
                </a:solidFill>
              </a:rPr>
              <a:t>” for expert review.</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10: https://trinetx.com/blog/powering-clinical-research-innovation-how-trinetx-uses-databricks-to-accelerate-drug-development">
            <a:hlinkClick r:id="rId10"/>
          </p:cNvPr>
          <p:cNvSpPr/>
          <p:nvPr/>
        </p:nvSpPr>
        <p:spPr>
          <a:xfrm>
            <a:off x="2944075" y="1894612"/>
            <a:ext cx="177400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0: https://trinetx.com/solutions/trinetx-live/terrain">
            <a:hlinkClick r:id="rId11"/>
          </p:cNvPr>
          <p:cNvSpPr/>
          <p:nvPr/>
        </p:nvSpPr>
        <p:spPr>
          <a:xfrm>
            <a:off x="4750193" y="1894612"/>
            <a:ext cx="11519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0: https://www.navlin.com/products/tender">
            <a:hlinkClick r:id="rId6"/>
          </p:cNvPr>
          <p:cNvSpPr/>
          <p:nvPr/>
        </p:nvSpPr>
        <p:spPr>
          <a:xfrm>
            <a:off x="2944075" y="3423540"/>
            <a:ext cx="149032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0: https://www.citeline.com/en/resources/citeline-elevate-spring-2025-brainpower-in-boston">
            <a:hlinkClick r:id="rId12"/>
          </p:cNvPr>
          <p:cNvSpPr/>
          <p:nvPr/>
        </p:nvSpPr>
        <p:spPr>
          <a:xfrm>
            <a:off x="2944075" y="2216811"/>
            <a:ext cx="130744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0: https://clinicaldata.veevavault.help/en/lr/rn/limited-releases/26r3/new-features">
            <a:hlinkClick r:id="rId13"/>
          </p:cNvPr>
          <p:cNvSpPr/>
          <p:nvPr/>
        </p:nvSpPr>
        <p:spPr>
          <a:xfrm>
            <a:off x="2944075" y="2519935"/>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0: https://www.mmitnetwork.com/mosaic/">
            <a:hlinkClick r:id="rId14"/>
          </p:cNvPr>
          <p:cNvSpPr/>
          <p:nvPr/>
        </p:nvSpPr>
        <p:spPr>
          <a:xfrm>
            <a:off x="2944075" y="4066135"/>
            <a:ext cx="11810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0: https://clinicaldata.veevavault.help/en/lr/rn/limited-releases/26r3/new-features">
            <a:hlinkClick r:id="rId13"/>
          </p:cNvPr>
          <p:cNvSpPr/>
          <p:nvPr/>
        </p:nvSpPr>
        <p:spPr>
          <a:xfrm>
            <a:off x="5037945" y="5375216"/>
            <a:ext cx="5420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clinicaldata.veevavault.help/en/lr/rn/limited-releases/26r3/new-features">
            <a:hlinkClick r:id="rId13"/>
          </p:cNvPr>
          <p:cNvSpPr/>
          <p:nvPr/>
        </p:nvSpPr>
        <p:spPr>
          <a:xfrm>
            <a:off x="749515" y="5535058"/>
            <a:ext cx="338427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0: https://www.navlin.com/products/navlin-price-access-data">
            <a:hlinkClick r:id="rId15"/>
          </p:cNvPr>
          <p:cNvSpPr/>
          <p:nvPr/>
        </p:nvSpPr>
        <p:spPr>
          <a:xfrm>
            <a:off x="7223404" y="5375216"/>
            <a:ext cx="208817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0: https://www.eversana.com/insights/from-ai-answers-to-decision-grade-market-access/">
            <a:hlinkClick r:id="rId16"/>
          </p:cNvPr>
          <p:cNvSpPr/>
          <p:nvPr/>
        </p:nvSpPr>
        <p:spPr>
          <a:xfrm>
            <a:off x="9796551" y="5375216"/>
            <a:ext cx="157310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0: https://www.eversana.com/insights/from-ai-answers-to-decision-grade-market-access/">
            <a:hlinkClick r:id="rId16"/>
          </p:cNvPr>
          <p:cNvSpPr/>
          <p:nvPr/>
        </p:nvSpPr>
        <p:spPr>
          <a:xfrm>
            <a:off x="6386753" y="5535058"/>
            <a:ext cx="273528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0: https://www.eversana.com/insights/from-ai-answers-to-decision-grade-market-access/">
            <a:hlinkClick r:id="rId16"/>
          </p:cNvPr>
          <p:cNvSpPr/>
          <p:nvPr/>
        </p:nvSpPr>
        <p:spPr>
          <a:xfrm>
            <a:off x="6805393" y="5694900"/>
            <a:ext cx="26896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ACROSS ALL FIVE DOMAINS: HOW THE PRODUCTS ARE BUILT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Behind the products, competitors lead with their data and controls;</a:t>
            </a:r>
            <a:br>
              <a:rPr lang="en-US" sz="2200" b="1" dirty="0">
                <a:solidFill>
                  <a:schemeClr val="accent1"/>
                </a:solidFill>
              </a:rPr>
            </a:br>
            <a:r>
              <a:rPr lang="en-US" sz="2200" b="1" dirty="0">
                <a:solidFill>
                  <a:schemeClr val="accent1"/>
                </a:solidFill>
              </a:rPr>
              <a:t>outside suppliers can provide the model, and even the interface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graphicFrame>
        <p:nvGraphicFramePr>
          <p:cNvPr id="2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168395"/>
        </p:xfrm>
        <a:graphic>
          <a:graphicData uri="http://schemas.openxmlformats.org/drawingml/2006/table">
            <a:tbl>
              <a:tblPr/>
              <a:tblGrid>
                <a:gridCol w="1737360"/>
                <a:gridCol w="7086600"/>
                <a:gridCol w="2267712"/>
              </a:tblGrid>
              <a:tr h="329184">
                <a:tc>
                  <a:txBody>
                    <a:bodyPr/>
                    <a:lstStyle/>
                    <a:p>
                      <a:pPr algn="ctr" indent="0" marL="0">
                        <a:buNone/>
                      </a:pPr>
                      <a:r>
                        <a:rPr lang="en-US" sz="900" b="1" spc="100" kern="0" dirty="0">
                          <a:solidFill>
                            <a:schemeClr val="bg1"/>
                          </a:solidFill>
                        </a:rPr>
                        <a:t>LAYER</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COMPETITORS SHOW</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TAKEAWAY</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63181">
                <a:tc>
                  <a:txBody>
                    <a:bodyPr/>
                    <a:lstStyle/>
                    <a:p>
                      <a:pPr algn="ctr" indent="0" marL="0">
                        <a:buNone/>
                      </a:pPr>
                      <a:r>
                        <a:rPr lang="en-US" sz="1050" b="1" dirty="0">
                          <a:solidFill>
                            <a:schemeClr val="accent1"/>
                          </a:solidFill>
                        </a:rPr>
                        <a:t>Model</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Vault AI</a:t>
                      </a:r>
                      <a:r>
                        <a:rPr lang="en-US" sz="950" dirty="0">
                          <a:solidFill>
                            <a:schemeClr val="tx1"/>
                          </a:solidFill>
                        </a:rPr>
                        <a:t>: Anthropic and Amazon models;</a:t>
                      </a:r>
                      <a:endParaRPr lang="en-US" sz="950" dirty="0"/>
                    </a:p>
                    <a:p>
                      <a:pPr indent="0" marL="0">
                        <a:spcBef>
                          <a:spcPts val="400"/>
                        </a:spcBef>
                        <a:buNone/>
                      </a:pPr>
                      <a:r>
                        <a:rPr lang="en-US" sz="950" dirty="0" u="sng">
                          <a:solidFill>
                            <a:srgbClr val="002677"/>
                          </a:solidFill>
                          <a:uFill>
                            <a:solidFill>
                              <a:srgbClr val="9AA8CC"/>
                            </a:solidFill>
                          </a:uFill>
                        </a:rPr>
                        <a:t>IQVIA’s </a:t>
                      </a:r>
                      <a:r>
                        <a:rPr lang="en-US" sz="950" dirty="0" b="1" u="sng">
                          <a:solidFill>
                            <a:srgbClr val="002677"/>
                          </a:solidFill>
                          <a:uFill>
                            <a:solidFill>
                              <a:srgbClr val="9AA8CC"/>
                            </a:solidFill>
                          </a:uFill>
                        </a:rPr>
                        <a:t>IQVIA.ai</a:t>
                      </a:r>
                      <a:r>
                        <a:rPr lang="en-US" sz="950" dirty="0">
                          <a:solidFill>
                            <a:schemeClr val="tx1"/>
                          </a:solidFill>
                        </a:rPr>
                        <a:t>: NVIDIA Nemotron; </a:t>
                      </a:r>
                      <a:r>
                        <a:rPr lang="en-US" sz="950" dirty="0" b="1" u="sng">
                          <a:solidFill>
                            <a:srgbClr val="002677"/>
                          </a:solidFill>
                          <a:uFill>
                            <a:solidFill>
                              <a:srgbClr val="9AA8CC"/>
                            </a:solidFill>
                          </a:uFill>
                        </a:rPr>
                        <a:t>Med-R1</a:t>
                      </a:r>
                      <a:r>
                        <a:rPr lang="en-US" sz="950" dirty="0">
                          <a:solidFill>
                            <a:schemeClr val="tx1"/>
                          </a:solidFill>
                        </a:rPr>
                        <a:t>: developed separately;</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dirty="0" b="1" u="sng">
                          <a:solidFill>
                            <a:srgbClr val="002677"/>
                          </a:solidFill>
                          <a:uFill>
                            <a:solidFill>
                              <a:srgbClr val="9AA8CC"/>
                            </a:solidFill>
                          </a:uFill>
                        </a:rPr>
                        <a:t>Lens</a:t>
                      </a:r>
                      <a:r>
                        <a:rPr lang="en-US" sz="950" dirty="0">
                          <a:solidFill>
                            <a:schemeClr val="tx1"/>
                          </a:solidFill>
                        </a:rPr>
                        <a:t>: frontier LLMs paired with its own oncology models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be sourced or adapted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Data and domain</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Healthcare Map</a:t>
                      </a:r>
                      <a:r>
                        <a:rPr lang="en-US" sz="950" dirty="0">
                          <a:solidFill>
                            <a:schemeClr val="tx1"/>
                          </a:solidFill>
                        </a:rPr>
                        <a:t>: de-identified patient journeys; </a:t>
                      </a:r>
                      <a:r>
                        <a:rPr lang="en-US" sz="950" dirty="0" b="1" u="sng">
                          <a:solidFill>
                            <a:srgbClr val="002677"/>
                          </a:solidFill>
                          <a:uFill>
                            <a:solidFill>
                              <a:srgbClr val="9AA8CC"/>
                            </a:solidFill>
                          </a:uFill>
                        </a:rPr>
                        <a:t>Marmot</a:t>
                      </a:r>
                      <a:r>
                        <a:rPr lang="en-US" sz="950" dirty="0">
                          <a:solidFill>
                            <a:schemeClr val="tx1"/>
                          </a:solidFill>
                        </a:rPr>
                        <a:t>: a knowledge graph built from prior analyses;</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dirty="0" b="1" u="sng">
                          <a:solidFill>
                            <a:srgbClr val="002677"/>
                          </a:solidFill>
                          <a:uFill>
                            <a:solidFill>
                              <a:srgbClr val="9AA8CC"/>
                            </a:solidFill>
                          </a:uFill>
                        </a:rPr>
                        <a:t>Truveta Data</a:t>
                      </a:r>
                      <a:r>
                        <a:rPr lang="en-US" sz="950" dirty="0">
                          <a:solidFill>
                            <a:schemeClr val="tx1"/>
                          </a:solidFill>
                        </a:rPr>
                        <a:t>: continuously refreshed EHR data from member health systems;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NorstellaLinQ</a:t>
                      </a:r>
                      <a:r>
                        <a:rPr lang="en-US" sz="950" dirty="0">
                          <a:solidFill>
                            <a:schemeClr val="tx1"/>
                          </a:solidFill>
                        </a:rPr>
                        <a:t>: patient data, plus Citeline trial, Evaluate commercial and MMIT payer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Vendors lead with proprietary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Execution and</a:t>
                      </a:r>
                      <a:br>
                        <a:rPr lang="en-US" sz="1050" b="1" dirty="0">
                          <a:solidFill>
                            <a:schemeClr val="accent1"/>
                          </a:solidFill>
                        </a:rPr>
                      </a:br>
                      <a:r>
                        <a:rPr lang="en-US" sz="1050" b="1" dirty="0">
                          <a:solidFill>
                            <a:schemeClr val="accent1"/>
                          </a:solidFill>
                        </a:rPr>
                        <a:t>controls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Marmot</a:t>
                      </a:r>
                      <a:r>
                        <a:rPr lang="en-US" sz="950" dirty="0">
                          <a:solidFill>
                            <a:schemeClr val="tx1"/>
                          </a:solidFill>
                        </a:rPr>
                        <a:t>: “</a:t>
                      </a:r>
                      <a:r>
                        <a:rPr lang="en-US" sz="950" dirty="0" u="sng">
                          <a:solidFill>
                            <a:srgbClr val="002677"/>
                          </a:solidFill>
                          <a:uFill>
                            <a:solidFill>
                              <a:srgbClr val="9AA8CC"/>
                            </a:solidFill>
                          </a:uFill>
                        </a:rPr>
                        <a:t>The LLM never touches numbers.</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HealthVerity’s </a:t>
                      </a:r>
                      <a:r>
                        <a:rPr lang="en-US" sz="950" dirty="0" b="1" u="sng">
                          <a:solidFill>
                            <a:srgbClr val="002677"/>
                          </a:solidFill>
                          <a:uFill>
                            <a:solidFill>
                              <a:srgbClr val="9AA8CC"/>
                            </a:solidFill>
                          </a:uFill>
                        </a:rPr>
                        <a:t>eXOs</a:t>
                      </a:r>
                      <a:r>
                        <a:rPr lang="en-US" sz="950" dirty="0">
                          <a:solidFill>
                            <a:schemeClr val="tx1"/>
                          </a:solidFill>
                        </a:rPr>
                        <a:t>: “</a:t>
                      </a:r>
                      <a:r>
                        <a:rPr lang="en-US" sz="950" dirty="0" u="sng">
                          <a:solidFill>
                            <a:srgbClr val="002677"/>
                          </a:solidFill>
                          <a:uFill>
                            <a:solidFill>
                              <a:srgbClr val="9AA8CC"/>
                            </a:solidFill>
                          </a:uFill>
                        </a:rPr>
                        <a:t>nothing runs until you review, edit and approve it.</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reads no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Constraints and review points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9668">
                <a:tc>
                  <a:txBody>
                    <a:bodyPr/>
                    <a:lstStyle/>
                    <a:p>
                      <a:pPr algn="ctr" indent="0" marL="0">
                        <a:buNone/>
                      </a:pPr>
                      <a:r>
                        <a:rPr lang="en-US" sz="1050" b="1" dirty="0">
                          <a:solidFill>
                            <a:schemeClr val="accent1"/>
                          </a:solidFill>
                        </a:rPr>
                        <a:t>Interface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Most build chat into their own products; some also design for other companies’ assistants, platforms or APIs: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dirty="0" b="1" u="sng">
                          <a:solidFill>
                            <a:srgbClr val="002677"/>
                          </a:solidFill>
                          <a:uFill>
                            <a:solidFill>
                              <a:srgbClr val="9AA8CC"/>
                            </a:solidFill>
                          </a:uFill>
                        </a:rPr>
                        <a:t>Agent Claire</a:t>
                      </a:r>
                      <a:r>
                        <a:rPr lang="en-US" sz="950" dirty="0">
                          <a:solidFill>
                            <a:schemeClr val="tx1"/>
                          </a:solidFill>
                        </a:rPr>
                        <a:t>: callable from Claude, Gemini and Copilot;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dirty="0" b="1" u="sng">
                          <a:solidFill>
                            <a:srgbClr val="002677"/>
                          </a:solidFill>
                          <a:uFill>
                            <a:solidFill>
                              <a:srgbClr val="9AA8CC"/>
                            </a:solidFill>
                          </a:uFill>
                        </a:rPr>
                        <a:t>ZAIDYN</a:t>
                      </a:r>
                      <a:r>
                        <a:rPr lang="en-US" sz="950" dirty="0">
                          <a:solidFill>
                            <a:schemeClr val="tx1"/>
                          </a:solidFill>
                        </a:rPr>
                        <a:t>: brought into Salesforce’s Agentforce Life Sciences;</a:t>
                      </a:r>
                      <a:endParaRPr lang="en-US" sz="950" dirty="0"/>
                    </a:p>
                    <a:p>
                      <a:pPr indent="0" marL="0">
                        <a:spcBef>
                          <a:spcPts val="400"/>
                        </a:spcBef>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API</a:t>
                      </a:r>
                      <a:r>
                        <a:rPr lang="en-US" sz="950" dirty="0">
                          <a:solidFill>
                            <a:schemeClr val="tx1"/>
                          </a:solidFill>
                        </a:rPr>
                        <a:t>: conversational AI integration through enhanced API capabilities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Can sit in third-party tools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27" name="supplier and seller card"/>
          <p:cNvSpPr/>
          <p:nvPr/>
        </p:nvSpPr>
        <p:spPr>
          <a:xfrm>
            <a:off x="548640"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8" name="label"/>
          <p:cNvSpPr txBox="1"/>
          <p:nvPr/>
        </p:nvSpPr>
        <p:spPr>
          <a:xfrm>
            <a:off x="749808"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SUPPLIER AND SELLER</a:t>
            </a:r>
            <a:endParaRPr lang="en-US" sz="1300" dirty="0"/>
          </a:p>
        </p:txBody>
      </p:sp>
      <p:sp>
        <p:nvSpPr>
          <p:cNvPr id="29" name="Text 14"/>
          <p:cNvSpPr txBox="1"/>
          <p:nvPr/>
        </p:nvSpPr>
        <p:spPr>
          <a:xfrm>
            <a:off x="749808" y="5362956"/>
            <a:ext cx="5052060" cy="507491"/>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Medeloop powers HealthVerity’s eXOs</a:t>
            </a:r>
            <a:r>
              <a:rPr lang="en-US" sz="1050" b="1" dirty="0">
                <a:solidFill>
                  <a:schemeClr val="tx1"/>
                </a:solidFill>
              </a:rPr>
              <a:t> and also sells its own analytics platform, preloaded with “</a:t>
            </a:r>
            <a:r>
              <a:rPr lang="en-US" sz="1050" b="1" dirty="0" u="sng">
                <a:solidFill>
                  <a:srgbClr val="002677"/>
                </a:solidFill>
                <a:uFill>
                  <a:solidFill>
                    <a:srgbClr val="9AA8CC"/>
                  </a:solidFill>
                </a:uFill>
              </a:rPr>
              <a:t>38 million de-identified patients from HealthVerity’s all-payer claims dataset</a:t>
            </a:r>
            <a:r>
              <a:rPr lang="en-US" sz="1050" b="1" dirty="0">
                <a:solidFill>
                  <a:schemeClr val="tx1"/>
                </a:solidFill>
              </a:rPr>
              <a:t>.”</a:t>
            </a:r>
            <a:endParaRPr lang="en-US" sz="1050" dirty="0"/>
          </a:p>
        </p:txBody>
      </p:sp>
      <p:sp>
        <p:nvSpPr>
          <p:cNvPr id="30" name="the interface isn’t always the vendor’s card"/>
          <p:cNvSpPr/>
          <p:nvPr/>
        </p:nvSpPr>
        <p:spPr>
          <a:xfrm>
            <a:off x="6185916"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label"/>
          <p:cNvSpPr txBox="1"/>
          <p:nvPr/>
        </p:nvSpPr>
        <p:spPr>
          <a:xfrm>
            <a:off x="6387084"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INTERFACE ISN’T ALWAYS THE VENDOR’S</a:t>
            </a:r>
            <a:endParaRPr lang="en-US" sz="1300" dirty="0"/>
          </a:p>
        </p:txBody>
      </p:sp>
      <p:sp>
        <p:nvSpPr>
          <p:cNvPr id="32" name="Text 14"/>
          <p:cNvSpPr txBox="1"/>
          <p:nvPr/>
        </p:nvSpPr>
        <p:spPr>
          <a:xfrm>
            <a:off x="6387084" y="5362956"/>
            <a:ext cx="5052060" cy="507491"/>
          </a:xfrm>
          <a:prstGeom prst="rect">
            <a:avLst/>
          </a:prstGeom>
          <a:noFill/>
          <a:ln/>
        </p:spPr>
        <p:txBody>
          <a:bodyPr wrap="square" lIns="0" tIns="0" rIns="0" bIns="0" rtlCol="0" anchor="t"/>
          <a:lstStyle/>
          <a:p>
            <a:pPr indent="0" marL="0">
              <a:buNone/>
            </a:pPr>
            <a:r>
              <a:rPr lang="en-US" sz="1050" b="1" dirty="0">
                <a:solidFill>
                  <a:schemeClr val="tx1"/>
                </a:solidFill>
              </a:rPr>
              <a:t>Verana markets Agent Claire as </a:t>
            </a:r>
            <a:r>
              <a:rPr lang="en-US" sz="1050" b="1" dirty="0" u="sng">
                <a:solidFill>
                  <a:srgbClr val="002677"/>
                </a:solidFill>
                <a:uFill>
                  <a:solidFill>
                    <a:srgbClr val="9AA8CC"/>
                  </a:solidFill>
                </a:uFill>
              </a:rPr>
              <a:t>callable from Claude, Gemini and Copilot</a:t>
            </a:r>
            <a:r>
              <a:rPr lang="en-US" sz="1050" b="1" dirty="0">
                <a:solidFill>
                  <a:schemeClr val="tx1"/>
                </a:solidFill>
              </a:rPr>
              <a:t>; ZS has announced it is bringing ZAIDYN “</a:t>
            </a:r>
            <a:r>
              <a:rPr lang="en-US" sz="1050" b="1" dirty="0" u="sng">
                <a:solidFill>
                  <a:srgbClr val="002677"/>
                </a:solidFill>
                <a:uFill>
                  <a:solidFill>
                    <a:srgbClr val="9AA8CC"/>
                  </a:solidFill>
                </a:uFill>
              </a:rPr>
              <a:t>directly into Salesforce’s Agentforce Life Sciences</a:t>
            </a:r>
            <a:r>
              <a:rPr lang="en-US" sz="1050" b="1" dirty="0">
                <a:solidFill>
                  <a:schemeClr val="tx1"/>
                </a:solidFill>
              </a:rPr>
              <a:t>.”</a:t>
            </a:r>
            <a:endParaRPr lang="en-US" sz="1050" dirty="0"/>
          </a:p>
        </p:txBody>
      </p:sp>
      <p:sp>
        <p:nvSpPr>
          <p:cNvPr id="33"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1" name="Invisible source link 14: https://www.veeva.com/products/vault-ai/">
            <a:hlinkClick r:id="rId2"/>
          </p:cNvPr>
          <p:cNvSpPr/>
          <p:nvPr/>
        </p:nvSpPr>
        <p:spPr>
          <a:xfrm>
            <a:off x="2395435" y="1888135"/>
            <a:ext cx="921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2" name="Invisible source link 14: https://www.iqvia.com/newsroom/2026/03/iqvia-unveils-iqvia-ai-a-unified-agentic-ai-platform">
            <a:hlinkClick r:id="rId3"/>
          </p:cNvPr>
          <p:cNvSpPr/>
          <p:nvPr/>
        </p:nvSpPr>
        <p:spPr>
          <a:xfrm>
            <a:off x="2395435" y="2074622"/>
            <a:ext cx="9233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3" name="Invisible source link 14: https://www.iqvia.com/blogs/2025/12/introducing-iqvia-med-r1-deep-research-agent">
            <a:hlinkClick r:id="rId4"/>
          </p:cNvPr>
          <p:cNvSpPr/>
          <p:nvPr/>
        </p:nvSpPr>
        <p:spPr>
          <a:xfrm>
            <a:off x="4375073" y="2074622"/>
            <a:ext cx="46793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4: https://lens.tempus.com/">
            <a:hlinkClick r:id="rId5"/>
          </p:cNvPr>
          <p:cNvSpPr/>
          <p:nvPr/>
        </p:nvSpPr>
        <p:spPr>
          <a:xfrm>
            <a:off x="2395435" y="2261096"/>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4: https://www.komodohealth.com/product/healthcare-map/">
            <a:hlinkClick r:id="rId6"/>
          </p:cNvPr>
          <p:cNvSpPr/>
          <p:nvPr/>
        </p:nvSpPr>
        <p:spPr>
          <a:xfrm>
            <a:off x="2395435" y="2551253"/>
            <a:ext cx="18697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4: https://www.komodohealth.com/press/komodo-health-introduces-marmot-the-ai-built-to-accelerate-healthcare-innovation/">
            <a:hlinkClick r:id="rId7"/>
          </p:cNvPr>
          <p:cNvSpPr/>
          <p:nvPr/>
        </p:nvSpPr>
        <p:spPr>
          <a:xfrm>
            <a:off x="5903645" y="2551253"/>
            <a:ext cx="46792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4: https://www.truveta.com/blog/data/approach-to-real-world-data-quality/">
            <a:hlinkClick r:id="rId8"/>
          </p:cNvPr>
          <p:cNvSpPr/>
          <p:nvPr/>
        </p:nvSpPr>
        <p:spPr>
          <a:xfrm>
            <a:off x="2395435" y="2737740"/>
            <a:ext cx="127720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4: https://www.norstella.com/press-releases/norstella-introduces-norstellalinq/">
            <a:hlinkClick r:id="rId9"/>
          </p:cNvPr>
          <p:cNvSpPr/>
          <p:nvPr/>
        </p:nvSpPr>
        <p:spPr>
          <a:xfrm>
            <a:off x="2395435" y="2924214"/>
            <a:ext cx="14143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4: https://www.komodohealth.com/perspectives/building-the-framework-for-trusted-ai-in-healthcare/">
            <a:hlinkClick r:id="rId10"/>
          </p:cNvPr>
          <p:cNvSpPr/>
          <p:nvPr/>
        </p:nvSpPr>
        <p:spPr>
          <a:xfrm>
            <a:off x="2395435" y="3214371"/>
            <a:ext cx="141581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4: https://healthverity.com/exos/">
            <a:hlinkClick r:id="rId11"/>
          </p:cNvPr>
          <p:cNvSpPr/>
          <p:nvPr/>
        </p:nvSpPr>
        <p:spPr>
          <a:xfrm>
            <a:off x="2395435" y="3400858"/>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4: https://clinicaldata.veevavault.help/en/lr/rn/limited-releases/26r3/new-features/">
            <a:hlinkClick r:id="rId12"/>
          </p:cNvPr>
          <p:cNvSpPr/>
          <p:nvPr/>
        </p:nvSpPr>
        <p:spPr>
          <a:xfrm>
            <a:off x="2395435" y="3587332"/>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4: https://veranahealth.com/verana-health-introduces-new-ai-agents-to-expedite-and-streamline-rd-tasks/">
            <a:hlinkClick r:id="rId13"/>
          </p:cNvPr>
          <p:cNvSpPr/>
          <p:nvPr/>
        </p:nvSpPr>
        <p:spPr>
          <a:xfrm>
            <a:off x="2395435" y="4063976"/>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4: https://www.zs.com/about/newsroom/zs-press-salesforce-zaidyn-crm">
            <a:hlinkClick r:id="rId14"/>
          </p:cNvPr>
          <p:cNvSpPr/>
          <p:nvPr/>
        </p:nvSpPr>
        <p:spPr>
          <a:xfrm>
            <a:off x="2395435" y="4250462"/>
            <a:ext cx="75305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4: https://trinetx.com/blog/trinetx-named-best-of-show-finalist-at-scope-advancing-clinical-trial-planning-with-conversational-ai-and-enhanced-api-capabilities/">
            <a:hlinkClick r:id="rId15"/>
          </p:cNvPr>
          <p:cNvSpPr/>
          <p:nvPr/>
        </p:nvSpPr>
        <p:spPr>
          <a:xfrm>
            <a:off x="2395435" y="4436937"/>
            <a:ext cx="10514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4: https://healthverity.com/news/announcing-healthverity-exos/">
            <a:hlinkClick r:id="rId16"/>
          </p:cNvPr>
          <p:cNvSpPr/>
          <p:nvPr/>
        </p:nvSpPr>
        <p:spPr>
          <a:xfrm>
            <a:off x="749515" y="5375216"/>
            <a:ext cx="24008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4: https://medeloop.ai/analytics">
            <a:hlinkClick r:id="rId17"/>
          </p:cNvPr>
          <p:cNvSpPr/>
          <p:nvPr/>
        </p:nvSpPr>
        <p:spPr>
          <a:xfrm>
            <a:off x="1720659" y="5535058"/>
            <a:ext cx="3864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medeloop.ai/analytics">
            <a:hlinkClick r:id="rId17"/>
          </p:cNvPr>
          <p:cNvSpPr/>
          <p:nvPr/>
        </p:nvSpPr>
        <p:spPr>
          <a:xfrm>
            <a:off x="749515" y="5694900"/>
            <a:ext cx="101619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veranahealth.com/verana-health-introduces-new-ai-agents-to-expedite-and-streamline-rd-tasks/">
            <a:hlinkClick r:id="rId13"/>
          </p:cNvPr>
          <p:cNvSpPr/>
          <p:nvPr/>
        </p:nvSpPr>
        <p:spPr>
          <a:xfrm>
            <a:off x="8399881" y="5375216"/>
            <a:ext cx="262914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4: https://www.zs.com/about/newsroom/zs-press-salesforce-zaidyn-crm">
            <a:hlinkClick r:id="rId14"/>
          </p:cNvPr>
          <p:cNvSpPr/>
          <p:nvPr/>
        </p:nvSpPr>
        <p:spPr>
          <a:xfrm>
            <a:off x="8754607" y="5535058"/>
            <a:ext cx="263398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zs.com/about/newsroom/zs-press-salesforce-zaidyn-crm">
            <a:hlinkClick r:id="rId14"/>
          </p:cNvPr>
          <p:cNvSpPr/>
          <p:nvPr/>
        </p:nvSpPr>
        <p:spPr>
          <a:xfrm>
            <a:off x="6386753" y="5694900"/>
            <a:ext cx="67778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komodohealth.com/perspectives/building-the-framework-for-trusted-ai-in-healthcare/">
            <a:hlinkClick r:id="rId10"/>
          </p:cNvPr>
          <p:cNvSpPr/>
          <p:nvPr/>
        </p:nvSpPr>
        <p:spPr>
          <a:xfrm>
            <a:off x="3843328" y="3214371"/>
            <a:ext cx="191403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4: https://healthverity.com/exos/">
            <a:hlinkClick r:id="rId11"/>
          </p:cNvPr>
          <p:cNvSpPr/>
          <p:nvPr/>
        </p:nvSpPr>
        <p:spPr>
          <a:xfrm>
            <a:off x="3535163" y="3400858"/>
            <a:ext cx="272295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MODEL SUPPLIERS: LLM PROVIDERS IN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are entering pharma through research workbenches</a:t>
            </a:r>
            <a:br>
              <a:rPr lang="en-US" sz="2200" b="1" dirty="0">
                <a:solidFill>
                  <a:schemeClr val="accent1"/>
                </a:solidFill>
              </a:rPr>
            </a:br>
            <a:r>
              <a:rPr lang="en-US" sz="2200" b="1" dirty="0">
                <a:solidFill>
                  <a:schemeClr val="accent1"/>
                </a:solidFill>
              </a:rPr>
              <a:t>and enterprise deployments, not patient-level data</a:t>
            </a:r>
            <a:endParaRPr lang="en-US" sz="2200" dirty="0"/>
          </a:p>
        </p:txBody>
      </p:sp>
      <p:sp>
        <p:nvSpPr>
          <p:cNvPr id="4" name="label"/>
          <p:cNvSpPr txBox="1"/>
          <p:nvPr/>
        </p:nvSpPr>
        <p:spPr>
          <a:xfrm>
            <a:off x="548640" y="1828800"/>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WAYS LLM PROVIDERS REACH OPTUM LS’S CUSTOMERS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075688"/>
          <a:ext cx="11091672" cy="2871215"/>
        </p:xfrm>
        <a:graphic>
          <a:graphicData uri="http://schemas.openxmlformats.org/drawingml/2006/table">
            <a:tbl>
              <a:tblPr/>
              <a:tblGrid>
                <a:gridCol w="1554480"/>
                <a:gridCol w="1234440"/>
                <a:gridCol w="5029200"/>
                <a:gridCol w="3273552"/>
              </a:tblGrid>
              <a:tr h="402336">
                <a:tc>
                  <a:txBody>
                    <a:bodyPr/>
                    <a:lstStyle/>
                    <a:p>
                      <a:pPr indent="0" marL="0" algn="ctr">
                        <a:buNone/>
                      </a:pPr>
                      <a:r>
                        <a:rPr lang="en-US" sz="850" b="1" spc="100" kern="0" dirty="0">
                          <a:solidFill>
                            <a:schemeClr val="bg1"/>
                          </a:solidFill>
                        </a:rPr>
                        <a:t>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LAYER REACHED</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9761">
                <a:tc>
                  <a:txBody>
                    <a:bodyPr/>
                    <a:lstStyle/>
                    <a:p>
                      <a:pPr algn="ctr" indent="0" marL="0">
                        <a:buNone/>
                      </a:pPr>
                      <a:r>
                        <a:rPr lang="en-US" sz="1000" b="1" dirty="0">
                          <a:solidFill>
                            <a:schemeClr val="accent1"/>
                          </a:solidFill>
                        </a:rPr>
                        <a:t>Own research workbenches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b="1">
                          <a:solidFill>
                            <a:schemeClr val="tx1"/>
                          </a:solidFill>
                        </a:rPr>
                        <a:t>Anthropic’s </a:t>
                      </a:r>
                      <a:r>
                        <a:rPr lang="en-US" sz="900" dirty="0" b="1" u="sng">
                          <a:solidFill>
                            <a:srgbClr val="002677"/>
                          </a:solidFill>
                          <a:uFill>
                            <a:solidFill>
                              <a:srgbClr val="9AA8CC"/>
                            </a:solidFill>
                          </a:uFill>
                        </a:rPr>
                        <a:t>Claude Science</a:t>
                      </a:r>
                      <a:r>
                        <a:rPr lang="en-US" sz="900" dirty="0">
                          <a:solidFill>
                            <a:schemeClr val="tx1"/>
                          </a:solidFill>
                        </a:rPr>
                        <a:t> (beta, June 2026): “</a:t>
                      </a:r>
                      <a:r>
                        <a:rPr lang="en-US" sz="900" dirty="0" u="sng">
                          <a:solidFill>
                            <a:srgbClr val="002677"/>
                          </a:solidFill>
                          <a:uFill>
                            <a:solidFill>
                              <a:srgbClr val="9AA8CC"/>
                            </a:solidFill>
                          </a:uFill>
                        </a:rPr>
                        <a:t>over 60 curated skills and connectors</a:t>
                      </a:r>
                      <a:r>
                        <a:rPr lang="en-US" sz="900" dirty="0">
                          <a:solidFill>
                            <a:schemeClr val="tx1"/>
                          </a:solidFill>
                        </a:rPr>
                        <a:t>,” drawing on public databases such as UniProt and ClinVar plus users’ own data;</a:t>
                      </a:r>
                      <a:endParaRPr lang="en-US" sz="900" dirty="0"/>
                    </a:p>
                    <a:p>
                      <a:pPr indent="0" marL="0">
                        <a:spcBef>
                          <a:spcPts val="200"/>
                        </a:spcBef>
                        <a:buNone/>
                      </a:pPr>
                      <a:r>
                        <a:rPr lang="en-US" sz="900" dirty="0" b="1">
                          <a:solidFill>
                            <a:schemeClr val="tx1"/>
                          </a:solidFill>
                        </a:rPr>
                        <a:t>OpenAI’s </a:t>
                      </a:r>
                      <a:r>
                        <a:rPr lang="en-US" sz="900" dirty="0" b="1" u="sng">
                          <a:solidFill>
                            <a:srgbClr val="002677"/>
                          </a:solidFill>
                          <a:uFill>
                            <a:solidFill>
                              <a:srgbClr val="9AA8CC"/>
                            </a:solidFill>
                          </a:uFill>
                        </a:rPr>
                        <a:t>GPT-Rosalind</a:t>
                      </a:r>
                      <a:r>
                        <a:rPr lang="en-US" sz="900" dirty="0">
                          <a:solidFill>
                            <a:schemeClr val="tx1"/>
                          </a:solidFill>
                        </a:rPr>
                        <a:t>: trusted access for eligible organizations since September 2026;</a:t>
                      </a:r>
                      <a:endParaRPr lang="en-US" sz="900" dirty="0"/>
                    </a:p>
                    <a:p>
                      <a:pPr indent="0" marL="0">
                        <a:spcBef>
                          <a:spcPts val="200"/>
                        </a:spcBef>
                        <a:buNone/>
                      </a:pPr>
                      <a:r>
                        <a:rPr lang="en-US" sz="900" dirty="0" b="1" u="sng">
                          <a:solidFill>
                            <a:srgbClr val="002677"/>
                          </a:solidFill>
                          <a:uFill>
                            <a:solidFill>
                              <a:srgbClr val="9AA8CC"/>
                            </a:solidFill>
                          </a:uFill>
                        </a:rPr>
                        <a:t>Microsoft Discovery</a:t>
                      </a:r>
                      <a:r>
                        <a:rPr lang="en-US" sz="900" dirty="0">
                          <a:solidFill>
                            <a:schemeClr val="tx1"/>
                          </a:solidFill>
                        </a:rPr>
                        <a:t>: generally available June 2026, with GSK named;</a:t>
                      </a:r>
                      <a:endParaRPr lang="en-US" sz="900" dirty="0"/>
                    </a:p>
                    <a:p>
                      <a:pPr indent="0" marL="0">
                        <a:spcBef>
                          <a:spcPts val="200"/>
                        </a:spcBef>
                        <a:buNone/>
                      </a:pPr>
                      <a:r>
                        <a:rPr lang="en-US" sz="900" dirty="0" b="1">
                          <a:solidFill>
                            <a:schemeClr val="tx1"/>
                          </a:solidFill>
                        </a:rPr>
                        <a:t>Google’s </a:t>
                      </a:r>
                      <a:r>
                        <a:rPr lang="en-US" sz="900" dirty="0" b="1" u="sng">
                          <a:solidFill>
                            <a:srgbClr val="002677"/>
                          </a:solidFill>
                          <a:uFill>
                            <a:solidFill>
                              <a:srgbClr val="9AA8CC"/>
                            </a:solidFill>
                          </a:uFill>
                        </a:rPr>
                        <a:t>Co-Scientist</a:t>
                      </a:r>
                      <a:r>
                        <a:rPr lang="en-US" sz="900" dirty="0">
                          <a:solidFill>
                            <a:schemeClr val="tx1"/>
                          </a:solidFill>
                        </a:rPr>
                        <a:t>: enterprise preview that includes Daiichi Sankyo</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050" dirty="0">
                          <a:solidFill>
                            <a:schemeClr val="tx1"/>
                          </a:solidFill>
                        </a:rPr>
                        <a:t>Discovery-stage research on public and customer data; little overlap with RWE, commercial or HEOR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48643">
                <a:tc>
                  <a:txBody>
                    <a:bodyPr/>
                    <a:lstStyle/>
                    <a:p>
                      <a:pPr algn="ctr" indent="0" marL="0">
                        <a:buNone/>
                      </a:pPr>
                      <a:r>
                        <a:rPr lang="en-US" sz="1000" b="1" dirty="0">
                          <a:solidFill>
                            <a:schemeClr val="accent1"/>
                          </a:solidFill>
                        </a:rPr>
                        <a:t>Become pharma’s enterprise layer</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 and workflow</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BMS</a:t>
                      </a:r>
                      <a:r>
                        <a:rPr lang="en-US" sz="900" dirty="0">
                          <a:solidFill>
                            <a:schemeClr val="tx1"/>
                          </a:solidFill>
                        </a:rPr>
                        <a:t>: positions “</a:t>
                      </a:r>
                      <a:r>
                        <a:rPr lang="en-US" sz="900" dirty="0" u="sng">
                          <a:solidFill>
                            <a:srgbClr val="002677"/>
                          </a:solidFill>
                          <a:uFill>
                            <a:solidFill>
                              <a:srgbClr val="9AA8CC"/>
                            </a:solidFill>
                          </a:uFill>
                        </a:rPr>
                        <a:t>Claude Enterprise as the Shared Intelligence Platform</a:t>
                      </a:r>
                      <a:r>
                        <a:rPr lang="en-US" sz="900" dirty="0">
                          <a:solidFill>
                            <a:schemeClr val="tx1"/>
                          </a:solidFill>
                        </a:rPr>
                        <a:t>” across research, clinical, commercial and corporate functions, including “</a:t>
                      </a:r>
                      <a:r>
                        <a:rPr lang="en-US" sz="900" dirty="0" u="sng">
                          <a:solidFill>
                            <a:srgbClr val="002677"/>
                          </a:solidFill>
                          <a:uFill>
                            <a:solidFill>
                              <a:srgbClr val="9AA8CC"/>
                            </a:solidFill>
                          </a:uFill>
                        </a:rPr>
                        <a:t>turning field insights into structured intelligence</a:t>
                      </a:r>
                      <a:r>
                        <a:rPr lang="en-US" sz="900" dirty="0">
                          <a:solidFill>
                            <a:schemeClr val="tx1"/>
                          </a:solidFill>
                        </a:rPr>
                        <a:t>” for HCP engagement;</a:t>
                      </a:r>
                      <a:endParaRPr lang="en-US" sz="900" dirty="0"/>
                    </a:p>
                    <a:p>
                      <a:pPr indent="0" marL="0">
                        <a:spcBef>
                          <a:spcPts val="200"/>
                        </a:spcBef>
                        <a:buNone/>
                      </a:pPr>
                      <a:r>
                        <a:rPr lang="en-US" sz="900" dirty="0" b="1">
                          <a:solidFill>
                            <a:schemeClr val="tx1"/>
                          </a:solidFill>
                        </a:rPr>
                        <a:t>Novo Nordisk</a:t>
                      </a:r>
                      <a:r>
                        <a:rPr lang="en-US" sz="900" dirty="0">
                          <a:solidFill>
                            <a:schemeClr val="tx1"/>
                          </a:solidFill>
                        </a:rPr>
                        <a:t>: partnered with </a:t>
                      </a:r>
                      <a:r>
                        <a:rPr lang="en-US" sz="900" dirty="0" u="sng">
                          <a:solidFill>
                            <a:srgbClr val="002677"/>
                          </a:solidFill>
                          <a:uFill>
                            <a:solidFill>
                              <a:srgbClr val="9AA8CC"/>
                            </a:solidFill>
                          </a:uFill>
                        </a:rPr>
                        <a:t>OpenAI</a:t>
                      </a:r>
                      <a:r>
                        <a:rPr lang="en-US" sz="900" dirty="0">
                          <a:solidFill>
                            <a:schemeClr val="tx1"/>
                          </a:solidFill>
                        </a:rPr>
                        <a:t> (April 2026, reaching into “</a:t>
                      </a:r>
                      <a:r>
                        <a:rPr lang="en-US" sz="900" dirty="0" u="sng">
                          <a:solidFill>
                            <a:srgbClr val="002677"/>
                          </a:solidFill>
                          <a:uFill>
                            <a:solidFill>
                              <a:srgbClr val="9AA8CC"/>
                            </a:solidFill>
                          </a:uFill>
                        </a:rPr>
                        <a:t>commercial execution</a:t>
                      </a:r>
                      <a:r>
                        <a:rPr lang="en-US" sz="900" dirty="0">
                          <a:solidFill>
                            <a:schemeClr val="tx1"/>
                          </a:solidFill>
                        </a:rPr>
                        <a:t>”) and with </a:t>
                      </a:r>
                      <a:r>
                        <a:rPr lang="en-US" sz="900" dirty="0" u="sng">
                          <a:solidFill>
                            <a:srgbClr val="002677"/>
                          </a:solidFill>
                          <a:uFill>
                            <a:solidFill>
                              <a:srgbClr val="9AA8CC"/>
                            </a:solidFill>
                          </a:uFill>
                        </a:rPr>
                        <a:t>Anthropic</a:t>
                      </a:r>
                      <a:r>
                        <a:rPr lang="en-US" sz="900" dirty="0">
                          <a:solidFill>
                            <a:schemeClr val="tx1"/>
                          </a:solidFill>
                        </a:rPr>
                        <a:t>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The closest overlap with Optum LS: pharma companies analyze their own data and systems inside the provider’s assistant, including in commercial functions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20475">
                <a:tc>
                  <a:txBody>
                    <a:bodyPr/>
                    <a:lstStyle/>
                    <a:p>
                      <a:pPr algn="ctr" indent="0" marL="0">
                        <a:buNone/>
                      </a:pPr>
                      <a:r>
                        <a:rPr lang="en-US" sz="1000" b="1" dirty="0">
                          <a:solidFill>
                            <a:schemeClr val="accent1"/>
                          </a:solidFill>
                        </a:rPr>
                        <a:t>Acquire research capability and customers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Domain expertise</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Cohere + Reliant AI</a:t>
                      </a:r>
                      <a:r>
                        <a:rPr lang="en-US" sz="900" dirty="0">
                          <a:solidFill>
                            <a:schemeClr val="tx1"/>
                          </a:solidFill>
                        </a:rPr>
                        <a:t> (May 2026): adds “</a:t>
                      </a:r>
                      <a:r>
                        <a:rPr lang="en-US" sz="900" dirty="0" u="sng">
                          <a:solidFill>
                            <a:srgbClr val="002677"/>
                          </a:solidFill>
                          <a:uFill>
                            <a:solidFill>
                              <a:srgbClr val="9AA8CC"/>
                            </a:solidFill>
                          </a:uFill>
                        </a:rPr>
                        <a:t>proprietary biomedical datasets</a:t>
                      </a:r>
                      <a:r>
                        <a:rPr lang="en-US" sz="900" dirty="0">
                          <a:solidFill>
                            <a:schemeClr val="tx1"/>
                          </a:solidFill>
                        </a:rPr>
                        <a:t>” and customers “</a:t>
                      </a:r>
                      <a:r>
                        <a:rPr lang="en-US" sz="900" dirty="0" u="sng">
                          <a:solidFill>
                            <a:srgbClr val="002677"/>
                          </a:solidFill>
                          <a:uFill>
                            <a:solidFill>
                              <a:srgbClr val="9AA8CC"/>
                            </a:solidFill>
                          </a:uFill>
                        </a:rPr>
                        <a:t>including GSK, Medicus Pharma, and Kyowa Kirin</a:t>
                      </a:r>
                      <a:r>
                        <a:rPr lang="en-US" sz="900" dirty="0">
                          <a:solidFill>
                            <a:schemeClr val="tx1"/>
                          </a:solidFill>
                        </a:rPr>
                        <a:t>”; North for Pharma is announced;</a:t>
                      </a:r>
                      <a:endParaRPr lang="en-US" sz="900" dirty="0"/>
                    </a:p>
                    <a:p>
                      <a:pPr indent="0" marL="0">
                        <a:spcBef>
                          <a:spcPts val="200"/>
                        </a:spcBef>
                        <a:buNone/>
                      </a:pPr>
                      <a:r>
                        <a:rPr lang="en-US" sz="900" dirty="0" b="1" u="sng">
                          <a:solidFill>
                            <a:srgbClr val="002677"/>
                          </a:solidFill>
                          <a:uFill>
                            <a:solidFill>
                              <a:srgbClr val="9AA8CC"/>
                            </a:solidFill>
                          </a:uFill>
                        </a:rPr>
                        <a:t>Anthropic + Coefficient Bio</a:t>
                      </a:r>
                      <a:r>
                        <a:rPr lang="en-US" sz="900" dirty="0">
                          <a:solidFill>
                            <a:schemeClr val="tx1"/>
                          </a:solidFill>
                        </a:rPr>
                        <a:t> (April 2026): a team of </a:t>
                      </a:r>
                      <a:r>
                        <a:rPr lang="en-US" sz="900" dirty="0" u="sng">
                          <a:solidFill>
                            <a:srgbClr val="002677"/>
                          </a:solidFill>
                          <a:uFill>
                            <a:solidFill>
                              <a:srgbClr val="9AA8CC"/>
                            </a:solidFill>
                          </a:uFill>
                        </a:rPr>
                        <a:t>fewer than 10</a:t>
                      </a:r>
                      <a:r>
                        <a:rPr lang="en-US" sz="900" dirty="0">
                          <a:solidFill>
                            <a:schemeClr val="tx1"/>
                          </a:solidFill>
                        </a:rPr>
                        <a:t> building biology-specific models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Research teams, literature-derived data and pharma accounts, not patient-level RWD</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5129784"/>
            <a:ext cx="11091672" cy="9235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5390388"/>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5478902"/>
            <a:ext cx="225308" cy="225308"/>
          </a:xfrm>
          <a:prstGeom prst="rect">
            <a:avLst/>
          </a:prstGeom>
        </p:spPr>
      </p:pic>
      <p:sp>
        <p:nvSpPr>
          <p:cNvPr id="9" name="label"/>
          <p:cNvSpPr txBox="1"/>
          <p:nvPr/>
        </p:nvSpPr>
        <p:spPr>
          <a:xfrm>
            <a:off x="1280160" y="5239512"/>
            <a:ext cx="73152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THE OVERLAP IS THE INTERFACE, NOT THE DATA</a:t>
            </a:r>
            <a:endParaRPr lang="en-US" sz="1300" dirty="0"/>
          </a:p>
        </p:txBody>
      </p:sp>
      <p:sp>
        <p:nvSpPr>
          <p:cNvPr id="10" name="Text 6"/>
          <p:cNvSpPr txBox="1"/>
          <p:nvPr/>
        </p:nvSpPr>
        <p:spPr>
          <a:xfrm>
            <a:off x="1280160" y="5532120"/>
            <a:ext cx="10131552" cy="411480"/>
          </a:xfrm>
          <a:prstGeom prst="rect">
            <a:avLst/>
          </a:prstGeom>
          <a:noFill/>
          <a:ln/>
        </p:spPr>
        <p:txBody>
          <a:bodyPr wrap="square" lIns="0" tIns="0" rIns="0" bIns="0" rtlCol="0" anchor="t"/>
          <a:lstStyle/>
          <a:p>
            <a:pPr indent="0" marL="0">
              <a:buNone/>
            </a:pPr>
            <a:r>
              <a:rPr lang="en-US" sz="1100" b="1" dirty="0">
                <a:solidFill>
                  <a:schemeClr val="accent1"/>
                </a:solidFill>
              </a:rPr>
              <a:t>None of these products markets patient-level RWD of its own. But BMS is making Claude its “</a:t>
            </a:r>
            <a:r>
              <a:rPr lang="en-US" sz="1100" b="1" dirty="0" u="sng">
                <a:solidFill>
                  <a:srgbClr val="002677"/>
                </a:solidFill>
                <a:uFill>
                  <a:solidFill>
                    <a:srgbClr val="9AA8CC"/>
                  </a:solidFill>
                </a:uFill>
              </a:rPr>
              <a:t>shared intelligence platform</a:t>
            </a:r>
            <a:r>
              <a:rPr lang="en-US" sz="1100" b="1" dirty="0">
                <a:solidFill>
                  <a:schemeClr val="accent1"/>
                </a:solidFill>
              </a:rPr>
              <a:t>,” and Veeva’s newest agent “</a:t>
            </a:r>
            <a:r>
              <a:rPr lang="en-US" sz="1100" b="1" dirty="0" u="sng">
                <a:solidFill>
                  <a:srgbClr val="002677"/>
                </a:solidFill>
                <a:uFill>
                  <a:solidFill>
                    <a:srgbClr val="9AA8CC"/>
                  </a:solidFill>
                </a:uFill>
              </a:rPr>
              <a:t>is delivered as a Claude Cowork plugin</a:t>
            </a:r>
            <a:r>
              <a:rPr lang="en-US" sz="1100" b="1" dirty="0">
                <a:solidFill>
                  <a:schemeClr val="accent1"/>
                </a:solidFill>
              </a:rPr>
              <a:t>.” The near-term overlap with Optum LS is where pharma teams do the analysis.</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26" name="starting point band"/>
          <p:cNvSpPr/>
          <p:nvPr/>
        </p:nvSpPr>
        <p:spPr>
          <a:xfrm>
            <a:off x="548640" y="1481328"/>
            <a:ext cx="11091672" cy="274320"/>
          </a:xfrm>
          <a:prstGeom prst="rect">
            <a:avLst/>
          </a:prstGeom>
          <a:solidFill>
            <a:srgbClr val="E6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rting point"/>
          <p:cNvSpPr txBox="1"/>
          <p:nvPr/>
        </p:nvSpPr>
        <p:spPr>
          <a:xfrm>
            <a:off x="731520" y="1481328"/>
            <a:ext cx="10789920" cy="274320"/>
          </a:xfrm>
          <a:prstGeom prst="rect">
            <a:avLst/>
          </a:prstGeom>
          <a:noFill/>
        </p:spPr>
        <p:txBody>
          <a:bodyPr wrap="square" anchor="ctr" lIns="0" tIns="0" rIns="0" bIns="0">
            <a:spAutoFit/>
          </a:bodyPr>
          <a:lstStyle/>
          <a:p>
            <a:r>
              <a:rPr sz="1050" b="1">
                <a:solidFill>
                  <a:srgbClr val="002677"/>
                </a:solidFill>
              </a:rPr>
              <a:t>STARTING POINT: </a:t>
            </a:r>
            <a:r>
              <a:rPr sz="1050">
                <a:solidFill>
                  <a:srgbClr val="002677"/>
                </a:solidFill>
              </a:rPr>
              <a:t>LLM providers already supply the model to competitors such as </a:t>
            </a:r>
            <a:r>
              <a:rPr sz="1050" u="sng">
                <a:solidFill>
                  <a:srgbClr val="002677"/>
                </a:solidFill>
                <a:uFill>
                  <a:solidFill>
                    <a:srgbClr val="9AA8CC"/>
                  </a:solidFill>
                </a:uFill>
              </a:rPr>
              <a:t>Veeva</a:t>
            </a:r>
            <a:r>
              <a:rPr sz="1050">
                <a:solidFill>
                  <a:srgbClr val="002677"/>
                </a:solidFill>
              </a:rPr>
              <a:t> (Anthropic and Amazon) and </a:t>
            </a:r>
            <a:r>
              <a:rPr sz="1050" u="sng">
                <a:solidFill>
                  <a:srgbClr val="002677"/>
                </a:solidFill>
                <a:uFill>
                  <a:solidFill>
                    <a:srgbClr val="9AA8CC"/>
                  </a:solidFill>
                </a:uFill>
              </a:rPr>
              <a:t>IQVIA</a:t>
            </a:r>
            <a:r>
              <a:rPr sz="1050">
                <a:solidFill>
                  <a:srgbClr val="002677"/>
                </a:solidFill>
              </a:rPr>
              <a:t> (NVIDIA) (previous slide).</a:t>
            </a:r>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3" name="Invisible source link 11: https://www.veeva.com/products/veeva-ai/">
            <a:hlinkClick r:id="rId9"/>
          </p:cNvPr>
          <p:cNvSpPr/>
          <p:nvPr/>
        </p:nvSpPr>
        <p:spPr>
          <a:xfrm>
            <a:off x="5656681" y="1550941"/>
            <a:ext cx="36775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1: https://www.iqvia.com/newsroom/2026/03/iqvia-unveils-iqvia-ai-a-unified-agentic-ai-platform">
            <a:hlinkClick r:id="rId10"/>
          </p:cNvPr>
          <p:cNvSpPr/>
          <p:nvPr/>
        </p:nvSpPr>
        <p:spPr>
          <a:xfrm>
            <a:off x="7778165" y="1550941"/>
            <a:ext cx="35350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1: https://www.anthropic.com/news/claude-science-ai-workbench">
            <a:hlinkClick r:id="rId11"/>
          </p:cNvPr>
          <p:cNvSpPr/>
          <p:nvPr/>
        </p:nvSpPr>
        <p:spPr>
          <a:xfrm>
            <a:off x="4108323" y="2569036"/>
            <a:ext cx="84381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1: https://www.anthropic.com/news/claude-science-ai-workbench">
            <a:hlinkClick r:id="rId11"/>
          </p:cNvPr>
          <p:cNvSpPr/>
          <p:nvPr/>
        </p:nvSpPr>
        <p:spPr>
          <a:xfrm>
            <a:off x="5943093" y="2569036"/>
            <a:ext cx="199386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1: https://openai.com/index/introducing-gpt-rosalind">
            <a:hlinkClick r:id="rId12"/>
          </p:cNvPr>
          <p:cNvSpPr/>
          <p:nvPr/>
        </p:nvSpPr>
        <p:spPr>
          <a:xfrm>
            <a:off x="3975836" y="2850912"/>
            <a:ext cx="78015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1: https://azure.microsoft.com/en-us/blog/announcing-microsoft-discovery-general-availability-and-microsoft-discovery-app-preview/">
            <a:hlinkClick r:id="rId13"/>
          </p:cNvPr>
          <p:cNvSpPr/>
          <p:nvPr/>
        </p:nvSpPr>
        <p:spPr>
          <a:xfrm>
            <a:off x="3446995" y="3004633"/>
            <a:ext cx="112286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1: https://deepmind.google/blog/co-scientist-a-multi-agent-ai-partner-to-accelerate-research/">
            <a:hlinkClick r:id="rId14"/>
          </p:cNvPr>
          <p:cNvSpPr/>
          <p:nvPr/>
        </p:nvSpPr>
        <p:spPr>
          <a:xfrm>
            <a:off x="3962158" y="3158354"/>
            <a:ext cx="69771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468678"/>
            <a:ext cx="28479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4245682" y="3468678"/>
            <a:ext cx="28009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6210261" y="3596834"/>
            <a:ext cx="180383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725003"/>
            <a:ext cx="60979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www.biopharminternational.com/view/novo-nordisk-partners-with-openai-for-drug-discovery">
            <a:hlinkClick r:id="rId16"/>
          </p:cNvPr>
          <p:cNvSpPr/>
          <p:nvPr/>
        </p:nvSpPr>
        <p:spPr>
          <a:xfrm>
            <a:off x="5007597" y="3878723"/>
            <a:ext cx="38704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1: https://www.biopharminternational.com/view/novo-nordisk-partners-with-openai-for-drug-discovery">
            <a:hlinkClick r:id="rId16"/>
          </p:cNvPr>
          <p:cNvSpPr/>
          <p:nvPr/>
        </p:nvSpPr>
        <p:spPr>
          <a:xfrm>
            <a:off x="6728156" y="3878723"/>
            <a:ext cx="121775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1: https://www.novonordisk.com/news-and-media/news-and-ir-materials/news-details.html?id=916768">
            <a:hlinkClick r:id="rId17"/>
          </p:cNvPr>
          <p:cNvSpPr/>
          <p:nvPr/>
        </p:nvSpPr>
        <p:spPr>
          <a:xfrm>
            <a:off x="3681717" y="4006879"/>
            <a:ext cx="48252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1: https://www.hpcwire.com/aiwire/2026/05/19/cohere-acquires-reliant-ai-to-expand-sovereign-enterprise-ai-for-global-biopharma-and-healthcare-sectors/">
            <a:hlinkClick r:id="rId18"/>
          </p:cNvPr>
          <p:cNvSpPr/>
          <p:nvPr/>
        </p:nvSpPr>
        <p:spPr>
          <a:xfrm>
            <a:off x="3446995" y="4317191"/>
            <a:ext cx="104712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1: https://www.hpcwire.com/aiwire/2026/05/19/cohere-acquires-reliant-ai-to-expand-sovereign-enterprise-ai-for-global-biopharma-and-healthcare-sectors/">
            <a:hlinkClick r:id="rId18"/>
          </p:cNvPr>
          <p:cNvSpPr/>
          <p:nvPr/>
        </p:nvSpPr>
        <p:spPr>
          <a:xfrm>
            <a:off x="5445233" y="4317191"/>
            <a:ext cx="166400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1: https://www.hpcwire.com/aiwire/2026/05/19/cohere-acquires-reliant-ai-to-expand-sovereign-enterprise-ai-for-global-biopharma-and-healthcare-sectors/">
            <a:hlinkClick r:id="rId18"/>
          </p:cNvPr>
          <p:cNvSpPr/>
          <p:nvPr/>
        </p:nvSpPr>
        <p:spPr>
          <a:xfrm>
            <a:off x="3446995" y="4445359"/>
            <a:ext cx="263958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1: https://www.fiercebiotech.com/biotech/anthropic-acquires-stealth-ai-startup-coefficient-bio-400m-deal">
            <a:hlinkClick r:id="rId19"/>
          </p:cNvPr>
          <p:cNvSpPr/>
          <p:nvPr/>
        </p:nvSpPr>
        <p:spPr>
          <a:xfrm>
            <a:off x="3446995" y="4599080"/>
            <a:ext cx="14751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1: https://www.rdworldonline.com/anthropics-400m-acquisition-of-coefficient-bio-signals-a-deeper-push-into-drug-discovery/">
            <a:hlinkClick r:id="rId20"/>
          </p:cNvPr>
          <p:cNvSpPr/>
          <p:nvPr/>
        </p:nvSpPr>
        <p:spPr>
          <a:xfrm>
            <a:off x="6115685" y="4599080"/>
            <a:ext cx="6915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7429613" y="5545389"/>
            <a:ext cx="2055641"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11: https://www.veeva.com/resources/new-veeva-study-builder-agent-to-configure-clinical-studies-in-as-little-as-one-day/">
            <a:hlinkClick r:id="rId21"/>
          </p:cNvPr>
          <p:cNvSpPr/>
          <p:nvPr/>
        </p:nvSpPr>
        <p:spPr>
          <a:xfrm>
            <a:off x="1280160" y="5713156"/>
            <a:ext cx="2779527"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KEY ASSUMPTIONS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Five assumptions shape this view, and each can be tested</a:t>
            </a:r>
            <a:endParaRPr lang="en-US" sz="22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4571997"/>
        </p:xfrm>
        <a:graphic>
          <a:graphicData uri="http://schemas.openxmlformats.org/drawingml/2006/table">
            <a:tbl>
              <a:tblPr/>
              <a:tblGrid>
                <a:gridCol w="3154680"/>
                <a:gridCol w="3886200"/>
                <a:gridCol w="4050791"/>
              </a:tblGrid>
              <a:tr h="402336">
                <a:tc>
                  <a:txBody>
                    <a:bodyPr/>
                    <a:lstStyle/>
                    <a:p>
                      <a:pPr indent="0" marL="0" algn="ctr">
                        <a:buNone/>
                      </a:pPr>
                      <a:r>
                        <a:rPr lang="en-US" sz="900" b="1" spc="100" kern="0" dirty="0">
                          <a:solidFill>
                            <a:schemeClr val="bg1"/>
                          </a:solidFill>
                        </a:rPr>
                        <a:t>ASSUMPTION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900" b="1" spc="100" kern="0" dirty="0">
                          <a:solidFill>
                            <a:schemeClr val="bg1"/>
                          </a:solidFill>
                        </a:rPr>
                        <a:t>WHY IT MATTERS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900" b="1" spc="100" kern="0" dirty="0">
                          <a:solidFill>
                            <a:schemeClr val="bg1"/>
                          </a:solidFill>
                        </a:rPr>
                        <a:t>HOW TO TEST IT</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33927">
                <a:tc>
                  <a:txBody>
                    <a:bodyPr/>
                    <a:lstStyle/>
                    <a:p>
                      <a:pPr algn="ctr" indent="0" marL="0">
                        <a:buNone/>
                      </a:pPr>
                      <a:r>
                        <a:rPr lang="en-US" sz="1100" b="1" dirty="0">
                          <a:solidFill>
                            <a:schemeClr val="accent1"/>
                          </a:solidFill>
                        </a:rPr>
                        <a:t>Competitors’ marketing reflects the products customers actually use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The deck’s evidence is public marketing. If launches are pilots or showcase features, the four choices describe messaging, not the products Optum LS competes against.</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Ask Optum LS sales and account teams which competitor tools come up in deals, and whether clients say they actually use them.</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678416">
                <a:tc>
                  <a:txBody>
                    <a:bodyPr/>
                    <a:lstStyle/>
                    <a:p>
                      <a:pPr algn="ctr" indent="0" marL="0">
                        <a:buNone/>
                      </a:pPr>
                      <a:r>
                        <a:rPr lang="en-US" sz="1100" b="1" dirty="0">
                          <a:solidFill>
                            <a:schemeClr val="accent1"/>
                          </a:solidFill>
                        </a:rPr>
                        <a:t>Conversational AI influences</a:t>
                      </a:r>
                      <a:br>
                        <a:rPr lang="en-US" sz="1100" b="1" dirty="0">
                          <a:solidFill>
                            <a:schemeClr val="accent1"/>
                          </a:solidFill>
                        </a:rPr>
                      </a:br>
                      <a:r>
                        <a:rPr lang="en-US" sz="1100" b="1" dirty="0">
                          <a:solidFill>
                            <a:schemeClr val="accent1"/>
                          </a:solidFill>
                        </a:rPr>
                        <a:t>what customers buy</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It decides whether this is a revenue question or a feature question, and it’s the basis for any dollar estimate.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Review recent win/loss notes and RFPs for whether conversational access was requested or decided a deal.</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33927">
                <a:tc>
                  <a:txBody>
                    <a:bodyPr/>
                    <a:lstStyle/>
                    <a:p>
                      <a:pPr algn="ctr" indent="0" marL="0">
                        <a:buNone/>
                      </a:pPr>
                      <a:r>
                        <a:rPr lang="en-US" sz="1100" b="1" dirty="0">
                          <a:solidFill>
                            <a:schemeClr val="accent1"/>
                          </a:solidFill>
                        </a:rPr>
                        <a:t>Pharma buyers want self-service,</a:t>
                      </a:r>
                      <a:br>
                        <a:rPr lang="en-US" sz="1100" b="1" dirty="0">
                          <a:solidFill>
                            <a:schemeClr val="accent1"/>
                          </a:solidFill>
                        </a:rPr>
                      </a:br>
                      <a:r>
                        <a:rPr lang="en-US" sz="1100" b="1" dirty="0">
                          <a:solidFill>
                            <a:schemeClr val="accent1"/>
                          </a:solidFill>
                        </a:rPr>
                        <a:t>not just expert-led analysis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Competitors pitch conversational AI as a way to skip analyst queues. If buyers want that, it pressures expert-led services; if not, expertise is the differentiator.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Compare how clients use self-service tools like Prospector with demand for Analytics on Demand, and ask account teams which clients want to run their own analyses.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989451">
                <a:tc>
                  <a:txBody>
                    <a:bodyPr/>
                    <a:lstStyle/>
                    <a:p>
                      <a:pPr algn="ctr" indent="0" marL="0">
                        <a:buNone/>
                      </a:pPr>
                      <a:r>
                        <a:rPr lang="en-US" sz="1100" b="1" dirty="0">
                          <a:solidFill>
                            <a:schemeClr val="accent1"/>
                          </a:solidFill>
                        </a:rPr>
                        <a:t>Optum LS’s data licenses permit conversational and third-party AI use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Pharma companies are moving data work into AI assistants such as Claude. What Optum LS data can be queried, and where, depends on data-use, privacy and de‑identification terms.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Ask data licensing and privacy teams whether current terms allow conversational querying and use inside a client’s own AI tools.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33940">
                <a:tc>
                  <a:txBody>
                    <a:bodyPr/>
                    <a:lstStyle/>
                    <a:p>
                      <a:pPr algn="ctr" indent="0" marL="0">
                        <a:buNone/>
                      </a:pPr>
                      <a:r>
                        <a:rPr lang="en-US" sz="1100" b="1" dirty="0">
                          <a:solidFill>
                            <a:schemeClr val="accent1"/>
                          </a:solidFill>
                        </a:rPr>
                        <a:t>LLM providers stay out of RWE</a:t>
                      </a:r>
                      <a:br>
                        <a:rPr lang="en-US" sz="1100" b="1" dirty="0">
                          <a:solidFill>
                            <a:schemeClr val="accent1"/>
                          </a:solidFill>
                        </a:rPr>
                      </a:br>
                      <a:r>
                        <a:rPr lang="en-US" sz="1100" b="1" dirty="0">
                          <a:solidFill>
                            <a:schemeClr val="accent1"/>
                          </a:solidFill>
                        </a:rPr>
                        <a:t>and commercial analytics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Slide 11 finds their overlap with Optum LS is the interface, not the data. If they move into RWE or commercial analytics, they also become direct competitors.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Track whether model partners’ life-sciences products, such as Claude Science or GPT-Rosalind, start reaching RWE and commercial work.</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a:t>
            </a:r>
            <a:endParaRPr lang="en-US" sz="1000" dirty="0"/>
          </a:p>
        </p:txBody>
      </p:sp>
      <p:sp>
        <p:nvSpPr>
          <p:cNvPr id="3" name="1. sources"/>
          <p:cNvSpPr/>
          <p:nvPr/>
        </p:nvSpPr>
        <p:spPr>
          <a:xfrm>
            <a:off x="548640" y="1481328"/>
            <a:ext cx="11091672" cy="58521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77240" y="1636776"/>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1. SOURCES</a:t>
            </a:r>
            <a:endParaRPr lang="en-US" sz="1000" dirty="0"/>
          </a:p>
        </p:txBody>
      </p:sp>
      <p:sp>
        <p:nvSpPr>
          <p:cNvPr id="5" name="Text 3"/>
          <p:cNvSpPr txBox="1"/>
          <p:nvPr/>
        </p:nvSpPr>
        <p:spPr>
          <a:xfrm>
            <a:off x="3657600" y="1668780"/>
            <a:ext cx="7754112" cy="210312"/>
          </a:xfrm>
          <a:prstGeom prst="rect">
            <a:avLst/>
          </a:prstGeom>
          <a:noFill/>
          <a:ln/>
        </p:spPr>
        <p:txBody>
          <a:bodyPr wrap="square" lIns="0" tIns="0" rIns="0" bIns="0" rtlCol="0" anchor="t"/>
          <a:lstStyle/>
          <a:p>
            <a:pPr indent="0" marL="0">
              <a:buNone/>
            </a:pPr>
            <a:r>
              <a:rPr lang="en-US" sz="1200" dirty="0">
                <a:solidFill>
                  <a:schemeClr val="tx1"/>
                </a:solidFill>
              </a:rPr>
              <a:t>Official vendor pages and announcements, reviewed through October 16, 2026.</a:t>
            </a:r>
            <a:endParaRPr lang="en-US" sz="1000" dirty="0"/>
          </a:p>
        </p:txBody>
      </p:sp>
      <p:sp>
        <p:nvSpPr>
          <p:cNvPr id="6" name="2. domains"/>
          <p:cNvSpPr/>
          <p:nvPr/>
        </p:nvSpPr>
        <p:spPr>
          <a:xfrm>
            <a:off x="548640" y="2203704"/>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77240" y="2450592"/>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2. DOMAINS</a:t>
            </a:r>
            <a:endParaRPr lang="en-US" sz="1000" dirty="0"/>
          </a:p>
        </p:txBody>
      </p:sp>
      <p:sp>
        <p:nvSpPr>
          <p:cNvPr id="8" name="Text 6"/>
          <p:cNvSpPr txBox="1"/>
          <p:nvPr/>
        </p:nvSpPr>
        <p:spPr>
          <a:xfrm>
            <a:off x="3657600" y="2391156"/>
            <a:ext cx="7754112" cy="393192"/>
          </a:xfrm>
          <a:prstGeom prst="rect">
            <a:avLst/>
          </a:prstGeom>
          <a:noFill/>
          <a:ln/>
        </p:spPr>
        <p:txBody>
          <a:bodyPr wrap="square" lIns="0" tIns="0" rIns="0" bIns="0" rtlCol="0" anchor="t"/>
          <a:lstStyle/>
          <a:p>
            <a:pPr indent="0" marL="0">
              <a:buNone/>
            </a:pPr>
            <a:r>
              <a:rPr lang="en-US" sz="1200" dirty="0">
                <a:solidFill>
                  <a:schemeClr val="tx1"/>
                </a:solidFill>
              </a:rPr>
              <a:t>Five customer-task areas where Optum LS publicly markets offerings and competitors sell comparable ones. They classify the research; they are not Optum LS’s own business categories.</a:t>
            </a:r>
            <a:endParaRPr lang="en-US" sz="1000" dirty="0"/>
          </a:p>
        </p:txBody>
      </p:sp>
      <p:sp>
        <p:nvSpPr>
          <p:cNvPr id="9" name="3. qualification"/>
          <p:cNvSpPr/>
          <p:nvPr/>
        </p:nvSpPr>
        <p:spPr>
          <a:xfrm>
            <a:off x="548640" y="3108960"/>
            <a:ext cx="11091672" cy="76809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777240" y="3355848"/>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3. QUALIFICATION</a:t>
            </a:r>
            <a:endParaRPr lang="en-US" sz="1000" dirty="0"/>
          </a:p>
        </p:txBody>
      </p:sp>
      <p:sp>
        <p:nvSpPr>
          <p:cNvPr id="11" name="Text 9"/>
          <p:cNvSpPr txBox="1"/>
          <p:nvPr/>
        </p:nvSpPr>
        <p:spPr>
          <a:xfrm>
            <a:off x="3657600" y="3296412"/>
            <a:ext cx="7754112" cy="393192"/>
          </a:xfrm>
          <a:prstGeom prst="rect">
            <a:avLst/>
          </a:prstGeom>
          <a:noFill/>
          <a:ln/>
        </p:spPr>
        <p:txBody>
          <a:bodyPr wrap="square" lIns="0" tIns="0" rIns="0" bIns="0" rtlCol="0" anchor="t"/>
          <a:lstStyle/>
          <a:p>
            <a:pPr indent="0" marL="0">
              <a:buNone/>
            </a:pPr>
            <a:r>
              <a:rPr lang="en-US" sz="1200" dirty="0">
                <a:solidFill>
                  <a:schemeClr val="tx1"/>
                </a:solidFill>
              </a:rPr>
              <a:t>An offering qualified only if its public materials describe a conversational interface for a biopharma customer task; general AI or agentic claims did not.</a:t>
            </a:r>
            <a:endParaRPr lang="en-US" sz="1000" dirty="0"/>
          </a:p>
        </p:txBody>
      </p:sp>
      <p:sp>
        <p:nvSpPr>
          <p:cNvPr id="15" name="4. counts"/>
          <p:cNvSpPr/>
          <p:nvPr/>
        </p:nvSpPr>
        <p:spPr>
          <a:xfrm>
            <a:off x="548640" y="4014216"/>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77240" y="4352544"/>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4. COUNTS</a:t>
            </a:r>
            <a:endParaRPr lang="en-US" sz="1000" dirty="0"/>
          </a:p>
        </p:txBody>
      </p:sp>
      <p:sp>
        <p:nvSpPr>
          <p:cNvPr id="17" name="Text 15"/>
          <p:cNvSpPr txBox="1"/>
          <p:nvPr/>
        </p:nvSpPr>
        <p:spPr>
          <a:xfrm>
            <a:off x="3657600" y="4201668"/>
            <a:ext cx="7754112" cy="576072"/>
          </a:xfrm>
          <a:prstGeom prst="rect">
            <a:avLst/>
          </a:prstGeom>
          <a:noFill/>
          <a:ln/>
        </p:spPr>
        <p:txBody>
          <a:bodyPr wrap="square" lIns="0" tIns="0" rIns="0" bIns="0" rtlCol="0" anchor="t"/>
          <a:lstStyle/>
          <a:p>
            <a:pPr indent="0" marL="0">
              <a:buNone/>
            </a:pPr>
            <a:r>
              <a:rPr lang="en-US" sz="1200" dirty="0">
                <a:solidFill>
                  <a:schemeClr val="tx1"/>
                </a:solidFill>
              </a:rPr>
              <a:t>43 U.S. competitor groups screened; 15 market 23 qualifying offerings. Domain counts overlap. Screens are not exhaustive. Fourteen country and region screens added eight international examples, shown in the domain tables but not counted with the U.S.</a:t>
            </a:r>
            <a:endParaRPr lang="en-US" sz="1000" dirty="0"/>
          </a:p>
        </p:txBody>
      </p:sp>
      <p:sp>
        <p:nvSpPr>
          <p:cNvPr id="18" name="5. comparison and ai use"/>
          <p:cNvSpPr/>
          <p:nvPr/>
        </p:nvSpPr>
        <p:spPr>
          <a:xfrm>
            <a:off x="548640" y="5102352"/>
            <a:ext cx="11091672" cy="9509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77240" y="5440680"/>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5. COMPARISON AND AI USE</a:t>
            </a:r>
            <a:endParaRPr lang="en-US" sz="1000" dirty="0"/>
          </a:p>
        </p:txBody>
      </p:sp>
      <p:sp>
        <p:nvSpPr>
          <p:cNvPr id="20" name="Text 18"/>
          <p:cNvSpPr txBox="1"/>
          <p:nvPr/>
        </p:nvSpPr>
        <p:spPr>
          <a:xfrm>
            <a:off x="3657600" y="5289804"/>
            <a:ext cx="7754112" cy="576072"/>
          </a:xfrm>
          <a:prstGeom prst="rect">
            <a:avLst/>
          </a:prstGeom>
          <a:noFill/>
          <a:ln/>
        </p:spPr>
        <p:txBody>
          <a:bodyPr wrap="square" lIns="0" tIns="0" rIns="0" bIns="0" rtlCol="0" anchor="t"/>
          <a:lstStyle/>
          <a:p>
            <a:pPr indent="0" marL="0">
              <a:buNone/>
            </a:pPr>
            <a:r>
              <a:rPr lang="en-US" sz="1200" dirty="0">
                <a:solidFill>
                  <a:schemeClr val="tx1"/>
                </a:solidFill>
              </a:rPr>
              <a:t>Offerings were compared by customer task, not assumed to be equivalent. Vendor metrics are reported as claims. LLM-provider developments sit outside the counts. AI tools assisted the research and drafting; key quoted claims were checked against cited vendor materials.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Findings reflect public positioning, not tested performance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Life Sciences — Independent Competitive Intelligence Work Sample</dc:title>
  <dc:subject/>
  <dc:creator>Joseph Marino</dc:creator>
  <cp:lastModifiedBy>Joseph Marino</cp:lastModifiedBy>
  <cp:revision>1</cp:revision>
  <dcterms:created xsi:type="dcterms:W3CDTF">2026-10-14T02:26:17Z</dcterms:created>
  <dcterms:modified xsi:type="dcterms:W3CDTF">2026-10-14T02:26:17Z</dcterms:modified>
</cp:coreProperties>
</file>