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pPr indent="0" marL="0">
                        <a:buNone/>
                      </a:pPr>
                      <a:pPr indent="0" marL="0">
                        <a:buNone/>
                      </a:pPr>
                      <a:r>
                        <a:rPr lang="en-US" sz="950" dirty="0">
                          <a:solidFill>
                            <a:schemeClr val="tx1"/>
                          </a:solidFill>
                        </a:rPr>
                        <a:t>Truven </a:t>
                      </a:r>
                      <a:r>
                        <a:rPr lang="en-US" sz="950" b="1" dirty="0">
                          <a:solidFill>
                            <a:schemeClr val="tx1"/>
                          </a:solid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pPr indent="0" marL="0">
                        <a:buNone/>
                      </a:pPr>
                      <a:pPr indent="0" marL="0">
                        <a:buNone/>
                      </a:pPr>
                      <a:r>
                        <a:rPr lang="en-US" sz="950" dirty="0">
                          <a:solidFill>
                            <a:schemeClr val="tx1"/>
                          </a:solidFill>
                        </a:rPr>
                        <a:t>Norstella / Panalgo </a:t>
                      </a:r>
                      <a:r>
                        <a:rPr lang="en-US" sz="950" b="1" dirty="0">
                          <a:solidFill>
                            <a:schemeClr val="tx1"/>
                          </a:solid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pPr indent="0" marL="0">
                        <a:buNone/>
                      </a:pPr>
                      <a:pPr indent="0" marL="0">
                        <a:buNone/>
                      </a:pPr>
                      <a:r>
                        <a:rPr lang="en-US" sz="950" dirty="0">
                          <a:solidFill>
                            <a:schemeClr val="tx1"/>
                          </a:solidFill>
                        </a:rPr>
                        <a:t>HealthVerity </a:t>
                      </a:r>
                      <a:r>
                        <a:rPr lang="en-US" sz="950" b="1" dirty="0">
                          <a:solidFill>
                            <a:schemeClr val="tx1"/>
                          </a:solid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b="1">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5033010"/>
            <a:ext cx="5454396" cy="102031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9511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424297"/>
            <a:ext cx="5052060" cy="566928"/>
          </a:xfrm>
          <a:prstGeom prst="rect">
            <a:avLst/>
          </a:prstGeom>
          <a:noFill/>
          <a:ln/>
        </p:spPr>
        <p:txBody>
          <a:bodyPr wrap="square" lIns="0" tIns="0" rIns="0" bIns="0" rtlCol="0" anchor="t"/>
          <a:lstStyle/>
          <a:p>
            <a:pPr indent="0" marL="0">
              <a:buNone/>
            </a:pPr>
            <a:r>
              <a:rPr lang="en-US" sz="1050" b="1" dirty="0">
                <a:solidFill>
                  <a:schemeClr val="tx1"/>
                </a:solidFill>
              </a:rPr>
              <a:t>HealthVerity eXOs and Norstella Ella position conversational AI as the front door to their platforms, spanning dataset assessment, cohort exploration and broader research questions in a single chat workflow.</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0" name="Invisible source link 6: https://business.optum.com/en/data-analytics/life-sciences/real-world-data/market-clarity-data.html">
            <a:hlinkClick r:id="rId5"/>
          </p:cNvPr>
          <p:cNvSpPr/>
          <p:nvPr/>
        </p:nvSpPr>
        <p:spPr>
          <a:xfrm>
            <a:off x="8704795" y="2126095"/>
            <a:ext cx="108876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1" name="Invisible source link 6: https://business.optum.com/en/data-analytics/life-sciences/real-world-data/enriched-clinical-data.html">
            <a:hlinkClick r:id="rId7"/>
          </p:cNvPr>
          <p:cNvSpPr/>
          <p:nvPr/>
        </p:nvSpPr>
        <p:spPr>
          <a:xfrm>
            <a:off x="10951197" y="2126095"/>
            <a:ext cx="5135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2" name="Invisible source link 6: https://business.optum.com/en/data-analytics/life-sciences/real-world-data/enriched-clinical-data.html">
            <a:hlinkClick r:id="rId7"/>
          </p:cNvPr>
          <p:cNvSpPr/>
          <p:nvPr/>
        </p:nvSpPr>
        <p:spPr>
          <a:xfrm>
            <a:off x="8704795" y="2261820"/>
            <a:ext cx="7216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3" name="Invisible source link 6: https://business.optum.com/en/data-analytics/life-sciences/heor/exploratory-analysis.html">
            <a:hlinkClick r:id="rId12"/>
          </p:cNvPr>
          <p:cNvSpPr/>
          <p:nvPr/>
        </p:nvSpPr>
        <p:spPr>
          <a:xfrm>
            <a:off x="8704795" y="2989022"/>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4" name="Invisible source link 6: https://business.optum.com/en/data-analytics/life-sciences/real-world-data/clinical-notes.html">
            <a:hlinkClick r:id="rId13"/>
          </p:cNvPr>
          <p:cNvSpPr/>
          <p:nvPr/>
        </p:nvSpPr>
        <p:spPr>
          <a:xfrm>
            <a:off x="9198724" y="3124734"/>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5" name="Invisible source link 6: https://business.optum.com/en/data-analytics/life-sciences/clinical-trial-design.html">
            <a:hlinkClick r:id="rId14"/>
          </p:cNvPr>
          <p:cNvSpPr/>
          <p:nvPr/>
        </p:nvSpPr>
        <p:spPr>
          <a:xfrm>
            <a:off x="9198724" y="3260459"/>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6" name="Invisible source link 6: https://business.optum.com/en/data-analytics/life-sciences/heor/exploratory-analysis.html">
            <a:hlinkClick r:id="rId12"/>
          </p:cNvPr>
          <p:cNvSpPr/>
          <p:nvPr/>
        </p:nvSpPr>
        <p:spPr>
          <a:xfrm>
            <a:off x="8704795" y="4125901"/>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7" name="Invisible source link 6: https://business.optum.com/en/data-analytics/life-sciences/epidemiology-consulting.html">
            <a:hlinkClick r:id="rId17"/>
          </p:cNvPr>
          <p:cNvSpPr/>
          <p:nvPr/>
        </p:nvSpPr>
        <p:spPr>
          <a:xfrm>
            <a:off x="9078125" y="4261613"/>
            <a:ext cx="182394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3" name="pre-engagement data evaluation card"/>
          <p:cNvSpPr/>
          <p:nvPr/>
        </p:nvSpPr>
        <p:spPr>
          <a:xfrm>
            <a:off x="6185916" y="5033010"/>
            <a:ext cx="5454396" cy="102031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509511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424297"/>
            <a:ext cx="5052060" cy="566928"/>
          </a:xfrm>
          <a:prstGeom prst="rect">
            <a:avLst/>
          </a:prstGeom>
          <a:noFill/>
          <a:ln/>
        </p:spPr>
        <p:txBody>
          <a:bodyPr wrap="square" lIns="0" tIns="0" rIns="0" bIns="0" rtlCol="0" anchor="t"/>
          <a:lstStyle/>
          <a:p>
            <a:pPr indent="0" marL="0">
              <a:buNone/>
            </a:pPr>
            <a:r>
              <a:rPr lang="en-US" sz="1050" b="1" dirty="0">
                <a:solidFill>
                  <a:schemeClr val="tx1"/>
                </a:solidFill>
              </a:rPr>
              <a:t>MarketScan Snapshot uses conversational AI as a sales tool as well as an analytics feature, offering qualified prospects free AI access to cohort counts and summary statistics before they commit to a full RWE analysis.</a:t>
            </a:r>
            <a:endParaRPr lang="en-US" sz="1050" dirty="0"/>
          </a:p>
        </p:txBody>
      </p:sp>
      <p:sp>
        <p:nvSpPr>
          <p:cNvPr id="9732" name="Invisible source link 6: https://www.merative.com/newsroom/truven-launches-marketscan-snapshot-an-ai-powered-tool-to-evaluate-fit-for-purpose-real-world-data-in-minutes">
            <a:hlinkClick r:id="rId3"/>
          </p:cNvPr>
          <p:cNvSpPr/>
          <p:nvPr/>
        </p:nvSpPr>
        <p:spPr>
          <a:xfrm>
            <a:off x="3346564" y="2032852"/>
            <a:ext cx="129088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6: https://panalgo.com/ella/">
            <a:hlinkClick r:id="rId15"/>
          </p:cNvPr>
          <p:cNvSpPr/>
          <p:nvPr/>
        </p:nvSpPr>
        <p:spPr>
          <a:xfrm>
            <a:off x="3994200" y="2219339"/>
            <a:ext cx="39628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6: https://healthverity.com/news/announcing-healthverity-exos/">
            <a:hlinkClick r:id="rId4"/>
          </p:cNvPr>
          <p:cNvSpPr/>
          <p:nvPr/>
        </p:nvSpPr>
        <p:spPr>
          <a:xfrm>
            <a:off x="3625202" y="4100336"/>
            <a:ext cx="34120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6" name="Invisible source link 6: https://www.bcplatforms.com/bc-catalyst">
            <a:hlinkClick r:id="rId16"/>
          </p:cNvPr>
          <p:cNvSpPr/>
          <p:nvPr/>
        </p:nvSpPr>
        <p:spPr>
          <a:xfrm>
            <a:off x="3707637" y="4286823"/>
            <a:ext cx="6749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b="1">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b="1">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8" name="Invisible source link 7: https://business.optum.com/en/data-analytics/life-sciences/real-world-data/enriched-clinical-data.html">
            <a:hlinkClick r:id="rId5"/>
          </p:cNvPr>
          <p:cNvSpPr/>
          <p:nvPr/>
        </p:nvSpPr>
        <p:spPr>
          <a:xfrm>
            <a:off x="8704795" y="2016291"/>
            <a:ext cx="12697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9" name="Invisible source link 7: https://business.optum.com/en/data-analytics/life-sciences/clinicogenomics.html">
            <a:hlinkClick r:id="rId6"/>
          </p:cNvPr>
          <p:cNvSpPr/>
          <p:nvPr/>
        </p:nvSpPr>
        <p:spPr>
          <a:xfrm>
            <a:off x="9306725" y="2152016"/>
            <a:ext cx="146335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0" name="Invisible source link 7: https://business.optum.com/en/data-analytics/life-sciences/real-world-data/clinical-notes.html">
            <a:hlinkClick r:id="rId9"/>
          </p:cNvPr>
          <p:cNvSpPr/>
          <p:nvPr/>
        </p:nvSpPr>
        <p:spPr>
          <a:xfrm>
            <a:off x="8704795" y="2931415"/>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1" name="Invisible source link 7: https://business.optum.com/en/data-analytics/life-sciences/epidemiology-consulting.html">
            <a:hlinkClick r:id="rId10"/>
          </p:cNvPr>
          <p:cNvSpPr/>
          <p:nvPr/>
        </p:nvSpPr>
        <p:spPr>
          <a:xfrm>
            <a:off x="8704795" y="3067140"/>
            <a:ext cx="237218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2" name="Invisible source link 7: https://business.optum.com/en/data-analytics/life-sciences/heor/exploratory-analysis.html">
            <a:hlinkClick r:id="rId12"/>
          </p:cNvPr>
          <p:cNvSpPr/>
          <p:nvPr/>
        </p:nvSpPr>
        <p:spPr>
          <a:xfrm>
            <a:off x="8704795" y="3778492"/>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3" name="Invisible source link 8: https://business.optum.com/en/data-analytics/life-sciences/real-world-data/market-clarity-data.html">
            <a:hlinkClick r:id="rId6"/>
          </p:cNvPr>
          <p:cNvSpPr/>
          <p:nvPr/>
        </p:nvSpPr>
        <p:spPr>
          <a:xfrm>
            <a:off x="8704795" y="2172895"/>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4" name="Invisible source link 8: https://business.optum.com/en/data-analytics/life-sciences/real-world-data/market-clarity-data.html">
            <a:hlinkClick r:id="rId6"/>
          </p:cNvPr>
          <p:cNvSpPr/>
          <p:nvPr/>
        </p:nvSpPr>
        <p:spPr>
          <a:xfrm>
            <a:off x="8704795" y="3168295"/>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5" name="Invisible source link 8: https://business.optum.com/en/data-analytics/life-sciences/real-world-data/market-clarity-data.html">
            <a:hlinkClick r:id="rId6"/>
          </p:cNvPr>
          <p:cNvSpPr/>
          <p:nvPr/>
        </p:nvSpPr>
        <p:spPr>
          <a:xfrm>
            <a:off x="8704795" y="4040938"/>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b="1">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6" name="Invisible source link 9: https://business.optum.com/en/data-analytics/life-sciences/epidemiology-consulting.html">
            <a:hlinkClick r:id="rId4"/>
          </p:cNvPr>
          <p:cNvSpPr/>
          <p:nvPr/>
        </p:nvSpPr>
        <p:spPr>
          <a:xfrm>
            <a:off x="8704795" y="1983893"/>
            <a:ext cx="132357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7" name="Invisible source link 9: https://business.optum.com/en/data-analytics/life-sciences/epidemiology-consulting.html">
            <a:hlinkClick r:id="rId4"/>
          </p:cNvPr>
          <p:cNvSpPr/>
          <p:nvPr/>
        </p:nvSpPr>
        <p:spPr>
          <a:xfrm>
            <a:off x="9379800" y="2119618"/>
            <a:ext cx="138315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8" name="Invisible source link 9: https://business.optum.com/en/data-analytics/life-sciences/epidemiology-consulting.html">
            <a:hlinkClick r:id="rId4"/>
          </p:cNvPr>
          <p:cNvSpPr/>
          <p:nvPr/>
        </p:nvSpPr>
        <p:spPr>
          <a:xfrm>
            <a:off x="8704795" y="2255343"/>
            <a:ext cx="196419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9" name="Invisible source link 9: https://business.optum.com/en/data-analytics/life-sciences/real-world-data/market-clarity-data.html">
            <a:hlinkClick r:id="rId7"/>
          </p:cNvPr>
          <p:cNvSpPr/>
          <p:nvPr/>
        </p:nvSpPr>
        <p:spPr>
          <a:xfrm>
            <a:off x="8704795" y="3152103"/>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1587288"/>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08076">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b="0">
                          <a:solidFill>
                            <a:schemeClr val="tx1"/>
                          </a:solidFill>
                        </a:rPr>
                        <a:t> (electronic source-data capture)</a:t>
                      </a:r>
                      <a:r>
                        <a:rPr lang="en-US" sz="950" dirty="0" b="0">
                          <a:solidFill>
                            <a:schemeClr val="tx1"/>
                          </a:solidFill>
                        </a:rPr>
                        <a:t>; </a:t>
                      </a:r>
                      <a:r>
                        <a:rPr lang="en-US" sz="950" dirty="0" b="0">
                          <a:solidFill>
                            <a:schemeClr val="tx1"/>
                          </a:solidFill>
                        </a:rPr>
                        <a:t>no comparable conversational 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89241"/>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63561"/>
          <a:ext cx="11091672" cy="122682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7636">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b="1">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5136685"/>
            <a:ext cx="11091672" cy="971507"/>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5183526"/>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494422"/>
            <a:ext cx="10689336" cy="566928"/>
          </a:xfrm>
          <a:prstGeom prst="rect">
            <a:avLst/>
          </a:prstGeom>
          <a:noFill/>
          <a:ln/>
        </p:spPr>
        <p:txBody>
          <a:bodyPr wrap="square" lIns="0" tIns="0" rIns="0" bIns="0" rtlCol="0" anchor="t"/>
          <a:lstStyle/>
          <a:p>
            <a:pPr indent="0" marL="0">
              <a:buNone/>
            </a:pPr>
            <a:r>
              <a:rPr lang="en-US" sz="100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0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68545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75234"/>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903825"/>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427791"/>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0" name="Invisible source link 10: https://business.optum.com/en/data-analytics/life-sciences/clinical-trial-design.html">
            <a:hlinkClick r:id="rId4"/>
          </p:cNvPr>
          <p:cNvSpPr/>
          <p:nvPr/>
        </p:nvSpPr>
        <p:spPr>
          <a:xfrm>
            <a:off x="8704795" y="2185862"/>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1" name="Invisible source link 10: https://business.optum.com/en/data-analytics/life-sciences/clinical-trial-design.html">
            <a:hlinkClick r:id="rId4"/>
          </p:cNvPr>
          <p:cNvSpPr/>
          <p:nvPr/>
        </p:nvSpPr>
        <p:spPr>
          <a:xfrm>
            <a:off x="9198724" y="2321574"/>
            <a:ext cx="144960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2" name="Invisible source link 10: https://business.optum.com/en/data-analytics/life-sciences/clinical-trial-design.html">
            <a:hlinkClick r:id="rId4"/>
          </p:cNvPr>
          <p:cNvSpPr/>
          <p:nvPr/>
        </p:nvSpPr>
        <p:spPr>
          <a:xfrm>
            <a:off x="8704795" y="2814778"/>
            <a:ext cx="69416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3" name="Invisible source link 10: https://business.optum.com/en/data-analytics/life-sciences/heor.html">
            <a:hlinkClick r:id="rId7"/>
          </p:cNvPr>
          <p:cNvSpPr/>
          <p:nvPr/>
        </p:nvSpPr>
        <p:spPr>
          <a:xfrm>
            <a:off x="8704795" y="4270262"/>
            <a:ext cx="123626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4" name="Invisible source link 10: https://business.optum.com/en/data-analytics/life-sciences/evidence-engine.html">
            <a:hlinkClick r:id="rId8"/>
          </p:cNvPr>
          <p:cNvSpPr/>
          <p:nvPr/>
        </p:nvSpPr>
        <p:spPr>
          <a:xfrm>
            <a:off x="9794519" y="4405974"/>
            <a:ext cx="96201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5" name="Invisible source link 10: https://business.optum.com/en/data-analytics/life-sciences/value-based-contracts.html">
            <a:hlinkClick r:id="rId9"/>
          </p:cNvPr>
          <p:cNvSpPr/>
          <p:nvPr/>
        </p:nvSpPr>
        <p:spPr>
          <a:xfrm>
            <a:off x="9815753" y="4541699"/>
            <a:ext cx="163001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6" name="Invisible source link 10: https://business.optum.com/en/data-analytics/life-sciences/value-based-contracts.html">
            <a:hlinkClick r:id="rId9"/>
          </p:cNvPr>
          <p:cNvSpPr/>
          <p:nvPr/>
        </p:nvSpPr>
        <p:spPr>
          <a:xfrm>
            <a:off x="8704795" y="4677411"/>
            <a:ext cx="9551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EXECUTIVE SUMMARY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RESEARCH CATALYST</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U.S. LANDSCAPE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5" name="slide 4 — evidence boundary"/>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INTERNATIONAL SCREENS</a:t>
            </a:r>
            <a:endParaRPr lang="en-US" sz="1000" dirty="0"/>
          </a:p>
        </p:txBody>
      </p:sp>
      <p:sp>
        <p:nvSpPr>
          <p:cNvPr id="17" name="Text 15"/>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RWE</a:t>
            </a:r>
            <a:endParaRPr lang="en-US" sz="1000" dirty="0"/>
          </a:p>
        </p:txBody>
      </p:sp>
      <p:sp>
        <p:nvSpPr>
          <p:cNvPr id="20" name="Text 18"/>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3" name="slide 6 — evidence boundary"/>
          <p:cNvSpPr/>
          <p:nvPr/>
        </p:nvSpPr>
        <p:spPr>
          <a:xfrm>
            <a:off x="8055864" y="3163824"/>
            <a:ext cx="3587496" cy="21762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8238744" y="3310128"/>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SPECIALIZED RWE</a:t>
            </a:r>
            <a:endParaRPr lang="en-US" sz="1000" dirty="0"/>
          </a:p>
        </p:txBody>
      </p:sp>
      <p:sp>
        <p:nvSpPr>
          <p:cNvPr id="5" name="Text 3"/>
          <p:cNvSpPr txBox="1"/>
          <p:nvPr/>
        </p:nvSpPr>
        <p:spPr>
          <a:xfrm>
            <a:off x="8238744" y="3584448"/>
            <a:ext cx="3221736" cy="1682495"/>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6" name="slide 7 — evidence boundary"/>
          <p:cNvSpPr/>
          <p:nvPr/>
        </p:nvSpPr>
        <p:spPr>
          <a:xfrm>
            <a:off x="54864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COMMERCIAL INTELLIGENCE</a:t>
            </a:r>
            <a:endParaRPr lang="en-US" sz="1000" dirty="0"/>
          </a:p>
        </p:txBody>
      </p:sp>
      <p:sp>
        <p:nvSpPr>
          <p:cNvPr id="8" name="Text 6"/>
          <p:cNvSpPr txBox="1"/>
          <p:nvPr/>
        </p:nvSpPr>
        <p:spPr>
          <a:xfrm>
            <a:off x="73152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429768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448056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MEDICAL / REGULATORY</a:t>
            </a:r>
            <a:endParaRPr lang="en-US" sz="1000" dirty="0"/>
          </a:p>
        </p:txBody>
      </p:sp>
      <p:sp>
        <p:nvSpPr>
          <p:cNvPr id="11" name="Text 9"/>
          <p:cNvSpPr txBox="1"/>
          <p:nvPr/>
        </p:nvSpPr>
        <p:spPr>
          <a:xfrm>
            <a:off x="448056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8055864"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8238744"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TRIALS &amp; MARKET ACCESS</a:t>
            </a:r>
            <a:endParaRPr lang="en-US" sz="1000" dirty="0"/>
          </a:p>
        </p:txBody>
      </p:sp>
      <p:sp>
        <p:nvSpPr>
          <p:cNvPr id="14" name="Text 12"/>
          <p:cNvSpPr txBox="1"/>
          <p:nvPr/>
        </p:nvSpPr>
        <p:spPr>
          <a:xfrm>
            <a:off x="8238744"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54864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LLM PROVIDERS</a:t>
            </a:r>
            <a:endParaRPr lang="en-US" sz="1000" dirty="0"/>
          </a:p>
        </p:txBody>
      </p:sp>
      <p:sp>
        <p:nvSpPr>
          <p:cNvPr id="17" name="Text 15"/>
          <p:cNvSpPr txBox="1"/>
          <p:nvPr/>
        </p:nvSpPr>
        <p:spPr>
          <a:xfrm>
            <a:off x="73152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429768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448056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448056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