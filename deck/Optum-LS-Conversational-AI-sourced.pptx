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5138928"/>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pPr indent="0" marL="0">
              <a:buNone/>
            </a:pPr>
            <a:pPr indent="0" marL="0">
              <a:buNone/>
            </a:pPr>
            <a:r>
              <a:rPr lang="en-US" sz="1050" b="1" dirty="0">
                <a:solidFill>
                  <a:schemeClr val="tx1"/>
                </a:solidFill>
              </a:rPr>
              <a:t>Nine selected international offerings</a:t>
            </a:r>
            <a:r>
              <a:rPr lang="en-US" sz="1050" dirty="0">
                <a:solidFill>
                  <a:schemeClr val="tx1"/>
                </a:solidFill>
              </a:rPr>
              <a:t> show how vendors outside the U.S. position conversational interaction, concentrated in </a:t>
            </a:r>
            <a:r>
              <a:rPr lang="en-US" sz="1050" b="1" dirty="0">
                <a:solidFill>
                  <a:schemeClr val="tx1"/>
                </a:solidFill>
              </a:rPr>
              <a:t>RWE and Commercial Intelligence</a:t>
            </a:r>
            <a:r>
              <a:rPr lang="en-US" sz="1050" dirty="0">
                <a:solidFill>
                  <a:schemeClr val="tx1"/>
                </a:solidFill>
              </a:rPr>
              <a:t>.</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and descriptions of customer use provide observable evidence for comparing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COMPANY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companies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5: https://business.optum.com/en/data-analytics/life-">
            <a:hlinkClick r:id="rId5"/>
          </p:cNvPr>
          <p:cNvSpPr/>
          <p:nvPr/>
        </p:nvSpPr>
        <p:spPr>
          <a:xfrm>
            <a:off x="8714349" y="2215438"/>
            <a:ext cx="1022923"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5: https://business.optum.com/en/data-analytics/life-">
            <a:hlinkClick r:id="rId6"/>
          </p:cNvPr>
          <p:cNvSpPr/>
          <p:nvPr/>
        </p:nvSpPr>
        <p:spPr>
          <a:xfrm>
            <a:off x="9809815" y="2215438"/>
            <a:ext cx="12385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5: https://business.optum.com/en/data-analytics/life-">
            <a:hlinkClick r:id="rId7"/>
          </p:cNvPr>
          <p:cNvSpPr/>
          <p:nvPr/>
        </p:nvSpPr>
        <p:spPr>
          <a:xfrm>
            <a:off x="11123083" y="2215438"/>
            <a:ext cx="39436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5: https://business.optum.com/en/data-analytics/life-">
            <a:hlinkClick r:id="rId7"/>
          </p:cNvPr>
          <p:cNvSpPr/>
          <p:nvPr/>
        </p:nvSpPr>
        <p:spPr>
          <a:xfrm>
            <a:off x="8709663" y="2325242"/>
            <a:ext cx="7723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5: https://business.optum.com/en/data-analytics/life-">
            <a:hlinkClick r:id="rId12"/>
          </p:cNvPr>
          <p:cNvSpPr/>
          <p:nvPr/>
        </p:nvSpPr>
        <p:spPr>
          <a:xfrm>
            <a:off x="8704620" y="3214433"/>
            <a:ext cx="113164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5: https://business.optum.com/en/data-analytics/life-">
            <a:hlinkClick r:id="rId13"/>
          </p:cNvPr>
          <p:cNvSpPr/>
          <p:nvPr/>
        </p:nvSpPr>
        <p:spPr>
          <a:xfrm>
            <a:off x="9915287" y="3214433"/>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5: https://business.optum.com/en/data-analytics/life-">
            <a:hlinkClick r:id="rId14"/>
          </p:cNvPr>
          <p:cNvSpPr/>
          <p:nvPr/>
        </p:nvSpPr>
        <p:spPr>
          <a:xfrm>
            <a:off x="10956042" y="3218751"/>
            <a:ext cx="571849"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nvisible source link 5: https://business.optum.com/en/data-analytics/life-">
            <a:hlinkClick r:id="rId12"/>
          </p:cNvPr>
          <p:cNvSpPr/>
          <p:nvPr/>
        </p:nvSpPr>
        <p:spPr>
          <a:xfrm>
            <a:off x="8704620" y="4215244"/>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Invisible source link 5: https://business.optum.com/en/data-analytics/life-">
            <a:hlinkClick r:id="rId17"/>
          </p:cNvPr>
          <p:cNvSpPr/>
          <p:nvPr/>
        </p:nvSpPr>
        <p:spPr>
          <a:xfrm>
            <a:off x="9914207" y="4215244"/>
            <a:ext cx="12004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6: https://business.optum.com/en/data-analytics/life-">
            <a:hlinkClick r:id="rId5"/>
          </p:cNvPr>
          <p:cNvSpPr/>
          <p:nvPr/>
        </p:nvSpPr>
        <p:spPr>
          <a:xfrm>
            <a:off x="8714349" y="2173681"/>
            <a:ext cx="117628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6: https://business.optum.com/en/data-analytics/life-">
            <a:hlinkClick r:id="rId6"/>
          </p:cNvPr>
          <p:cNvSpPr/>
          <p:nvPr/>
        </p:nvSpPr>
        <p:spPr>
          <a:xfrm>
            <a:off x="9961007" y="2173681"/>
            <a:ext cx="133108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6: https://business.optum.com/en/data-analytics/life-">
            <a:hlinkClick r:id="rId9"/>
          </p:cNvPr>
          <p:cNvSpPr/>
          <p:nvPr/>
        </p:nvSpPr>
        <p:spPr>
          <a:xfrm>
            <a:off x="8710742" y="3088805"/>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6: https://business.optum.com/en/data-analytics/life-">
            <a:hlinkClick r:id="rId10"/>
          </p:cNvPr>
          <p:cNvSpPr/>
          <p:nvPr/>
        </p:nvSpPr>
        <p:spPr>
          <a:xfrm>
            <a:off x="9746811" y="3088792"/>
            <a:ext cx="1761282"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6: https://business.optum.com/en/data-analytics/life-">
            <a:hlinkClick r:id="rId10"/>
          </p:cNvPr>
          <p:cNvSpPr/>
          <p:nvPr/>
        </p:nvSpPr>
        <p:spPr>
          <a:xfrm>
            <a:off x="8709663" y="3198596"/>
            <a:ext cx="417051"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6: https://business.optum.com/en/data-analytics/life-">
            <a:hlinkClick r:id="rId12"/>
          </p:cNvPr>
          <p:cNvSpPr/>
          <p:nvPr/>
        </p:nvSpPr>
        <p:spPr>
          <a:xfrm>
            <a:off x="8704620" y="3935882"/>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7: https://business.optum.com/en/data-analytics/life-">
            <a:hlinkClick r:id="rId6"/>
          </p:cNvPr>
          <p:cNvSpPr/>
          <p:nvPr/>
        </p:nvSpPr>
        <p:spPr>
          <a:xfrm>
            <a:off x="8714349" y="2194559"/>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7: https://business.optum.com/en/data-analytics/life-">
            <a:hlinkClick r:id="rId6"/>
          </p:cNvPr>
          <p:cNvSpPr/>
          <p:nvPr/>
        </p:nvSpPr>
        <p:spPr>
          <a:xfrm>
            <a:off x="8714349" y="3257994"/>
            <a:ext cx="734204"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7: https://business.optum.com/en/data-analytics/life-">
            <a:hlinkClick r:id="rId6"/>
          </p:cNvPr>
          <p:cNvSpPr/>
          <p:nvPr/>
        </p:nvSpPr>
        <p:spPr>
          <a:xfrm>
            <a:off x="8714349" y="4062603"/>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comparable conversational interface for regulated documents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8: https://business.optum.com/en/data-analytics/life-">
            <a:hlinkClick r:id="rId4"/>
          </p:cNvPr>
          <p:cNvSpPr/>
          <p:nvPr/>
        </p:nvSpPr>
        <p:spPr>
          <a:xfrm>
            <a:off x="8714349" y="2141283"/>
            <a:ext cx="120904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8: https://business.optum.com/en/data-analytics/life-">
            <a:hlinkClick r:id="rId4"/>
          </p:cNvPr>
          <p:cNvSpPr/>
          <p:nvPr/>
        </p:nvSpPr>
        <p:spPr>
          <a:xfrm>
            <a:off x="10003856" y="2141283"/>
            <a:ext cx="103804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8: https://business.optum.com/en/data-analytics/life-">
            <a:hlinkClick r:id="rId7"/>
          </p:cNvPr>
          <p:cNvSpPr/>
          <p:nvPr/>
        </p:nvSpPr>
        <p:spPr>
          <a:xfrm>
            <a:off x="8714349" y="3173755"/>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53602"/>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9: https://business.optum.com/en/data-analytics/life-">
            <a:hlinkClick r:id="rId4"/>
          </p:cNvPr>
          <p:cNvSpPr/>
          <p:nvPr/>
        </p:nvSpPr>
        <p:spPr>
          <a:xfrm>
            <a:off x="8714349" y="2321280"/>
            <a:ext cx="1620161"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9: https://business.optum.com/en/data-analytics/life-">
            <a:hlinkClick r:id="rId4"/>
          </p:cNvPr>
          <p:cNvSpPr/>
          <p:nvPr/>
        </p:nvSpPr>
        <p:spPr>
          <a:xfrm>
            <a:off x="10409922" y="2321280"/>
            <a:ext cx="1107162"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9: https://business.optum.com/en/data-analytics/life-">
            <a:hlinkClick r:id="rId4"/>
          </p:cNvPr>
          <p:cNvSpPr/>
          <p:nvPr/>
        </p:nvSpPr>
        <p:spPr>
          <a:xfrm>
            <a:off x="8712545" y="2431084"/>
            <a:ext cx="63628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860560"/>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9: https://business.optum.com/en/data-analytics/life-">
            <a:hlinkClick r:id="rId4"/>
          </p:cNvPr>
          <p:cNvSpPr/>
          <p:nvPr/>
        </p:nvSpPr>
        <p:spPr>
          <a:xfrm>
            <a:off x="8710031" y="2796120"/>
            <a:ext cx="1042012" cy="10980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218114"/>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9: https://business.optum.com/en/data-analytics/life-">
            <a:hlinkClick r:id="rId7"/>
          </p:cNvPr>
          <p:cNvSpPr/>
          <p:nvPr/>
        </p:nvSpPr>
        <p:spPr>
          <a:xfrm>
            <a:off x="9109264" y="4221353"/>
            <a:ext cx="333892"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9: https://business.optum.com/en/data-analytics/life-">
            <a:hlinkClick r:id="rId8"/>
          </p:cNvPr>
          <p:cNvSpPr/>
          <p:nvPr/>
        </p:nvSpPr>
        <p:spPr>
          <a:xfrm>
            <a:off x="10594972" y="4218114"/>
            <a:ext cx="88972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9: https://business.optum.com/en/data-analytics/life-">
            <a:hlinkClick r:id="rId9"/>
          </p:cNvPr>
          <p:cNvSpPr/>
          <p:nvPr/>
        </p:nvSpPr>
        <p:spPr>
          <a:xfrm>
            <a:off x="8712901" y="4353839"/>
            <a:ext cx="2408556"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EVIDENCE BOUNDARY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EVIDENCE BOUNDARY</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Norstella’s Atlas Patient Analytics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METHODOLOGY NOTE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2" name="slide 4 — india reconciliation"/>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INDIA RECONCILIATION</a:t>
            </a:r>
            <a:endParaRPr lang="en-US" sz="1000" dirty="0"/>
          </a:p>
        </p:txBody>
      </p:sp>
      <p:sp>
        <p:nvSpPr>
          <p:cNvPr id="14" name="Text 12"/>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Of 37 screened companies, 36 qualify as direct/specialized comparators in at least one of the five domains;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00" dirty="0"/>
          </a:p>
        </p:txBody>
      </p:sp>
      <p:sp>
        <p:nvSpPr>
          <p:cNvPr id="15" name="slide 4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EVIDENCE BOUNDARY</a:t>
            </a:r>
            <a:endParaRPr lang="en-US" sz="1000" dirty="0"/>
          </a:p>
        </p:txBody>
      </p:sp>
      <p:sp>
        <p:nvSpPr>
          <p:cNvPr id="17" name="Text 15"/>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8052816"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8235696"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EVIDENCE BOUNDARY</a:t>
            </a:r>
            <a:endParaRPr lang="en-US" sz="1000" dirty="0"/>
          </a:p>
        </p:txBody>
      </p:sp>
      <p:sp>
        <p:nvSpPr>
          <p:cNvPr id="20" name="Text 18"/>
          <p:cNvSpPr txBox="1"/>
          <p:nvPr/>
        </p:nvSpPr>
        <p:spPr>
          <a:xfrm>
            <a:off x="8235696"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3" name="slide 6 — evidence boundary"/>
          <p:cNvSpPr/>
          <p:nvPr/>
        </p:nvSpPr>
        <p:spPr>
          <a:xfrm>
            <a:off x="548640"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EVIDENCE BOUNDARY</a:t>
            </a:r>
            <a:endParaRPr lang="en-US" sz="1000" dirty="0"/>
          </a:p>
        </p:txBody>
      </p:sp>
      <p:sp>
        <p:nvSpPr>
          <p:cNvPr id="5" name="Text 3"/>
          <p:cNvSpPr txBox="1"/>
          <p:nvPr/>
        </p:nvSpPr>
        <p:spPr>
          <a:xfrm>
            <a:off x="731520"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
        <p:nvSpPr>
          <p:cNvPr id="6" name="slide 7 — evidence boundary"/>
          <p:cNvSpPr/>
          <p:nvPr/>
        </p:nvSpPr>
        <p:spPr>
          <a:xfrm>
            <a:off x="4300728"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EVIDENCE BOUNDARY</a:t>
            </a:r>
            <a:endParaRPr lang="en-US" sz="1000" dirty="0"/>
          </a:p>
        </p:txBody>
      </p:sp>
      <p:sp>
        <p:nvSpPr>
          <p:cNvPr id="8" name="Text 6"/>
          <p:cNvSpPr txBox="1"/>
          <p:nvPr/>
        </p:nvSpPr>
        <p:spPr>
          <a:xfrm>
            <a:off x="4483608"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8052816"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EVIDENCE BOUNDARY</a:t>
            </a:r>
            <a:endParaRPr lang="en-US" sz="1000" dirty="0"/>
          </a:p>
        </p:txBody>
      </p:sp>
      <p:sp>
        <p:nvSpPr>
          <p:cNvPr id="11" name="Text 9"/>
          <p:cNvSpPr txBox="1"/>
          <p:nvPr/>
        </p:nvSpPr>
        <p:spPr>
          <a:xfrm>
            <a:off x="8235696"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548640"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731520"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4300728"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EVIDENCE BOUNDARY</a:t>
            </a:r>
            <a:endParaRPr lang="en-US" sz="1000" dirty="0"/>
          </a:p>
        </p:txBody>
      </p:sp>
      <p:sp>
        <p:nvSpPr>
          <p:cNvPr id="17" name="Text 15"/>
          <p:cNvSpPr txBox="1"/>
          <p:nvPr/>
        </p:nvSpPr>
        <p:spPr>
          <a:xfrm>
            <a:off x="4483608"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LLM providers. The three approaches are neither mutually exclusive nor predictions of future competition. They do not establish that LLM providers caused the recent RWE launch cluster, are displacing established vendors, or expose an Optum capability gap. Not all LLM provider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8058912"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8241792"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8241792"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