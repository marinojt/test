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305210918114143"/>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linkedin.com/in/joseph-marino-995651183/" TargetMode="External"/><Relationship Id="rId3" Type="http://schemas.openxmlformats.org/officeDocument/2006/relationships/hyperlink" Target="mailto:marinojoe@gmail.com" TargetMode="Externa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 Id="rId4" Type="http://schemas.openxmlformats.org/officeDocument/2006/relationships/hyperlink" Target="https://www.komodohealth.com/product/marmot/" TargetMode="External"/><Relationship Id="rId5" Type="http://schemas.openxmlformats.org/officeDocument/2006/relationships/hyperlink" Target="https://www.komodohealth.com/press/komodo-health-unveils-new-generative-ai-offerings-to-enable-real-time-insights-across-330-million-patient-journeys/"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www.tempus.com/solutions/lens/" TargetMode="External"/><Relationship Id="rId9" Type="http://schemas.openxmlformats.org/officeDocument/2006/relationships/hyperlink" Target="https://business.optum.com/en/data-analytics/life-sciences/heor/exploratory-analysi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www.iqvia.com/solutions/commercialization/iqvia-commercial-agentic-ai" TargetMode="External"/><Relationship Id="rId12" Type="http://schemas.openxmlformats.org/officeDocument/2006/relationships/hyperlink" Target="https://zaidyn.zs.com/products/zaidyn-commercial/conversational-ai" TargetMode="External"/><Relationship Id="rId13" Type="http://schemas.openxmlformats.org/officeDocument/2006/relationships/hyperlink" Target="https://trinitylifesciences.com/products/insightsedge-digital-twins/" TargetMode="External"/><Relationship Id="rId14" Type="http://schemas.openxmlformats.org/officeDocument/2006/relationships/hyperlink" Target="https://business.optum.com/en/data-analytics/life-sciences/real-world-data/market-clarity-data.html" TargetMode="External"/><Relationship Id="rId15" Type="http://schemas.openxmlformats.org/officeDocument/2006/relationships/hyperlink" Target="https://www.iqvia.com/solutions/innovative-models/artificial-intelligence-and-machine-learning/iqvia-ai-platform" TargetMode="External"/><Relationship Id="rId16" Type="http://schemas.openxmlformats.org/officeDocument/2006/relationships/hyperlink" Target="https://zaidyn.zs.com/products/zaidyn-medical/conversational-ai-for-medical" TargetMode="External"/><Relationship Id="rId17" Type="http://schemas.openxmlformats.org/officeDocument/2006/relationships/hyperlink" Target="https://platform.veevavault.help/en/lr/950642" TargetMode="External"/><Relationship Id="rId18" Type="http://schemas.openxmlformats.org/officeDocument/2006/relationships/hyperlink" Target="https://trinetx.com/solutions/trinetx-live/terrain/" TargetMode="External"/><Relationship Id="rId19" Type="http://schemas.openxmlformats.org/officeDocument/2006/relationships/hyperlink" Target="https://business.optum.com/en/data-analytics/life-sciences/clinical-trial-design.html" TargetMode="External"/><Relationship Id="rId20" Type="http://schemas.openxmlformats.org/officeDocument/2006/relationships/hyperlink" Target="https://www.navlin.com/products/tender" TargetMode="External"/><Relationship Id="rId21" Type="http://schemas.openxmlformats.org/officeDocument/2006/relationships/hyperlink" Target="https://business.optum.com/en/data-analytics/life-sciences/heor.html" TargetMode="External"/><Relationship Id="rId22" Type="http://schemas.openxmlformats.org/officeDocument/2006/relationships/hyperlink" Target="https://business.optum.com/en/data-analytics/life-sciences/evidence-engine.html" TargetMode="Externa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5" Type="http://schemas.openxmlformats.org/officeDocument/2006/relationships/hyperlink" Target="https://business.optum.com/en/data-analytics/life-sciences/real-world-data/market-clarity-data.html" TargetMode="External"/><Relationship Id="rId6" Type="http://schemas.openxmlformats.org/officeDocument/2006/relationships/hyperlink" Target="https://business.optum.com/en/data-analytics/life-sciences/real-world-data/claims-data.html" TargetMode="External"/><Relationship Id="rId7" Type="http://schemas.openxmlformats.org/officeDocument/2006/relationships/hyperlink" Target="https://business.optum.com/en/data-analytics/life-sciences/real-world-data/enriched-clinical-data.html"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real-world-data/clinical-notes.html" TargetMode="External"/><Relationship Id="rId14" Type="http://schemas.openxmlformats.org/officeDocument/2006/relationships/hyperlink" Target="https://business.optum.com/en/data-analytics/life-sciences/clinical-trial-design.html"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7" Type="http://schemas.openxmlformats.org/officeDocument/2006/relationships/hyperlink" Target="https://business.optum.com/en/data-analytics/life-sciences/epidemiology-consulting.html" TargetMode="External"/><Relationship Id="rId18" Type="http://schemas.openxmlformats.org/officeDocument/2006/relationships/hyperlink" Target="https://healthverity.com/exos/" TargetMode="External"/><Relationship Id="rId19" Type="http://schemas.openxmlformats.org/officeDocument/2006/relationships/hyperlink" Target="https://www.norstella.com/press-releases/panalgo-revolutionizes-real-world-data-launch-linqnotes-ella-ai/" TargetMode="External"/><Relationship Id="rId20" Type="http://schemas.openxmlformats.org/officeDocument/2006/relationships/hyperlink" Target="https://www.prnewswire.com/news-releases/truven-launches-marketscan-snapshot-an-ai-powered-tool-to-evaluate-fit-for-purpose-real-world-data-in-minutes-302892187.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5" Type="http://schemas.openxmlformats.org/officeDocument/2006/relationships/hyperlink" Target="https://business.optum.com/en/data-analytics/life-sciences/real-world-data/enriched-clinical-data.html" TargetMode="External"/><Relationship Id="rId6" Type="http://schemas.openxmlformats.org/officeDocument/2006/relationships/hyperlink" Target="https://business.optum.com/en/data-analytics/life-sciences/clinicogenomics.html"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business.optum.com/en/data-analytics/life-sciences/real-world-data/clinical-note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mdclone.com/meet-copilo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evidence-engine.html" TargetMode="External"/><Relationship Id="rId14" Type="http://schemas.openxmlformats.org/officeDocument/2006/relationships/hyperlink" Target="https://www.prnewswire.com/news-releases/verana-health-introduces-new-ai-agents-to-expedite-and-streamline-rd-302888122.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6" Type="http://schemas.openxmlformats.org/officeDocument/2006/relationships/hyperlink" Target="https://business.optum.com/en/data-analytics/life-sciences/real-world-data/market-clarity-data.html"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 Id="rId11" Type="http://schemas.openxmlformats.org/officeDocument/2006/relationships/hyperlink" Target="https://www.iqvia.com/solutions/commercialization/commercial-analytics/omnichannel-engagement-and-insights/field-force-agent" TargetMode="External"/><Relationship Id="rId12" Type="http://schemas.openxmlformats.org/officeDocument/2006/relationships/hyperlink" Target="https://trinitylifesciences.com/company/press-releases/trinity-launches-insightsedge-digital-twin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4" Type="http://schemas.openxmlformats.org/officeDocument/2006/relationships/hyperlink" Target="https://business.optum.com/en/data-analytics/life-sciences/epidemiology-consulting.html"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7" Type="http://schemas.openxmlformats.org/officeDocument/2006/relationships/hyperlink" Target="https://business.optum.com/en/data-analytics/life-sciences/real-world-data/market-clarity-data.html" TargetMode="External"/><Relationship Id="rId8" Type="http://schemas.openxmlformats.org/officeDocument/2006/relationships/hyperlink" Target="https://platform.veevavault.help/en/lr/950642" TargetMode="External"/><Relationship Id="rId9" Type="http://schemas.openxmlformats.org/officeDocument/2006/relationships/hyperlink" Target="https://zaidyn.zs.com/products/zaidyn-medical/patient-outcome-intelligence" TargetMode="External"/><Relationship Id="rId10" Type="http://schemas.openxmlformats.org/officeDocument/2006/relationships/hyperlink" Target="https://www.iqvia.com/blogs/2025/12/introducing-iqvia-med-r1-deep-research-agent"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trinetx.com/solutions/trinetx-live/terrain/" TargetMode="External"/><Relationship Id="rId4" Type="http://schemas.openxmlformats.org/officeDocument/2006/relationships/hyperlink" Target="https://business.optum.com/en/data-analytics/life-sciences/clinical-trial-design.html" TargetMode="External"/><Relationship Id="rId5" Type="http://schemas.openxmlformats.org/officeDocument/2006/relationships/hyperlink" Target="https://cn.taimei.com/index/product/id/41" TargetMode="External"/><Relationship Id="rId6" Type="http://schemas.openxmlformats.org/officeDocument/2006/relationships/hyperlink" Target="https://www.navlin.com/products/tender" TargetMode="External"/><Relationship Id="rId7" Type="http://schemas.openxmlformats.org/officeDocument/2006/relationships/hyperlink" Target="https://business.optum.com/en/data-analytics/life-sciences/heor.html" TargetMode="External"/><Relationship Id="rId8" Type="http://schemas.openxmlformats.org/officeDocument/2006/relationships/hyperlink" Target="https://business.optum.com/en/data-analytics/life-sciences/evidence-engine.html" TargetMode="External"/><Relationship Id="rId9" Type="http://schemas.openxmlformats.org/officeDocument/2006/relationships/hyperlink" Target="https://business.optum.com/en/data-analytics/life-sciences/value-based-contracts.html"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4" Type="http://schemas.openxmlformats.org/officeDocument/2006/relationships/hyperlink" Target="https://www.anthropic.com/news/claude-for-life-sciences" TargetMode="External"/><Relationship Id="rId5" Type="http://schemas.openxmlformats.org/officeDocument/2006/relationships/hyperlink" Target="https://www.anthropic.com/news/healthcare-life-sciences" TargetMode="External"/><Relationship Id="rId6" Type="http://schemas.openxmlformats.org/officeDocument/2006/relationships/hyperlink" Target="https://www.datavant.com/blog/how-ai-is-powering-smarter-privacy-preserving-data-discovery-for-life-sciences" TargetMode="External"/><Relationship Id="rId7" Type="http://schemas.openxmlformats.org/officeDocument/2006/relationships/hyperlink" Target="https://openai.com/index/introducing-gpt-rosalind/" TargetMode="External"/><Relationship Id="rId8" Type="http://schemas.openxmlformats.org/officeDocument/2006/relationships/hyperlink" Target="https://cohere.com/blog/cohere-acquires-reliant-ai-expand-sovereign-enterprise-a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051560"/>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1463040"/>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240280"/>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5" name="domain chip RWE"/>
          <p:cNvSpPr/>
          <p:nvPr/>
        </p:nvSpPr>
        <p:spPr>
          <a:xfrm>
            <a:off x="822960" y="3063240"/>
            <a:ext cx="507491"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RWE</a:t>
            </a:r>
          </a:p>
        </p:txBody>
      </p:sp>
      <p:sp>
        <p:nvSpPr>
          <p:cNvPr id="6" name="domain chip Commercial Intelligence"/>
          <p:cNvSpPr/>
          <p:nvPr/>
        </p:nvSpPr>
        <p:spPr>
          <a:xfrm>
            <a:off x="1458468" y="3063240"/>
            <a:ext cx="206197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Commercial Intelligence</a:t>
            </a:r>
          </a:p>
        </p:txBody>
      </p:sp>
      <p:sp>
        <p:nvSpPr>
          <p:cNvPr id="7" name="domain chip Medical / Regulatory Research"/>
          <p:cNvSpPr/>
          <p:nvPr/>
        </p:nvSpPr>
        <p:spPr>
          <a:xfrm>
            <a:off x="3648456" y="3063240"/>
            <a:ext cx="2528316"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Medical / Regulatory Research</a:t>
            </a:r>
          </a:p>
        </p:txBody>
      </p:sp>
      <p:sp>
        <p:nvSpPr>
          <p:cNvPr id="8" name="domain chip Clinical Trials"/>
          <p:cNvSpPr/>
          <p:nvPr/>
        </p:nvSpPr>
        <p:spPr>
          <a:xfrm>
            <a:off x="6304788" y="3063240"/>
            <a:ext cx="1440180"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Clinical Trials</a:t>
            </a:r>
          </a:p>
        </p:txBody>
      </p:sp>
      <p:sp>
        <p:nvSpPr>
          <p:cNvPr id="9" name="domain chip Market Access"/>
          <p:cNvSpPr/>
          <p:nvPr/>
        </p:nvSpPr>
        <p:spPr>
          <a:xfrm>
            <a:off x="7872984" y="3063240"/>
            <a:ext cx="128473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Market Access</a:t>
            </a:r>
          </a:p>
        </p:txBody>
      </p:sp>
      <p:sp>
        <p:nvSpPr>
          <p:cNvPr id="10" name="cover scope"/>
          <p:cNvSpPr txBox="1"/>
          <p:nvPr/>
        </p:nvSpPr>
        <p:spPr>
          <a:xfrm>
            <a:off x="822960" y="3584448"/>
            <a:ext cx="10515600" cy="274320"/>
          </a:xfrm>
          <a:prstGeom prst="rect">
            <a:avLst/>
          </a:prstGeom>
          <a:noFill/>
        </p:spPr>
        <p:txBody>
          <a:bodyPr wrap="square" lIns="0" rIns="0" tIns="0" bIns="0" anchor="t">
            <a:spAutoFit/>
          </a:bodyPr>
          <a:lstStyle/>
          <a:p>
            <a:pPr algn="l"/>
            <a:r>
              <a:rPr sz="1300" b="0">
                <a:solidFill>
                  <a:srgbClr val="4B4D4F"/>
                </a:solidFill>
                <a:latin typeface="Arial"/>
              </a:rPr>
              <a:t>Outside-in assessment of publicly marketed conversational AI across five Optum LS-relevant business domains</a:t>
            </a:r>
          </a:p>
        </p:txBody>
      </p:sp>
      <p:cxnSp>
        <p:nvCxnSpPr>
          <p:cNvPr id="11" name="Connector 10"/>
          <p:cNvCxnSpPr/>
          <p:nvPr/>
        </p:nvCxnSpPr>
        <p:spPr>
          <a:xfrm>
            <a:off x="822960" y="4343400"/>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526280"/>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846320"/>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13, 2026</a:t>
            </a:r>
          </a:p>
        </p:txBody>
      </p:sp>
      <p:sp>
        <p:nvSpPr>
          <p:cNvPr id="14" name="cover disclaimer"/>
          <p:cNvSpPr txBox="1"/>
          <p:nvPr/>
        </p:nvSpPr>
        <p:spPr>
          <a:xfrm>
            <a:off x="822960" y="5715000"/>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
        <p:nvSpPr>
          <p:cNvPr id="15" name="cover contact"/>
          <p:cNvSpPr txBox="1"/>
          <p:nvPr/>
        </p:nvSpPr>
        <p:spPr>
          <a:xfrm>
            <a:off x="822960" y="5138928"/>
            <a:ext cx="8229600" cy="274320"/>
          </a:xfrm>
          <a:prstGeom prst="rect">
            <a:avLst/>
          </a:prstGeom>
          <a:noFill/>
        </p:spPr>
        <p:txBody>
          <a:bodyPr wrap="square" lIns="0" rIns="0" tIns="0" bIns="0">
            <a:spAutoFit/>
          </a:bodyPr>
          <a:lstStyle/>
          <a:p>
            <a:pPr algn="l"/>
            <a:r>
              <a:rPr sz="1200" u="none">
                <a:solidFill>
                  <a:srgbClr val="002677"/>
                </a:solidFill>
                <a:latin typeface="Arial"/>
                <a:hlinkClick r:id="rId2"/>
              </a:rPr>
              <a:t>linkedin.com/in/joseph-marino-995651183</a:t>
            </a:r>
            <a:r>
              <a:rPr sz="1200">
                <a:solidFill>
                  <a:srgbClr val="7A7C7E"/>
                </a:solidFill>
                <a:latin typeface="Arial"/>
              </a:rPr>
              <a:t>  ·  </a:t>
            </a:r>
            <a:r>
              <a:rPr sz="1200" u="none">
                <a:solidFill>
                  <a:srgbClr val="002677"/>
                </a:solidFill>
                <a:latin typeface="Arial"/>
                <a:hlinkClick r:id="rId3"/>
              </a:rPr>
              <a:t>marinojoe@gmail.com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a:t>
            </a:r>
            <a:br/>
            <a:r>
              <a:rPr lang="en-US" sz="2200" b="1" dirty="0">
                <a:solidFill>
                  <a:schemeClr val="accent1"/>
                </a:solidFill>
              </a:rPr>
              <a:t>new ways to access information, analytics and decision support</a:t>
            </a:r>
            <a:endParaRPr lang="en-US" sz="2200" dirty="0"/>
          </a:p>
        </p:txBody>
      </p:sp>
      <p:sp>
        <p:nvSpPr>
          <p:cNvPr id="4" name="lens card"/>
          <p:cNvSpPr/>
          <p:nvPr/>
        </p:nvSpPr>
        <p:spPr>
          <a:xfrm>
            <a:off x="548640" y="1536192"/>
            <a:ext cx="11091672" cy="153619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 name="icon circle"/>
          <p:cNvSpPr/>
          <p:nvPr/>
        </p:nvSpPr>
        <p:spPr>
          <a:xfrm>
            <a:off x="777240" y="1737360"/>
            <a:ext cx="475488" cy="475488"/>
          </a:xfrm>
          <a:prstGeom prst="ellipse">
            <a:avLst/>
          </a:prstGeom>
          <a:solidFill>
            <a:schemeClr val="accent5"/>
          </a:solidFill>
          <a:ln/>
        </p:spPr>
        <p:txBody>
          <a:bodyPr/>
          <a:p/>
        </p:txBody>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This study is an assessment of </a:t>
            </a:r>
            <a:r>
              <a:rPr lang="en-US" sz="1100" b="1" i="1" dirty="0">
                <a:solidFill>
                  <a:schemeClr val="tx1"/>
                </a:solidFill>
              </a:rPr>
              <a:t>publicly-marketed</a:t>
            </a:r>
            <a:r>
              <a:rPr lang="en-US" sz="1100" b="1" dirty="0">
                <a:solidFill>
                  <a:schemeClr val="tx1"/>
                </a:solidFill>
              </a:rPr>
              <a:t> conversational AI products across five Optum Life Sciences-relevant business domains:</a:t>
            </a:r>
            <a:endParaRPr lang="en-US" sz="1100" dirty="0"/>
          </a:p>
        </p:txBody>
      </p:sp>
      <p:sp>
        <p:nvSpPr>
          <p:cNvPr id="9" name="workflow chip RWE"/>
          <p:cNvSpPr/>
          <p:nvPr/>
        </p:nvSpPr>
        <p:spPr>
          <a:xfrm>
            <a:off x="1417320" y="2322576"/>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1417320" y="2322576"/>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1931487" y="2322576"/>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1931487" y="2322576"/>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3800795" y="2322576"/>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3800795" y="2322576"/>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6076645" y="2322576"/>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6076645" y="2322576"/>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7403897" y="2322576"/>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7769657" y="2322576"/>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7769657" y="2322576"/>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The U.S. is the primary competitive focus; selected international offerings provide context; Optum LS anchors the comparisons.</a:t>
            </a:r>
            <a:endParaRPr lang="en-US" sz="1100" dirty="0"/>
          </a:p>
        </p:txBody>
      </p:sp>
      <p:sp>
        <p:nvSpPr>
          <p:cNvPr id="21" name="key findings card"/>
          <p:cNvSpPr/>
          <p:nvPr/>
        </p:nvSpPr>
        <p:spPr>
          <a:xfrm>
            <a:off x="548640"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2" name="icon circle"/>
          <p:cNvSpPr/>
          <p:nvPr/>
        </p:nvSpPr>
        <p:spPr>
          <a:xfrm>
            <a:off x="777240" y="3419856"/>
            <a:ext cx="457200" cy="457200"/>
          </a:xfrm>
          <a:prstGeom prst="ellipse">
            <a:avLst/>
          </a:prstGeom>
          <a:solidFill>
            <a:schemeClr val="accent5"/>
          </a:solidFill>
          <a:ln/>
        </p:spPr>
        <p:txBody>
          <a:bodyPr/>
          <a:p/>
        </p:txBody>
      </p:sp>
      <p:pic>
        <p:nvPicPr>
          <p:cNvPr id="23" name="icon MdInsights" descr="preencoded.png">    </p:cNvPr>
          <p:cNvPicPr>
            <a:picLocks noChangeAspect="1"/>
          </p:cNvPicPr>
          <p:nvPr/>
        </p:nvPicPr>
        <p:blipFill>
          <a:blip r:embed="rId2"/>
          <a:stretch>
            <a:fillRect/>
          </a:stretch>
        </p:blipFill>
        <p:spPr>
          <a:xfrm>
            <a:off x="877824" y="3520440"/>
            <a:ext cx="256032" cy="256032"/>
          </a:xfrm>
          <a:prstGeom prst="rect">
            <a:avLst/>
          </a:prstGeom>
        </p:spPr>
      </p:pic>
      <p:sp>
        <p:nvSpPr>
          <p:cNvPr id="24" name="card label"/>
          <p:cNvSpPr txBox="1"/>
          <p:nvPr/>
        </p:nvSpPr>
        <p:spPr>
          <a:xfrm>
            <a:off x="1353312"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4069080"/>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19</a:t>
            </a:r>
            <a:endParaRPr lang="en-US" sz="3400" dirty="0"/>
          </a:p>
        </p:txBody>
      </p:sp>
      <p:sp>
        <p:nvSpPr>
          <p:cNvPr id="26" name="Text 22"/>
          <p:cNvSpPr txBox="1"/>
          <p:nvPr/>
        </p:nvSpPr>
        <p:spPr>
          <a:xfrm>
            <a:off x="1444752" y="41330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a:t>
            </a:r>
            <a:r>
              <a:rPr lang="en-US" sz="1050" b="1" dirty="0">
                <a:solidFill>
                  <a:schemeClr val="tx1"/>
                </a:solidFill>
              </a:rPr>
              <a:t>19 conversational AI offerings</a:t>
            </a:r>
            <a:r>
              <a:rPr lang="en-US" sz="1050" dirty="0">
                <a:solidFill>
                  <a:schemeClr val="tx1"/>
                </a:solidFill>
              </a:rPr>
              <a:t> across five business domains, </a:t>
            </a:r>
            <a:r>
              <a:rPr lang="en-US" sz="1050" b="1" dirty="0">
                <a:solidFill>
                  <a:schemeClr val="tx1"/>
                </a:solidFill>
              </a:rPr>
              <a:t>concentrated in RWE and Commercial Intelligence</a:t>
            </a:r>
            <a:r>
              <a:rPr lang="en-US" sz="1050" dirty="0">
                <a:solidFill>
                  <a:schemeClr val="tx1"/>
                </a:solidFill>
              </a:rPr>
              <a:t>.</a:t>
            </a:r>
            <a:endParaRPr lang="en-US" sz="1050" dirty="0"/>
          </a:p>
        </p:txBody>
      </p:sp>
      <p:sp>
        <p:nvSpPr>
          <p:cNvPr id="27" name="Shape 23"/>
          <p:cNvSpPr/>
          <p:nvPr/>
        </p:nvSpPr>
        <p:spPr>
          <a:xfrm>
            <a:off x="777240" y="5010912"/>
            <a:ext cx="3118104" cy="0"/>
          </a:xfrm>
          <a:prstGeom prst="line">
            <a:avLst/>
          </a:prstGeom>
          <a:noFill/>
          <a:ln w="9525">
            <a:solidFill>
              <a:schemeClr val="accent3"/>
            </a:solidFill>
            <a:prstDash val="solid"/>
          </a:ln>
        </p:spPr>
        <p:txBody>
          <a:bodyPr/>
          <a:p/>
        </p:txBody>
      </p:sp>
      <p:sp>
        <p:nvSpPr>
          <p:cNvPr id="28" name="hero 10"/>
          <p:cNvSpPr txBox="1"/>
          <p:nvPr/>
        </p:nvSpPr>
        <p:spPr>
          <a:xfrm>
            <a:off x="777240" y="5056632"/>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9</a:t>
            </a:r>
            <a:endParaRPr lang="en-US" sz="3400" dirty="0"/>
          </a:p>
        </p:txBody>
      </p:sp>
      <p:sp>
        <p:nvSpPr>
          <p:cNvPr id="29" name="Text 25"/>
          <p:cNvSpPr txBox="1"/>
          <p:nvPr/>
        </p:nvSpPr>
        <p:spPr>
          <a:xfrm>
            <a:off x="1444752" y="5120640"/>
            <a:ext cx="2478024" cy="749808"/>
          </a:xfrm>
          <a:prstGeom prst="rect">
            <a:avLst/>
          </a:prstGeom>
          <a:noFill/>
          <a:ln/>
        </p:spPr>
        <p:txBody>
          <a:bodyPr wrap="square" lIns="0" tIns="0" rIns="0" bIns="0" rtlCol="0" anchor="t"/>
          <a:lstStyle/>
          <a:p>
            <a:pPr indent="0" marL="0">
              <a:buNone/>
            </a:pPr>
            <a:r>
              <a:rPr lang="en-US" sz="1050" b="1" dirty="0">
                <a:solidFill>
                  <a:schemeClr val="tx1"/>
                </a:solidFill>
              </a:rPr>
              <a:t>Nine selected international offerings</a:t>
            </a:r>
            <a:r>
              <a:rPr lang="en-US" sz="1050" dirty="0">
                <a:solidFill>
                  <a:schemeClr val="tx1"/>
                </a:solidFill>
              </a:rPr>
              <a:t> show how vendors outside the U.S. position conversational interaction, concentrated in </a:t>
            </a:r>
            <a:r>
              <a:rPr lang="en-US" sz="1050" b="1" dirty="0">
                <a:solidFill>
                  <a:schemeClr val="tx1"/>
                </a:solidFill>
              </a:rPr>
              <a:t>RWE and Commercial Intelligence</a:t>
            </a:r>
            <a:r>
              <a:rPr lang="en-US" sz="1050" dirty="0">
                <a:solidFill>
                  <a:schemeClr val="tx1"/>
                </a:solidFill>
              </a:rPr>
              <a:t>.</a:t>
            </a:r>
            <a:endParaRPr lang="en-US" sz="1050" dirty="0"/>
          </a:p>
        </p:txBody>
      </p:sp>
      <p:sp>
        <p:nvSpPr>
          <p:cNvPr id="30" name="optum ls positioning card"/>
          <p:cNvSpPr/>
          <p:nvPr/>
        </p:nvSpPr>
        <p:spPr>
          <a:xfrm>
            <a:off x="4306824"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1" name="icon circle"/>
          <p:cNvSpPr/>
          <p:nvPr/>
        </p:nvSpPr>
        <p:spPr>
          <a:xfrm>
            <a:off x="4535424" y="3419856"/>
            <a:ext cx="457200" cy="457200"/>
          </a:xfrm>
          <a:prstGeom prst="ellipse">
            <a:avLst/>
          </a:prstGeom>
          <a:solidFill>
            <a:schemeClr val="accent5"/>
          </a:solidFill>
          <a:ln/>
        </p:spPr>
        <p:txBody>
          <a:bodyPr/>
          <a:p/>
        </p:txBody>
      </p:sp>
      <p:pic>
        <p:nvPicPr>
          <p:cNvPr id="32" name="icon MdOutlineLayers" descr="preencoded.png">    </p:cNvPr>
          <p:cNvPicPr>
            <a:picLocks noChangeAspect="1"/>
          </p:cNvPicPr>
          <p:nvPr/>
        </p:nvPicPr>
        <p:blipFill>
          <a:blip r:embed="rId3"/>
          <a:stretch>
            <a:fillRect/>
          </a:stretch>
        </p:blipFill>
        <p:spPr>
          <a:xfrm>
            <a:off x="4636008" y="3520440"/>
            <a:ext cx="256032" cy="256032"/>
          </a:xfrm>
          <a:prstGeom prst="rect">
            <a:avLst/>
          </a:prstGeom>
        </p:spPr>
      </p:pic>
      <p:sp>
        <p:nvSpPr>
          <p:cNvPr id="33" name="card label"/>
          <p:cNvSpPr txBox="1"/>
          <p:nvPr/>
        </p:nvSpPr>
        <p:spPr>
          <a:xfrm>
            <a:off x="5111496"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OPTUM LS POSITIONING</a:t>
            </a:r>
            <a:endParaRPr lang="en-US" sz="1300" dirty="0"/>
          </a:p>
        </p:txBody>
      </p:sp>
      <p:sp>
        <p:nvSpPr>
          <p:cNvPr id="34" name="Text 29"/>
          <p:cNvSpPr txBox="1"/>
          <p:nvPr/>
        </p:nvSpPr>
        <p:spPr>
          <a:xfrm>
            <a:off x="4535424" y="408736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6" name="icon circle"/>
          <p:cNvSpPr/>
          <p:nvPr/>
        </p:nvSpPr>
        <p:spPr>
          <a:xfrm>
            <a:off x="8293608" y="3419856"/>
            <a:ext cx="457200" cy="457200"/>
          </a:xfrm>
          <a:prstGeom prst="ellipse">
            <a:avLst/>
          </a:prstGeom>
          <a:solidFill>
            <a:schemeClr val="accent5"/>
          </a:solidFill>
          <a:ln/>
        </p:spPr>
        <p:txBody>
          <a:bodyPr/>
          <a:p/>
        </p:txBody>
      </p:sp>
      <p:pic>
        <p:nvPicPr>
          <p:cNvPr id="37" name="icon MdOutlineLightbulb" descr="preencoded.png">    </p:cNvPr>
          <p:cNvPicPr>
            <a:picLocks noChangeAspect="1"/>
          </p:cNvPicPr>
          <p:nvPr/>
        </p:nvPicPr>
        <p:blipFill>
          <a:blip r:embed="rId4"/>
          <a:stretch>
            <a:fillRect/>
          </a:stretch>
        </p:blipFill>
        <p:spPr>
          <a:xfrm>
            <a:off x="8394192" y="3520440"/>
            <a:ext cx="256032" cy="256032"/>
          </a:xfrm>
          <a:prstGeom prst="rect">
            <a:avLst/>
          </a:prstGeom>
        </p:spPr>
      </p:pic>
      <p:sp>
        <p:nvSpPr>
          <p:cNvPr id="38" name="card label"/>
          <p:cNvSpPr txBox="1"/>
          <p:nvPr/>
        </p:nvSpPr>
        <p:spPr>
          <a:xfrm>
            <a:off x="8869680"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408736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81888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 LS’s existing offerings?</a:t>
            </a:r>
            <a:endParaRPr lang="en-US" sz="14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product launches in RWE prompted a broader examination</a:t>
            </a:r>
            <a:br/>
            <a:r>
              <a:rPr lang="en-US" sz="2200" b="1" dirty="0">
                <a:solidFill>
                  <a:schemeClr val="accent1"/>
                </a:solidFill>
              </a:rPr>
              <a:t>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Tempus’s </a:t>
            </a:r>
            <a:r>
              <a:rPr lang="en-US" sz="1050" b="1" dirty="0" u="sng">
                <a:solidFill>
                  <a:srgbClr val="002677"/>
                </a:solidFill>
                <a:uFill>
                  <a:solidFill>
                    <a:srgbClr val="9AA8CC"/>
                  </a:solidFill>
                </a:uFill>
              </a:rPr>
              <a:t>Tempus One / Lens</a:t>
            </a:r>
            <a:r>
              <a:rPr lang="en-US" sz="1050" dirty="0">
                <a:solidFill>
                  <a:schemeClr val="tx1"/>
                </a:solidFill>
              </a:rPr>
              <a:t> — AI-assisted research and cohort exploration (February)</a:t>
            </a:r>
            <a:endParaRPr lang="en-US" sz="1050" dirty="0"/>
          </a:p>
          <a:p>
            <a:pPr indent="0" marL="0">
              <a:spcBef>
                <a:spcPts val="800"/>
              </a:spcBef>
              <a:buNone/>
            </a:pPr>
            <a:r>
              <a:rPr lang="en-US" sz="1050" dirty="0" u="sng">
                <a:solidFill>
                  <a:srgbClr val="002677"/>
                </a:solidFill>
                <a:uFill>
                  <a:solidFill>
                    <a:srgbClr val="9AA8CC"/>
                  </a:solidFill>
                </a:uFill>
              </a:rPr>
              <a:t>Komodo Health’s </a:t>
            </a:r>
            <a:r>
              <a:rPr lang="en-US" sz="1050" b="1" dirty="0" u="sng">
                <a:solidFill>
                  <a:srgbClr val="002677"/>
                </a:solidFill>
                <a:uFill>
                  <a:solidFill>
                    <a:srgbClr val="9AA8CC"/>
                  </a:solidFill>
                </a:uFill>
              </a:rPr>
              <a:t>MapAI</a:t>
            </a: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Komodo Health’s </a:t>
            </a:r>
            <a:r>
              <a:rPr lang="en-US" sz="1050" b="1" dirty="0" u="sng">
                <a:solidFill>
                  <a:srgbClr val="002677"/>
                </a:solidFill>
                <a:uFill>
                  <a:solidFill>
                    <a:srgbClr val="9AA8CC"/>
                  </a:solidFill>
                </a:uFill>
              </a:rPr>
              <a:t>Marmot</a:t>
            </a: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Truveta’s </a:t>
            </a:r>
            <a:r>
              <a:rPr lang="en-US" sz="1050" b="1" dirty="0" u="sng">
                <a:solidFill>
                  <a:srgbClr val="002677"/>
                </a:solidFill>
                <a:uFill>
                  <a:solidFill>
                    <a:srgbClr val="9AA8CC"/>
                  </a:solidFill>
                </a:uFill>
              </a:rPr>
              <a:t>Truveta Intelligence</a:t>
            </a:r>
            <a:r>
              <a:rPr lang="en-US" sz="1050" dirty="0">
                <a:solidFill>
                  <a:schemeClr val="tx1"/>
                </a:solidFill>
              </a:rPr>
              <a:t> — natural-language RWE research questions</a:t>
            </a:r>
            <a:endParaRPr lang="en-US" sz="1050" dirty="0"/>
          </a:p>
          <a:p>
            <a:pPr indent="0" marL="0">
              <a:spcBef>
                <a:spcPts val="800"/>
              </a:spcBef>
              <a:buNone/>
            </a:pPr>
            <a:r>
              <a:rPr lang="en-US" sz="1050" dirty="0" u="sng">
                <a:solidFill>
                  <a:srgbClr val="002677"/>
                </a:solidFill>
                <a:uFill>
                  <a:solidFill>
                    <a:srgbClr val="9AA8CC"/>
                  </a:solidFill>
                </a:uFill>
              </a:rPr>
              <a:t>Flatiron Health’s </a:t>
            </a:r>
            <a:r>
              <a:rPr lang="en-US" sz="1050" b="1" dirty="0" u="sng">
                <a:solidFill>
                  <a:srgbClr val="002677"/>
                </a:solidFill>
                <a:uFill>
                  <a:solidFill>
                    <a:srgbClr val="9AA8CC"/>
                  </a:solidFill>
                </a:uFill>
              </a:rPr>
              <a:t>Telescope</a:t>
            </a: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Verana Health’s </a:t>
            </a:r>
            <a:r>
              <a:rPr lang="en-US" sz="1050" b="1" dirty="0" u="sng">
                <a:solidFill>
                  <a:srgbClr val="002677"/>
                </a:solidFill>
                <a:uFill>
                  <a:solidFill>
                    <a:srgbClr val="9AA8CC"/>
                  </a:solidFill>
                </a:uFill>
              </a:rPr>
              <a:t>Agent Claire</a:t>
            </a:r>
            <a:r>
              <a:rPr lang="en-US" sz="1050" dirty="0">
                <a:solidFill>
                  <a:schemeClr val="tx1"/>
                </a:solidFill>
              </a:rPr>
              <a:t> — conversational specialty-data research</a:t>
            </a:r>
            <a:endParaRPr lang="en-US" sz="1050" dirty="0"/>
          </a:p>
          <a:p>
            <a:pPr indent="0" marL="0">
              <a:spcBef>
                <a:spcPts val="800"/>
              </a:spcBef>
              <a:buNone/>
            </a:pPr>
            <a:r>
              <a:rPr lang="en-US" sz="1050" dirty="0" u="sng">
                <a:solidFill>
                  <a:srgbClr val="002677"/>
                </a:solidFill>
                <a:uFill>
                  <a:solidFill>
                    <a:srgbClr val="9AA8CC"/>
                  </a:solidFill>
                </a:uFill>
              </a:rPr>
              <a:t>Norstella’s </a:t>
            </a:r>
            <a:r>
              <a:rPr lang="en-US" sz="1050" b="1" dirty="0" u="sng">
                <a:solidFill>
                  <a:srgbClr val="002677"/>
                </a:solidFill>
                <a:uFill>
                  <a:solidFill>
                    <a:srgbClr val="9AA8CC"/>
                  </a:solidFill>
                </a:uFill>
              </a:rPr>
              <a:t>Atlas Patient Analytics</a:t>
            </a: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a:t>
            </a:r>
            <a:endParaRPr lang="en-US" sz="1300" dirty="0"/>
          </a:p>
        </p:txBody>
      </p:sp>
      <p:sp>
        <p:nvSpPr>
          <p:cNvPr id="24" name="Text 22"/>
          <p:cNvSpPr txBox="1"/>
          <p:nvPr/>
        </p:nvSpPr>
        <p:spPr>
          <a:xfrm>
            <a:off x="749808" y="4867656"/>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LS?</a:t>
            </a:r>
            <a:endParaRPr lang="en-US" sz="1200" dirty="0"/>
          </a:p>
        </p:txBody>
      </p:sp>
      <p:sp>
        <p:nvSpPr>
          <p:cNvPr id="25" name="our research response card"/>
          <p:cNvSpPr/>
          <p:nvPr/>
        </p:nvSpPr>
        <p:spPr>
          <a:xfrm>
            <a:off x="6185916"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6387084"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OUR RESEARCH RESPONSE</a:t>
            </a:r>
            <a:endParaRPr lang="en-US" sz="1300" dirty="0"/>
          </a:p>
        </p:txBody>
      </p:sp>
      <p:sp>
        <p:nvSpPr>
          <p:cNvPr id="27" name="Text 25"/>
          <p:cNvSpPr txBox="1"/>
          <p:nvPr/>
        </p:nvSpPr>
        <p:spPr>
          <a:xfrm>
            <a:off x="6387084" y="4867656"/>
            <a:ext cx="5052060" cy="798576"/>
          </a:xfrm>
          <a:prstGeom prst="rect">
            <a:avLst/>
          </a:prstGeom>
          <a:noFill/>
          <a:ln/>
        </p:spPr>
        <p:txBody>
          <a:bodyPr wrap="square" lIns="0" tIns="0" rIns="0" bIns="0" rtlCol="0" anchor="t"/>
          <a:lstStyle/>
          <a:p>
            <a:pPr indent="0" marL="0">
              <a:buNone/>
            </a:pPr>
            <a:r>
              <a:rPr lang="en-US" sz="1200" b="1" dirty="0">
                <a:solidFill>
                  <a:schemeClr val="tx1"/>
                </a:solidFill>
              </a:rPr>
              <a:t>We examine publicly marketed conversational AI across five Optum LS-relevant business domains. Vendors’ product claims provide observable evidence for competitive positioning without access to internal product data.</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8"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28" name="Invisible source link 3: https://investors.tempus.com/node/6451/pdf">
            <a:hlinkClick r:id="rId3"/>
          </p:cNvPr>
          <p:cNvSpPr/>
          <p:nvPr/>
        </p:nvSpPr>
        <p:spPr>
          <a:xfrm>
            <a:off x="548284" y="2627342"/>
            <a:ext cx="1804859"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3: https://www.komodohealth.com/press/komodo-health-unveils-new-generative-ai-offerings-to-enable-real-time-insights-across-330-million-patient-journeys/">
            <a:hlinkClick r:id="rId4"/>
          </p:cNvPr>
          <p:cNvSpPr/>
          <p:nvPr/>
        </p:nvSpPr>
        <p:spPr>
          <a:xfrm>
            <a:off x="548284" y="3208380"/>
            <a:ext cx="143985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3: https://www.komodohealth.com/press/komodo-health-introduces-marmot-the-ai-built-to-accelerate-healthcare-innovation/">
            <a:hlinkClick r:id="rId5"/>
          </p:cNvPr>
          <p:cNvSpPr/>
          <p:nvPr/>
        </p:nvSpPr>
        <p:spPr>
          <a:xfrm>
            <a:off x="3321354" y="2627342"/>
            <a:ext cx="1522182"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3: https://www.truveta.com/blog/announcement/truveta-unveils-truveta-intelligence/">
            <a:hlinkClick r:id="rId6"/>
          </p:cNvPr>
          <p:cNvSpPr/>
          <p:nvPr/>
        </p:nvSpPr>
        <p:spPr>
          <a:xfrm>
            <a:off x="6094082" y="2627342"/>
            <a:ext cx="18095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3: https://resources.flatiron.com/press/flatiron-health-launches-flatiron-telescope-a-new-ai-platform-delivering-oncology-insights-in-minutes">
            <a:hlinkClick r:id="rId7"/>
          </p:cNvPr>
          <p:cNvSpPr/>
          <p:nvPr/>
        </p:nvSpPr>
        <p:spPr>
          <a:xfrm>
            <a:off x="6094082" y="3048537"/>
            <a:ext cx="162911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3: https://veranahealth.com/verana-health-introduces-new-ai-agents-to-expedite-and-streamline-rd-tasks/">
            <a:hlinkClick r:id="rId8"/>
          </p:cNvPr>
          <p:cNvSpPr/>
          <p:nvPr/>
        </p:nvSpPr>
        <p:spPr>
          <a:xfrm>
            <a:off x="8867165" y="2627342"/>
            <a:ext cx="174911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4" name="Invisible source link 3: https://www.norstella.com/press-releases/launches-real-world-data-agentic-platform-first-agent-replace-manual-cohort-building/">
            <a:hlinkClick r:id="rId9"/>
          </p:cNvPr>
          <p:cNvSpPr/>
          <p:nvPr/>
        </p:nvSpPr>
        <p:spPr>
          <a:xfrm>
            <a:off x="8867165" y="3048537"/>
            <a:ext cx="207459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Among U.S. competitors, conversational AI is most prominent in RWE;</a:t>
            </a:r>
            <a:br/>
            <a:r>
              <a:rPr lang="en-US" sz="2200" b="1" dirty="0">
                <a:solidFill>
                  <a:schemeClr val="accent1"/>
                </a:solidFill>
              </a:rPr>
              <a:t>Optum LS has relevant offerings in all five domains</a:t>
            </a:r>
            <a:endParaRPr lang="en-US" sz="2200" dirty="0"/>
          </a:p>
        </p:txBody>
      </p:sp>
      <p:sp>
        <p:nvSpPr>
          <p:cNvPr id="4" name="kpi tile 45"/>
          <p:cNvSpPr/>
          <p:nvPr/>
        </p:nvSpPr>
        <p:spPr>
          <a:xfrm>
            <a:off x="1945386" y="1517904"/>
            <a:ext cx="2939796" cy="548640"/>
          </a:xfrm>
          <a:prstGeom prst="rect">
            <a:avLst/>
          </a:prstGeom>
          <a:solidFill>
            <a:schemeClr val="accent5"/>
          </a:solidFill>
          <a:ln/>
        </p:spPr>
        <p:txBody>
          <a:bodyPr/>
          <a:p/>
        </p:txBody>
      </p:sp>
      <p:sp>
        <p:nvSpPr>
          <p:cNvPr id="5" name="Text 3"/>
          <p:cNvSpPr txBox="1"/>
          <p:nvPr/>
        </p:nvSpPr>
        <p:spPr>
          <a:xfrm>
            <a:off x="2201418" y="1517904"/>
            <a:ext cx="420624" cy="548640"/>
          </a:xfrm>
          <a:prstGeom prst="rect">
            <a:avLst/>
          </a:prstGeom>
          <a:noFill/>
          <a:ln/>
        </p:spPr>
        <p:txBody>
          <a:bodyPr wrap="square" lIns="0" tIns="0" rIns="0" bIns="0" rtlCol="0" anchor="ctr"/>
          <a:lstStyle/>
          <a:p>
            <a:pPr algn="r" indent="0" marL="0">
              <a:buNone/>
            </a:pPr>
            <a:r>
              <a:rPr lang="en-US" sz="2600" b="1" dirty="0">
                <a:solidFill>
                  <a:schemeClr val="accent1"/>
                </a:solidFill>
              </a:rPr>
              <a:t>43</a:t>
            </a:r>
            <a:endParaRPr lang="en-US" sz="2600" dirty="0"/>
          </a:p>
        </p:txBody>
      </p:sp>
      <p:sp>
        <p:nvSpPr>
          <p:cNvPr id="6" name="Text 4"/>
          <p:cNvSpPr txBox="1"/>
          <p:nvPr/>
        </p:nvSpPr>
        <p:spPr>
          <a:xfrm>
            <a:off x="2731770" y="1517904"/>
            <a:ext cx="1988820" cy="548640"/>
          </a:xfrm>
          <a:prstGeom prst="rect">
            <a:avLst/>
          </a:prstGeom>
          <a:noFill/>
          <a:ln/>
        </p:spPr>
        <p:txBody>
          <a:bodyPr wrap="square" lIns="0" tIns="0" rIns="0" bIns="0" rtlCol="0" anchor="ctr"/>
          <a:lstStyle/>
          <a:p>
            <a:pPr indent="0" marL="0">
              <a:buNone/>
            </a:pPr>
            <a:r>
              <a:rPr lang="en-US" sz="1100" b="1" dirty="0">
                <a:solidFill>
                  <a:schemeClr val="accent1"/>
                </a:solidFill>
              </a:rPr>
              <a:t>U.S. competitors screened</a:t>
            </a:r>
            <a:endParaRPr lang="en-US" sz="1100" dirty="0"/>
          </a:p>
        </p:txBody>
      </p:sp>
      <p:sp>
        <p:nvSpPr>
          <p:cNvPr id="7" name="flow arrow"/>
          <p:cNvSpPr/>
          <p:nvPr/>
        </p:nvSpPr>
        <p:spPr>
          <a:xfrm>
            <a:off x="5086350" y="1673352"/>
            <a:ext cx="420624" cy="237744"/>
          </a:xfrm>
          <a:prstGeom prst="rightArrow">
            <a:avLst/>
          </a:prstGeom>
          <a:solidFill>
            <a:schemeClr val="accent4"/>
          </a:solidFill>
          <a:ln/>
        </p:spPr>
        <p:txBody>
          <a:bodyPr/>
          <a:p/>
        </p:txBody>
      </p:sp>
      <p:sp>
        <p:nvSpPr>
          <p:cNvPr id="8" name="kpi tile 17"/>
          <p:cNvSpPr/>
          <p:nvPr/>
        </p:nvSpPr>
        <p:spPr>
          <a:xfrm>
            <a:off x="5708142" y="1517904"/>
            <a:ext cx="4535424" cy="548640"/>
          </a:xfrm>
          <a:prstGeom prst="rect">
            <a:avLst/>
          </a:prstGeom>
          <a:solidFill>
            <a:schemeClr val="accent5"/>
          </a:solidFill>
          <a:ln/>
        </p:spPr>
        <p:txBody>
          <a:bodyPr/>
          <a:p/>
        </p:txBody>
      </p:sp>
      <p:sp>
        <p:nvSpPr>
          <p:cNvPr id="9" name="Text 7"/>
          <p:cNvSpPr txBox="1"/>
          <p:nvPr/>
        </p:nvSpPr>
        <p:spPr>
          <a:xfrm>
            <a:off x="5964174" y="1517904"/>
            <a:ext cx="420624" cy="548640"/>
          </a:xfrm>
          <a:prstGeom prst="rect">
            <a:avLst/>
          </a:prstGeom>
          <a:noFill/>
          <a:ln/>
        </p:spPr>
        <p:txBody>
          <a:bodyPr wrap="square" lIns="0" tIns="0" rIns="0" bIns="0" rtlCol="0" anchor="ctr"/>
          <a:lstStyle/>
          <a:p>
            <a:pPr algn="r" indent="0" marL="0">
              <a:buNone/>
            </a:pPr>
            <a:r>
              <a:rPr lang="en-US" sz="2600" b="1" dirty="0">
                <a:solidFill>
                  <a:schemeClr val="accent2"/>
                </a:solidFill>
              </a:rPr>
              <a:t>15</a:t>
            </a:r>
            <a:endParaRPr lang="en-US" sz="2600" dirty="0"/>
          </a:p>
        </p:txBody>
      </p:sp>
      <p:sp>
        <p:nvSpPr>
          <p:cNvPr id="10" name="Text 8"/>
          <p:cNvSpPr txBox="1"/>
          <p:nvPr/>
        </p:nvSpPr>
        <p:spPr>
          <a:xfrm>
            <a:off x="6494526" y="1517904"/>
            <a:ext cx="3584448" cy="548640"/>
          </a:xfrm>
          <a:prstGeom prst="rect">
            <a:avLst/>
          </a:prstGeom>
          <a:noFill/>
          <a:ln/>
        </p:spPr>
        <p:txBody>
          <a:bodyPr wrap="square" lIns="0" tIns="0" rIns="0" bIns="0" rtlCol="0" anchor="ctr"/>
          <a:lstStyle/>
          <a:p>
            <a:pPr indent="0" marL="0">
              <a:buNone/>
            </a:pPr>
            <a:r>
              <a:rPr lang="en-US" sz="1100" b="1" dirty="0">
                <a:solidFill>
                  <a:schemeClr val="accent1"/>
                </a:solidFill>
              </a:rPr>
              <a:t>distinct competitors marketing conversational AI</a:t>
            </a:r>
            <a:endParaRPr lang="en-US" sz="1100" dirty="0"/>
          </a:p>
        </p:txBody>
      </p:sp>
      <p:sp>
        <p:nvSpPr>
          <p:cNvPr id="11" name="table header"/>
          <p:cNvSpPr/>
          <p:nvPr/>
        </p:nvSpPr>
        <p:spPr>
          <a:xfrm>
            <a:off x="548640" y="2286000"/>
            <a:ext cx="11091672" cy="457200"/>
          </a:xfrm>
          <a:prstGeom prst="rect">
            <a:avLst/>
          </a:prstGeom>
          <a:solidFill>
            <a:schemeClr val="accent1"/>
          </a:solidFill>
          <a:ln/>
        </p:spPr>
        <p:txBody>
          <a:bodyPr/>
          <a:p/>
        </p:txBody>
      </p:sp>
      <p:sp>
        <p:nvSpPr>
          <p:cNvPr id="12" name="Text 10"/>
          <p:cNvSpPr txBox="1"/>
          <p:nvPr/>
        </p:nvSpPr>
        <p:spPr>
          <a:xfrm>
            <a:off x="960120" y="2286000"/>
            <a:ext cx="2423160" cy="457200"/>
          </a:xfrm>
          <a:prstGeom prst="rect">
            <a:avLst/>
          </a:prstGeom>
          <a:noFill/>
          <a:ln/>
        </p:spPr>
        <p:txBody>
          <a:bodyPr wrap="square" lIns="0" tIns="0" rIns="0" bIns="0" rtlCol="0" anchor="ctr"/>
          <a:lstStyle/>
          <a:p>
            <a:pPr algn="ctr" indent="0" marL="0">
              <a:buNone/>
            </a:pPr>
            <a:r>
              <a:rPr lang="en-US" sz="900" b="1" dirty="0">
                <a:solidFill>
                  <a:schemeClr val="bg1"/>
                </a:solidFill>
              </a:rPr>
              <a:t>Competitors marketing conversational AI /</a:t>
            </a:r>
            <a:endParaRPr lang="en-US" sz="900" dirty="0"/>
          </a:p>
          <a:p>
            <a:pPr algn="ctr" indent="0" marL="0">
              <a:buNone/>
            </a:pPr>
            <a:r>
              <a:rPr lang="en-US" sz="900" b="1" dirty="0">
                <a:solidFill>
                  <a:schemeClr val="bg1"/>
                </a:solidFill>
              </a:rPr>
              <a:t>Total comparable competitors</a:t>
            </a:r>
            <a:endParaRPr lang="en-US" sz="900" dirty="0"/>
          </a:p>
        </p:txBody>
      </p:sp>
      <p:sp>
        <p:nvSpPr>
          <p:cNvPr id="13" name="Text 11"/>
          <p:cNvSpPr txBox="1"/>
          <p:nvPr/>
        </p:nvSpPr>
        <p:spPr>
          <a:xfrm>
            <a:off x="3474720" y="2286000"/>
            <a:ext cx="1965960" cy="457200"/>
          </a:xfrm>
          <a:prstGeom prst="rect">
            <a:avLst/>
          </a:prstGeom>
          <a:noFill/>
          <a:ln/>
        </p:spPr>
        <p:txBody>
          <a:bodyPr wrap="square" lIns="0" tIns="0" rIns="0" bIns="0" rtlCol="0" anchor="ctr"/>
          <a:lstStyle/>
          <a:p>
            <a:pPr algn="ctr" indent="0" marL="0">
              <a:buNone/>
            </a:pPr>
            <a:r>
              <a:rPr lang="en-US" sz="900" b="1" dirty="0">
                <a:solidFill>
                  <a:schemeClr val="bg1"/>
                </a:solidFill>
              </a:rPr>
              <a:t>Domain</a:t>
            </a:r>
            <a:endParaRPr lang="en-US" sz="900" dirty="0"/>
          </a:p>
        </p:txBody>
      </p:sp>
      <p:sp>
        <p:nvSpPr>
          <p:cNvPr id="14" name="Text 12"/>
          <p:cNvSpPr txBox="1"/>
          <p:nvPr/>
        </p:nvSpPr>
        <p:spPr>
          <a:xfrm>
            <a:off x="5715000" y="2286000"/>
            <a:ext cx="2880360" cy="457200"/>
          </a:xfrm>
          <a:prstGeom prst="rect">
            <a:avLst/>
          </a:prstGeom>
          <a:noFill/>
          <a:ln/>
        </p:spPr>
        <p:txBody>
          <a:bodyPr wrap="square" lIns="0" tIns="0" rIns="0" bIns="0" rtlCol="0" anchor="ctr"/>
          <a:lstStyle/>
          <a:p>
            <a:pPr algn="ctr" indent="0" marL="0">
              <a:buNone/>
            </a:pPr>
            <a:r>
              <a:rPr lang="en-US" sz="900" b="1" dirty="0">
                <a:solidFill>
                  <a:schemeClr val="bg1"/>
                </a:solidFill>
              </a:rPr>
              <a:t>Conversational AI offerings</a:t>
            </a:r>
            <a:endParaRPr lang="en-US" sz="900" dirty="0"/>
          </a:p>
        </p:txBody>
      </p:sp>
      <p:sp>
        <p:nvSpPr>
          <p:cNvPr id="15" name="Text 13"/>
          <p:cNvSpPr txBox="1"/>
          <p:nvPr/>
        </p:nvSpPr>
        <p:spPr>
          <a:xfrm>
            <a:off x="9052560" y="2286000"/>
            <a:ext cx="2103120" cy="457200"/>
          </a:xfrm>
          <a:prstGeom prst="rect">
            <a:avLst/>
          </a:prstGeom>
          <a:noFill/>
          <a:ln/>
        </p:spPr>
        <p:txBody>
          <a:bodyPr wrap="square" lIns="0" tIns="0" rIns="0" bIns="0" rtlCol="0" anchor="ctr"/>
          <a:lstStyle/>
          <a:p>
            <a:pPr algn="ctr" indent="0" marL="0">
              <a:buNone/>
            </a:pPr>
            <a:r>
              <a:rPr lang="en-US" sz="900" b="1" dirty="0">
                <a:solidFill>
                  <a:schemeClr val="bg1"/>
                </a:solidFill>
              </a:rPr>
              <a:t>Relevant Optum LS</a:t>
            </a:r>
            <a:endParaRPr lang="en-US" sz="900" dirty="0"/>
          </a:p>
          <a:p>
            <a:pPr algn="ctr" indent="0" marL="0">
              <a:buNone/>
            </a:pPr>
            <a:r>
              <a:rPr lang="en-US" sz="900" b="1" dirty="0">
                <a:solidFill>
                  <a:schemeClr val="bg1"/>
                </a:solidFill>
              </a:rPr>
              <a:t>offerings</a:t>
            </a:r>
            <a:endParaRPr lang="en-US" sz="900" dirty="0"/>
          </a:p>
        </p:txBody>
      </p:sp>
      <p:graphicFrame>
        <p:nvGraphicFramePr>
          <p:cNvPr id="17" name="competitor coverage chart" descr=""/>
          <p:cNvGraphicFramePr/>
          <p:nvPr/>
        </p:nvGraphicFramePr>
        <p:xfrm>
          <a:off x="1170432" y="2743200"/>
          <a:ext cx="2212848" cy="2514600"/>
        </p:xfrm>
        <a:graphic xmlns:a="http://schemas.openxmlformats.org/drawingml/2006/main">
          <a:graphicData uri="http://schemas.openxmlformats.org/drawingml/2006/chart">
            <c:chart xmlns:c="http://schemas.openxmlformats.org/drawingml/2006/chart" r:id="rId1"/>
          </a:graphicData>
        </a:graphic>
      </p:graphicFrame>
      <p:sp>
        <p:nvSpPr>
          <p:cNvPr id="18" name="fraction RWE"/>
          <p:cNvSpPr txBox="1"/>
          <p:nvPr/>
        </p:nvSpPr>
        <p:spPr>
          <a:xfrm>
            <a:off x="566928" y="274320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9</a:t>
            </a:r>
            <a:r>
              <a:rPr lang="en-US" sz="1000" dirty="0">
                <a:solidFill>
                  <a:schemeClr val="tx1"/>
                </a:solidFill>
              </a:rPr>
              <a:t> / 34</a:t>
            </a:r>
            <a:endParaRPr lang="en-US" sz="1000" dirty="0"/>
          </a:p>
        </p:txBody>
      </p:sp>
      <p:sp>
        <p:nvSpPr>
          <p:cNvPr id="19" name="workflow chip RWE"/>
          <p:cNvSpPr/>
          <p:nvPr/>
        </p:nvSpPr>
        <p:spPr>
          <a:xfrm>
            <a:off x="3547872" y="283921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0" name="Text 17"/>
          <p:cNvSpPr txBox="1"/>
          <p:nvPr/>
        </p:nvSpPr>
        <p:spPr>
          <a:xfrm>
            <a:off x="3547872" y="283921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1" name="Text 18"/>
          <p:cNvSpPr txBox="1"/>
          <p:nvPr/>
        </p:nvSpPr>
        <p:spPr>
          <a:xfrm>
            <a:off x="5806440" y="2743200"/>
            <a:ext cx="269748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Komodo Health’s Marmot</a:t>
            </a:r>
            <a:r>
              <a:rPr lang="en-US" sz="900" dirty="0">
                <a:solidFill>
                  <a:schemeClr val="tx1"/>
                </a:solidFill>
              </a:rPr>
              <a:t> and </a:t>
            </a:r>
            <a:r>
              <a:rPr lang="en-US" sz="900" dirty="0" u="sng">
                <a:solidFill>
                  <a:srgbClr val="002677"/>
                </a:solidFill>
                <a:uFill>
                  <a:solidFill>
                    <a:srgbClr val="9AA8CC"/>
                  </a:solidFill>
                </a:uFill>
              </a:rPr>
              <a:t>MapAI</a:t>
            </a:r>
            <a:r>
              <a:rPr lang="en-US" sz="900" dirty="0">
                <a:solidFill>
                  <a:schemeClr val="tx1"/>
                </a:solidFill>
              </a:rPr>
              <a:t>; </a:t>
            </a:r>
            <a:r>
              <a:rPr lang="en-US" sz="900" dirty="0" u="sng">
                <a:solidFill>
                  <a:srgbClr val="002677"/>
                </a:solidFill>
                <a:uFill>
                  <a:solidFill>
                    <a:srgbClr val="9AA8CC"/>
                  </a:solidFill>
                </a:uFill>
              </a:rPr>
              <a:t>Truveta’s Truveta Intelligence</a:t>
            </a:r>
            <a:r>
              <a:rPr lang="en-US" sz="900" dirty="0">
                <a:solidFill>
                  <a:schemeClr val="tx1"/>
                </a:solidFill>
              </a:rPr>
              <a:t>; </a:t>
            </a:r>
            <a:r>
              <a:rPr lang="en-US" sz="900" dirty="0" u="sng">
                <a:solidFill>
                  <a:srgbClr val="002677"/>
                </a:solidFill>
                <a:uFill>
                  <a:solidFill>
                    <a:srgbClr val="9AA8CC"/>
                  </a:solidFill>
                </a:uFill>
              </a:rPr>
              <a:t>Flatiron Health’s Telescope</a:t>
            </a:r>
            <a:r>
              <a:rPr lang="en-US" sz="900" dirty="0">
                <a:solidFill>
                  <a:schemeClr val="tx1"/>
                </a:solidFill>
              </a:rPr>
              <a:t>; </a:t>
            </a:r>
            <a:r>
              <a:rPr lang="en-US" sz="900" dirty="0" u="sng">
                <a:solidFill>
                  <a:srgbClr val="002677"/>
                </a:solidFill>
                <a:uFill>
                  <a:solidFill>
                    <a:srgbClr val="9AA8CC"/>
                  </a:solidFill>
                </a:uFill>
              </a:rPr>
              <a:t>Tempus’s Lens</a:t>
            </a:r>
            <a:r>
              <a:rPr lang="en-US" sz="900" dirty="0">
                <a:solidFill>
                  <a:schemeClr val="tx1"/>
                </a:solidFill>
              </a:rPr>
              <a:t>; and more</a:t>
            </a:r>
            <a:endParaRPr lang="en-US" sz="900" dirty="0"/>
          </a:p>
        </p:txBody>
      </p:sp>
      <p:sp>
        <p:nvSpPr>
          <p:cNvPr id="22" name="Text 19"/>
          <p:cNvSpPr txBox="1"/>
          <p:nvPr/>
        </p:nvSpPr>
        <p:spPr>
          <a:xfrm>
            <a:off x="9144000" y="2743200"/>
            <a:ext cx="192024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Analytics on Demand</a:t>
            </a:r>
            <a:r>
              <a:rPr lang="en-US" sz="900" dirty="0">
                <a:solidFill>
                  <a:schemeClr val="tx1"/>
                </a:solidFill>
              </a:rPr>
              <a:t>; </a:t>
            </a:r>
            <a:r>
              <a:rPr lang="en-US" sz="900" dirty="0" u="sng">
                <a:solidFill>
                  <a:srgbClr val="002677"/>
                </a:solidFill>
                <a:uFill>
                  <a:solidFill>
                    <a:srgbClr val="9AA8CC"/>
                  </a:solidFill>
                </a:uFill>
              </a:rPr>
              <a:t>epidemiology research</a:t>
            </a:r>
            <a:endParaRPr lang="en-US" sz="900" dirty="0"/>
          </a:p>
        </p:txBody>
      </p:sp>
      <p:sp>
        <p:nvSpPr>
          <p:cNvPr id="24" name="Shape 21"/>
          <p:cNvSpPr/>
          <p:nvPr/>
        </p:nvSpPr>
        <p:spPr>
          <a:xfrm>
            <a:off x="548640" y="3246120"/>
            <a:ext cx="11091672" cy="0"/>
          </a:xfrm>
          <a:prstGeom prst="line">
            <a:avLst/>
          </a:prstGeom>
          <a:noFill/>
          <a:ln w="9525">
            <a:solidFill>
              <a:schemeClr val="accent3"/>
            </a:solidFill>
            <a:prstDash val="solid"/>
          </a:ln>
        </p:spPr>
        <p:txBody>
          <a:bodyPr/>
          <a:p/>
        </p:txBody>
      </p:sp>
      <p:sp>
        <p:nvSpPr>
          <p:cNvPr id="25" name="fraction Commercial Intelligence"/>
          <p:cNvSpPr txBox="1"/>
          <p:nvPr/>
        </p:nvSpPr>
        <p:spPr>
          <a:xfrm>
            <a:off x="1282849" y="324612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r>
              <a:rPr lang="en-US" sz="1000" dirty="0">
                <a:solidFill>
                  <a:schemeClr val="tx1"/>
                </a:solidFill>
              </a:rPr>
              <a:t> / 23</a:t>
            </a:r>
            <a:endParaRPr lang="en-US" sz="1000" dirty="0"/>
          </a:p>
        </p:txBody>
      </p:sp>
      <p:sp>
        <p:nvSpPr>
          <p:cNvPr id="26" name="workflow chip Commercial Intelligence"/>
          <p:cNvSpPr/>
          <p:nvPr/>
        </p:nvSpPr>
        <p:spPr>
          <a:xfrm>
            <a:off x="3547872" y="334213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7" name="Text 24"/>
          <p:cNvSpPr txBox="1"/>
          <p:nvPr/>
        </p:nvSpPr>
        <p:spPr>
          <a:xfrm>
            <a:off x="3547872" y="33421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28" name="Text 25"/>
          <p:cNvSpPr txBox="1"/>
          <p:nvPr/>
        </p:nvSpPr>
        <p:spPr>
          <a:xfrm>
            <a:off x="5806440" y="3246120"/>
            <a:ext cx="269748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IQVIA’s Field Force Agent</a:t>
            </a:r>
            <a:r>
              <a:rPr lang="en-US" sz="900" dirty="0">
                <a:solidFill>
                  <a:schemeClr val="tx1"/>
                </a:solidFill>
              </a:rPr>
              <a:t> and </a:t>
            </a:r>
            <a:r>
              <a:rPr lang="en-US" sz="900" dirty="0" u="sng">
                <a:solidFill>
                  <a:srgbClr val="002677"/>
                </a:solidFill>
                <a:uFill>
                  <a:solidFill>
                    <a:srgbClr val="9AA8CC"/>
                  </a:solidFill>
                </a:uFill>
              </a:rPr>
              <a:t>GMI Agent</a:t>
            </a:r>
            <a:r>
              <a:rPr lang="en-US" sz="900" dirty="0">
                <a:solidFill>
                  <a:schemeClr val="tx1"/>
                </a:solidFill>
              </a:rPr>
              <a:t>; </a:t>
            </a:r>
            <a:r>
              <a:rPr lang="en-US" sz="900" dirty="0" u="sng">
                <a:solidFill>
                  <a:srgbClr val="002677"/>
                </a:solidFill>
                <a:uFill>
                  <a:solidFill>
                    <a:srgbClr val="9AA8CC"/>
                  </a:solidFill>
                </a:uFill>
              </a:rPr>
              <a:t>ZS’s Conversational AI for Commercial</a:t>
            </a:r>
            <a:r>
              <a:rPr lang="en-US" sz="900" dirty="0">
                <a:solidFill>
                  <a:schemeClr val="tx1"/>
                </a:solidFill>
              </a:rPr>
              <a:t>; </a:t>
            </a:r>
            <a:r>
              <a:rPr lang="en-US" sz="900" dirty="0" u="sng">
                <a:solidFill>
                  <a:srgbClr val="002677"/>
                </a:solidFill>
                <a:uFill>
                  <a:solidFill>
                    <a:srgbClr val="9AA8CC"/>
                  </a:solidFill>
                </a:uFill>
              </a:rPr>
              <a:t>Trinity’s InsightsEDGE Digital Twins</a:t>
            </a:r>
            <a:endParaRPr lang="en-US" sz="900" dirty="0"/>
          </a:p>
        </p:txBody>
      </p:sp>
      <p:sp>
        <p:nvSpPr>
          <p:cNvPr id="29" name="Text 26"/>
          <p:cNvSpPr txBox="1"/>
          <p:nvPr/>
        </p:nvSpPr>
        <p:spPr>
          <a:xfrm>
            <a:off x="9144000" y="3246120"/>
            <a:ext cx="192024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Market Clarity</a:t>
            </a:r>
            <a:r>
              <a:rPr lang="en-US" sz="900" dirty="0">
                <a:solidFill>
                  <a:schemeClr val="tx1"/>
                </a:solidFill>
              </a:rPr>
              <a:t>: portfolio and patient/prescriber analytics</a:t>
            </a:r>
            <a:endParaRPr lang="en-US" sz="900" dirty="0"/>
          </a:p>
        </p:txBody>
      </p:sp>
      <p:sp>
        <p:nvSpPr>
          <p:cNvPr id="31" name="Shape 28"/>
          <p:cNvSpPr/>
          <p:nvPr/>
        </p:nvSpPr>
        <p:spPr>
          <a:xfrm>
            <a:off x="548640" y="3749040"/>
            <a:ext cx="11091672" cy="0"/>
          </a:xfrm>
          <a:prstGeom prst="line">
            <a:avLst/>
          </a:prstGeom>
          <a:noFill/>
          <a:ln w="9525">
            <a:solidFill>
              <a:schemeClr val="accent3"/>
            </a:solidFill>
            <a:prstDash val="solid"/>
          </a:ln>
        </p:spPr>
        <p:txBody>
          <a:bodyPr/>
          <a:p/>
        </p:txBody>
      </p:sp>
      <p:sp>
        <p:nvSpPr>
          <p:cNvPr id="32" name="fraction Medical / Regulatory Research"/>
          <p:cNvSpPr txBox="1"/>
          <p:nvPr/>
        </p:nvSpPr>
        <p:spPr>
          <a:xfrm>
            <a:off x="1608268" y="374904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r>
              <a:rPr lang="en-US" sz="1000" dirty="0">
                <a:solidFill>
                  <a:schemeClr val="tx1"/>
                </a:solidFill>
              </a:rPr>
              <a:t> / 18</a:t>
            </a:r>
            <a:endParaRPr lang="en-US" sz="1000" dirty="0"/>
          </a:p>
        </p:txBody>
      </p:sp>
      <p:sp>
        <p:nvSpPr>
          <p:cNvPr id="33" name="workflow chip Medical / Regulatory Research"/>
          <p:cNvSpPr/>
          <p:nvPr/>
        </p:nvSpPr>
        <p:spPr>
          <a:xfrm>
            <a:off x="3547872" y="384505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34" name="Text 31"/>
          <p:cNvSpPr txBox="1"/>
          <p:nvPr/>
        </p:nvSpPr>
        <p:spPr>
          <a:xfrm>
            <a:off x="3547872" y="384505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35" name="Text 32"/>
          <p:cNvSpPr txBox="1"/>
          <p:nvPr/>
        </p:nvSpPr>
        <p:spPr>
          <a:xfrm>
            <a:off x="5806440" y="3749040"/>
            <a:ext cx="269748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IQVIA’s Med-R1</a:t>
            </a:r>
            <a:r>
              <a:rPr lang="en-US" sz="900" dirty="0">
                <a:solidFill>
                  <a:schemeClr val="tx1"/>
                </a:solidFill>
              </a:rPr>
              <a:t>; </a:t>
            </a:r>
            <a:r>
              <a:rPr lang="en-US" sz="900" dirty="0" u="sng">
                <a:solidFill>
                  <a:srgbClr val="002677"/>
                </a:solidFill>
                <a:uFill>
                  <a:solidFill>
                    <a:srgbClr val="9AA8CC"/>
                  </a:solidFill>
                </a:uFill>
              </a:rPr>
              <a:t>ZS’s Conversational AI for Medical</a:t>
            </a:r>
            <a:r>
              <a:rPr lang="en-US" sz="900" dirty="0">
                <a:solidFill>
                  <a:schemeClr val="tx1"/>
                </a:solidFill>
              </a:rPr>
              <a:t>; </a:t>
            </a:r>
            <a:r>
              <a:rPr lang="en-US" sz="900" dirty="0" u="sng">
                <a:solidFill>
                  <a:srgbClr val="002677"/>
                </a:solidFill>
                <a:uFill>
                  <a:solidFill>
                    <a:srgbClr val="9AA8CC"/>
                  </a:solidFill>
                </a:uFill>
              </a:rPr>
              <a:t>Veeva’s Vault AI Chat</a:t>
            </a:r>
            <a:endParaRPr lang="en-US" sz="900" dirty="0"/>
          </a:p>
        </p:txBody>
      </p:sp>
      <p:sp>
        <p:nvSpPr>
          <p:cNvPr id="36" name="Text 33"/>
          <p:cNvSpPr txBox="1"/>
          <p:nvPr/>
        </p:nvSpPr>
        <p:spPr>
          <a:xfrm>
            <a:off x="9144000" y="3749040"/>
            <a:ext cx="192024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Postapproval safety studies</a:t>
            </a:r>
            <a:r>
              <a:rPr lang="en-US" sz="900" dirty="0">
                <a:solidFill>
                  <a:schemeClr val="tx1"/>
                </a:solidFill>
              </a:rPr>
              <a:t>; </a:t>
            </a:r>
            <a:r>
              <a:rPr lang="en-US" sz="900" dirty="0" u="sng">
                <a:solidFill>
                  <a:srgbClr val="002677"/>
                </a:solidFill>
                <a:uFill>
                  <a:solidFill>
                    <a:srgbClr val="9AA8CC"/>
                  </a:solidFill>
                </a:uFill>
              </a:rPr>
              <a:t>Market Clarity</a:t>
            </a:r>
            <a:r>
              <a:rPr lang="en-US" sz="900" dirty="0">
                <a:solidFill>
                  <a:schemeClr val="tx1"/>
                </a:solidFill>
              </a:rPr>
              <a:t> medical affairs insights</a:t>
            </a:r>
            <a:endParaRPr lang="en-US" sz="900" dirty="0"/>
          </a:p>
        </p:txBody>
      </p:sp>
      <p:sp>
        <p:nvSpPr>
          <p:cNvPr id="38" name="Shape 35"/>
          <p:cNvSpPr/>
          <p:nvPr/>
        </p:nvSpPr>
        <p:spPr>
          <a:xfrm>
            <a:off x="548640" y="4251960"/>
            <a:ext cx="11091672" cy="0"/>
          </a:xfrm>
          <a:prstGeom prst="line">
            <a:avLst/>
          </a:prstGeom>
          <a:noFill/>
          <a:ln w="9525">
            <a:solidFill>
              <a:schemeClr val="accent3"/>
            </a:solidFill>
            <a:prstDash val="solid"/>
          </a:ln>
        </p:spPr>
        <p:txBody>
          <a:bodyPr/>
          <a:p/>
        </p:txBody>
      </p:sp>
      <p:sp>
        <p:nvSpPr>
          <p:cNvPr id="39" name="fraction Clinical Trials"/>
          <p:cNvSpPr txBox="1"/>
          <p:nvPr/>
        </p:nvSpPr>
        <p:spPr>
          <a:xfrm>
            <a:off x="1152682" y="425196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r>
              <a:rPr lang="en-US" sz="1000" dirty="0">
                <a:solidFill>
                  <a:schemeClr val="tx1"/>
                </a:solidFill>
              </a:rPr>
              <a:t> / 25</a:t>
            </a:r>
            <a:endParaRPr lang="en-US" sz="1000" dirty="0"/>
          </a:p>
        </p:txBody>
      </p:sp>
      <p:sp>
        <p:nvSpPr>
          <p:cNvPr id="40" name="workflow chip Clinical Trials"/>
          <p:cNvSpPr/>
          <p:nvPr/>
        </p:nvSpPr>
        <p:spPr>
          <a:xfrm>
            <a:off x="3547872" y="434797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1" name="Text 38"/>
          <p:cNvSpPr txBox="1"/>
          <p:nvPr/>
        </p:nvSpPr>
        <p:spPr>
          <a:xfrm>
            <a:off x="3547872" y="434797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2" name="Text 39"/>
          <p:cNvSpPr txBox="1"/>
          <p:nvPr/>
        </p:nvSpPr>
        <p:spPr>
          <a:xfrm>
            <a:off x="5806440" y="4251960"/>
            <a:ext cx="269748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TriNetX’s Terrain AI Assistant</a:t>
            </a:r>
            <a:endParaRPr lang="en-US" sz="900" dirty="0"/>
          </a:p>
        </p:txBody>
      </p:sp>
      <p:sp>
        <p:nvSpPr>
          <p:cNvPr id="43" name="Text 40"/>
          <p:cNvSpPr txBox="1"/>
          <p:nvPr/>
        </p:nvSpPr>
        <p:spPr>
          <a:xfrm>
            <a:off x="9144000" y="4251960"/>
            <a:ext cx="192024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Prospector</a:t>
            </a:r>
            <a:r>
              <a:rPr lang="en-US" sz="900" dirty="0">
                <a:solidFill>
                  <a:schemeClr val="tx1"/>
                </a:solidFill>
              </a:rPr>
              <a:t>; </a:t>
            </a:r>
            <a:r>
              <a:rPr lang="en-US" sz="900" dirty="0" u="sng">
                <a:solidFill>
                  <a:srgbClr val="002677"/>
                </a:solidFill>
                <a:uFill>
                  <a:solidFill>
                    <a:srgbClr val="9AA8CC"/>
                  </a:solidFill>
                </a:uFill>
              </a:rPr>
              <a:t>Digital Research Network</a:t>
            </a:r>
            <a:r>
              <a:rPr lang="en-US" sz="900" dirty="0">
                <a:solidFill>
                  <a:schemeClr val="tx1"/>
                </a:solidFill>
              </a:rPr>
              <a:t>; </a:t>
            </a:r>
            <a:r>
              <a:rPr lang="en-US" sz="900" dirty="0" u="sng">
                <a:solidFill>
                  <a:srgbClr val="002677"/>
                </a:solidFill>
                <a:uFill>
                  <a:solidFill>
                    <a:srgbClr val="9AA8CC"/>
                  </a:solidFill>
                </a:uFill>
              </a:rPr>
              <a:t>True Source</a:t>
            </a:r>
            <a:endParaRPr lang="en-US" sz="900" dirty="0"/>
          </a:p>
        </p:txBody>
      </p:sp>
      <p:sp>
        <p:nvSpPr>
          <p:cNvPr id="45" name="Shape 42"/>
          <p:cNvSpPr/>
          <p:nvPr/>
        </p:nvSpPr>
        <p:spPr>
          <a:xfrm>
            <a:off x="548640" y="4754880"/>
            <a:ext cx="11091672" cy="0"/>
          </a:xfrm>
          <a:prstGeom prst="line">
            <a:avLst/>
          </a:prstGeom>
          <a:noFill/>
          <a:ln w="9525">
            <a:solidFill>
              <a:schemeClr val="accent3"/>
            </a:solidFill>
            <a:prstDash val="solid"/>
          </a:ln>
        </p:spPr>
        <p:txBody>
          <a:bodyPr/>
          <a:p/>
        </p:txBody>
      </p:sp>
      <p:sp>
        <p:nvSpPr>
          <p:cNvPr id="46" name="fraction Market Access"/>
          <p:cNvSpPr txBox="1"/>
          <p:nvPr/>
        </p:nvSpPr>
        <p:spPr>
          <a:xfrm>
            <a:off x="1217766" y="475488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r>
              <a:rPr lang="en-US" sz="1000" dirty="0">
                <a:solidFill>
                  <a:schemeClr val="tx1"/>
                </a:solidFill>
              </a:rPr>
              <a:t> / 24</a:t>
            </a:r>
            <a:endParaRPr lang="en-US" sz="1000" dirty="0"/>
          </a:p>
        </p:txBody>
      </p:sp>
      <p:sp>
        <p:nvSpPr>
          <p:cNvPr id="47" name="workflow chip Market Access"/>
          <p:cNvSpPr/>
          <p:nvPr/>
        </p:nvSpPr>
        <p:spPr>
          <a:xfrm>
            <a:off x="3547872" y="485089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8" name="Text 45"/>
          <p:cNvSpPr txBox="1"/>
          <p:nvPr/>
        </p:nvSpPr>
        <p:spPr>
          <a:xfrm>
            <a:off x="3547872" y="485089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49" name="Text 46"/>
          <p:cNvSpPr txBox="1"/>
          <p:nvPr/>
        </p:nvSpPr>
        <p:spPr>
          <a:xfrm>
            <a:off x="5806440" y="4754880"/>
            <a:ext cx="269748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EVERSANA’s Ask NAVLIN</a:t>
            </a:r>
            <a:endParaRPr lang="en-US" sz="900" dirty="0"/>
          </a:p>
        </p:txBody>
      </p:sp>
      <p:sp>
        <p:nvSpPr>
          <p:cNvPr id="50" name="Text 47"/>
          <p:cNvSpPr txBox="1"/>
          <p:nvPr/>
        </p:nvSpPr>
        <p:spPr>
          <a:xfrm>
            <a:off x="9144000" y="4754880"/>
            <a:ext cx="192024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HEOR/value evidence</a:t>
            </a:r>
            <a:r>
              <a:rPr lang="en-US" sz="900" dirty="0">
                <a:solidFill>
                  <a:schemeClr val="tx1"/>
                </a:solidFill>
              </a:rPr>
              <a:t>; </a:t>
            </a:r>
            <a:r>
              <a:rPr lang="en-US" sz="900" dirty="0" u="sng">
                <a:solidFill>
                  <a:srgbClr val="002677"/>
                </a:solidFill>
                <a:uFill>
                  <a:solidFill>
                    <a:srgbClr val="9AA8CC"/>
                  </a:solidFill>
                </a:uFill>
              </a:rPr>
              <a:t>Evidence Engine</a:t>
            </a:r>
            <a:endParaRPr lang="en-US" sz="900" dirty="0"/>
          </a:p>
        </p:txBody>
      </p:sp>
      <p:sp>
        <p:nvSpPr>
          <p:cNvPr id="52" name="Shape 49"/>
          <p:cNvSpPr/>
          <p:nvPr/>
        </p:nvSpPr>
        <p:spPr>
          <a:xfrm>
            <a:off x="548640" y="5257800"/>
            <a:ext cx="11091672" cy="0"/>
          </a:xfrm>
          <a:prstGeom prst="line">
            <a:avLst/>
          </a:prstGeom>
          <a:noFill/>
          <a:ln w="9525">
            <a:solidFill>
              <a:schemeClr val="accent3"/>
            </a:solidFill>
            <a:prstDash val="solid"/>
          </a:ln>
        </p:spPr>
        <p:txBody>
          <a:bodyPr/>
          <a:p/>
        </p:txBody>
      </p:sp>
      <p:sp>
        <p:nvSpPr>
          <p:cNvPr id="53" name="scope note"/>
          <p:cNvSpPr txBox="1"/>
          <p:nvPr/>
        </p:nvSpPr>
        <p:spPr>
          <a:xfrm>
            <a:off x="548640" y="5321808"/>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1110996" y="5596128"/>
            <a:ext cx="9966960" cy="548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1293876" y="5596128"/>
            <a:ext cx="2011680" cy="548640"/>
          </a:xfrm>
          <a:prstGeom prst="rect">
            <a:avLst/>
          </a:prstGeom>
          <a:noFill/>
          <a:ln/>
        </p:spPr>
        <p:txBody>
          <a:bodyPr wrap="square" lIns="0" tIns="0" rIns="0" bIns="0" rtlCol="0" anchor="ctr"/>
          <a:lstStyle/>
          <a:p>
            <a:pPr algn="ctr" indent="0" marL="0">
              <a:buNone/>
            </a:pPr>
            <a:r>
              <a:rPr lang="en-US" sz="1300" b="1" spc="150" kern="0" dirty="0">
                <a:solidFill>
                  <a:schemeClr val="accent2"/>
                </a:solidFill>
              </a:rPr>
              <a:t>KEY TAKEAWAY</a:t>
            </a:r>
            <a:endParaRPr lang="en-US" sz="1300" dirty="0"/>
          </a:p>
        </p:txBody>
      </p:sp>
      <p:sp>
        <p:nvSpPr>
          <p:cNvPr id="57" name="Text 54"/>
          <p:cNvSpPr txBox="1"/>
          <p:nvPr/>
        </p:nvSpPr>
        <p:spPr>
          <a:xfrm>
            <a:off x="3305556" y="5596128"/>
            <a:ext cx="7589520" cy="548640"/>
          </a:xfrm>
          <a:prstGeom prst="rect">
            <a:avLst/>
          </a:prstGeom>
          <a:noFill/>
          <a:ln/>
        </p:spPr>
        <p:txBody>
          <a:bodyPr wrap="square" lIns="0" tIns="0" rIns="0" bIns="0" rtlCol="0" anchor="ctr"/>
          <a:lstStyle/>
          <a:p>
            <a:pPr indent="0" marL="0" algn="ctr">
              <a:buNone/>
            </a:pPr>
            <a:r>
              <a:rPr lang="en-US" sz="1050" b="1" dirty="0">
                <a:solidFill>
                  <a:schemeClr val="tx1"/>
                </a:solidFill>
              </a:rPr>
              <a:t>A publicly-marketed customer-facing conversational interface was not established in the reviewed materials</a:t>
            </a:r>
            <a:endParaRPr lang="en-US" sz="1050" dirty="0"/>
          </a:p>
          <a:p>
            <a:pPr indent="0" marL="0" algn="ctr">
              <a:buNone/>
            </a:pPr>
            <a:r>
              <a:rPr lang="en-US" sz="1050" b="1" dirty="0">
                <a:solidFill>
                  <a:schemeClr val="tx1"/>
                </a:solidFill>
              </a:rPr>
              <a:t>for Optum LS across the five relevant business domains.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58"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51" name="Invisible source link 4: https://www.komodohealth.com/product/marmot/">
            <a:hlinkClick r:id="rId4"/>
          </p:cNvPr>
          <p:cNvSpPr/>
          <p:nvPr/>
        </p:nvSpPr>
        <p:spPr>
          <a:xfrm>
            <a:off x="5806440" y="2799071"/>
            <a:ext cx="1286387"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2" name="Invisible source link 4: https://www.komodohealth.com/press/komodo-health-unveils-new-generative-ai-offerings-to-enable-real-time-insights-across-330-million-patient-journeys/">
            <a:hlinkClick r:id="rId5"/>
          </p:cNvPr>
          <p:cNvSpPr/>
          <p:nvPr/>
        </p:nvSpPr>
        <p:spPr>
          <a:xfrm>
            <a:off x="7345794" y="2799071"/>
            <a:ext cx="360754"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3" name="Invisible source link 4: https://www.truveta.com/blog/announcement/truveta-unveils-truveta-intelligence/">
            <a:hlinkClick r:id="rId6"/>
          </p:cNvPr>
          <p:cNvSpPr/>
          <p:nvPr/>
        </p:nvSpPr>
        <p:spPr>
          <a:xfrm>
            <a:off x="7737475" y="2799071"/>
            <a:ext cx="46271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5" name="Invisible source link 4: https://www.truveta.com/blog/announcement/truveta-unveils-truveta-intelligence/">
            <a:hlinkClick r:id="rId6"/>
          </p:cNvPr>
          <p:cNvSpPr/>
          <p:nvPr/>
        </p:nvSpPr>
        <p:spPr>
          <a:xfrm>
            <a:off x="5806440" y="2936599"/>
            <a:ext cx="1023872"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5" name="Invisible source link 4: https://resources.flatiron.com/press/flatiron-health-launches-flatiron-telescope-a-new-ai-platform-delivering-oncology-insights-in-minutes">
            <a:hlinkClick r:id="rId7"/>
          </p:cNvPr>
          <p:cNvSpPr/>
          <p:nvPr/>
        </p:nvSpPr>
        <p:spPr>
          <a:xfrm>
            <a:off x="6861238" y="2936599"/>
            <a:ext cx="139863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6" name="Invisible source link 4: https://www.tempus.com/solutions/lens/">
            <a:hlinkClick r:id="rId8"/>
          </p:cNvPr>
          <p:cNvSpPr/>
          <p:nvPr/>
        </p:nvSpPr>
        <p:spPr>
          <a:xfrm>
            <a:off x="5806440" y="3074115"/>
            <a:ext cx="79058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7" name="Invisible source link 4: https://www.iqvia.com/solutions/commercialization/iqvia-commercial-agentic-ai">
            <a:hlinkClick r:id="rId11"/>
          </p:cNvPr>
          <p:cNvSpPr/>
          <p:nvPr/>
        </p:nvSpPr>
        <p:spPr>
          <a:xfrm>
            <a:off x="5806440" y="3301991"/>
            <a:ext cx="130458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8" name="Invisible source link 4: https://www.iqvia.com/solutions/commercialization/iqvia-commercial-agentic-ai">
            <a:hlinkClick r:id="rId11"/>
          </p:cNvPr>
          <p:cNvSpPr/>
          <p:nvPr/>
        </p:nvSpPr>
        <p:spPr>
          <a:xfrm>
            <a:off x="7362723" y="3301991"/>
            <a:ext cx="57134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9" name="Invisible source link 4: https://zaidyn.zs.com/products/zaidyn-commercial/conversational-ai">
            <a:hlinkClick r:id="rId12"/>
          </p:cNvPr>
          <p:cNvSpPr/>
          <p:nvPr/>
        </p:nvSpPr>
        <p:spPr>
          <a:xfrm>
            <a:off x="7964995" y="3301991"/>
            <a:ext cx="22678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1" name="Invisible source link 4: https://zaidyn.zs.com/products/zaidyn-commercial/conversational-ai">
            <a:hlinkClick r:id="rId12"/>
          </p:cNvPr>
          <p:cNvSpPr/>
          <p:nvPr/>
        </p:nvSpPr>
        <p:spPr>
          <a:xfrm>
            <a:off x="5806440" y="3439519"/>
            <a:ext cx="173414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1" name="Invisible source link 4: https://trinitylifesciences.com/products/insightsedge-digital-twins/">
            <a:hlinkClick r:id="rId13"/>
          </p:cNvPr>
          <p:cNvSpPr/>
          <p:nvPr/>
        </p:nvSpPr>
        <p:spPr>
          <a:xfrm>
            <a:off x="7571524" y="3439519"/>
            <a:ext cx="38624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3" name="Invisible source link 4: https://trinitylifesciences.com/products/insightsedge-digital-twins/">
            <a:hlinkClick r:id="rId13"/>
          </p:cNvPr>
          <p:cNvSpPr/>
          <p:nvPr/>
        </p:nvSpPr>
        <p:spPr>
          <a:xfrm>
            <a:off x="5806440" y="3577035"/>
            <a:ext cx="138861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3" name="Invisible source link 4: https://www.iqvia.com/solutions/innovative-models/artificial-intelligence-and-machine-learning/iqvia-ai-platform">
            <a:hlinkClick r:id="rId15"/>
          </p:cNvPr>
          <p:cNvSpPr/>
          <p:nvPr/>
        </p:nvSpPr>
        <p:spPr>
          <a:xfrm>
            <a:off x="5806440" y="3873681"/>
            <a:ext cx="84566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4" name="Invisible source link 4: https://zaidyn.zs.com/products/zaidyn-medical/conversational-ai-for-medical">
            <a:hlinkClick r:id="rId16"/>
          </p:cNvPr>
          <p:cNvSpPr/>
          <p:nvPr/>
        </p:nvSpPr>
        <p:spPr>
          <a:xfrm>
            <a:off x="6683044" y="3873681"/>
            <a:ext cx="177519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5" name="Invisible source link 4: https://platform.veevavault.help/en/lr/950642">
            <a:hlinkClick r:id="rId17"/>
          </p:cNvPr>
          <p:cNvSpPr/>
          <p:nvPr/>
        </p:nvSpPr>
        <p:spPr>
          <a:xfrm>
            <a:off x="5806440" y="4011197"/>
            <a:ext cx="108834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6" name="Invisible source link 4: https://trinetx.com/solutions/trinetx-live/terrain/">
            <a:hlinkClick r:id="rId18"/>
          </p:cNvPr>
          <p:cNvSpPr/>
          <p:nvPr/>
        </p:nvSpPr>
        <p:spPr>
          <a:xfrm>
            <a:off x="5806440" y="4445359"/>
            <a:ext cx="1464743"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7" name="Invisible source link 4: https://www.navlin.com/products/tender">
            <a:hlinkClick r:id="rId20"/>
          </p:cNvPr>
          <p:cNvSpPr/>
          <p:nvPr/>
        </p:nvSpPr>
        <p:spPr>
          <a:xfrm>
            <a:off x="5806440" y="4948279"/>
            <a:ext cx="134706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8" name="Invisible source link 4: https://business.optum.com/en/data-analytics/life-sciences/heor/exploratory-analysis.html">
            <a:hlinkClick r:id="rId9"/>
          </p:cNvPr>
          <p:cNvSpPr/>
          <p:nvPr/>
        </p:nvSpPr>
        <p:spPr>
          <a:xfrm>
            <a:off x="9143644" y="2867841"/>
            <a:ext cx="111062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9" name="Invisible source link 4: https://business.optum.com/en/data-analytics/life-sciences/epidemiology-consulting.html">
            <a:hlinkClick r:id="rId10"/>
          </p:cNvPr>
          <p:cNvSpPr/>
          <p:nvPr/>
        </p:nvSpPr>
        <p:spPr>
          <a:xfrm>
            <a:off x="10285196" y="2867841"/>
            <a:ext cx="67312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1" name="Invisible source link 4: https://business.optum.com/en/data-analytics/life-sciences/epidemiology-consulting.html">
            <a:hlinkClick r:id="rId10"/>
          </p:cNvPr>
          <p:cNvSpPr/>
          <p:nvPr/>
        </p:nvSpPr>
        <p:spPr>
          <a:xfrm>
            <a:off x="9143644" y="3005357"/>
            <a:ext cx="44463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1" name="Invisible source link 4: https://business.optum.com/en/data-analytics/life-sciences/real-world-data/market-clarity-data.html">
            <a:hlinkClick r:id="rId14"/>
          </p:cNvPr>
          <p:cNvSpPr/>
          <p:nvPr/>
        </p:nvSpPr>
        <p:spPr>
          <a:xfrm>
            <a:off x="9143644" y="3370761"/>
            <a:ext cx="73586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2" name="Invisible source link 4: https://business.optum.com/en/data-analytics/life-sciences/real-world-data/market-clarity-data.html">
            <a:hlinkClick r:id="rId14"/>
          </p:cNvPr>
          <p:cNvSpPr/>
          <p:nvPr/>
        </p:nvSpPr>
        <p:spPr>
          <a:xfrm>
            <a:off x="10603801" y="3873681"/>
            <a:ext cx="349042"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4" name="Invisible source link 4: https://business.optum.com/en/data-analytics/life-sciences/real-world-data/market-clarity-data.html">
            <a:hlinkClick r:id="rId14"/>
          </p:cNvPr>
          <p:cNvSpPr/>
          <p:nvPr/>
        </p:nvSpPr>
        <p:spPr>
          <a:xfrm>
            <a:off x="9143644" y="4011197"/>
            <a:ext cx="323972"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4" name="Invisible source link 4: https://business.optum.com/en/data-analytics/life-sciences/epidemiology-consulting.html">
            <a:hlinkClick r:id="rId10"/>
          </p:cNvPr>
          <p:cNvSpPr/>
          <p:nvPr/>
        </p:nvSpPr>
        <p:spPr>
          <a:xfrm>
            <a:off x="9143644" y="3873681"/>
            <a:ext cx="142923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5" name="Invisible source link 4: https://business.optum.com/en/data-analytics/life-sciences/clinical-trial-design.html">
            <a:hlinkClick r:id="rId19"/>
          </p:cNvPr>
          <p:cNvSpPr/>
          <p:nvPr/>
        </p:nvSpPr>
        <p:spPr>
          <a:xfrm>
            <a:off x="9143644" y="4376601"/>
            <a:ext cx="58322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6" name="Invisible source link 4: https://business.optum.com/en/data-analytics/life-sciences/clinical-trial-design.html">
            <a:hlinkClick r:id="rId19"/>
          </p:cNvPr>
          <p:cNvSpPr/>
          <p:nvPr/>
        </p:nvSpPr>
        <p:spPr>
          <a:xfrm>
            <a:off x="9757803" y="4376601"/>
            <a:ext cx="83832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8" name="Invisible source link 4: https://business.optum.com/en/data-analytics/life-sciences/clinical-trial-design.html">
            <a:hlinkClick r:id="rId19"/>
          </p:cNvPr>
          <p:cNvSpPr/>
          <p:nvPr/>
        </p:nvSpPr>
        <p:spPr>
          <a:xfrm>
            <a:off x="9143644" y="4514117"/>
            <a:ext cx="45074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8" name="Invisible source link 4: https://business.optum.com/en/data-analytics/life-sciences/clinical-trial-design.html">
            <a:hlinkClick r:id="rId19"/>
          </p:cNvPr>
          <p:cNvSpPr/>
          <p:nvPr/>
        </p:nvSpPr>
        <p:spPr>
          <a:xfrm>
            <a:off x="9625317" y="4514117"/>
            <a:ext cx="62470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9" name="Invisible source link 4: https://business.optum.com/en/data-analytics/life-sciences/heor.html">
            <a:hlinkClick r:id="rId21"/>
          </p:cNvPr>
          <p:cNvSpPr/>
          <p:nvPr/>
        </p:nvSpPr>
        <p:spPr>
          <a:xfrm>
            <a:off x="9143644" y="4879521"/>
            <a:ext cx="115491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0" name="Invisible source link 4: https://business.optum.com/en/data-analytics/life-sciences/evidence-engine.html">
            <a:hlinkClick r:id="rId22"/>
          </p:cNvPr>
          <p:cNvSpPr/>
          <p:nvPr/>
        </p:nvSpPr>
        <p:spPr>
          <a:xfrm>
            <a:off x="10329481" y="4879521"/>
            <a:ext cx="46913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2" name="Invisible source link 4: https://business.optum.com/en/data-analytics/life-sciences/evidence-engine.html">
            <a:hlinkClick r:id="rId22"/>
          </p:cNvPr>
          <p:cNvSpPr/>
          <p:nvPr/>
        </p:nvSpPr>
        <p:spPr>
          <a:xfrm>
            <a:off x="9143644" y="5017037"/>
            <a:ext cx="35511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COMPANY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companies marketing conversational AI across Optum LS-relevant domains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COMPANIES MARKETING CONVERSATIONAL AI</a:t>
            </a:r>
            <a:endParaRPr lang="en-US" sz="1000" dirty="0"/>
          </a:p>
        </p:txBody>
      </p:sp>
      <p:sp>
        <p:nvSpPr>
          <p:cNvPr id="5" name="table header"/>
          <p:cNvSpPr/>
          <p:nvPr/>
        </p:nvSpPr>
        <p:spPr>
          <a:xfrm>
            <a:off x="548640" y="1792224"/>
            <a:ext cx="7635240" cy="512064"/>
          </a:xfrm>
          <a:prstGeom prst="rect">
            <a:avLst/>
          </a:prstGeom>
          <a:solidFill>
            <a:schemeClr val="accent1"/>
          </a:solidFill>
          <a:ln/>
        </p:spPr>
        <p:txBody>
          <a:bodyPr/>
          <a:p/>
        </p:txBody>
      </p:sp>
      <p:sp>
        <p:nvSpPr>
          <p:cNvPr id="6" name="Text 4"/>
          <p:cNvSpPr txBox="1"/>
          <p:nvPr/>
        </p:nvSpPr>
        <p:spPr>
          <a:xfrm>
            <a:off x="548640" y="1792224"/>
            <a:ext cx="1188720" cy="512064"/>
          </a:xfrm>
          <a:prstGeom prst="rect">
            <a:avLst/>
          </a:prstGeom>
          <a:noFill/>
          <a:ln/>
        </p:spPr>
        <p:txBody>
          <a:bodyPr wrap="square" lIns="0" tIns="0" rIns="0" bIns="0" rtlCol="0" anchor="ctr"/>
          <a:lstStyle/>
          <a:p>
            <a:pPr algn="ctr" indent="0" marL="0">
              <a:buNone/>
            </a:pPr>
            <a:r>
              <a:rPr lang="en-US" sz="900" b="1" dirty="0">
                <a:solidFill>
                  <a:schemeClr val="bg1"/>
                </a:solidFill>
              </a:rPr>
              <a:t>International</a:t>
            </a:r>
            <a:endParaRPr lang="en-US" sz="900" dirty="0"/>
          </a:p>
          <a:p>
            <a:pPr algn="ctr" indent="0" marL="0">
              <a:buNone/>
            </a:pPr>
            <a:r>
              <a:rPr lang="en-US" sz="900" b="1" dirty="0">
                <a:solidFill>
                  <a:schemeClr val="bg1"/>
                </a:solidFill>
              </a:rPr>
              <a:t>Screen</a:t>
            </a:r>
            <a:endParaRPr lang="en-US" sz="900" dirty="0"/>
          </a:p>
        </p:txBody>
      </p:sp>
      <p:sp>
        <p:nvSpPr>
          <p:cNvPr id="7" name="Text 5"/>
          <p:cNvSpPr txBox="1"/>
          <p:nvPr/>
        </p:nvSpPr>
        <p:spPr>
          <a:xfrm>
            <a:off x="1847088" y="1792224"/>
            <a:ext cx="4618145" cy="512064"/>
          </a:xfrm>
          <a:prstGeom prst="rect">
            <a:avLst/>
          </a:prstGeom>
          <a:noFill/>
          <a:ln/>
        </p:spPr>
        <p:txBody>
          <a:bodyPr wrap="square" lIns="0" tIns="0" rIns="0" bIns="0" rtlCol="0" anchor="ctr"/>
          <a:lstStyle/>
          <a:p>
            <a:pPr algn="ctr" indent="0" marL="0">
              <a:buNone/>
            </a:pPr>
            <a:r>
              <a:rPr lang="en-US" sz="900" b="1" dirty="0">
                <a:solidFill>
                  <a:schemeClr val="bg1"/>
                </a:solidFill>
              </a:rPr>
              <a:t>Companies marketing conversational AI /</a:t>
            </a:r>
            <a:endParaRPr lang="en-US" sz="900" dirty="0"/>
          </a:p>
          <a:p>
            <a:pPr algn="ctr" indent="0" marL="0">
              <a:buNone/>
            </a:pPr>
            <a:r>
              <a:rPr lang="en-US" sz="900" b="1" dirty="0">
                <a:solidFill>
                  <a:schemeClr val="bg1"/>
                </a:solidFill>
              </a:rPr>
              <a:t>Total comparable companies</a:t>
            </a:r>
            <a:endParaRPr lang="en-US" sz="900" dirty="0"/>
          </a:p>
        </p:txBody>
      </p:sp>
      <p:sp>
        <p:nvSpPr>
          <p:cNvPr id="8" name="Text 6"/>
          <p:cNvSpPr txBox="1"/>
          <p:nvPr/>
        </p:nvSpPr>
        <p:spPr>
          <a:xfrm>
            <a:off x="6574961" y="1792224"/>
            <a:ext cx="1608919" cy="512064"/>
          </a:xfrm>
          <a:prstGeom prst="rect">
            <a:avLst/>
          </a:prstGeom>
          <a:noFill/>
          <a:ln/>
        </p:spPr>
        <p:txBody>
          <a:bodyPr wrap="square" lIns="0" tIns="0" rIns="0" bIns="0" rtlCol="0" anchor="ctr"/>
          <a:lstStyle/>
          <a:p>
            <a:pPr algn="ctr" indent="0" marL="0">
              <a:buNone/>
            </a:pPr>
            <a:r>
              <a:rPr lang="en-US" sz="900" b="1" dirty="0">
                <a:solidFill>
                  <a:schemeClr val="bg1"/>
                </a:solidFill>
              </a:rPr>
              <a:t>Screened-</a:t>
            </a:r>
            <a:endParaRPr lang="en-US" sz="900" dirty="0"/>
          </a:p>
          <a:p>
            <a:pPr algn="ctr" indent="0" marL="0">
              <a:buNone/>
            </a:pPr>
            <a:r>
              <a:rPr lang="en-US" sz="900" b="1" dirty="0">
                <a:solidFill>
                  <a:schemeClr val="bg1"/>
                </a:solidFill>
              </a:rPr>
              <a:t>company share</a:t>
            </a:r>
            <a:endParaRPr lang="en-US" sz="900" dirty="0"/>
          </a:p>
        </p:txBody>
      </p:sp>
      <p:graphicFrame>
        <p:nvGraphicFramePr>
          <p:cNvPr id="9" name="screened-company share chart" descr=""/>
          <p:cNvGraphicFramePr/>
          <p:nvPr/>
        </p:nvGraphicFramePr>
        <p:xfrm>
          <a:off x="1847088" y="2432304"/>
          <a:ext cx="4572000" cy="368503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2432304"/>
            <a:ext cx="1143000" cy="228600"/>
          </a:xfrm>
          <a:prstGeom prst="rect">
            <a:avLst/>
          </a:prstGeom>
          <a:noFill/>
          <a:ln/>
        </p:spPr>
        <p:txBody>
          <a:bodyPr wrap="square" lIns="0" tIns="0" rIns="0" bIns="0" rtlCol="0" anchor="ctr"/>
          <a:lstStyle/>
          <a:p>
            <a:pPr algn="r" indent="0" marL="0">
              <a:buNone/>
            </a:pPr>
            <a:r>
              <a:rPr lang="en-US" sz="900" b="1" dirty="0">
                <a:solidFill>
                  <a:schemeClr val="accent1"/>
                </a:solidFill>
              </a:rPr>
              <a:t>United States</a:t>
            </a:r>
            <a:endParaRPr lang="en-US" sz="900" dirty="0"/>
          </a:p>
        </p:txBody>
      </p:sp>
      <p:sp>
        <p:nvSpPr>
          <p:cNvPr id="11" name="fraction United States"/>
          <p:cNvSpPr txBox="1"/>
          <p:nvPr/>
        </p:nvSpPr>
        <p:spPr>
          <a:xfrm>
            <a:off x="5898305" y="2432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15</a:t>
            </a:r>
            <a:r>
              <a:rPr lang="en-US" sz="900" dirty="0">
                <a:solidFill>
                  <a:schemeClr val="tx1"/>
                </a:solidFill>
              </a:rPr>
              <a:t> / 43</a:t>
            </a:r>
            <a:endParaRPr lang="en-US" sz="900" dirty="0"/>
          </a:p>
        </p:txBody>
      </p:sp>
      <p:sp>
        <p:nvSpPr>
          <p:cNvPr id="12" name="Text 9"/>
          <p:cNvSpPr txBox="1"/>
          <p:nvPr/>
        </p:nvSpPr>
        <p:spPr>
          <a:xfrm>
            <a:off x="6574961" y="2432304"/>
            <a:ext cx="1608919" cy="228600"/>
          </a:xfrm>
          <a:prstGeom prst="rect">
            <a:avLst/>
          </a:prstGeom>
          <a:noFill/>
          <a:ln/>
        </p:spPr>
        <p:txBody>
          <a:bodyPr wrap="square" lIns="0" tIns="0" rIns="0" bIns="0" rtlCol="0" anchor="ctr"/>
          <a:lstStyle/>
          <a:p>
            <a:pPr algn="ctr" indent="0" marL="0">
              <a:buNone/>
            </a:pPr>
            <a:r>
              <a:rPr lang="en-US" sz="900" b="1" dirty="0">
                <a:solidFill>
                  <a:schemeClr val="accent1"/>
                </a:solidFill>
              </a:rPr>
              <a:t>34.9%</a:t>
            </a:r>
            <a:endParaRPr lang="en-US" sz="900" dirty="0"/>
          </a:p>
        </p:txBody>
      </p:sp>
      <p:sp>
        <p:nvSpPr>
          <p:cNvPr id="13" name="Text 10"/>
          <p:cNvSpPr txBox="1"/>
          <p:nvPr/>
        </p:nvSpPr>
        <p:spPr>
          <a:xfrm>
            <a:off x="548640" y="2660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China</a:t>
            </a:r>
            <a:endParaRPr lang="en-US" sz="900" dirty="0"/>
          </a:p>
        </p:txBody>
      </p:sp>
      <p:sp>
        <p:nvSpPr>
          <p:cNvPr id="14" name="fraction China"/>
          <p:cNvSpPr txBox="1"/>
          <p:nvPr/>
        </p:nvSpPr>
        <p:spPr>
          <a:xfrm>
            <a:off x="4768596" y="2660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5</a:t>
            </a:r>
            <a:r>
              <a:rPr lang="en-US" sz="900" dirty="0">
                <a:solidFill>
                  <a:schemeClr val="tx1"/>
                </a:solidFill>
              </a:rPr>
              <a:t> / 20</a:t>
            </a:r>
            <a:endParaRPr lang="en-US" sz="900" dirty="0"/>
          </a:p>
        </p:txBody>
      </p:sp>
      <p:sp>
        <p:nvSpPr>
          <p:cNvPr id="15" name="Text 12"/>
          <p:cNvSpPr txBox="1"/>
          <p:nvPr/>
        </p:nvSpPr>
        <p:spPr>
          <a:xfrm>
            <a:off x="6574961" y="2660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25.0%</a:t>
            </a:r>
            <a:endParaRPr lang="en-US" sz="900" dirty="0"/>
          </a:p>
        </p:txBody>
      </p:sp>
      <p:sp>
        <p:nvSpPr>
          <p:cNvPr id="16" name="Text 13"/>
          <p:cNvSpPr txBox="1"/>
          <p:nvPr/>
        </p:nvSpPr>
        <p:spPr>
          <a:xfrm>
            <a:off x="548640" y="2889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Spain</a:t>
            </a:r>
            <a:endParaRPr lang="en-US" sz="900" dirty="0"/>
          </a:p>
        </p:txBody>
      </p:sp>
      <p:sp>
        <p:nvSpPr>
          <p:cNvPr id="17" name="fraction Spain"/>
          <p:cNvSpPr txBox="1"/>
          <p:nvPr/>
        </p:nvSpPr>
        <p:spPr>
          <a:xfrm>
            <a:off x="3928155" y="2889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r>
              <a:rPr lang="en-US" sz="900" dirty="0">
                <a:solidFill>
                  <a:schemeClr val="tx1"/>
                </a:solidFill>
              </a:rPr>
              <a:t> / 17</a:t>
            </a:r>
            <a:endParaRPr lang="en-US" sz="900" dirty="0"/>
          </a:p>
        </p:txBody>
      </p:sp>
      <p:sp>
        <p:nvSpPr>
          <p:cNvPr id="18" name="Text 15"/>
          <p:cNvSpPr txBox="1"/>
          <p:nvPr/>
        </p:nvSpPr>
        <p:spPr>
          <a:xfrm>
            <a:off x="6574961" y="2889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17.6%</a:t>
            </a:r>
            <a:endParaRPr lang="en-US" sz="900" dirty="0"/>
          </a:p>
        </p:txBody>
      </p:sp>
      <p:sp>
        <p:nvSpPr>
          <p:cNvPr id="19" name="Text 16"/>
          <p:cNvSpPr txBox="1"/>
          <p:nvPr/>
        </p:nvSpPr>
        <p:spPr>
          <a:xfrm>
            <a:off x="548640" y="3118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Israel</a:t>
            </a:r>
            <a:endParaRPr lang="en-US" sz="900" dirty="0"/>
          </a:p>
        </p:txBody>
      </p:sp>
      <p:sp>
        <p:nvSpPr>
          <p:cNvPr id="20" name="fraction Israel"/>
          <p:cNvSpPr txBox="1"/>
          <p:nvPr/>
        </p:nvSpPr>
        <p:spPr>
          <a:xfrm>
            <a:off x="3435096" y="3118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r>
              <a:rPr lang="en-US" sz="900" dirty="0">
                <a:solidFill>
                  <a:schemeClr val="tx1"/>
                </a:solidFill>
              </a:rPr>
              <a:t> / 15</a:t>
            </a:r>
            <a:endParaRPr lang="en-US" sz="900" dirty="0"/>
          </a:p>
        </p:txBody>
      </p:sp>
      <p:sp>
        <p:nvSpPr>
          <p:cNvPr id="21" name="Text 18"/>
          <p:cNvSpPr txBox="1"/>
          <p:nvPr/>
        </p:nvSpPr>
        <p:spPr>
          <a:xfrm>
            <a:off x="6574961" y="3118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13.3%</a:t>
            </a:r>
            <a:endParaRPr lang="en-US" sz="900" dirty="0"/>
          </a:p>
        </p:txBody>
      </p:sp>
      <p:sp>
        <p:nvSpPr>
          <p:cNvPr id="22" name="Text 19"/>
          <p:cNvSpPr txBox="1"/>
          <p:nvPr/>
        </p:nvSpPr>
        <p:spPr>
          <a:xfrm>
            <a:off x="548640" y="3346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France</a:t>
            </a:r>
            <a:endParaRPr lang="en-US" sz="900" dirty="0"/>
          </a:p>
        </p:txBody>
      </p:sp>
      <p:sp>
        <p:nvSpPr>
          <p:cNvPr id="23" name="fraction France"/>
          <p:cNvSpPr txBox="1"/>
          <p:nvPr/>
        </p:nvSpPr>
        <p:spPr>
          <a:xfrm>
            <a:off x="3255802" y="3346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r>
              <a:rPr lang="en-US" sz="900" dirty="0">
                <a:solidFill>
                  <a:schemeClr val="tx1"/>
                </a:solidFill>
              </a:rPr>
              <a:t> / 17</a:t>
            </a:r>
            <a:endParaRPr lang="en-US" sz="900" dirty="0"/>
          </a:p>
        </p:txBody>
      </p:sp>
      <p:sp>
        <p:nvSpPr>
          <p:cNvPr id="24" name="Text 21"/>
          <p:cNvSpPr txBox="1"/>
          <p:nvPr/>
        </p:nvSpPr>
        <p:spPr>
          <a:xfrm>
            <a:off x="6574961" y="3346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5" name="Text 22"/>
          <p:cNvSpPr txBox="1"/>
          <p:nvPr/>
        </p:nvSpPr>
        <p:spPr>
          <a:xfrm>
            <a:off x="548640" y="3575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Nordics</a:t>
            </a:r>
            <a:endParaRPr lang="en-US" sz="900" dirty="0"/>
          </a:p>
        </p:txBody>
      </p:sp>
      <p:sp>
        <p:nvSpPr>
          <p:cNvPr id="26" name="fraction Nordics"/>
          <p:cNvSpPr txBox="1"/>
          <p:nvPr/>
        </p:nvSpPr>
        <p:spPr>
          <a:xfrm>
            <a:off x="3255802" y="3575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r>
              <a:rPr lang="en-US" sz="900" dirty="0">
                <a:solidFill>
                  <a:schemeClr val="tx1"/>
                </a:solidFill>
              </a:rPr>
              <a:t> / 17</a:t>
            </a:r>
            <a:endParaRPr lang="en-US" sz="900" dirty="0"/>
          </a:p>
        </p:txBody>
      </p:sp>
      <p:sp>
        <p:nvSpPr>
          <p:cNvPr id="27" name="Text 24"/>
          <p:cNvSpPr txBox="1"/>
          <p:nvPr/>
        </p:nvSpPr>
        <p:spPr>
          <a:xfrm>
            <a:off x="6574961" y="3575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8" name="Text 25"/>
          <p:cNvSpPr txBox="1"/>
          <p:nvPr/>
        </p:nvSpPr>
        <p:spPr>
          <a:xfrm>
            <a:off x="548640" y="3803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India</a:t>
            </a:r>
            <a:endParaRPr lang="en-US" sz="900" dirty="0"/>
          </a:p>
        </p:txBody>
      </p:sp>
      <p:sp>
        <p:nvSpPr>
          <p:cNvPr id="29" name="fraction India"/>
          <p:cNvSpPr txBox="1"/>
          <p:nvPr/>
        </p:nvSpPr>
        <p:spPr>
          <a:xfrm>
            <a:off x="2982659" y="3803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r>
              <a:rPr lang="en-US" sz="900" dirty="0">
                <a:solidFill>
                  <a:schemeClr val="tx1"/>
                </a:solidFill>
              </a:rPr>
              <a:t> / 32</a:t>
            </a:r>
            <a:endParaRPr lang="en-US" sz="900" dirty="0"/>
          </a:p>
        </p:txBody>
      </p:sp>
      <p:sp>
        <p:nvSpPr>
          <p:cNvPr id="30" name="Text 27"/>
          <p:cNvSpPr txBox="1"/>
          <p:nvPr/>
        </p:nvSpPr>
        <p:spPr>
          <a:xfrm>
            <a:off x="6574961" y="3803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9.4%</a:t>
            </a:r>
            <a:endParaRPr lang="en-US" sz="900" dirty="0"/>
          </a:p>
        </p:txBody>
      </p:sp>
      <p:sp>
        <p:nvSpPr>
          <p:cNvPr id="31" name="Text 28"/>
          <p:cNvSpPr txBox="1"/>
          <p:nvPr/>
        </p:nvSpPr>
        <p:spPr>
          <a:xfrm>
            <a:off x="548640" y="4032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Netherlands</a:t>
            </a:r>
            <a:endParaRPr lang="en-US" sz="900" dirty="0"/>
          </a:p>
        </p:txBody>
      </p:sp>
      <p:sp>
        <p:nvSpPr>
          <p:cNvPr id="32" name="fraction Netherlands"/>
          <p:cNvSpPr txBox="1"/>
          <p:nvPr/>
        </p:nvSpPr>
        <p:spPr>
          <a:xfrm>
            <a:off x="2950187" y="4032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r>
              <a:rPr lang="en-US" sz="900" dirty="0">
                <a:solidFill>
                  <a:schemeClr val="tx1"/>
                </a:solidFill>
              </a:rPr>
              <a:t> / 11</a:t>
            </a:r>
            <a:endParaRPr lang="en-US" sz="900" dirty="0"/>
          </a:p>
        </p:txBody>
      </p:sp>
      <p:sp>
        <p:nvSpPr>
          <p:cNvPr id="33" name="Text 30"/>
          <p:cNvSpPr txBox="1"/>
          <p:nvPr/>
        </p:nvSpPr>
        <p:spPr>
          <a:xfrm>
            <a:off x="6574961" y="4032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9.1%</a:t>
            </a:r>
            <a:endParaRPr lang="en-US" sz="900" dirty="0"/>
          </a:p>
        </p:txBody>
      </p:sp>
      <p:sp>
        <p:nvSpPr>
          <p:cNvPr id="34" name="Text 31"/>
          <p:cNvSpPr txBox="1"/>
          <p:nvPr/>
        </p:nvSpPr>
        <p:spPr>
          <a:xfrm>
            <a:off x="548640" y="4261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Australia</a:t>
            </a:r>
            <a:endParaRPr lang="en-US" sz="900" dirty="0"/>
          </a:p>
        </p:txBody>
      </p:sp>
      <p:sp>
        <p:nvSpPr>
          <p:cNvPr id="35" name="fraction Australia"/>
          <p:cNvSpPr txBox="1"/>
          <p:nvPr/>
        </p:nvSpPr>
        <p:spPr>
          <a:xfrm>
            <a:off x="2727525" y="4261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r>
              <a:rPr lang="en-US" sz="900" dirty="0">
                <a:solidFill>
                  <a:schemeClr val="tx1"/>
                </a:solidFill>
              </a:rPr>
              <a:t> / 14</a:t>
            </a:r>
            <a:endParaRPr lang="en-US" sz="900" dirty="0"/>
          </a:p>
        </p:txBody>
      </p:sp>
      <p:sp>
        <p:nvSpPr>
          <p:cNvPr id="36" name="Text 33"/>
          <p:cNvSpPr txBox="1"/>
          <p:nvPr/>
        </p:nvSpPr>
        <p:spPr>
          <a:xfrm>
            <a:off x="6574961" y="4261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7.1%</a:t>
            </a:r>
            <a:endParaRPr lang="en-US" sz="900" dirty="0"/>
          </a:p>
        </p:txBody>
      </p:sp>
      <p:sp>
        <p:nvSpPr>
          <p:cNvPr id="37" name="Text 34"/>
          <p:cNvSpPr txBox="1"/>
          <p:nvPr/>
        </p:nvSpPr>
        <p:spPr>
          <a:xfrm>
            <a:off x="548640" y="4489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South Korea</a:t>
            </a:r>
            <a:endParaRPr lang="en-US" sz="900" dirty="0"/>
          </a:p>
        </p:txBody>
      </p:sp>
      <p:sp>
        <p:nvSpPr>
          <p:cNvPr id="38" name="fraction South Korea"/>
          <p:cNvSpPr txBox="1"/>
          <p:nvPr/>
        </p:nvSpPr>
        <p:spPr>
          <a:xfrm>
            <a:off x="2583449" y="4489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r>
              <a:rPr lang="en-US" sz="900" dirty="0">
                <a:solidFill>
                  <a:schemeClr val="tx1"/>
                </a:solidFill>
              </a:rPr>
              <a:t> / 17</a:t>
            </a:r>
            <a:endParaRPr lang="en-US" sz="900" dirty="0"/>
          </a:p>
        </p:txBody>
      </p:sp>
      <p:sp>
        <p:nvSpPr>
          <p:cNvPr id="39" name="Text 36"/>
          <p:cNvSpPr txBox="1"/>
          <p:nvPr/>
        </p:nvSpPr>
        <p:spPr>
          <a:xfrm>
            <a:off x="6574961" y="4489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5.9%</a:t>
            </a:r>
            <a:endParaRPr lang="en-US" sz="900" dirty="0"/>
          </a:p>
        </p:txBody>
      </p:sp>
      <p:sp>
        <p:nvSpPr>
          <p:cNvPr id="40" name="Text 37"/>
          <p:cNvSpPr txBox="1"/>
          <p:nvPr/>
        </p:nvSpPr>
        <p:spPr>
          <a:xfrm>
            <a:off x="548640" y="4718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Belgium</a:t>
            </a:r>
            <a:endParaRPr lang="en-US" sz="900" dirty="0"/>
          </a:p>
        </p:txBody>
      </p:sp>
      <p:sp>
        <p:nvSpPr>
          <p:cNvPr id="41" name="fraction Belgium"/>
          <p:cNvSpPr txBox="1"/>
          <p:nvPr/>
        </p:nvSpPr>
        <p:spPr>
          <a:xfrm>
            <a:off x="2546096" y="4718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r>
              <a:rPr lang="en-US" sz="900" dirty="0">
                <a:solidFill>
                  <a:schemeClr val="tx1"/>
                </a:solidFill>
              </a:rPr>
              <a:t> / 18</a:t>
            </a:r>
            <a:endParaRPr lang="en-US" sz="900" dirty="0"/>
          </a:p>
        </p:txBody>
      </p:sp>
      <p:sp>
        <p:nvSpPr>
          <p:cNvPr id="42" name="Text 39"/>
          <p:cNvSpPr txBox="1"/>
          <p:nvPr/>
        </p:nvSpPr>
        <p:spPr>
          <a:xfrm>
            <a:off x="6574961" y="4718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3" name="Text 40"/>
          <p:cNvSpPr txBox="1"/>
          <p:nvPr/>
        </p:nvSpPr>
        <p:spPr>
          <a:xfrm>
            <a:off x="548640" y="4946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United Kingdom</a:t>
            </a:r>
            <a:endParaRPr lang="en-US" sz="900" dirty="0"/>
          </a:p>
        </p:txBody>
      </p:sp>
      <p:sp>
        <p:nvSpPr>
          <p:cNvPr id="44" name="fraction United Kingdom"/>
          <p:cNvSpPr txBox="1"/>
          <p:nvPr/>
        </p:nvSpPr>
        <p:spPr>
          <a:xfrm>
            <a:off x="2546096" y="4946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r>
              <a:rPr lang="en-US" sz="900" dirty="0">
                <a:solidFill>
                  <a:schemeClr val="tx1"/>
                </a:solidFill>
              </a:rPr>
              <a:t> / 18</a:t>
            </a:r>
            <a:endParaRPr lang="en-US" sz="900" dirty="0"/>
          </a:p>
        </p:txBody>
      </p:sp>
      <p:sp>
        <p:nvSpPr>
          <p:cNvPr id="45" name="Text 42"/>
          <p:cNvSpPr txBox="1"/>
          <p:nvPr/>
        </p:nvSpPr>
        <p:spPr>
          <a:xfrm>
            <a:off x="6574961" y="4946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6" name="Text 43"/>
          <p:cNvSpPr txBox="1"/>
          <p:nvPr/>
        </p:nvSpPr>
        <p:spPr>
          <a:xfrm>
            <a:off x="548640" y="5175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Canada</a:t>
            </a:r>
            <a:endParaRPr lang="en-US" sz="900" dirty="0"/>
          </a:p>
        </p:txBody>
      </p:sp>
      <p:sp>
        <p:nvSpPr>
          <p:cNvPr id="47" name="fraction Canada"/>
          <p:cNvSpPr txBox="1"/>
          <p:nvPr/>
        </p:nvSpPr>
        <p:spPr>
          <a:xfrm>
            <a:off x="1911096" y="5175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r>
              <a:rPr lang="en-US" sz="900" dirty="0">
                <a:solidFill>
                  <a:schemeClr val="tx1"/>
                </a:solidFill>
              </a:rPr>
              <a:t> / 11</a:t>
            </a:r>
            <a:endParaRPr lang="en-US" sz="900" dirty="0"/>
          </a:p>
        </p:txBody>
      </p:sp>
      <p:sp>
        <p:nvSpPr>
          <p:cNvPr id="48" name="Text 45"/>
          <p:cNvSpPr txBox="1"/>
          <p:nvPr/>
        </p:nvSpPr>
        <p:spPr>
          <a:xfrm>
            <a:off x="6574961" y="5175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49" name="Text 46"/>
          <p:cNvSpPr txBox="1"/>
          <p:nvPr/>
        </p:nvSpPr>
        <p:spPr>
          <a:xfrm>
            <a:off x="548640" y="5404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Germany</a:t>
            </a:r>
            <a:endParaRPr lang="en-US" sz="900" dirty="0"/>
          </a:p>
        </p:txBody>
      </p:sp>
      <p:sp>
        <p:nvSpPr>
          <p:cNvPr id="50" name="fraction Germany"/>
          <p:cNvSpPr txBox="1"/>
          <p:nvPr/>
        </p:nvSpPr>
        <p:spPr>
          <a:xfrm>
            <a:off x="1911096" y="5404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r>
              <a:rPr lang="en-US" sz="900" dirty="0">
                <a:solidFill>
                  <a:schemeClr val="tx1"/>
                </a:solidFill>
              </a:rPr>
              <a:t> / 13</a:t>
            </a:r>
            <a:endParaRPr lang="en-US" sz="900" dirty="0"/>
          </a:p>
        </p:txBody>
      </p:sp>
      <p:sp>
        <p:nvSpPr>
          <p:cNvPr id="51" name="Text 48"/>
          <p:cNvSpPr txBox="1"/>
          <p:nvPr/>
        </p:nvSpPr>
        <p:spPr>
          <a:xfrm>
            <a:off x="6574961" y="5404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2" name="Text 49"/>
          <p:cNvSpPr txBox="1"/>
          <p:nvPr/>
        </p:nvSpPr>
        <p:spPr>
          <a:xfrm>
            <a:off x="548640" y="5632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Japan</a:t>
            </a:r>
            <a:endParaRPr lang="en-US" sz="900" dirty="0"/>
          </a:p>
        </p:txBody>
      </p:sp>
      <p:sp>
        <p:nvSpPr>
          <p:cNvPr id="53" name="fraction Japan"/>
          <p:cNvSpPr txBox="1"/>
          <p:nvPr/>
        </p:nvSpPr>
        <p:spPr>
          <a:xfrm>
            <a:off x="1911096" y="5632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r>
              <a:rPr lang="en-US" sz="900" dirty="0">
                <a:solidFill>
                  <a:schemeClr val="tx1"/>
                </a:solidFill>
              </a:rPr>
              <a:t> / 15</a:t>
            </a:r>
            <a:endParaRPr lang="en-US" sz="900" dirty="0"/>
          </a:p>
        </p:txBody>
      </p:sp>
      <p:sp>
        <p:nvSpPr>
          <p:cNvPr id="54" name="Text 51"/>
          <p:cNvSpPr txBox="1"/>
          <p:nvPr/>
        </p:nvSpPr>
        <p:spPr>
          <a:xfrm>
            <a:off x="6574961" y="5632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5" name="how to read card"/>
          <p:cNvSpPr/>
          <p:nvPr/>
        </p:nvSpPr>
        <p:spPr>
          <a:xfrm>
            <a:off x="8412480" y="1792224"/>
            <a:ext cx="3227832" cy="17830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8613648" y="1988820"/>
            <a:ext cx="2825496" cy="475488"/>
          </a:xfrm>
          <a:prstGeom prst="rect">
            <a:avLst/>
          </a:prstGeom>
          <a:noFill/>
          <a:ln/>
        </p:spPr>
        <p:txBody>
          <a:bodyPr wrap="square" lIns="0" tIns="0" rIns="0" bIns="0" rtlCol="0" anchor="t"/>
          <a:lstStyle/>
          <a:p>
            <a:pPr indent="0" marL="0">
              <a:buNone/>
            </a:pPr>
            <a:r>
              <a:rPr lang="en-US" sz="1300" b="1" spc="150" kern="0" dirty="0">
                <a:solidFill>
                  <a:schemeClr val="accent2"/>
                </a:solidFill>
              </a:rPr>
              <a:t>HOW TO READ THE COMPARISON</a:t>
            </a:r>
            <a:endParaRPr lang="en-US" sz="1300" dirty="0"/>
          </a:p>
        </p:txBody>
      </p:sp>
      <p:sp>
        <p:nvSpPr>
          <p:cNvPr id="57" name="Text 54"/>
          <p:cNvSpPr txBox="1"/>
          <p:nvPr/>
        </p:nvSpPr>
        <p:spPr>
          <a:xfrm>
            <a:off x="8613648" y="2555748"/>
            <a:ext cx="2825496" cy="822960"/>
          </a:xfrm>
          <a:prstGeom prst="rect">
            <a:avLst/>
          </a:prstGeom>
          <a:noFill/>
          <a:ln/>
        </p:spPr>
        <p:txBody>
          <a:bodyPr wrap="square" lIns="0" tIns="0" rIns="0" bIns="0" rtlCol="0" anchor="t"/>
          <a:lstStyle/>
          <a:p>
            <a:pPr indent="0" marL="0">
              <a:buNone/>
            </a:pPr>
            <a:r>
              <a:rPr lang="en-US" sz="1000" dirty="0">
                <a:solidFill>
                  <a:schemeClr val="tx1"/>
                </a:solidFill>
              </a:rPr>
              <a:t>Each bar shows the share of comparable companies we screened that market conversational AI. International counts exclude companies already represented in the U.S. inventory.</a:t>
            </a:r>
            <a:endParaRPr lang="en-US" sz="1000" dirty="0"/>
          </a:p>
        </p:txBody>
      </p:sp>
      <p:sp>
        <p:nvSpPr>
          <p:cNvPr id="58" name="next card"/>
          <p:cNvSpPr/>
          <p:nvPr/>
        </p:nvSpPr>
        <p:spPr>
          <a:xfrm>
            <a:off x="8412480" y="3758184"/>
            <a:ext cx="3227832" cy="235000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9" name="icon circle"/>
          <p:cNvSpPr/>
          <p:nvPr/>
        </p:nvSpPr>
        <p:spPr>
          <a:xfrm>
            <a:off x="8613648" y="4247388"/>
            <a:ext cx="402336" cy="402336"/>
          </a:xfrm>
          <a:prstGeom prst="ellipse">
            <a:avLst/>
          </a:prstGeom>
          <a:solidFill>
            <a:schemeClr val="accent5"/>
          </a:solidFill>
          <a:ln/>
        </p:spPr>
        <p:txBody>
          <a:bodyPr/>
          <a:p/>
        </p:txBody>
      </p:sp>
      <p:pic>
        <p:nvPicPr>
          <p:cNvPr id="60" name="icon MdArrowForward" descr="preencoded.png">    </p:cNvPr>
          <p:cNvPicPr>
            <a:picLocks noChangeAspect="1"/>
          </p:cNvPicPr>
          <p:nvPr/>
        </p:nvPicPr>
        <p:blipFill>
          <a:blip r:embed="rId2"/>
          <a:stretch>
            <a:fillRect/>
          </a:stretch>
        </p:blipFill>
        <p:spPr>
          <a:xfrm>
            <a:off x="8702162" y="4335902"/>
            <a:ext cx="225308" cy="225308"/>
          </a:xfrm>
          <a:prstGeom prst="rect">
            <a:avLst/>
          </a:prstGeom>
        </p:spPr>
      </p:pic>
      <p:sp>
        <p:nvSpPr>
          <p:cNvPr id="61" name="label"/>
          <p:cNvSpPr txBox="1"/>
          <p:nvPr/>
        </p:nvSpPr>
        <p:spPr>
          <a:xfrm>
            <a:off x="9144000" y="4082796"/>
            <a:ext cx="2295144" cy="731520"/>
          </a:xfrm>
          <a:prstGeom prst="rect">
            <a:avLst/>
          </a:prstGeom>
          <a:noFill/>
          <a:ln/>
        </p:spPr>
        <p:txBody>
          <a:bodyPr wrap="square" lIns="0" tIns="0" rIns="0" bIns="0" rtlCol="0" anchor="ctr"/>
          <a:lstStyle/>
          <a:p>
            <a:pPr indent="0" marL="0">
              <a:buNone/>
            </a:pPr>
            <a:r>
              <a:rPr lang="en-US" sz="1300" b="1" spc="150" kern="0" dirty="0">
                <a:solidFill>
                  <a:schemeClr val="accent2"/>
                </a:solidFill>
              </a:rPr>
              <a:t>FROM COMPANY SCREENS TO ACTUAL PRODUCTS</a:t>
            </a:r>
            <a:endParaRPr lang="en-US" sz="1300" dirty="0"/>
          </a:p>
        </p:txBody>
      </p:sp>
      <p:sp>
        <p:nvSpPr>
          <p:cNvPr id="62" name="Text 58"/>
          <p:cNvSpPr txBox="1"/>
          <p:nvPr/>
        </p:nvSpPr>
        <p:spPr>
          <a:xfrm>
            <a:off x="8613648" y="4960620"/>
            <a:ext cx="2825496" cy="822960"/>
          </a:xfrm>
          <a:prstGeom prst="rect">
            <a:avLst/>
          </a:prstGeom>
          <a:noFill/>
          <a:ln/>
        </p:spPr>
        <p:txBody>
          <a:bodyPr wrap="square" lIns="0" tIns="0" rIns="0" bIns="0" rtlCol="0" anchor="t"/>
          <a:lstStyle/>
          <a:p>
            <a:pPr indent="0" marL="0">
              <a:buNone/>
            </a:pPr>
            <a:r>
              <a:rPr lang="en-US" sz="1150" b="1" dirty="0">
                <a:solidFill>
                  <a:schemeClr val="accent1"/>
                </a:solidFill>
              </a:rPr>
              <a:t>The following slides examine the specific marketed conversational tools and corresponding Optum LS offerings – beginning with RWE.</a:t>
            </a:r>
            <a:endParaRPr lang="en-US" sz="11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a:t>
            </a:r>
            <a:br/>
            <a:r>
              <a:rPr lang="en-US" sz="2200" b="1" dirty="0">
                <a:solidFill>
                  <a:schemeClr val="accent1"/>
                </a:solidFill>
              </a:rPr>
              <a:t>datasets, explore cohorts and answer RWE questions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16839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18087">
                <a:tc>
                  <a:txBody>
                    <a:bodyPr/>
                    <a:lstStyle/>
                    <a:p>
                      <a:pPr algn="ctr" indent="0" marL="0">
                        <a:buNone/>
                      </a:pPr>
                      <a:r>
                        <a:rPr lang="en-US" sz="1050" b="1" dirty="0">
                          <a:solidFill>
                            <a:schemeClr val="accent1"/>
                          </a:solidFill>
                        </a:rPr>
                        <a:t>Identify and assess</a:t>
                      </a:r>
                      <a:b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Truven’s </a:t>
                      </a:r>
                      <a:r>
                        <a:rPr lang="en-US" sz="950" b="1" dirty="0" u="sng">
                          <a:solidFill>
                            <a:srgbClr val="002677"/>
                          </a:solidFill>
                          <a:uFill>
                            <a:solidFill>
                              <a:srgbClr val="9AA8CC"/>
                            </a:solidFill>
                          </a:uFill>
                        </a:rPr>
                        <a:t>MarketScan Snapshot</a:t>
                      </a:r>
                      <a:r>
                        <a:rPr lang="en-US" sz="950" dirty="0">
                          <a:solidFill>
                            <a:schemeClr val="tx1"/>
                          </a:solidFill>
                        </a:rPr>
                        <a:t>: Natural-language assessment of MarketScan data suitability;</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b="1" dirty="0" u="sng">
                          <a:solidFill>
                            <a:srgbClr val="002677"/>
                          </a:solidFill>
                          <a:uFill>
                            <a:solidFill>
                              <a:srgbClr val="9AA8CC"/>
                            </a:solidFill>
                          </a:uFill>
                        </a:rPr>
                        <a:t>Ella AI</a:t>
                      </a:r>
                      <a:r>
                        <a:rPr lang="en-US" sz="950" dirty="0">
                          <a:solidFill>
                            <a:schemeClr val="tx1"/>
                          </a:solidFill>
                        </a:rPr>
                        <a:t>: Conversational dataset recommendations (along with cohort construction and documented RWE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Market Clarity Data</a:t>
                      </a:r>
                      <a:r>
                        <a:rPr lang="en-US" sz="950" dirty="0" b="0">
                          <a:solidFill>
                            <a:schemeClr val="tx1"/>
                          </a:solidFill>
                        </a:rPr>
                        <a:t> (linked claims/EHR)</a:t>
                      </a:r>
                      <a:r>
                        <a:rPr lang="en-US" sz="950" dirty="0" b="0">
                          <a:solidFill>
                            <a:schemeClr val="tx1"/>
                          </a:solidFill>
                        </a:rPr>
                        <a:t>; </a:t>
                      </a:r>
                      <a:r>
                        <a:rPr lang="en-US" sz="950" dirty="0" b="1" u="sng">
                          <a:solidFill>
                            <a:srgbClr val="002677"/>
                          </a:solidFill>
                          <a:uFill>
                            <a:solidFill>
                              <a:srgbClr val="9AA8CC"/>
                            </a:solidFill>
                          </a:uFill>
                        </a:rPr>
                        <a:t>Enriched Clinical Data</a:t>
                      </a:r>
                      <a:r>
                        <a:rPr lang="en-US" sz="950" dirty="0" b="0">
                          <a:solidFill>
                            <a:schemeClr val="tx1"/>
                          </a:solidFill>
                        </a:rPr>
                        <a:t> (NLP-extracted clinical variables)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03037">
                <a:tc>
                  <a:txBody>
                    <a:bodyPr/>
                    <a:lstStyle/>
                    <a:p>
                      <a:pPr algn="ctr" indent="0" marL="0">
                        <a:buNone/>
                      </a:pPr>
                      <a:r>
                        <a:rPr lang="en-US" sz="1050" b="1" dirty="0">
                          <a:solidFill>
                            <a:schemeClr val="accent1"/>
                          </a:solidFill>
                        </a:rPr>
                        <a:t>Explore patient</a:t>
                      </a:r>
                      <a:b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b="1" dirty="0" u="sng">
                          <a:solidFill>
                            <a:srgbClr val="002677"/>
                          </a:solidFill>
                          <a:uFill>
                            <a:solidFill>
                              <a:srgbClr val="9AA8CC"/>
                            </a:solidFill>
                          </a:uFill>
                        </a:rPr>
                        <a:t>Marmot</a:t>
                      </a:r>
                      <a:r>
                        <a:rPr lang="en-US" sz="950" dirty="0">
                          <a:solidFill>
                            <a:schemeClr val="tx1"/>
                          </a:solidFill>
                        </a:rPr>
                        <a:t> and </a:t>
                      </a:r>
                      <a:r>
                        <a:rPr lang="en-US" sz="950" b="1" dirty="0" u="sng">
                          <a:solidFill>
                            <a:srgbClr val="002677"/>
                          </a:solidFill>
                          <a:uFill>
                            <a:solidFill>
                              <a:srgbClr val="9AA8CC"/>
                            </a:solidFill>
                          </a:uFill>
                        </a:rPr>
                        <a:t>MapAI</a:t>
                      </a:r>
                      <a:r>
                        <a:rPr lang="en-US" sz="950" dirty="0">
                          <a:solidFill>
                            <a:schemeClr val="tx1"/>
                          </a:solidFill>
                        </a:rPr>
                        <a:t>: conversational healthcare analytics and cohort exploration;</a:t>
                      </a:r>
                      <a:endParaRPr lang="en-US" sz="950" dirty="0"/>
                    </a:p>
                    <a:p>
                      <a:pPr indent="0" marL="0">
                        <a:spcBef>
                          <a:spcPts val="400"/>
                        </a:spcBef>
                        <a:buNone/>
                      </a:pPr>
                      <a:r>
                        <a:rPr lang="en-US" sz="950" dirty="0" u="sng">
                          <a:solidFill>
                            <a:srgbClr val="002677"/>
                          </a:solidFill>
                          <a:uFill>
                            <a:solidFill>
                              <a:srgbClr val="9AA8CC"/>
                            </a:solidFill>
                          </a:uFill>
                        </a:rPr>
                        <a:t>Truveta’s </a:t>
                      </a:r>
                      <a:r>
                        <a:rPr lang="en-US" sz="950" b="1" dirty="0" u="sng">
                          <a:solidFill>
                            <a:srgbClr val="002677"/>
                          </a:solidFill>
                          <a:uFill>
                            <a:solidFill>
                              <a:srgbClr val="9AA8CC"/>
                            </a:solidFill>
                          </a:uFill>
                        </a:rPr>
                        <a:t>Truveta Intelligence</a:t>
                      </a: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u="sng">
                          <a:solidFill>
                            <a:srgbClr val="002677"/>
                          </a:solidFill>
                          <a:uFill>
                            <a:solidFill>
                              <a:srgbClr val="9AA8CC"/>
                            </a:solidFill>
                          </a:uFill>
                        </a:rPr>
                        <a:t>Briya’s </a:t>
                      </a:r>
                      <a:r>
                        <a:rPr lang="en-US" sz="950" b="1" dirty="0" u="sng">
                          <a:solidFill>
                            <a:srgbClr val="002677"/>
                          </a:solidFill>
                          <a:uFill>
                            <a:solidFill>
                              <a:srgbClr val="9AA8CC"/>
                            </a:solidFill>
                          </a:uFill>
                        </a:rPr>
                        <a:t>AIRE Population Agent</a:t>
                      </a:r>
                      <a:r>
                        <a:rPr lang="en-US" sz="950" dirty="0">
                          <a:solidFill>
                            <a:schemeClr val="tx1"/>
                          </a:solidFill>
                        </a:rPr>
                        <a:t> </a:t>
                      </a:r>
                      <a:r>
                        <a:rPr lang="en-US" sz="950" dirty="0">
                          <a:solidFill>
                            <a:schemeClr val="tx1"/>
                          </a:solidFill>
                        </a:rPr>
                        <a:t>(Israel)</a:t>
                      </a: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Analytics on Demand</a:t>
                      </a:r>
                      <a:r>
                        <a:rPr lang="en-US" sz="950" dirty="0" b="0">
                          <a:solidFill>
                            <a:schemeClr val="tx1"/>
                          </a:solidFill>
                        </a:rPr>
                        <a:t> (advanced statistical models)</a:t>
                      </a:r>
                      <a:r>
                        <a:rPr lang="en-US" sz="950" dirty="0" b="0">
                          <a:solidFill>
                            <a:schemeClr val="tx1"/>
                          </a:solidFill>
                        </a:rPr>
                        <a:t>; </a:t>
                      </a:r>
                      <a:r>
                        <a:rPr lang="en-US" sz="950" dirty="0" b="1" u="sng">
                          <a:solidFill>
                            <a:srgbClr val="002677"/>
                          </a:solidFill>
                          <a:uFill>
                            <a:solidFill>
                              <a:srgbClr val="9AA8CC"/>
                            </a:solidFill>
                          </a:uFill>
                        </a:rPr>
                        <a:t>Clinical Notes Lab</a:t>
                      </a:r>
                      <a:r>
                        <a:rPr lang="en-US" sz="950" dirty="0" b="0">
                          <a:solidFill>
                            <a:schemeClr val="tx1"/>
                          </a:solidFill>
                        </a:rPr>
                        <a:t> (NLP/LLMs, custom AI models)</a:t>
                      </a:r>
                      <a:r>
                        <a:rPr lang="en-US" sz="950" dirty="0" b="0">
                          <a:solidFill>
                            <a:schemeClr val="tx1"/>
                          </a:solidFill>
                        </a:rPr>
                        <a:t>; </a:t>
                      </a:r>
                      <a:r>
                        <a:rPr lang="en-US" sz="950" dirty="0" b="1" u="sng">
                          <a:solidFill>
                            <a:srgbClr val="002677"/>
                          </a:solidFill>
                          <a:uFill>
                            <a:solidFill>
                              <a:srgbClr val="9AA8CC"/>
                            </a:solidFill>
                          </a:uFill>
                        </a:rPr>
                        <a:t>Prospector</a:t>
                      </a:r>
                      <a:r>
                        <a:rPr lang="en-US" sz="950" dirty="0" b="0">
                          <a:solidFill>
                            <a:schemeClr val="tx1"/>
                          </a:solidFill>
                        </a:rPr>
                        <a:t> (no-code cohort building, attrition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18087">
                <a:tc>
                  <a:txBody>
                    <a:bodyPr/>
                    <a:lstStyle/>
                    <a:p>
                      <a:pPr algn="ctr" indent="0" marL="0">
                        <a:buNone/>
                      </a:pPr>
                      <a:r>
                        <a:rPr lang="en-US" sz="1050" b="1" dirty="0">
                          <a:solidFill>
                            <a:schemeClr val="accent1"/>
                          </a:solidFill>
                        </a:rPr>
                        <a:t>Investigate broader</a:t>
                      </a:r>
                      <a:b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HealthVerity’s </a:t>
                      </a:r>
                      <a:r>
                        <a:rPr lang="en-US" sz="950" b="1" dirty="0" u="sng">
                          <a:solidFill>
                            <a:srgbClr val="002677"/>
                          </a:solidFill>
                          <a:uFill>
                            <a:solidFill>
                              <a:srgbClr val="9AA8CC"/>
                            </a:solidFill>
                          </a:uFill>
                        </a:rPr>
                        <a:t>eXOs</a:t>
                      </a:r>
                      <a:r>
                        <a:rPr lang="en-US" sz="950" dirty="0">
                          <a:solidFill>
                            <a:schemeClr val="tx1"/>
                          </a:solidFill>
                        </a:rPr>
                        <a:t>: Conversational data feasibility, cohort design and auditable RWE analysis;</a:t>
                      </a:r>
                      <a:endParaRPr lang="en-US" sz="950" dirty="0"/>
                    </a:p>
                    <a:p>
                      <a:pPr indent="0" marL="0">
                        <a:spcBef>
                          <a:spcPts val="400"/>
                        </a:spcBef>
                        <a:buNone/>
                      </a:pPr>
                      <a:r>
                        <a:rPr lang="en-US" sz="950" dirty="0" u="sng">
                          <a:solidFill>
                            <a:srgbClr val="002677"/>
                          </a:solidFill>
                          <a:uFill>
                            <a:solidFill>
                              <a:srgbClr val="9AA8CC"/>
                            </a:solidFill>
                          </a:uFill>
                        </a:rPr>
                        <a:t>BC Platforms’ </a:t>
                      </a:r>
                      <a:r>
                        <a:rPr lang="en-US" sz="950" b="1" dirty="0" u="sng">
                          <a:solidFill>
                            <a:srgbClr val="002677"/>
                          </a:solidFill>
                          <a:uFill>
                            <a:solidFill>
                              <a:srgbClr val="9AA8CC"/>
                            </a:solidFill>
                          </a:uFill>
                        </a:rPr>
                        <a:t>BC Catalyst</a:t>
                      </a:r>
                      <a:r>
                        <a:rPr lang="en-US" sz="950" dirty="0">
                          <a:solidFill>
                            <a:schemeClr val="tx1"/>
                          </a:solidFill>
                        </a:rPr>
                        <a:t> </a:t>
                      </a:r>
                      <a:r>
                        <a:rPr lang="en-US" sz="950" dirty="0">
                          <a:solidFill>
                            <a:schemeClr val="tx1"/>
                          </a:solidFill>
                        </a:rPr>
                        <a:t>(Finland)</a:t>
                      </a: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Analytics on Demand</a:t>
                      </a:r>
                      <a:r>
                        <a:rPr lang="en-US" sz="950" dirty="0" b="0">
                          <a:solidFill>
                            <a:schemeClr val="tx1"/>
                          </a:solidFill>
                        </a:rPr>
                        <a:t> (statistical modeling, decision trees)</a:t>
                      </a:r>
                      <a:r>
                        <a:rPr lang="en-US" sz="950" dirty="0" b="0">
                          <a:solidFill>
                            <a:schemeClr val="tx1"/>
                          </a:solidFill>
                        </a:rPr>
                        <a:t>; </a:t>
                      </a:r>
                      <a:r>
                        <a:rPr lang="en-US" sz="950" dirty="0" u="sng">
                          <a:solidFill>
                            <a:srgbClr val="002677"/>
                          </a:solidFill>
                          <a:uFill>
                            <a:solidFill>
                              <a:srgbClr val="9AA8CC"/>
                            </a:solidFill>
                          </a:uFill>
                        </a:rPr>
                        <a:t>epidemiology research services</a:t>
                      </a:r>
                      <a:r>
                        <a:rPr lang="en-US" sz="950" dirty="0" b="0">
                          <a:solidFill>
                            <a:schemeClr val="tx1"/>
                          </a:solidFill>
                        </a:rPr>
                        <a:t> (advanced study methods, scientific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end-to-end conversational rwe card"/>
          <p:cNvSpPr/>
          <p:nvPr/>
        </p:nvSpPr>
        <p:spPr>
          <a:xfrm>
            <a:off x="548640" y="4832604"/>
            <a:ext cx="5454396"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501548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END-TO-END CONVERSATIONAL RWE</a:t>
            </a:r>
            <a:endParaRPr lang="en-US" sz="1300" dirty="0"/>
          </a:p>
        </p:txBody>
      </p:sp>
      <p:sp>
        <p:nvSpPr>
          <p:cNvPr id="17" name="Text 14"/>
          <p:cNvSpPr txBox="1"/>
          <p:nvPr/>
        </p:nvSpPr>
        <p:spPr>
          <a:xfrm>
            <a:off x="749808" y="5362956"/>
            <a:ext cx="5052060" cy="507491"/>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HealthVerity’s eXOs</a:t>
            </a:r>
            <a:r>
              <a:rPr lang="en-US" sz="1050" b="1" dirty="0">
                <a:solidFill>
                  <a:schemeClr val="tx1"/>
                </a:solidFill>
              </a:rPr>
              <a:t> and </a:t>
            </a:r>
            <a:r>
              <a:rPr lang="en-US" sz="1050" b="1" dirty="0" u="sng">
                <a:solidFill>
                  <a:srgbClr val="002677"/>
                </a:solidFill>
                <a:uFill>
                  <a:solidFill>
                    <a:srgbClr val="9AA8CC"/>
                  </a:solidFill>
                </a:uFill>
              </a:rPr>
              <a:t>Norstella’s Ella</a:t>
            </a:r>
            <a:r>
              <a:rPr lang="en-US" sz="1050" b="1" dirty="0">
                <a:solidFill>
                  <a:schemeClr val="tx1"/>
                </a:solidFill>
              </a:rPr>
              <a:t> market conversational access across multiple RWE tasks, from data feasibility or exploration through cohort building and research analytics.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9903" name="pre-engagement data evaluation card"/>
          <p:cNvSpPr/>
          <p:nvPr/>
        </p:nvSpPr>
        <p:spPr>
          <a:xfrm>
            <a:off x="6185916" y="4832604"/>
            <a:ext cx="5454396"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9904" name="label"/>
          <p:cNvSpPr txBox="1"/>
          <p:nvPr/>
        </p:nvSpPr>
        <p:spPr>
          <a:xfrm>
            <a:off x="6387084" y="501548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PRE-ENGAGEMENT DATA EVALUATION</a:t>
            </a:r>
            <a:endParaRPr lang="en-US" sz="1300" dirty="0"/>
          </a:p>
        </p:txBody>
      </p:sp>
      <p:sp>
        <p:nvSpPr>
          <p:cNvPr id="9905" name="Text 14"/>
          <p:cNvSpPr txBox="1"/>
          <p:nvPr/>
        </p:nvSpPr>
        <p:spPr>
          <a:xfrm>
            <a:off x="6387084" y="5362956"/>
            <a:ext cx="5052060" cy="507491"/>
          </a:xfrm>
          <a:prstGeom prst="rect">
            <a:avLst/>
          </a:prstGeom>
          <a:noFill/>
          <a:ln/>
        </p:spPr>
        <p:txBody>
          <a:bodyPr wrap="square" lIns="0" tIns="0" rIns="0" bIns="0" rtlCol="0" anchor="t"/>
          <a:lstStyle/>
          <a:p>
            <a:pPr indent="0" marL="0">
              <a:buNone/>
            </a:pPr>
            <a:r>
              <a:rPr lang="en-US" sz="1050" b="1" dirty="0">
                <a:solidFill>
                  <a:schemeClr val="tx1"/>
                </a:solidFill>
              </a:rPr>
              <a:t>Truven also uses their conversational AI as a sales tool, offering qualified prospects free </a:t>
            </a:r>
            <a:r>
              <a:rPr lang="en-US" sz="1050" b="1" dirty="0" u="sng">
                <a:solidFill>
                  <a:srgbClr val="002677"/>
                </a:solidFill>
                <a:uFill>
                  <a:solidFill>
                    <a:srgbClr val="9AA8CC"/>
                  </a:solidFill>
                </a:uFill>
              </a:rPr>
              <a:t>MarketScan Snapshot</a:t>
            </a:r>
            <a:r>
              <a:rPr lang="en-US" sz="1050" b="1" dirty="0">
                <a:solidFill>
                  <a:schemeClr val="tx1"/>
                </a:solidFill>
              </a:rPr>
              <a:t> access to cohort counts and summary statistics before they commit to a full RWE analysis.</a:t>
            </a:r>
            <a:endParaRPr lang="en-US" sz="1050" dirty="0"/>
          </a:p>
        </p:txBody>
      </p:sp>
      <p:sp>
        <p:nvSpPr>
          <p:cNvPr id="990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21" name="Invisible source link 6: https://www.merative.com/newsroom/truven-launches-marketscan-snapshot-an-ai-powered-tool-to-evaluate-fit-for-purpose-real-world-data-in-minutes">
            <a:hlinkClick r:id="rId3"/>
          </p:cNvPr>
          <p:cNvSpPr/>
          <p:nvPr/>
        </p:nvSpPr>
        <p:spPr>
          <a:xfrm>
            <a:off x="2944075" y="2041132"/>
            <a:ext cx="177869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6: https://panalgo.com/ella/">
            <a:hlinkClick r:id="rId15"/>
          </p:cNvPr>
          <p:cNvSpPr/>
          <p:nvPr/>
        </p:nvSpPr>
        <p:spPr>
          <a:xfrm>
            <a:off x="2944075" y="2227619"/>
            <a:ext cx="98920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6: https://www.komodohealth.com/product/marmot/">
            <a:hlinkClick r:id="rId8"/>
          </p:cNvPr>
          <p:cNvSpPr/>
          <p:nvPr/>
        </p:nvSpPr>
        <p:spPr>
          <a:xfrm>
            <a:off x="2944075" y="2976056"/>
            <a:ext cx="138096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6: https://www.komodohealth.com/press/komodo-health-unveils-new-generative-ai-offerings-to-enable-real-time-insights-across-330-million-patient-journeys/">
            <a:hlinkClick r:id="rId9"/>
          </p:cNvPr>
          <p:cNvSpPr/>
          <p:nvPr/>
        </p:nvSpPr>
        <p:spPr>
          <a:xfrm>
            <a:off x="4593234" y="2976056"/>
            <a:ext cx="3944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6: https://www.truveta.com/blog/announcement/truveta-unveils-truveta-intelligence/">
            <a:hlinkClick r:id="rId10"/>
          </p:cNvPr>
          <p:cNvSpPr/>
          <p:nvPr/>
        </p:nvSpPr>
        <p:spPr>
          <a:xfrm>
            <a:off x="2944075" y="3162542"/>
            <a:ext cx="167789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6: https://briya.com/aire-population-agent/">
            <a:hlinkClick r:id="rId11"/>
          </p:cNvPr>
          <p:cNvSpPr/>
          <p:nvPr/>
        </p:nvSpPr>
        <p:spPr>
          <a:xfrm>
            <a:off x="2944075" y="3349016"/>
            <a:ext cx="170319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6: https://healthverity.com/news/announcing-healthverity-exos/">
            <a:hlinkClick r:id="rId4"/>
          </p:cNvPr>
          <p:cNvSpPr/>
          <p:nvPr/>
        </p:nvSpPr>
        <p:spPr>
          <a:xfrm>
            <a:off x="2944075" y="3962096"/>
            <a:ext cx="110764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6: https://www.bcplatforms.com/bc-catalyst">
            <a:hlinkClick r:id="rId16"/>
          </p:cNvPr>
          <p:cNvSpPr/>
          <p:nvPr/>
        </p:nvSpPr>
        <p:spPr>
          <a:xfrm>
            <a:off x="2944075" y="4148583"/>
            <a:ext cx="143855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6: https://business.optum.com/en/data-analytics/life-sciences/real-world-data/market-clarity-data.html">
            <a:hlinkClick r:id="rId5"/>
          </p:cNvPr>
          <p:cNvSpPr/>
          <p:nvPr/>
        </p:nvSpPr>
        <p:spPr>
          <a:xfrm>
            <a:off x="8704795" y="2134376"/>
            <a:ext cx="108876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6: https://business.optum.com/en/data-analytics/life-sciences/real-world-data/enriched-clinical-data.html">
            <a:hlinkClick r:id="rId7"/>
          </p:cNvPr>
          <p:cNvSpPr/>
          <p:nvPr/>
        </p:nvSpPr>
        <p:spPr>
          <a:xfrm>
            <a:off x="10951197" y="2134376"/>
            <a:ext cx="51351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6: https://business.optum.com/en/data-analytics/life-sciences/real-world-data/enriched-clinical-data.html">
            <a:hlinkClick r:id="rId7"/>
          </p:cNvPr>
          <p:cNvSpPr/>
          <p:nvPr/>
        </p:nvSpPr>
        <p:spPr>
          <a:xfrm>
            <a:off x="8704795" y="2270101"/>
            <a:ext cx="72166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6: https://business.optum.com/en/data-analytics/life-sciences/heor/exploratory-analysis.html">
            <a:hlinkClick r:id="rId12"/>
          </p:cNvPr>
          <p:cNvSpPr/>
          <p:nvPr/>
        </p:nvSpPr>
        <p:spPr>
          <a:xfrm>
            <a:off x="8704795" y="2959139"/>
            <a:ext cx="122299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6: https://business.optum.com/en/data-analytics/life-sciences/heor/exploratory-analysis.html">
            <a:hlinkClick r:id="rId12"/>
          </p:cNvPr>
          <p:cNvSpPr/>
          <p:nvPr/>
        </p:nvSpPr>
        <p:spPr>
          <a:xfrm>
            <a:off x="8704795" y="3987293"/>
            <a:ext cx="122299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4" name="Invisible source link 6: https://business.optum.com/en/data-analytics/life-sciences/real-world-data/clinical-notes.html">
            <a:hlinkClick r:id="rId13"/>
          </p:cNvPr>
          <p:cNvSpPr/>
          <p:nvPr/>
        </p:nvSpPr>
        <p:spPr>
          <a:xfrm>
            <a:off x="9198724" y="3094851"/>
            <a:ext cx="104185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5" name="Invisible source link 6: https://business.optum.com/en/data-analytics/life-sciences/clinical-trial-design.html">
            <a:hlinkClick r:id="rId14"/>
          </p:cNvPr>
          <p:cNvSpPr/>
          <p:nvPr/>
        </p:nvSpPr>
        <p:spPr>
          <a:xfrm>
            <a:off x="9198724" y="3230576"/>
            <a:ext cx="6345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6" name="Invisible source link 6: https://business.optum.com/en/data-analytics/life-sciences/epidemiology-consulting.html">
            <a:hlinkClick r:id="rId17"/>
          </p:cNvPr>
          <p:cNvSpPr/>
          <p:nvPr/>
        </p:nvSpPr>
        <p:spPr>
          <a:xfrm>
            <a:off x="9078125" y="4123018"/>
            <a:ext cx="168440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7" name="Invisible source link 6: https://healthverity.com/exos/">
            <a:hlinkClick r:id="rId18"/>
          </p:cNvPr>
          <p:cNvSpPr/>
          <p:nvPr/>
        </p:nvSpPr>
        <p:spPr>
          <a:xfrm>
            <a:off x="749515" y="5375216"/>
            <a:ext cx="1245930"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8" name="Invisible source link 6: https://www.norstella.com/press-releases/panalgo-revolutionizes-real-world-data-launch-linqnotes-ella-ai/">
            <a:hlinkClick r:id="rId19"/>
          </p:cNvPr>
          <p:cNvSpPr/>
          <p:nvPr/>
        </p:nvSpPr>
        <p:spPr>
          <a:xfrm>
            <a:off x="2305443" y="5375216"/>
            <a:ext cx="94397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9" name="Invisible source link 6: https://www.prnewswire.com/news-releases/truven-launches-marketscan-snapshot-an-ai-powered-tool-to-evaluate-fit-for-purpose-real-world-data-in-minutes-302892187.html">
            <a:hlinkClick r:id="rId20"/>
          </p:cNvPr>
          <p:cNvSpPr/>
          <p:nvPr/>
        </p:nvSpPr>
        <p:spPr>
          <a:xfrm>
            <a:off x="7336078" y="5535058"/>
            <a:ext cx="138219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a:t>
            </a:r>
            <a:br/>
            <a:r>
              <a:rPr lang="en-US" sz="2200" b="1" dirty="0">
                <a:solidFill>
                  <a:schemeClr val="accent1"/>
                </a:solidFill>
              </a:rPr>
              <a:t>research and more narrowly-defined evidence questions</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47830">
                <a:tc>
                  <a:txBody>
                    <a:bodyPr/>
                    <a:lstStyle/>
                    <a:p>
                      <a:pPr algn="ctr" indent="0" marL="0">
                        <a:buNone/>
                      </a:pPr>
                      <a:r>
                        <a:rPr lang="en-US" sz="1050" b="1" dirty="0">
                          <a:solidFill>
                            <a:schemeClr val="accent1"/>
                          </a:solidFill>
                        </a:rPr>
                        <a:t>Explore oncology and</a:t>
                      </a:r>
                      <a:b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Flatiron Health’s </a:t>
                      </a:r>
                      <a:r>
                        <a:rPr lang="en-US" sz="950" b="1" dirty="0" u="sng">
                          <a:solidFill>
                            <a:srgbClr val="002677"/>
                          </a:solidFill>
                          <a:uFill>
                            <a:solidFill>
                              <a:srgbClr val="9AA8CC"/>
                            </a:solidFill>
                          </a:uFill>
                        </a:rPr>
                        <a:t>Telescope</a:t>
                      </a:r>
                      <a:r>
                        <a:rPr lang="en-US" sz="950" dirty="0">
                          <a:solidFill>
                            <a:schemeClr val="tx1"/>
                          </a:solidFill>
                        </a:rPr>
                        <a:t>: conversational oncology cohort exploration;</a:t>
                      </a:r>
                      <a:endParaRPr lang="en-US" sz="950" dirty="0"/>
                    </a:p>
                    <a:p>
                      <a:pPr indent="0" marL="0">
                        <a:spcBef>
                          <a:spcPts val="400"/>
                        </a:spcBef>
                        <a:buNone/>
                      </a:pPr>
                      <a:r>
                        <a:rPr lang="en-US" sz="950" dirty="0" u="sng">
                          <a:solidFill>
                            <a:srgbClr val="002677"/>
                          </a:solidFill>
                          <a:uFill>
                            <a:solidFill>
                              <a:srgbClr val="9AA8CC"/>
                            </a:solidFill>
                          </a:uFill>
                        </a:rPr>
                        <a:t>Tempus’s </a:t>
                      </a:r>
                      <a:r>
                        <a:rPr lang="en-US" sz="950" b="1" dirty="0" u="sng">
                          <a:solidFill>
                            <a:srgbClr val="002677"/>
                          </a:solidFill>
                          <a:uFill>
                            <a:solidFill>
                              <a:srgbClr val="9AA8CC"/>
                            </a:solidFill>
                          </a:uFill>
                        </a:rPr>
                        <a:t>Lens</a:t>
                      </a: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Enriched Clinical Data</a:t>
                      </a:r>
                      <a:r>
                        <a:rPr lang="en-US" sz="950" dirty="0" b="0">
                          <a:solidFill>
                            <a:schemeClr val="tx1"/>
                          </a:solidFill>
                        </a:rPr>
                        <a:t> (NLP-derived disease attributes)</a:t>
                      </a:r>
                      <a:r>
                        <a:rPr lang="en-US" sz="950" dirty="0" b="0">
                          <a:solidFill>
                            <a:schemeClr val="tx1"/>
                          </a:solidFill>
                        </a:rPr>
                        <a:t>; </a:t>
                      </a:r>
                      <a:r>
                        <a:rPr lang="en-US" sz="950" dirty="0" u="sng">
                          <a:solidFill>
                            <a:srgbClr val="002677"/>
                          </a:solidFill>
                          <a:uFill>
                            <a:solidFill>
                              <a:srgbClr val="9AA8CC"/>
                            </a:solidFill>
                          </a:uFill>
                        </a:rPr>
                        <a:t>clinicogenomics datasets</a:t>
                      </a:r>
                      <a:r>
                        <a:rPr lang="en-US" sz="950" dirty="0" b="0">
                          <a:solidFill>
                            <a:schemeClr val="tx1"/>
                          </a:solidFill>
                        </a:rPr>
                        <a:t> (linked clinical/genomic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47818">
                <a:tc>
                  <a:txBody>
                    <a:bodyPr/>
                    <a:lstStyle/>
                    <a:p>
                      <a:pPr algn="ctr" indent="0" marL="0">
                        <a:buNone/>
                      </a:pPr>
                      <a:r>
                        <a:rPr lang="en-US" sz="1050" b="1" dirty="0">
                          <a:solidFill>
                            <a:schemeClr val="accent1"/>
                          </a:solidFill>
                        </a:rPr>
                        <a:t>Investigate specialty-</a:t>
                      </a:r>
                      <a:b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ConcertAI’s </a:t>
                      </a:r>
                      <a:r>
                        <a:rPr lang="en-US" sz="950" b="1" dirty="0" u="sng">
                          <a:solidFill>
                            <a:srgbClr val="002677"/>
                          </a:solidFill>
                          <a:uFill>
                            <a:solidFill>
                              <a:srgbClr val="9AA8CC"/>
                            </a:solidFill>
                          </a:uFill>
                        </a:rPr>
                        <a:t>Precision Explorer</a:t>
                      </a:r>
                      <a:r>
                        <a:rPr lang="en-US" sz="950" dirty="0">
                          <a:solidFill>
                            <a:schemeClr val="tx1"/>
                          </a:solidFill>
                        </a:rPr>
                        <a:t>: oncology research analytics;</a:t>
                      </a:r>
                      <a:endParaRPr lang="en-US" sz="950" dirty="0"/>
                    </a:p>
                    <a:p>
                      <a:pPr indent="0" marL="0">
                        <a:spcBef>
                          <a:spcPts val="400"/>
                        </a:spcBef>
                        <a:buNone/>
                      </a:pPr>
                      <a:r>
                        <a:rPr lang="en-US" sz="950" dirty="0" u="sng">
                          <a:solidFill>
                            <a:srgbClr val="002677"/>
                          </a:solidFill>
                          <a:uFill>
                            <a:solidFill>
                              <a:srgbClr val="9AA8CC"/>
                            </a:solidFill>
                          </a:uFill>
                        </a:rPr>
                        <a:t>Verana Health’s </a:t>
                      </a:r>
                      <a:r>
                        <a:rPr lang="en-US" sz="950" b="1" dirty="0" u="sng">
                          <a:solidFill>
                            <a:srgbClr val="002677"/>
                          </a:solidFill>
                          <a:uFill>
                            <a:solidFill>
                              <a:srgbClr val="9AA8CC"/>
                            </a:solidFill>
                          </a:uFill>
                        </a:rPr>
                        <a:t>Agent Claire</a:t>
                      </a: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Clinical Notes Lab</a:t>
                      </a:r>
                      <a:r>
                        <a:rPr lang="en-US" sz="950" dirty="0" b="0">
                          <a:solidFill>
                            <a:schemeClr val="tx1"/>
                          </a:solidFill>
                        </a:rPr>
                        <a:t> (NLP/LLMs, custom AI models)</a:t>
                      </a:r>
                      <a:r>
                        <a:rPr lang="en-US" sz="950" dirty="0" b="0">
                          <a:solidFill>
                            <a:schemeClr val="tx1"/>
                          </a:solidFill>
                        </a:rPr>
                        <a:t>; </a:t>
                      </a:r>
                      <a:r>
                        <a:rPr lang="en-US" sz="950" dirty="0" u="sng">
                          <a:solidFill>
                            <a:srgbClr val="002677"/>
                          </a:solidFill>
                          <a:uFill>
                            <a:solidFill>
                              <a:srgbClr val="9AA8CC"/>
                            </a:solidFill>
                          </a:uFill>
                        </a:rPr>
                        <a:t>epidemiology and observational research</a:t>
                      </a:r>
                      <a:r>
                        <a:rPr lang="en-US" sz="950" dirty="0" b="0">
                          <a:solidFill>
                            <a:schemeClr val="tx1"/>
                          </a:solidFill>
                        </a:rPr>
                        <a:t> (study design, comparative effectiveness)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83543">
                <a:tc>
                  <a:txBody>
                    <a:bodyPr/>
                    <a:lstStyle/>
                    <a:p>
                      <a:pPr algn="ctr" indent="0" marL="0">
                        <a:buNone/>
                      </a:pPr>
                      <a:r>
                        <a:rPr lang="en-US" sz="1050" b="1" dirty="0">
                          <a:solidFill>
                            <a:schemeClr val="accent1"/>
                          </a:solidFill>
                        </a:rPr>
                        <a:t>Analyze curated</a:t>
                      </a:r>
                      <a:b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MDClone’s </a:t>
                      </a:r>
                      <a:r>
                        <a:rPr lang="en-US" sz="950" b="1" dirty="0" u="sng">
                          <a:solidFill>
                            <a:srgbClr val="002677"/>
                          </a:solidFill>
                          <a:uFill>
                            <a:solidFill>
                              <a:srgbClr val="9AA8CC"/>
                            </a:solidFill>
                          </a:uFill>
                        </a:rPr>
                        <a:t>ADAMS Copilot</a:t>
                      </a:r>
                      <a:r>
                        <a:rPr lang="en-US" sz="950" dirty="0">
                          <a:solidFill>
                            <a:schemeClr val="tx1"/>
                          </a:solidFill>
                        </a:rPr>
                        <a:t> </a:t>
                      </a:r>
                      <a:r>
                        <a:rPr lang="en-US" sz="950" dirty="0">
                          <a:solidFill>
                            <a:schemeClr val="tx1"/>
                          </a:solidFill>
                        </a:rPr>
                        <a:t>(Israel)</a:t>
                      </a: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Analytics on Demand</a:t>
                      </a:r>
                      <a:r>
                        <a:rPr lang="en-US" sz="950" dirty="0" b="0">
                          <a:solidFill>
                            <a:schemeClr val="tx1"/>
                          </a:solidFill>
                        </a:rPr>
                        <a:t> (advanced statistical modeling, survival analysis)</a:t>
                      </a:r>
                      <a:r>
                        <a:rPr lang="en-US" sz="950" dirty="0" b="0">
                          <a:solidFill>
                            <a:schemeClr val="tx1"/>
                          </a:solidFill>
                        </a:rPr>
                        <a:t>; </a:t>
                      </a:r>
                      <a:r>
                        <a:rPr lang="en-US" sz="950" dirty="0">
                          <a:solidFill>
                            <a:schemeClr val="tx1"/>
                          </a:solidFill>
                        </a:rPr>
                        <a:t>research data and study environments</a:t>
                      </a:r>
                      <a:r>
                        <a:rPr lang="en-US" sz="950" dirty="0" b="0">
                          <a:solidFill>
                            <a:schemeClr val="tx1"/>
                          </a:solidFill>
                        </a:rPr>
                        <a:t> (curated data, analytical workspaces)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packaged outcomes studies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PACKAGED OUTCOMES STUDIES</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ConcertAI markets named </a:t>
            </a:r>
            <a:r>
              <a:rPr lang="en-US" sz="1050" b="1" dirty="0" u="sng">
                <a:solidFill>
                  <a:srgbClr val="002677"/>
                </a:solidFill>
                <a:uFill>
                  <a:solidFill>
                    <a:srgbClr val="9AA8CC"/>
                  </a:solidFill>
                </a:uFill>
              </a:rPr>
              <a:t>Precision Explorer</a:t>
            </a:r>
            <a:r>
              <a:rPr lang="en-US" sz="1050" b="1" dirty="0">
                <a:solidFill>
                  <a:schemeClr val="tx1"/>
                </a:solidFill>
              </a:rPr>
              <a:t> agents for guideline concordance, real-world outcomes and comorbidity analysis; it claims projects can shrink “from 10-20 weeks to as little as 6 weeks.”</a:t>
            </a:r>
            <a:endParaRPr lang="en-US" sz="1050" dirty="0"/>
          </a:p>
        </p:txBody>
      </p:sp>
      <p:sp>
        <p:nvSpPr>
          <p:cNvPr id="18" name="self-service analysis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SELF-SERVICE ANALYSIS</a:t>
            </a:r>
            <a:endParaRPr lang="en-US" sz="1300" dirty="0"/>
          </a:p>
        </p:txBody>
      </p:sp>
      <p:sp>
        <p:nvSpPr>
          <p:cNvPr id="20" name="Text 17"/>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Specialty-data vendors market conversational AI as a way to supplant routine work by analysts: </a:t>
            </a:r>
            <a:r>
              <a:rPr lang="en-US" sz="1050" b="1" dirty="0" u="sng">
                <a:solidFill>
                  <a:srgbClr val="002677"/>
                </a:solidFill>
                <a:uFill>
                  <a:solidFill>
                    <a:srgbClr val="9AA8CC"/>
                  </a:solidFill>
                </a:uFill>
              </a:rPr>
              <a:t>Flatiron’s Telescope</a:t>
            </a:r>
            <a:r>
              <a:rPr lang="en-US" sz="1050" b="1" dirty="0">
                <a:solidFill>
                  <a:schemeClr val="tx1"/>
                </a:solidFill>
              </a:rPr>
              <a:t> delivers survival analyses on demand, “eliminating the need to wait in analyst queues,” while </a:t>
            </a:r>
            <a:r>
              <a:rPr lang="en-US" sz="1050" b="1" dirty="0" u="sng">
                <a:solidFill>
                  <a:srgbClr val="002677"/>
                </a:solidFill>
                <a:uFill>
                  <a:solidFill>
                    <a:srgbClr val="9AA8CC"/>
                  </a:solidFill>
                </a:uFill>
              </a:rPr>
              <a:t>Verana’s Agent Claire</a:t>
            </a:r>
            <a:r>
              <a:rPr lang="en-US" sz="1050" b="1" dirty="0">
                <a:solidFill>
                  <a:schemeClr val="tx1"/>
                </a:solidFill>
              </a:rPr>
              <a:t> offers data access “without needing programming skills or analyst assistance.”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21" name="Invisible source link 7: https://resources.flatiron.com/press/flatiron-health-launches-flatiron-telescope-a-new-ai-platform-delivering-oncology-insights-in-minutes">
            <a:hlinkClick r:id="rId3"/>
          </p:cNvPr>
          <p:cNvSpPr/>
          <p:nvPr/>
        </p:nvSpPr>
        <p:spPr>
          <a:xfrm>
            <a:off x="2944075" y="2073898"/>
            <a:ext cx="151337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7: https://www.tempus.com/solutions/lens/">
            <a:hlinkClick r:id="rId4"/>
          </p:cNvPr>
          <p:cNvSpPr/>
          <p:nvPr/>
        </p:nvSpPr>
        <p:spPr>
          <a:xfrm>
            <a:off x="2944075" y="2260372"/>
            <a:ext cx="85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7: https://www.concertai.com/precision-explorer">
            <a:hlinkClick r:id="rId7"/>
          </p:cNvPr>
          <p:cNvSpPr/>
          <p:nvPr/>
        </p:nvSpPr>
        <p:spPr>
          <a:xfrm>
            <a:off x="2944075" y="2921700"/>
            <a:ext cx="174953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7: https://veranahealth.com/verana-health-introduces-new-ai-agents-to-expedite-and-streamline-rd-tasks/">
            <a:hlinkClick r:id="rId8"/>
          </p:cNvPr>
          <p:cNvSpPr/>
          <p:nvPr/>
        </p:nvSpPr>
        <p:spPr>
          <a:xfrm>
            <a:off x="2944075" y="3108174"/>
            <a:ext cx="162316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7: https://mdclone.com/meet-copilot/">
            <a:hlinkClick r:id="rId11"/>
          </p:cNvPr>
          <p:cNvSpPr/>
          <p:nvPr/>
        </p:nvSpPr>
        <p:spPr>
          <a:xfrm>
            <a:off x="2944075" y="3862731"/>
            <a:ext cx="150705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7: https://business.optum.com/en/data-analytics/life-sciences/real-world-data/enriched-clinical-data.html">
            <a:hlinkClick r:id="rId5"/>
          </p:cNvPr>
          <p:cNvSpPr/>
          <p:nvPr/>
        </p:nvSpPr>
        <p:spPr>
          <a:xfrm>
            <a:off x="8704795" y="2031417"/>
            <a:ext cx="126978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7: https://business.optum.com/en/data-analytics/life-sciences/clinicogenomics.html">
            <a:hlinkClick r:id="rId6"/>
          </p:cNvPr>
          <p:cNvSpPr/>
          <p:nvPr/>
        </p:nvSpPr>
        <p:spPr>
          <a:xfrm>
            <a:off x="9306725" y="2167142"/>
            <a:ext cx="133575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7: https://business.optum.com/en/data-analytics/life-sciences/real-world-data/clinical-notes.html">
            <a:hlinkClick r:id="rId9"/>
          </p:cNvPr>
          <p:cNvSpPr/>
          <p:nvPr/>
        </p:nvSpPr>
        <p:spPr>
          <a:xfrm>
            <a:off x="8704795" y="2879218"/>
            <a:ext cx="104185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7: https://business.optum.com/en/data-analytics/life-sciences/epidemiology-consulting.html">
            <a:hlinkClick r:id="rId10"/>
          </p:cNvPr>
          <p:cNvSpPr/>
          <p:nvPr/>
        </p:nvSpPr>
        <p:spPr>
          <a:xfrm>
            <a:off x="8704795" y="3014943"/>
            <a:ext cx="219225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7: https://business.optum.com/en/data-analytics/life-sciences/heor/exploratory-analysis.html">
            <a:hlinkClick r:id="rId12"/>
          </p:cNvPr>
          <p:cNvSpPr/>
          <p:nvPr/>
        </p:nvSpPr>
        <p:spPr>
          <a:xfrm>
            <a:off x="8704795" y="3727019"/>
            <a:ext cx="122299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7: https://www.concertai.com/precision-explorer">
            <a:hlinkClick r:id="rId7"/>
          </p:cNvPr>
          <p:cNvSpPr/>
          <p:nvPr/>
        </p:nvSpPr>
        <p:spPr>
          <a:xfrm>
            <a:off x="2428925" y="5215373"/>
            <a:ext cx="116880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7: https://resources.flatiron.com/press/flatiron-health-launches-flatiron-telescope-a-new-ai-platform-delivering-oncology-insights-in-minutes">
            <a:hlinkClick r:id="rId3"/>
          </p:cNvPr>
          <p:cNvSpPr/>
          <p:nvPr/>
        </p:nvSpPr>
        <p:spPr>
          <a:xfrm>
            <a:off x="7535875" y="5375216"/>
            <a:ext cx="126564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7: https://www.prnewswire.com/news-releases/verana-health-introduces-new-ai-agents-to-expedite-and-streamline-rd-302888122.html">
            <a:hlinkClick r:id="rId14"/>
          </p:cNvPr>
          <p:cNvSpPr/>
          <p:nvPr/>
        </p:nvSpPr>
        <p:spPr>
          <a:xfrm>
            <a:off x="9849243" y="5535058"/>
            <a:ext cx="135115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Intelligence AI products extend conversational interaction into market intelligence, field decisions and simulated stakeholder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81667">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GMI Agent</a:t>
                      </a:r>
                      <a:r>
                        <a:rPr lang="en-US" sz="950" dirty="0">
                          <a:solidFill>
                            <a:schemeClr val="tx1"/>
                          </a:solidFill>
                        </a:rPr>
                        <a:t>: global market insights;</a:t>
                      </a:r>
                      <a:endParaRPr lang="en-US" sz="950" dirty="0"/>
                    </a:p>
                    <a:p>
                      <a:pPr indent="0" marL="0">
                        <a:spcBef>
                          <a:spcPts val="400"/>
                        </a:spcBef>
                        <a:buNone/>
                      </a:pPr>
                      <a:r>
                        <a:rPr lang="en-US" sz="950" dirty="0" u="sng">
                          <a:solidFill>
                            <a:srgbClr val="002677"/>
                          </a:solidFill>
                          <a:uFill>
                            <a:solidFill>
                              <a:srgbClr val="9AA8CC"/>
                            </a:solidFill>
                          </a:uFill>
                        </a:rPr>
                        <a:t>GBI Health’s </a:t>
                      </a:r>
                      <a:r>
                        <a:rPr lang="en-US" sz="950" b="1" dirty="0" u="sng">
                          <a:solidFill>
                            <a:srgbClr val="002677"/>
                          </a:solidFill>
                          <a:uFill>
                            <a:solidFill>
                              <a:srgbClr val="9AA8CC"/>
                            </a:solidFill>
                          </a:uFill>
                        </a:rPr>
                        <a:t>GBI BOT</a:t>
                      </a:r>
                      <a:r>
                        <a:rPr lang="en-US" sz="950" dirty="0">
                          <a:solidFill>
                            <a:schemeClr val="tx1"/>
                          </a:solidFill>
                        </a:rPr>
                        <a:t> </a:t>
                      </a:r>
                      <a:r>
                        <a:rPr lang="en-US" sz="950" dirty="0">
                          <a:solidFill>
                            <a:schemeClr val="tx1"/>
                          </a:solidFill>
                        </a:rPr>
                        <a:t>(China)</a:t>
                      </a:r>
                      <a:r>
                        <a:rPr lang="en-US" sz="950" dirty="0">
                          <a:solidFill>
                            <a:schemeClr val="tx1"/>
                          </a:solidFill>
                        </a:rPr>
                        <a:t>: pharmaceutical database Q&amp;A and competitive intelligence;</a:t>
                      </a:r>
                      <a:endParaRPr lang="en-US" sz="950" dirty="0"/>
                    </a:p>
                    <a:p>
                      <a:pPr indent="0" marL="0">
                        <a:spcBef>
                          <a:spcPts val="400"/>
                        </a:spcBef>
                        <a:buNone/>
                      </a:pPr>
                      <a:r>
                        <a:rPr lang="en-US" sz="950" dirty="0" u="sng">
                          <a:solidFill>
                            <a:srgbClr val="002677"/>
                          </a:solidFill>
                          <a:uFill>
                            <a:solidFill>
                              <a:srgbClr val="9AA8CC"/>
                            </a:solidFill>
                          </a:uFill>
                        </a:rPr>
                        <a:t>Prospection’s </a:t>
                      </a:r>
                      <a:r>
                        <a:rPr lang="en-US" sz="950" b="1" dirty="0" u="sng">
                          <a:solidFill>
                            <a:srgbClr val="002677"/>
                          </a:solidFill>
                          <a:uFill>
                            <a:solidFill>
                              <a:srgbClr val="9AA8CC"/>
                            </a:solidFill>
                          </a:uFill>
                        </a:rPr>
                        <a:t>ProGPT</a:t>
                      </a:r>
                      <a:r>
                        <a:rPr lang="en-US" sz="950" dirty="0">
                          <a:solidFill>
                            <a:schemeClr val="tx1"/>
                          </a:solidFill>
                        </a:rPr>
                        <a:t> </a:t>
                      </a:r>
                      <a:r>
                        <a:rPr lang="en-US" sz="950" dirty="0">
                          <a:solidFill>
                            <a:schemeClr val="tx1"/>
                          </a:solidFill>
                        </a:rPr>
                        <a:t>(Australia)</a:t>
                      </a: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Market Clarity</a:t>
                      </a:r>
                      <a:r>
                        <a:rPr lang="en-US" sz="950" dirty="0" b="0">
                          <a:solidFill>
                            <a:schemeClr val="tx1"/>
                          </a:solidFill>
                        </a:rPr>
                        <a:t> (linked claims/EHR data, market attractiveness and portfolio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17380">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Field Force Agent</a:t>
                      </a:r>
                      <a:r>
                        <a:rPr lang="en-US" sz="950" dirty="0">
                          <a:solidFill>
                            <a:schemeClr val="tx1"/>
                          </a:solidFill>
                        </a:rPr>
                        <a:t>: commercial field support;</a:t>
                      </a:r>
                      <a:endParaRPr lang="en-US" sz="950" dirty="0"/>
                    </a:p>
                    <a:p>
                      <a:pPr indent="0" marL="0">
                        <a:spcBef>
                          <a:spcPts val="400"/>
                        </a:spcBef>
                        <a:buNone/>
                      </a:pPr>
                      <a:r>
                        <a:rPr lang="en-US" sz="950" dirty="0" u="sng">
                          <a:solidFill>
                            <a:srgbClr val="002677"/>
                          </a:solidFill>
                          <a:uFill>
                            <a:solidFill>
                              <a:srgbClr val="9AA8CC"/>
                            </a:solidFill>
                          </a:uFill>
                        </a:rPr>
                        <a:t>ZS’s </a:t>
                      </a:r>
                      <a:r>
                        <a:rPr lang="en-US" sz="950" b="1" dirty="0" u="sng">
                          <a:solidFill>
                            <a:srgbClr val="002677"/>
                          </a:solidFill>
                          <a:uFill>
                            <a:solidFill>
                              <a:srgbClr val="9AA8CC"/>
                            </a:solidFill>
                          </a:uFill>
                        </a:rPr>
                        <a:t>ZAIDYN Conversational AI for Commercial</a:t>
                      </a:r>
                      <a:r>
                        <a:rPr lang="en-US" sz="950" dirty="0">
                          <a:solidFill>
                            <a:schemeClr val="tx1"/>
                          </a:solidFill>
                        </a:rPr>
                        <a:t>: commercial information and decision support;</a:t>
                      </a:r>
                      <a:endParaRPr lang="en-US" sz="950" dirty="0"/>
                    </a:p>
                    <a:p>
                      <a:pPr indent="0" marL="0">
                        <a:spcBef>
                          <a:spcPts val="400"/>
                        </a:spcBef>
                        <a:buNone/>
                      </a:pPr>
                      <a:r>
                        <a:rPr lang="en-US" sz="950" dirty="0" u="sng">
                          <a:solidFill>
                            <a:srgbClr val="002677"/>
                          </a:solidFill>
                          <a:uFill>
                            <a:solidFill>
                              <a:srgbClr val="9AA8CC"/>
                            </a:solidFill>
                          </a:uFill>
                        </a:rPr>
                        <a:t>Close-Up International’s </a:t>
                      </a:r>
                      <a:r>
                        <a:rPr lang="en-US" sz="950" b="1" dirty="0" u="sng">
                          <a:solidFill>
                            <a:srgbClr val="002677"/>
                          </a:solidFill>
                          <a:uFill>
                            <a:solidFill>
                              <a:srgbClr val="9AA8CC"/>
                            </a:solidFill>
                          </a:uFill>
                        </a:rPr>
                        <a:t>Xplora AI</a:t>
                      </a:r>
                      <a:r>
                        <a:rPr lang="en-US" sz="950" dirty="0">
                          <a:solidFill>
                            <a:schemeClr val="tx1"/>
                          </a:solidFill>
                        </a:rPr>
                        <a:t> </a:t>
                      </a:r>
                      <a:r>
                        <a:rPr lang="en-US" sz="950" dirty="0">
                          <a:solidFill>
                            <a:schemeClr val="tx1"/>
                          </a:solidFill>
                        </a:rPr>
                        <a:t>(Spain)</a:t>
                      </a: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Market Clarity</a:t>
                      </a:r>
                      <a:r>
                        <a:rPr lang="en-US" sz="950" dirty="0" b="0">
                          <a:solidFill>
                            <a:schemeClr val="tx1"/>
                          </a:solidFill>
                        </a:rPr>
                        <a:t> (patient/prescriber segmentation, treatment patterns, market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80144">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Trinity Life Sciences’ </a:t>
                      </a:r>
                      <a:r>
                        <a:rPr lang="en-US" sz="950" b="1" dirty="0" u="sng">
                          <a:solidFill>
                            <a:srgbClr val="002677"/>
                          </a:solidFill>
                          <a:uFill>
                            <a:solidFill>
                              <a:srgbClr val="9AA8CC"/>
                            </a:solidFill>
                          </a:uFill>
                        </a:rPr>
                        <a:t>InsightsEDGE Digital Twins</a:t>
                      </a:r>
                      <a:r>
                        <a:rPr lang="en-US" sz="950" dirty="0">
                          <a:solidFill>
                            <a:schemeClr val="tx1"/>
                          </a:solidFill>
                        </a:rPr>
                        <a:t>: conversational simulated personas;</a:t>
                      </a:r>
                      <a:endParaRPr lang="en-US" sz="950" dirty="0"/>
                    </a:p>
                    <a:p>
                      <a:pPr indent="0" marL="0">
                        <a:spcBef>
                          <a:spcPts val="400"/>
                        </a:spcBef>
                        <a:buNone/>
                      </a:pPr>
                      <a:r>
                        <a:rPr lang="en-US" sz="950" dirty="0" u="sng">
                          <a:solidFill>
                            <a:srgbClr val="002677"/>
                          </a:solidFill>
                          <a:uFill>
                            <a:solidFill>
                              <a:srgbClr val="9AA8CC"/>
                            </a:solidFill>
                          </a:uFill>
                        </a:rPr>
                        <a:t>Ipsos’s </a:t>
                      </a:r>
                      <a:r>
                        <a:rPr lang="en-US" sz="950" b="1" dirty="0" u="sng">
                          <a:solidFill>
                            <a:srgbClr val="002677"/>
                          </a:solidFill>
                          <a:uFill>
                            <a:solidFill>
                              <a:srgbClr val="9AA8CC"/>
                            </a:solidFill>
                          </a:uFill>
                        </a:rPr>
                        <a:t>Healthcare PersonaBot</a:t>
                      </a:r>
                      <a:r>
                        <a:rPr lang="en-US" sz="950" dirty="0">
                          <a:solidFill>
                            <a:schemeClr val="tx1"/>
                          </a:solidFill>
                        </a:rPr>
                        <a:t> </a:t>
                      </a:r>
                      <a:r>
                        <a:rPr lang="en-US" sz="950" dirty="0">
                          <a:solidFill>
                            <a:schemeClr val="tx1"/>
                          </a:solidFill>
                        </a:rPr>
                        <a:t>(France)</a:t>
                      </a: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Market Clarity</a:t>
                      </a:r>
                      <a:r>
                        <a:rPr lang="en-US" sz="950" dirty="0" b="0">
                          <a:solidFill>
                            <a:schemeClr val="tx1"/>
                          </a:solidFill>
                        </a:rPr>
                        <a:t> (observed patient/prescriber insights)</a:t>
                      </a:r>
                      <a:r>
                        <a:rPr lang="en-US" sz="950" dirty="0" b="0">
                          <a:solidFill>
                            <a:schemeClr val="tx1"/>
                          </a:solidFill>
                        </a:rPr>
                        <a:t>; </a:t>
                      </a:r>
                      <a:r>
                        <a:rPr lang="en-US" sz="950" dirty="0" b="0">
                          <a:solidFill>
                            <a:schemeClr val="tx1"/>
                          </a:solidFill>
                        </a:rPr>
                        <a:t>no comparable simulated-persona offering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from insight to field action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FROM INSIGHT TO FIELD ACTION</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IQVIA’s Field Force Agent</a:t>
            </a:r>
            <a:r>
              <a:rPr lang="en-US" sz="1050" b="1" dirty="0">
                <a:solidFill>
                  <a:schemeClr val="tx1"/>
                </a:solidFill>
              </a:rPr>
              <a:t> uses CRM activity and call notes to recommend next best actions, with a claimed prep-time reduction of up to 27%. </a:t>
            </a:r>
            <a:r>
              <a:rPr lang="en-US" sz="1050" b="1" dirty="0" u="sng">
                <a:solidFill>
                  <a:srgbClr val="002677"/>
                </a:solidFill>
                <a:uFill>
                  <a:solidFill>
                    <a:srgbClr val="9AA8CC"/>
                  </a:solidFill>
                </a:uFill>
              </a:rPr>
              <a:t>ZS’s commercial assistant</a:t>
            </a:r>
            <a:r>
              <a:rPr lang="en-US" sz="1050" b="1" dirty="0">
                <a:solidFill>
                  <a:schemeClr val="tx1"/>
                </a:solidFill>
              </a:rPr>
              <a:t> generates call plans and draft emails.</a:t>
            </a:r>
            <a:endParaRPr lang="en-US" sz="1050" dirty="0"/>
          </a:p>
        </p:txBody>
      </p:sp>
      <p:sp>
        <p:nvSpPr>
          <p:cNvPr id="18" name="synthetic stakeholder research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SYNTHETIC STAKEHOLDER RESEARCH</a:t>
            </a:r>
            <a:endParaRPr lang="en-US" sz="1300" dirty="0"/>
          </a:p>
        </p:txBody>
      </p:sp>
      <p:sp>
        <p:nvSpPr>
          <p:cNvPr id="20" name="Text 17"/>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Trinity’s data-grounded digital twins</a:t>
            </a:r>
            <a:r>
              <a:rPr lang="en-US" sz="1050" b="1" dirty="0">
                <a:solidFill>
                  <a:schemeClr val="tx1"/>
                </a:solidFill>
              </a:rPr>
              <a:t> simulate HCP, patient and payer responses to test messages “without commissioning a new study every time”; </a:t>
            </a:r>
            <a:r>
              <a:rPr lang="en-US" sz="1050" b="1" dirty="0" u="sng">
                <a:solidFill>
                  <a:srgbClr val="002677"/>
                </a:solidFill>
                <a:uFill>
                  <a:solidFill>
                    <a:srgbClr val="9AA8CC"/>
                  </a:solidFill>
                </a:uFill>
              </a:rPr>
              <a:t>Ipsos’s PersonaBot</a:t>
            </a:r>
            <a:r>
              <a:rPr lang="en-US" sz="1050" b="1" dirty="0">
                <a:solidFill>
                  <a:schemeClr val="tx1"/>
                </a:solidFill>
              </a:rPr>
              <a:t> hosts a “focus group” of personas drawn from clients’ existing research.</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21" name="Invisible source link 8: https://www.iqvia.com/solutions/commercialization/iqvia-commercial-agentic-ai">
            <a:hlinkClick r:id="rId3"/>
          </p:cNvPr>
          <p:cNvSpPr/>
          <p:nvPr/>
        </p:nvSpPr>
        <p:spPr>
          <a:xfrm>
            <a:off x="2944075" y="1997571"/>
            <a:ext cx="106049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8: https://www.gbihealth.com.cn/en/products/gbi-bot">
            <a:hlinkClick r:id="rId4"/>
          </p:cNvPr>
          <p:cNvSpPr/>
          <p:nvPr/>
        </p:nvSpPr>
        <p:spPr>
          <a:xfrm>
            <a:off x="2944075" y="2184058"/>
            <a:ext cx="120548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8: https://support.prospection.com/en_US/530415-using-progpt/8351360445583">
            <a:hlinkClick r:id="rId5"/>
          </p:cNvPr>
          <p:cNvSpPr/>
          <p:nvPr/>
        </p:nvSpPr>
        <p:spPr>
          <a:xfrm>
            <a:off x="2944075" y="2370532"/>
            <a:ext cx="119922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8: https://www.iqvia.com/solutions/commercialization/iqvia-commercial-agentic-ai">
            <a:hlinkClick r:id="rId3"/>
          </p:cNvPr>
          <p:cNvSpPr/>
          <p:nvPr/>
        </p:nvSpPr>
        <p:spPr>
          <a:xfrm>
            <a:off x="2944075" y="2879218"/>
            <a:ext cx="147521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8: https://zaidyn.zs.com/products/zaidyn-commercial/conversational-ai">
            <a:hlinkClick r:id="rId7"/>
          </p:cNvPr>
          <p:cNvSpPr/>
          <p:nvPr/>
        </p:nvSpPr>
        <p:spPr>
          <a:xfrm>
            <a:off x="2944075" y="3065692"/>
            <a:ext cx="272189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8: https://close-upinternational.com/es/crm-farmaceutico-nativo-en-ia-de-los-datos-a-las-decisiones-unificadas-2/">
            <a:hlinkClick r:id="rId8"/>
          </p:cNvPr>
          <p:cNvSpPr/>
          <p:nvPr/>
        </p:nvSpPr>
        <p:spPr>
          <a:xfrm>
            <a:off x="2944075" y="3252179"/>
            <a:ext cx="183740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8: https://trinitylifesciences.com/products/insightsedge-digital-twins/">
            <a:hlinkClick r:id="rId9"/>
          </p:cNvPr>
          <p:cNvSpPr/>
          <p:nvPr/>
        </p:nvSpPr>
        <p:spPr>
          <a:xfrm>
            <a:off x="2944075" y="3939058"/>
            <a:ext cx="273088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8: https://www.ipsos.com/en/healthcare/healthcare-personabot">
            <a:hlinkClick r:id="rId10"/>
          </p:cNvPr>
          <p:cNvSpPr/>
          <p:nvPr/>
        </p:nvSpPr>
        <p:spPr>
          <a:xfrm>
            <a:off x="2944075" y="4125533"/>
            <a:ext cx="172893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8: https://business.optum.com/en/data-analytics/life-sciences/real-world-data/market-clarity-data.html">
            <a:hlinkClick r:id="rId6"/>
          </p:cNvPr>
          <p:cNvSpPr/>
          <p:nvPr/>
        </p:nvSpPr>
        <p:spPr>
          <a:xfrm>
            <a:off x="8704795" y="2116012"/>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8: https://business.optum.com/en/data-analytics/life-sciences/real-world-data/market-clarity-data.html">
            <a:hlinkClick r:id="rId6"/>
          </p:cNvPr>
          <p:cNvSpPr/>
          <p:nvPr/>
        </p:nvSpPr>
        <p:spPr>
          <a:xfrm>
            <a:off x="8704795" y="3065692"/>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8: https://business.optum.com/en/data-analytics/life-sciences/real-world-data/market-clarity-data.html">
            <a:hlinkClick r:id="rId6"/>
          </p:cNvPr>
          <p:cNvSpPr/>
          <p:nvPr/>
        </p:nvSpPr>
        <p:spPr>
          <a:xfrm>
            <a:off x="8704795" y="3896577"/>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8: https://www.iqvia.com/solutions/commercialization/commercial-analytics/omnichannel-engagement-and-insights/field-force-agent">
            <a:hlinkClick r:id="rId11"/>
          </p:cNvPr>
          <p:cNvSpPr/>
          <p:nvPr/>
        </p:nvSpPr>
        <p:spPr>
          <a:xfrm>
            <a:off x="749515" y="5215373"/>
            <a:ext cx="160836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8: https://zaidyn.zs.com/products/zaidyn-commercial/conversational-ai">
            <a:hlinkClick r:id="rId7"/>
          </p:cNvPr>
          <p:cNvSpPr/>
          <p:nvPr/>
        </p:nvSpPr>
        <p:spPr>
          <a:xfrm>
            <a:off x="4682883" y="5375216"/>
            <a:ext cx="1047332"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5" name="Invisible source link 8: https://zaidyn.zs.com/products/zaidyn-commercial/conversational-ai">
            <a:hlinkClick r:id="rId7"/>
          </p:cNvPr>
          <p:cNvSpPr/>
          <p:nvPr/>
        </p:nvSpPr>
        <p:spPr>
          <a:xfrm>
            <a:off x="749515" y="5535058"/>
            <a:ext cx="57394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5" name="Invisible source link 8: https://trinitylifesciences.com/company/press-releases/trinity-launches-insightsedge-digital-twins/">
            <a:hlinkClick r:id="rId12"/>
          </p:cNvPr>
          <p:cNvSpPr/>
          <p:nvPr/>
        </p:nvSpPr>
        <p:spPr>
          <a:xfrm>
            <a:off x="6386753" y="5215373"/>
            <a:ext cx="2266490"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6" name="Invisible source link 8: https://www.ipsos.com/en/healthcare/healthcare-personabot">
            <a:hlinkClick r:id="rId10"/>
          </p:cNvPr>
          <p:cNvSpPr/>
          <p:nvPr/>
        </p:nvSpPr>
        <p:spPr>
          <a:xfrm>
            <a:off x="10681563" y="5375216"/>
            <a:ext cx="45140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8" name="Invisible source link 8: https://www.ipsos.com/en/healthcare/healthcare-personabot">
            <a:hlinkClick r:id="rId10"/>
          </p:cNvPr>
          <p:cNvSpPr/>
          <p:nvPr/>
        </p:nvSpPr>
        <p:spPr>
          <a:xfrm>
            <a:off x="6386753" y="5535058"/>
            <a:ext cx="74297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a:t>
            </a:r>
            <a:br/>
            <a:r>
              <a:rPr lang="en-US" sz="2200" b="1" dirty="0">
                <a:solidFill>
                  <a:schemeClr val="accent1"/>
                </a:solidFill>
              </a:rPr>
              <a:t>medical insights and regulated content workflows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284835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77565">
                <a:tc>
                  <a:txBody>
                    <a:bodyPr/>
                    <a:lstStyle/>
                    <a:p>
                      <a:pPr algn="ctr" indent="0" marL="0">
                        <a:buNone/>
                      </a:pPr>
                      <a:r>
                        <a:rPr lang="en-US" sz="1050" b="1" dirty="0">
                          <a:solidFill>
                            <a:schemeClr val="accent1"/>
                          </a:solidFill>
                        </a:rPr>
                        <a:t>Search and synthesize</a:t>
                      </a:r>
                      <a:b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Med-R1 Deep Research Agent</a:t>
                      </a: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u="sng">
                          <a:solidFill>
                            <a:srgbClr val="002677"/>
                          </a:solidFill>
                          <a:uFill>
                            <a:solidFill>
                              <a:srgbClr val="9AA8CC"/>
                            </a:solidFill>
                          </a:uFill>
                        </a:rPr>
                        <a:t>Epidemiology research</a:t>
                      </a:r>
                      <a:r>
                        <a:rPr lang="en-US" sz="950" dirty="0" b="0">
                          <a:solidFill>
                            <a:schemeClr val="tx1"/>
                          </a:solidFill>
                        </a:rPr>
                        <a:t> (study design, RWE generation)</a:t>
                      </a:r>
                      <a:r>
                        <a:rPr lang="en-US" sz="950" dirty="0" b="0">
                          <a:solidFill>
                            <a:schemeClr val="tx1"/>
                          </a:solidFill>
                        </a:rPr>
                        <a:t>; </a:t>
                      </a:r>
                      <a:r>
                        <a:rPr lang="en-US" sz="950" dirty="0" u="sng">
                          <a:solidFill>
                            <a:srgbClr val="002677"/>
                          </a:solidFill>
                          <a:uFill>
                            <a:solidFill>
                              <a:srgbClr val="9AA8CC"/>
                            </a:solidFill>
                          </a:uFill>
                        </a:rPr>
                        <a:t>postapproval safety and comparative-effectiveness studies</a:t>
                      </a:r>
                      <a:r>
                        <a:rPr lang="en-US" sz="950" dirty="0" b="0">
                          <a:solidFill>
                            <a:schemeClr val="tx1"/>
                          </a:solidFill>
                        </a:rPr>
                        <a:t> (statistical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64040">
                <a:tc>
                  <a:txBody>
                    <a:bodyPr/>
                    <a:lstStyle/>
                    <a:p>
                      <a:pPr algn="ctr" indent="0" marL="0">
                        <a:buNone/>
                      </a:pPr>
                      <a:r>
                        <a:rPr lang="en-US" sz="1050" b="1" dirty="0">
                          <a:solidFill>
                            <a:schemeClr val="accent1"/>
                          </a:solidFill>
                        </a:rPr>
                        <a:t>Explore medical insights and</a:t>
                      </a:r>
                      <a:b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ZS’s </a:t>
                      </a:r>
                      <a:r>
                        <a:rPr lang="en-US" sz="950" b="1" dirty="0" u="sng">
                          <a:solidFill>
                            <a:srgbClr val="002677"/>
                          </a:solidFill>
                          <a:uFill>
                            <a:solidFill>
                              <a:srgbClr val="9AA8CC"/>
                            </a:solidFill>
                          </a:uFill>
                        </a:rPr>
                        <a:t>ZAIDYN Conversational AI for Medical</a:t>
                      </a: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u="sng">
                          <a:solidFill>
                            <a:srgbClr val="002677"/>
                          </a:solidFill>
                          <a:uFill>
                            <a:solidFill>
                              <a:srgbClr val="9AA8CC"/>
                            </a:solidFill>
                          </a:uFill>
                        </a:rPr>
                        <a:t>Evidenze’s </a:t>
                      </a:r>
                      <a:r>
                        <a:rPr lang="en-US" sz="950" b="1" dirty="0" u="sng">
                          <a:solidFill>
                            <a:srgbClr val="002677"/>
                          </a:solidFill>
                          <a:uFill>
                            <a:solidFill>
                              <a:srgbClr val="9AA8CC"/>
                            </a:solidFill>
                          </a:uFill>
                        </a:rPr>
                        <a:t>AI medical-education chatbots</a:t>
                      </a:r>
                      <a:r>
                        <a:rPr lang="en-US" sz="950" dirty="0">
                          <a:solidFill>
                            <a:schemeClr val="tx1"/>
                          </a:solidFill>
                        </a:rPr>
                        <a:t> </a:t>
                      </a:r>
                      <a:r>
                        <a:rPr lang="en-US" sz="950" dirty="0">
                          <a:solidFill>
                            <a:schemeClr val="tx1"/>
                          </a:solidFill>
                        </a:rPr>
                        <a:t>(Spain)</a:t>
                      </a: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Market Clarity</a:t>
                      </a:r>
                      <a:r>
                        <a:rPr lang="en-US" sz="950" dirty="0" b="0">
                          <a:solidFill>
                            <a:schemeClr val="tx1"/>
                          </a:solidFill>
                        </a:rPr>
                        <a:t> (medical affairs evidence, MSL insights, HCP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77565">
                <a:tc>
                  <a:txBody>
                    <a:bodyPr/>
                    <a:lstStyle/>
                    <a:p>
                      <a:pPr algn="ctr" indent="0" marL="0">
                        <a:buNone/>
                      </a:pPr>
                      <a:r>
                        <a:rPr lang="en-US" sz="1050" b="1" dirty="0">
                          <a:solidFill>
                            <a:schemeClr val="accent1"/>
                          </a:solidFill>
                        </a:rPr>
                        <a:t>Question and navigate</a:t>
                      </a:r>
                      <a:b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b="1" dirty="0" u="sng">
                          <a:solidFill>
                            <a:srgbClr val="002677"/>
                          </a:solidFill>
                          <a:uFill>
                            <a:solidFill>
                              <a:srgbClr val="9AA8CC"/>
                            </a:solidFill>
                          </a:uFill>
                        </a:rPr>
                        <a:t>Vault AI Chat</a:t>
                      </a: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Safety and evidence-research services</a:t>
                      </a:r>
                      <a:r>
                        <a:rPr lang="en-US" sz="950" dirty="0" b="0">
                          <a:solidFill>
                            <a:schemeClr val="tx1"/>
                          </a:solidFill>
                        </a:rPr>
                        <a:t> (scientific analysis)</a:t>
                      </a:r>
                      <a:r>
                        <a:rPr lang="en-US" sz="950" dirty="0" b="0">
                          <a:solidFill>
                            <a:schemeClr val="tx1"/>
                          </a:solidFill>
                        </a:rPr>
                        <a:t>; </a:t>
                      </a:r>
                      <a:r>
                        <a:rPr lang="en-US" sz="950" dirty="0" b="0">
                          <a:solidFill>
                            <a:schemeClr val="tx1"/>
                          </a:solidFill>
                        </a:rPr>
                        <a:t>no comparable regulated-document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tracking medical affairs impact card"/>
          <p:cNvSpPr/>
          <p:nvPr/>
        </p:nvSpPr>
        <p:spPr>
          <a:xfrm>
            <a:off x="548640"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TRACKING MEDICAL AFFAIRS IMPACT</a:t>
            </a:r>
            <a:endParaRPr lang="en-US" sz="1300" dirty="0"/>
          </a:p>
        </p:txBody>
      </p:sp>
      <p:sp>
        <p:nvSpPr>
          <p:cNvPr id="17" name="Text 14"/>
          <p:cNvSpPr txBox="1"/>
          <p:nvPr/>
        </p:nvSpPr>
        <p:spPr>
          <a:xfrm>
            <a:off x="749808"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ZS positions its </a:t>
            </a:r>
            <a:r>
              <a:rPr lang="en-US" sz="1050" b="1" dirty="0" u="sng">
                <a:solidFill>
                  <a:srgbClr val="002677"/>
                </a:solidFill>
                <a:uFill>
                  <a:solidFill>
                    <a:srgbClr val="9AA8CC"/>
                  </a:solidFill>
                </a:uFill>
              </a:rPr>
              <a:t>medical-affairs analytics</a:t>
            </a:r>
            <a:r>
              <a:rPr lang="en-US" sz="1050" b="1" dirty="0">
                <a:solidFill>
                  <a:schemeClr val="tx1"/>
                </a:solidFill>
              </a:rPr>
              <a:t> as the answer to “what is medical affairs actually achieving?” The suite tracks care gaps in patient-level claims data and compares engaged and non-engaged populations over time; a conversational assistant lets teams query the results.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limits in the open card"/>
          <p:cNvSpPr/>
          <p:nvPr/>
        </p:nvSpPr>
        <p:spPr>
          <a:xfrm>
            <a:off x="6185916"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label"/>
          <p:cNvSpPr txBox="1"/>
          <p:nvPr/>
        </p:nvSpPr>
        <p:spPr>
          <a:xfrm>
            <a:off x="6387084"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LIMITS IN THE OPEN</a:t>
            </a:r>
            <a:endParaRPr lang="en-US" sz="1300" dirty="0"/>
          </a:p>
        </p:txBody>
      </p:sp>
      <p:sp>
        <p:nvSpPr>
          <p:cNvPr id="28" name="Text 14"/>
          <p:cNvSpPr txBox="1"/>
          <p:nvPr/>
        </p:nvSpPr>
        <p:spPr>
          <a:xfrm>
            <a:off x="6387084"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IQVIA says its small </a:t>
            </a:r>
            <a:r>
              <a:rPr lang="en-US" sz="1050" b="1" dirty="0" u="sng">
                <a:solidFill>
                  <a:srgbClr val="002677"/>
                </a:solidFill>
                <a:uFill>
                  <a:solidFill>
                    <a:srgbClr val="9AA8CC"/>
                  </a:solidFill>
                </a:uFill>
              </a:rPr>
              <a:t>Med-R1 research agent</a:t>
            </a:r>
            <a:r>
              <a:rPr lang="en-US" sz="1050" b="1" dirty="0">
                <a:solidFill>
                  <a:schemeClr val="tx1"/>
                </a:solidFill>
              </a:rPr>
              <a:t> can “outperform much larger general-purpose models,” while conceding that multi-step biomedical reasoning remains unsolved. In its December 2025 benchmark, Med-R1 answered 21 of 50 questions—and none of the 10 hardest, where OpenAI’s and Google’s agents managed one between them.</a:t>
            </a:r>
            <a:endParaRPr lang="en-US" sz="1050" dirty="0"/>
          </a:p>
        </p:txBody>
      </p:sp>
      <p:sp>
        <p:nvSpPr>
          <p:cNvPr id="29"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21" name="Invisible source link 9: https://www.iqvia.com/solutions/innovative-models/artificial-intelligence-and-machine-learning/iqvia-ai-platform">
            <a:hlinkClick r:id="rId3"/>
          </p:cNvPr>
          <p:cNvSpPr/>
          <p:nvPr/>
        </p:nvSpPr>
        <p:spPr>
          <a:xfrm>
            <a:off x="2944075" y="2063815"/>
            <a:ext cx="217001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9: https://zaidyn.zs.com/products/zaidyn-medical/conversational-ai-for-medical">
            <a:hlinkClick r:id="rId5"/>
          </p:cNvPr>
          <p:cNvSpPr/>
          <p:nvPr/>
        </p:nvSpPr>
        <p:spPr>
          <a:xfrm>
            <a:off x="2944075" y="2773376"/>
            <a:ext cx="247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9: https://evidenze.com/">
            <a:hlinkClick r:id="rId6"/>
          </p:cNvPr>
          <p:cNvSpPr/>
          <p:nvPr/>
        </p:nvSpPr>
        <p:spPr>
          <a:xfrm>
            <a:off x="2944075" y="3095575"/>
            <a:ext cx="235622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9: https://platform.veevavault.help/en/lr/950642">
            <a:hlinkClick r:id="rId8"/>
          </p:cNvPr>
          <p:cNvSpPr/>
          <p:nvPr/>
        </p:nvSpPr>
        <p:spPr>
          <a:xfrm>
            <a:off x="2944075" y="3804781"/>
            <a:ext cx="122357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9: https://business.optum.com/en/data-analytics/life-sciences/epidemiology-consulting.html">
            <a:hlinkClick r:id="rId4"/>
          </p:cNvPr>
          <p:cNvSpPr/>
          <p:nvPr/>
        </p:nvSpPr>
        <p:spPr>
          <a:xfrm>
            <a:off x="8704795" y="1996136"/>
            <a:ext cx="122251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9: https://business.optum.com/en/data-analytics/life-sciences/epidemiology-consulting.html">
            <a:hlinkClick r:id="rId4"/>
          </p:cNvPr>
          <p:cNvSpPr/>
          <p:nvPr/>
        </p:nvSpPr>
        <p:spPr>
          <a:xfrm>
            <a:off x="9379800" y="2131861"/>
            <a:ext cx="200459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9: https://business.optum.com/en/data-analytics/life-sciences/epidemiology-consulting.html">
            <a:hlinkClick r:id="rId4"/>
          </p:cNvPr>
          <p:cNvSpPr/>
          <p:nvPr/>
        </p:nvSpPr>
        <p:spPr>
          <a:xfrm>
            <a:off x="8704795" y="2267573"/>
            <a:ext cx="111325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9: https://business.optum.com/en/data-analytics/life-sciences/real-world-data/market-clarity-data.html">
            <a:hlinkClick r:id="rId7"/>
          </p:cNvPr>
          <p:cNvSpPr/>
          <p:nvPr/>
        </p:nvSpPr>
        <p:spPr>
          <a:xfrm>
            <a:off x="8704795" y="2934298"/>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9: https://zaidyn.zs.com/products/zaidyn-medical/patient-outcome-intelligence">
            <a:hlinkClick r:id="rId9"/>
          </p:cNvPr>
          <p:cNvSpPr/>
          <p:nvPr/>
        </p:nvSpPr>
        <p:spPr>
          <a:xfrm>
            <a:off x="1772285" y="5055531"/>
            <a:ext cx="153763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9: https://www.iqvia.com/blogs/2025/12/introducing-iqvia-med-r1-deep-research-agent">
            <a:hlinkClick r:id="rId10"/>
          </p:cNvPr>
          <p:cNvSpPr/>
          <p:nvPr/>
        </p:nvSpPr>
        <p:spPr>
          <a:xfrm>
            <a:off x="7677721" y="5055531"/>
            <a:ext cx="1456515"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1587288"/>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08076">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TriNetX’s </a:t>
                      </a:r>
                      <a:r>
                        <a:rPr lang="en-US" sz="950" b="1" dirty="0" u="sng">
                          <a:solidFill>
                            <a:srgbClr val="002677"/>
                          </a:solidFill>
                          <a:uFill>
                            <a:solidFill>
                              <a:srgbClr val="9AA8CC"/>
                            </a:solidFill>
                          </a:uFill>
                        </a:rPr>
                        <a:t>Terrain AI Assistant</a:t>
                      </a: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Prospector</a:t>
                      </a:r>
                      <a:r>
                        <a:rPr lang="en-US" sz="950" dirty="0" b="0">
                          <a:solidFill>
                            <a:schemeClr val="tx1"/>
                          </a:solidFill>
                        </a:rPr>
                        <a:t> (no-code cohort building, attrition funnels)</a:t>
                      </a:r>
                      <a:r>
                        <a:rPr lang="en-US" sz="950" dirty="0" b="0">
                          <a:solidFill>
                            <a:schemeClr val="tx1"/>
                          </a:solidFill>
                        </a:rPr>
                        <a:t>; </a:t>
                      </a:r>
                      <a:r>
                        <a:rPr lang="en-US" sz="950" dirty="0" b="1" u="sng">
                          <a:solidFill>
                            <a:srgbClr val="002677"/>
                          </a:solidFill>
                          <a:uFill>
                            <a:solidFill>
                              <a:srgbClr val="9AA8CC"/>
                            </a:solidFill>
                          </a:uFill>
                        </a:rPr>
                        <a:t>Digital Research Network</a:t>
                      </a:r>
                      <a:r>
                        <a:rPr lang="en-US" sz="950" dirty="0" b="0">
                          <a:solidFill>
                            <a:schemeClr val="tx1"/>
                          </a:solidFill>
                        </a:rPr>
                        <a:t> (patient identification, recruitment infrastructure)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50028">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Taimei’s </a:t>
                      </a:r>
                      <a:r>
                        <a:rPr lang="en-US" sz="950" b="1" dirty="0" u="sng">
                          <a:solidFill>
                            <a:srgbClr val="002677"/>
                          </a:solidFill>
                          <a:uFill>
                            <a:solidFill>
                              <a:srgbClr val="9AA8CC"/>
                            </a:solidFill>
                          </a:uFill>
                        </a:rPr>
                        <a:t>Wiz-iCTA</a:t>
                      </a:r>
                      <a:r>
                        <a:rPr lang="en-US" sz="950" dirty="0">
                          <a:solidFill>
                            <a:schemeClr val="tx1"/>
                          </a:solidFill>
                        </a:rPr>
                        <a:t> </a:t>
                      </a:r>
                      <a:r>
                        <a:rPr lang="en-US" sz="950" dirty="0">
                          <a:solidFill>
                            <a:schemeClr val="tx1"/>
                          </a:solidFill>
                        </a:rPr>
                        <a:t>(China)</a:t>
                      </a: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True Source</a:t>
                      </a:r>
                      <a:r>
                        <a:rPr lang="en-US" sz="950" dirty="0" b="0">
                          <a:solidFill>
                            <a:schemeClr val="tx1"/>
                          </a:solidFill>
                        </a:rPr>
                        <a:t> (electronic source-data capture)</a:t>
                      </a:r>
                      <a:r>
                        <a:rPr lang="en-US" sz="950" dirty="0" b="0">
                          <a:solidFill>
                            <a:schemeClr val="tx1"/>
                          </a:solidFill>
                        </a:rPr>
                        <a:t>; </a:t>
                      </a:r>
                      <a:r>
                        <a:rPr lang="en-US" sz="950" dirty="0" b="0">
                          <a:solidFill>
                            <a:schemeClr val="tx1"/>
                          </a:solidFill>
                        </a:rPr>
                        <a:t>no comparable conversational document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489241"/>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763561"/>
          <a:ext cx="11091672" cy="122682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97636">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EVERSANA’s </a:t>
                      </a:r>
                      <a:r>
                        <a:rPr lang="en-US" sz="950" b="1" dirty="0" u="sng">
                          <a:solidFill>
                            <a:srgbClr val="002677"/>
                          </a:solidFill>
                          <a:uFill>
                            <a:solidFill>
                              <a:srgbClr val="9AA8CC"/>
                            </a:solidFill>
                          </a:uFill>
                        </a:rPr>
                        <a:t>Ask NAVLIN</a:t>
                      </a: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u="sng">
                          <a:solidFill>
                            <a:srgbClr val="002677"/>
                          </a:solidFill>
                          <a:uFill>
                            <a:solidFill>
                              <a:srgbClr val="9AA8CC"/>
                            </a:solidFill>
                          </a:uFill>
                        </a:rPr>
                        <a:t>HEOR/value evidence</a:t>
                      </a:r>
                      <a:r>
                        <a:rPr lang="en-US" sz="950" dirty="0" b="0">
                          <a:solidFill>
                            <a:schemeClr val="tx1"/>
                          </a:solidFill>
                        </a:rPr>
                        <a:t> (outcomes research, economic analysis)</a:t>
                      </a:r>
                      <a:r>
                        <a:rPr lang="en-US" sz="950" dirty="0" b="0">
                          <a:solidFill>
                            <a:schemeClr val="tx1"/>
                          </a:solidFill>
                        </a:rPr>
                        <a:t>; </a:t>
                      </a:r>
                      <a:r>
                        <a:rPr lang="en-US" sz="950" dirty="0" b="1" u="sng">
                          <a:solidFill>
                            <a:srgbClr val="002677"/>
                          </a:solidFill>
                          <a:uFill>
                            <a:solidFill>
                              <a:srgbClr val="9AA8CC"/>
                            </a:solidFill>
                          </a:uFill>
                        </a:rPr>
                        <a:t>Evidence Engine</a:t>
                      </a:r>
                      <a:r>
                        <a:rPr lang="en-US" sz="950" dirty="0" b="0">
                          <a:solidFill>
                            <a:schemeClr val="tx1"/>
                          </a:solidFill>
                        </a:rPr>
                        <a:t> (evidence-generation support)</a:t>
                      </a:r>
                      <a:r>
                        <a:rPr lang="en-US" sz="950" dirty="0" b="0">
                          <a:solidFill>
                            <a:schemeClr val="tx1"/>
                          </a:solidFill>
                        </a:rPr>
                        <a:t>; </a:t>
                      </a:r>
                      <a:r>
                        <a:rPr lang="en-US" sz="950" dirty="0" u="sng">
                          <a:solidFill>
                            <a:srgbClr val="002677"/>
                          </a:solidFill>
                          <a:uFill>
                            <a:solidFill>
                              <a:srgbClr val="9AA8CC"/>
                            </a:solidFill>
                          </a:uFill>
                        </a:rPr>
                        <a:t>health economic and budget impact modeling</a:t>
                      </a:r>
                      <a:r>
                        <a:rPr lang="en-US" sz="950" dirty="0" b="0">
                          <a:solidFill>
                            <a:schemeClr val="tx1"/>
                          </a:solidFill>
                        </a:rPr>
                        <a:t> (cost and budget scenarios)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beyond the public evidence card"/>
          <p:cNvSpPr/>
          <p:nvPr/>
        </p:nvSpPr>
        <p:spPr>
          <a:xfrm>
            <a:off x="548640" y="5136685"/>
            <a:ext cx="11091672" cy="971507"/>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749808" y="5183526"/>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6"/>
          <p:cNvSpPr txBox="1"/>
          <p:nvPr/>
        </p:nvSpPr>
        <p:spPr>
          <a:xfrm>
            <a:off x="749808" y="5494422"/>
            <a:ext cx="10689336" cy="566928"/>
          </a:xfrm>
          <a:prstGeom prst="rect">
            <a:avLst/>
          </a:prstGeom>
          <a:noFill/>
          <a:ln/>
        </p:spPr>
        <p:txBody>
          <a:bodyPr wrap="square" lIns="0" tIns="0" rIns="0" bIns="0" rtlCol="0" anchor="t"/>
          <a:lstStyle/>
          <a:p>
            <a:pPr indent="0" marL="0">
              <a:buNone/>
            </a:pPr>
            <a:r>
              <a:rPr lang="en-US" sz="1000" b="1" dirty="0">
                <a:solidFill>
                  <a:schemeClr val="tx1"/>
                </a:solidFill>
              </a:rPr>
              <a:t>For Clinical Trials, does the interface help identify viable sites, evaluate patients or manage trial documents—and how far does it go?</a:t>
            </a:r>
            <a:endParaRPr lang="en-US" sz="1050" dirty="0"/>
          </a:p>
          <a:p>
            <a:pPr indent="0" marL="0">
              <a:spcBef>
                <a:spcPts val="600"/>
              </a:spcBef>
              <a:buNone/>
            </a:pPr>
            <a:r>
              <a:rPr lang="en-US" sz="1000" b="1" dirty="0">
                <a:solidFill>
                  <a:schemeClr val="tx1"/>
                </a:solidFill>
              </a:rPr>
              <a:t>For Market Access, is the customer asking for pricing intelligence, reimbursement information or new economic evidence? Where do the vendor offerings overlap with Optum LS, and where do they solve a different problem?</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21" name="Invisible source link 10: https://trinetx.com/solutions/trinetx-live/terrain/">
            <a:hlinkClick r:id="rId3"/>
          </p:cNvPr>
          <p:cNvSpPr/>
          <p:nvPr/>
        </p:nvSpPr>
        <p:spPr>
          <a:xfrm>
            <a:off x="2944075" y="2253540"/>
            <a:ext cx="167320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0: https://cn.taimei.com/index/product/id/41">
            <a:hlinkClick r:id="rId5"/>
          </p:cNvPr>
          <p:cNvSpPr/>
          <p:nvPr/>
        </p:nvSpPr>
        <p:spPr>
          <a:xfrm>
            <a:off x="2944075" y="2882457"/>
            <a:ext cx="98262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10: https://www.navlin.com/products/tender">
            <a:hlinkClick r:id="rId6"/>
          </p:cNvPr>
          <p:cNvSpPr/>
          <p:nvPr/>
        </p:nvSpPr>
        <p:spPr>
          <a:xfrm>
            <a:off x="2944075" y="4405974"/>
            <a:ext cx="149032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0: https://business.optum.com/en/data-analytics/life-sciences/clinical-trial-design.html">
            <a:hlinkClick r:id="rId4"/>
          </p:cNvPr>
          <p:cNvSpPr/>
          <p:nvPr/>
        </p:nvSpPr>
        <p:spPr>
          <a:xfrm>
            <a:off x="8704795" y="2185862"/>
            <a:ext cx="6345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0: https://business.optum.com/en/data-analytics/life-sciences/clinical-trial-design.html">
            <a:hlinkClick r:id="rId4"/>
          </p:cNvPr>
          <p:cNvSpPr/>
          <p:nvPr/>
        </p:nvSpPr>
        <p:spPr>
          <a:xfrm>
            <a:off x="9198724" y="2321574"/>
            <a:ext cx="144960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0: https://business.optum.com/en/data-analytics/life-sciences/clinical-trial-design.html">
            <a:hlinkClick r:id="rId4"/>
          </p:cNvPr>
          <p:cNvSpPr/>
          <p:nvPr/>
        </p:nvSpPr>
        <p:spPr>
          <a:xfrm>
            <a:off x="8704795" y="2814778"/>
            <a:ext cx="69416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10: https://business.optum.com/en/data-analytics/life-sciences/heor.html">
            <a:hlinkClick r:id="rId7"/>
          </p:cNvPr>
          <p:cNvSpPr/>
          <p:nvPr/>
        </p:nvSpPr>
        <p:spPr>
          <a:xfrm>
            <a:off x="8704795" y="4270262"/>
            <a:ext cx="11825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0: https://business.optum.com/en/data-analytics/life-sciences/evidence-engine.html">
            <a:hlinkClick r:id="rId8"/>
          </p:cNvPr>
          <p:cNvSpPr/>
          <p:nvPr/>
        </p:nvSpPr>
        <p:spPr>
          <a:xfrm>
            <a:off x="9794519" y="4405974"/>
            <a:ext cx="96201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0: https://business.optum.com/en/data-analytics/life-sciences/value-based-contracts.html">
            <a:hlinkClick r:id="rId9"/>
          </p:cNvPr>
          <p:cNvSpPr/>
          <p:nvPr/>
        </p:nvSpPr>
        <p:spPr>
          <a:xfrm>
            <a:off x="9815753" y="4541699"/>
            <a:ext cx="150978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0: https://business.optum.com/en/data-analytics/life-sciences/value-based-contracts.html">
            <a:hlinkClick r:id="rId9"/>
          </p:cNvPr>
          <p:cNvSpPr/>
          <p:nvPr/>
        </p:nvSpPr>
        <p:spPr>
          <a:xfrm>
            <a:off x="8704795" y="4677411"/>
            <a:ext cx="87542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ADDITIONAL COMPETITIVE DYNAMIC: LLM PROVIDERS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behind conversational AI are expanding into pharmaceutical workflows through partnerships, specialized offerings and acquisitions</a:t>
            </a:r>
            <a:endParaRPr lang="en-US" sz="2200" dirty="0"/>
          </a:p>
        </p:txBody>
      </p:sp>
      <p:sp>
        <p:nvSpPr>
          <p:cNvPr id="4" name="label"/>
          <p:cNvSpPr txBox="1"/>
          <p:nvPr/>
        </p:nvSpPr>
        <p:spPr>
          <a:xfrm>
            <a:off x="548640" y="148132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965960"/>
                <a:gridCol w="5349240"/>
                <a:gridCol w="3776472"/>
              </a:tblGrid>
              <a:tr h="402336">
                <a:tc>
                  <a:txBody>
                    <a:bodyPr/>
                    <a:lstStyle/>
                    <a:p>
                      <a:pPr indent="0" marL="0">
                        <a:buNone/>
                      </a:pPr>
                      <a:r>
                        <a:rPr lang="en-US" sz="900" b="1" spc="0" kern="0" dirty="0">
                          <a:solidFill>
                            <a:schemeClr val="bg1"/>
                          </a:solidFill>
                        </a:rPr>
                        <a:t>LLM PROVIDER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u="sng">
                          <a:solidFill>
                            <a:srgbClr val="002677"/>
                          </a:solidFill>
                          <a:uFill>
                            <a:solidFill>
                              <a:srgbClr val="9AA8CC"/>
                            </a:solidFill>
                          </a:uFill>
                        </a:rPr>
                        <a:t>Anthropic + Komodo Health</a:t>
                      </a:r>
                      <a:r>
                        <a:rPr lang="en-US" sz="900" b="1" dirty="0">
                          <a:solidFill>
                            <a:schemeClr val="tx1"/>
                          </a:solidFill>
                        </a:rPr>
                        <a:t>:</a:t>
                      </a: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u="sng">
                          <a:solidFill>
                            <a:srgbClr val="002677"/>
                          </a:solidFill>
                          <a:uFill>
                            <a:solidFill>
                              <a:srgbClr val="9AA8CC"/>
                            </a:solidFill>
                          </a:uFill>
                        </a:rPr>
                        <a:t>Anthropic + Veeva</a:t>
                      </a:r>
                      <a:r>
                        <a:rPr lang="en-US" sz="900" b="1" dirty="0">
                          <a:solidFill>
                            <a:schemeClr val="tx1"/>
                          </a:solidFill>
                        </a:rPr>
                        <a:t>:</a:t>
                      </a: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u="sng">
                          <a:solidFill>
                            <a:srgbClr val="002677"/>
                          </a:solidFill>
                          <a:uFill>
                            <a:solidFill>
                              <a:srgbClr val="9AA8CC"/>
                            </a:solidFill>
                          </a:uFill>
                        </a:rPr>
                        <a:t>AWS + Datavant</a:t>
                      </a:r>
                      <a:r>
                        <a:rPr lang="en-US" sz="900" b="1" dirty="0">
                          <a:solidFill>
                            <a:schemeClr val="tx1"/>
                          </a:solidFill>
                        </a:rPr>
                        <a:t>:</a:t>
                      </a:r>
                      <a:r>
                        <a:rPr lang="en-US" sz="900" dirty="0">
                          <a:solidFill>
                            <a:schemeClr val="tx1"/>
                          </a:solidFill>
                        </a:rPr>
                        <a:t> </a:t>
                      </a:r>
                      <a:r>
                        <a:rPr lang="en-US" sz="900" dirty="0" u="sng">
                          <a:solidFill>
                            <a:srgbClr val="002677"/>
                          </a:solidFill>
                          <a:uFill>
                            <a:solidFill>
                              <a:srgbClr val="9AA8CC"/>
                            </a:solidFill>
                          </a:uFill>
                        </a:rPr>
                        <a:t>Explore Assistant</a:t>
                      </a:r>
                      <a:r>
                        <a:rPr lang="en-US" sz="900" dirty="0">
                          <a:solidFill>
                            <a:schemeClr val="tx1"/>
                          </a:solidFill>
                        </a:rPr>
                        <a: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LLM providers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u="sng">
                          <a:solidFill>
                            <a:srgbClr val="002677"/>
                          </a:solidFill>
                          <a:uFill>
                            <a:solidFill>
                              <a:srgbClr val="9AA8CC"/>
                            </a:solidFill>
                          </a:uFill>
                        </a:rPr>
                        <a:t>Anthropic’s Claude for Life Sciences</a:t>
                      </a:r>
                      <a:r>
                        <a:rPr lang="en-US" sz="900" b="1" dirty="0">
                          <a:solidFill>
                            <a:schemeClr val="tx1"/>
                          </a:solidFill>
                        </a:rPr>
                        <a:t>:</a:t>
                      </a: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u="sng">
                          <a:solidFill>
                            <a:srgbClr val="002677"/>
                          </a:solidFill>
                          <a:uFill>
                            <a:solidFill>
                              <a:srgbClr val="9AA8CC"/>
                            </a:solidFill>
                          </a:uFill>
                        </a:rPr>
                        <a:t>OpenAI’s GPT-Rosalind</a:t>
                      </a:r>
                      <a:r>
                        <a:rPr lang="en-US" sz="900" b="1" dirty="0">
                          <a:solidFill>
                            <a:schemeClr val="tx1"/>
                          </a:solidFill>
                        </a:rPr>
                        <a:t>:</a:t>
                      </a: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LLM providers are building offerings aimed more directly at life-sciences users. These products are not necessarily direct substitutes for Optum LS’s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u="sng">
                          <a:solidFill>
                            <a:srgbClr val="002677"/>
                          </a:solidFill>
                          <a:uFill>
                            <a:solidFill>
                              <a:srgbClr val="9AA8CC"/>
                            </a:solidFill>
                          </a:uFill>
                        </a:rPr>
                        <a:t>Cohere + Reliant AI</a:t>
                      </a:r>
                      <a:r>
                        <a:rPr lang="en-US" sz="900" b="1" dirty="0">
                          <a:solidFill>
                            <a:schemeClr val="tx1"/>
                          </a:solidFill>
                        </a:rPr>
                        <a:t>:</a:t>
                      </a:r>
                      <a:r>
                        <a:rPr lang="en-US" sz="900" dirty="0">
                          <a:solidFill>
                            <a:schemeClr val="tx1"/>
                          </a:solidFill>
                        </a:rPr>
                        <a:t> In May 2026, Cohere acquired a biopharma AI company offering literature review, competitive landscaping and scientific/regulatory information extraction. The acquisition supports development of </a:t>
                      </a:r>
                      <a:r>
                        <a:rPr lang="en-US" sz="900" dirty="0" u="sng">
                          <a:solidFill>
                            <a:srgbClr val="002677"/>
                          </a:solidFill>
                          <a:uFill>
                            <a:solidFill>
                              <a:srgbClr val="9AA8CC"/>
                            </a:solidFill>
                          </a:uFill>
                        </a:rPr>
                        <a:t>North for Pharma</a:t>
                      </a:r>
                      <a:r>
                        <a:rPr lang="en-US" sz="900" dirty="0">
                          <a:solidFill>
                            <a:schemeClr val="tx1"/>
                          </a:solidFill>
                        </a:rPr>
                        <a:t>,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LLM providers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4738878"/>
            <a:ext cx="11091672" cy="138760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4812030"/>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4900544"/>
            <a:ext cx="225308" cy="225308"/>
          </a:xfrm>
          <a:prstGeom prst="rect">
            <a:avLst/>
          </a:prstGeom>
        </p:spPr>
      </p:pic>
      <p:sp>
        <p:nvSpPr>
          <p:cNvPr id="9" name="label"/>
          <p:cNvSpPr txBox="1"/>
          <p:nvPr/>
        </p:nvSpPr>
        <p:spPr>
          <a:xfrm>
            <a:off x="1280160" y="4812030"/>
            <a:ext cx="7315200" cy="402336"/>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QUESTIONS FOR OPTUM LS</a:t>
            </a:r>
            <a:endParaRPr lang="en-US" sz="1300" dirty="0"/>
          </a:p>
        </p:txBody>
      </p:sp>
      <p:sp>
        <p:nvSpPr>
          <p:cNvPr id="10" name="Text 6"/>
          <p:cNvSpPr txBox="1"/>
          <p:nvPr/>
        </p:nvSpPr>
        <p:spPr>
          <a:xfrm>
            <a:off x="1280160" y="5287518"/>
            <a:ext cx="10131552" cy="777240"/>
          </a:xfrm>
          <a:prstGeom prst="rect">
            <a:avLst/>
          </a:prstGeom>
          <a:noFill/>
          <a:ln/>
        </p:spPr>
        <p:txBody>
          <a:bodyPr wrap="square" lIns="0" tIns="0" rIns="0" bIns="0" rtlCol="0" anchor="t"/>
          <a:lstStyle/>
          <a:p>
            <a:pPr indent="0" marL="0">
              <a:buNone/>
            </a:pPr>
            <a:r>
              <a:rPr lang="en-US" sz="1100" b="1" dirty="0">
                <a:solidFill>
                  <a:schemeClr val="accent1"/>
                </a:solidFill>
              </a:rPr>
              <a:t>As LLM providers expand beyond supplying general-purpose models, where will they remain technology partners to established life-sciences vendors—and where might they increasingly compete for the same pharmaceutical customers and workflows?</a:t>
            </a:r>
            <a:endParaRPr lang="en-US" sz="1100" dirty="0"/>
          </a:p>
          <a:p>
            <a:pPr indent="0" marL="0">
              <a:spcBef>
                <a:spcPts val="600"/>
              </a:spcBef>
              <a:buNone/>
            </a:pPr>
            <a:r>
              <a:rPr lang="en-US" sz="1100" b="1" dirty="0">
                <a:solidFill>
                  <a:schemeClr val="accent1"/>
                </a:solidFill>
              </a:rPr>
              <a:t>What could these developments mean for the competitive positions of companies whose offerings combine differentiated healthcare data, research tools and scientific expertise?</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11" name="Invisible source link 11: https://www.anthropic.com/news/claude-for-life-sciences">
            <a:hlinkClick r:id="rId4"/>
          </p:cNvPr>
          <p:cNvSpPr/>
          <p:nvPr/>
        </p:nvSpPr>
        <p:spPr>
          <a:xfrm>
            <a:off x="2624035" y="2203276"/>
            <a:ext cx="1551567"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2" name="Invisible source link 11: https://www.anthropic.com/news/healthcare-life-sciences">
            <a:hlinkClick r:id="rId5"/>
          </p:cNvPr>
          <p:cNvSpPr/>
          <p:nvPr/>
        </p:nvSpPr>
        <p:spPr>
          <a:xfrm>
            <a:off x="2624035" y="2382193"/>
            <a:ext cx="103173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3" name="Invisible source link 11: https://www.datavant.com/blog/how-ai-is-powering-smarter-privacy-preserving-data-discovery-for-life-sciences">
            <a:hlinkClick r:id="rId6"/>
          </p:cNvPr>
          <p:cNvSpPr/>
          <p:nvPr/>
        </p:nvSpPr>
        <p:spPr>
          <a:xfrm>
            <a:off x="2624035" y="2561111"/>
            <a:ext cx="911487"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4" name="Invisible source link 11: https://www.datavant.com/blog/how-ai-is-powering-smarter-privacy-preserving-data-discovery-for-life-sciences">
            <a:hlinkClick r:id="rId6"/>
          </p:cNvPr>
          <p:cNvSpPr/>
          <p:nvPr/>
        </p:nvSpPr>
        <p:spPr>
          <a:xfrm>
            <a:off x="3564724" y="2561111"/>
            <a:ext cx="90794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5" name="Invisible source link 11: https://www.anthropic.com/news/claude-for-life-sciences">
            <a:hlinkClick r:id="rId4"/>
          </p:cNvPr>
          <p:cNvSpPr/>
          <p:nvPr/>
        </p:nvSpPr>
        <p:spPr>
          <a:xfrm>
            <a:off x="2624035" y="3167714"/>
            <a:ext cx="202711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6" name="Invisible source link 11: https://openai.com/index/introducing-gpt-rosalind/">
            <a:hlinkClick r:id="rId7"/>
          </p:cNvPr>
          <p:cNvSpPr/>
          <p:nvPr/>
        </p:nvSpPr>
        <p:spPr>
          <a:xfrm>
            <a:off x="2624035" y="3474800"/>
            <a:ext cx="131541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7" name="Invisible source link 11: https://cohere.com/blog/cohere-acquires-reliant-ai-expand-sovereign-enterprise-ai">
            <a:hlinkClick r:id="rId8"/>
          </p:cNvPr>
          <p:cNvSpPr/>
          <p:nvPr/>
        </p:nvSpPr>
        <p:spPr>
          <a:xfrm>
            <a:off x="2624035" y="4067356"/>
            <a:ext cx="108355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8" name="Invisible source link 11: https://cohere.com/blog/cohere-acquires-reliant-ai-expand-sovereign-enterprise-ai">
            <a:hlinkClick r:id="rId8"/>
          </p:cNvPr>
          <p:cNvSpPr/>
          <p:nvPr/>
        </p:nvSpPr>
        <p:spPr>
          <a:xfrm>
            <a:off x="3907078" y="4323681"/>
            <a:ext cx="90794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a:t>
            </a:r>
            <a:endParaRPr lang="en-US" sz="1000" dirty="0"/>
          </a:p>
        </p:txBody>
      </p:sp>
      <p:sp>
        <p:nvSpPr>
          <p:cNvPr id="3" name="1. sources and qualification"/>
          <p:cNvSpPr/>
          <p:nvPr/>
        </p:nvSpPr>
        <p:spPr>
          <a:xfrm>
            <a:off x="548640" y="1481328"/>
            <a:ext cx="5454396" cy="1691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77240" y="1755648"/>
            <a:ext cx="4997196"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1. SOURCES AND QUALIFICATION</a:t>
            </a:r>
            <a:endParaRPr lang="en-US" sz="1000" dirty="0"/>
          </a:p>
        </p:txBody>
      </p:sp>
      <p:sp>
        <p:nvSpPr>
          <p:cNvPr id="5" name="Text 3"/>
          <p:cNvSpPr txBox="1"/>
          <p:nvPr/>
        </p:nvSpPr>
        <p:spPr>
          <a:xfrm>
            <a:off x="777240" y="2139696"/>
            <a:ext cx="4997196" cy="758952"/>
          </a:xfrm>
          <a:prstGeom prst="rect">
            <a:avLst/>
          </a:prstGeom>
          <a:noFill/>
          <a:ln/>
        </p:spPr>
        <p:txBody>
          <a:bodyPr wrap="square" lIns="0" tIns="0" rIns="0" bIns="0" rtlCol="0" anchor="t"/>
          <a:lstStyle/>
          <a:p>
            <a:pPr indent="0" marL="0">
              <a:buNone/>
            </a:pPr>
            <a:r>
              <a:rPr lang="en-US" sz="1200" dirty="0">
                <a:solidFill>
                  <a:schemeClr val="tx1"/>
                </a:solidFill>
              </a:rPr>
              <a:t>Official vendor product pages and announcements, reviewed through October 13, 2026. Included offerings with publicly marketed conversational interfaces supporting relevant biopharma customer tasks. General AI or agentic capabilities alone did not qualify.</a:t>
            </a:r>
            <a:endParaRPr lang="en-US" sz="1000" dirty="0"/>
          </a:p>
        </p:txBody>
      </p:sp>
      <p:sp>
        <p:nvSpPr>
          <p:cNvPr id="6" name="2. u.s. competitor screening"/>
          <p:cNvSpPr/>
          <p:nvPr/>
        </p:nvSpPr>
        <p:spPr>
          <a:xfrm>
            <a:off x="6185916" y="1481328"/>
            <a:ext cx="5454396" cy="1691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6414516" y="1755648"/>
            <a:ext cx="4997196"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2. U.S. COMPETITOR SCREENING</a:t>
            </a:r>
            <a:endParaRPr lang="en-US" sz="1000" dirty="0"/>
          </a:p>
        </p:txBody>
      </p:sp>
      <p:sp>
        <p:nvSpPr>
          <p:cNvPr id="8" name="Text 6"/>
          <p:cNvSpPr txBox="1"/>
          <p:nvPr/>
        </p:nvSpPr>
        <p:spPr>
          <a:xfrm>
            <a:off x="6414516" y="2139696"/>
            <a:ext cx="4997196" cy="758952"/>
          </a:xfrm>
          <a:prstGeom prst="rect">
            <a:avLst/>
          </a:prstGeom>
          <a:noFill/>
          <a:ln/>
        </p:spPr>
        <p:txBody>
          <a:bodyPr wrap="square" lIns="0" tIns="0" rIns="0" bIns="0" rtlCol="0" anchor="t"/>
          <a:lstStyle/>
          <a:p>
            <a:pPr indent="0" marL="0">
              <a:buNone/>
            </a:pPr>
            <a:r>
              <a:rPr lang="en-US" sz="1200" dirty="0">
                <a:solidFill>
                  <a:schemeClr val="tx1"/>
                </a:solidFill>
              </a:rPr>
              <a:t>43 competitor groups screened across five business domains. Identified 15 distinct groups marketing 19 qualifying conversational offerings. Domain-level company counts may overlap.</a:t>
            </a:r>
            <a:endParaRPr lang="en-US" sz="1000" dirty="0"/>
          </a:p>
        </p:txBody>
      </p:sp>
      <p:sp>
        <p:nvSpPr>
          <p:cNvPr id="9" name="3. international screening"/>
          <p:cNvSpPr/>
          <p:nvPr/>
        </p:nvSpPr>
        <p:spPr>
          <a:xfrm>
            <a:off x="548640" y="3355848"/>
            <a:ext cx="5454396" cy="1874519"/>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777240" y="3630168"/>
            <a:ext cx="4997196"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3. INTERNATIONAL SCREENING</a:t>
            </a:r>
            <a:endParaRPr lang="en-US" sz="1000" dirty="0"/>
          </a:p>
        </p:txBody>
      </p:sp>
      <p:sp>
        <p:nvSpPr>
          <p:cNvPr id="11" name="Text 9"/>
          <p:cNvSpPr txBox="1"/>
          <p:nvPr/>
        </p:nvSpPr>
        <p:spPr>
          <a:xfrm>
            <a:off x="777240" y="4014216"/>
            <a:ext cx="4997196" cy="941832"/>
          </a:xfrm>
          <a:prstGeom prst="rect">
            <a:avLst/>
          </a:prstGeom>
          <a:noFill/>
          <a:ln/>
        </p:spPr>
        <p:txBody>
          <a:bodyPr wrap="square" lIns="0" tIns="0" rIns="0" bIns="0" rtlCol="0" anchor="t"/>
          <a:lstStyle/>
          <a:p>
            <a:pPr indent="0" marL="0">
              <a:buNone/>
            </a:pPr>
            <a:r>
              <a:rPr lang="en-US" sz="1200" dirty="0">
                <a:solidFill>
                  <a:schemeClr val="tx1"/>
                </a:solidFill>
              </a:rPr>
              <a:t>14 selected country/region screens of varying depth, excluding companies already represented in the qualifying U.S. cohort. Nine selected international product examples appear in the analysis. Screened-company percentages are not national adoption rates.</a:t>
            </a:r>
            <a:endParaRPr lang="en-US" sz="1000" dirty="0"/>
          </a:p>
        </p:txBody>
      </p:sp>
      <p:sp>
        <p:nvSpPr>
          <p:cNvPr id="15" name="4. comparison and evidence limits"/>
          <p:cNvSpPr/>
          <p:nvPr/>
        </p:nvSpPr>
        <p:spPr>
          <a:xfrm>
            <a:off x="6185916" y="3355848"/>
            <a:ext cx="5454396" cy="1874519"/>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6414516" y="3630168"/>
            <a:ext cx="4997196"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4. COMPARISON AND EVIDENCE LIMITS</a:t>
            </a:r>
            <a:endParaRPr lang="en-US" sz="1000" dirty="0"/>
          </a:p>
        </p:txBody>
      </p:sp>
      <p:sp>
        <p:nvSpPr>
          <p:cNvPr id="17" name="Text 15"/>
          <p:cNvSpPr txBox="1"/>
          <p:nvPr/>
        </p:nvSpPr>
        <p:spPr>
          <a:xfrm>
            <a:off x="6414516" y="4014216"/>
            <a:ext cx="4997196" cy="941832"/>
          </a:xfrm>
          <a:prstGeom prst="rect">
            <a:avLst/>
          </a:prstGeom>
          <a:noFill/>
          <a:ln/>
        </p:spPr>
        <p:txBody>
          <a:bodyPr wrap="square" lIns="0" tIns="0" rIns="0" bIns="0" rtlCol="0" anchor="t"/>
          <a:lstStyle/>
          <a:p>
            <a:pPr indent="0" marL="0">
              <a:buNone/>
            </a:pPr>
            <a:r>
              <a:rPr lang="en-US" sz="1200" dirty="0">
                <a:solidFill>
                  <a:schemeClr val="tx1"/>
                </a:solidFill>
              </a:rPr>
              <a:t>Competitor and Optum LS offerings were compared by customer task, not assumed functional equivalence. Findings reflect public positioning rather than independently tested performance or deployment. Named offerings link to supporting public sources. LLM-provider developments are presented separately from the qualifying product counts.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How this analysis was built</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Biopharma — Independent Competitive Intelligence Work Sample</dc:title>
  <dc:subject>Verified public-source links embedded invisibly over existing product and company names</dc:subject>
  <dc:creator>Joseph Marino</dc:creator>
  <cp:lastModifiedBy>Joseph Marino</cp:lastModifiedBy>
  <cp:revision>1</cp:revision>
  <dcterms:created xsi:type="dcterms:W3CDTF">2026-10-14T02:26:17Z</dcterms:created>
  <dcterms:modified xsi:type="dcterms:W3CDTF">2026-10-14T02:26:17Z</dcterms:modified>
</cp:coreProperties>
</file>