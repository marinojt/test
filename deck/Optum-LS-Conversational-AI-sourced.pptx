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 name="icon circle"/>
          <p:cNvSpPr/>
          <p:nvPr/>
        </p:nvSpPr>
        <p:spPr>
          <a:xfrm>
            <a:off x="777240" y="1737360"/>
            <a:ext cx="475488" cy="475488"/>
          </a:xfrm>
          <a:prstGeom prst="ellipse">
            <a:avLst/>
          </a:prstGeom>
          <a:solidFill>
            <a:schemeClr val="accent5"/>
          </a:solidFill>
          <a:ln/>
        </p:spPr>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competitive landscape is the primary focus; selected international offerings provide context; and Optum LS is the strategic reference point.</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2" name="icon circle"/>
          <p:cNvSpPr/>
          <p:nvPr/>
        </p:nvSpPr>
        <p:spPr>
          <a:xfrm>
            <a:off x="777240" y="3419856"/>
            <a:ext cx="457200" cy="457200"/>
          </a:xfrm>
          <a:prstGeom prst="ellipse">
            <a:avLst/>
          </a:prstGeom>
          <a:solidFill>
            <a:schemeClr val="accent5"/>
          </a:solidFill>
          <a:ln/>
        </p:spPr>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a:t>
            </a:r>
            <a:pPr indent="0" marL="0">
              <a:buNone/>
            </a:pPr>
            <a:r>
              <a:rPr lang="en-US" sz="1050" b="1" dirty="0">
                <a:solidFill>
                  <a:schemeClr val="tx1"/>
                </a:solidFill>
              </a:rPr>
              <a:t>9 qualifying conversational AI offerings,</a:t>
            </a:r>
            <a:pPr indent="0" marL="0">
              <a:buNone/>
            </a:pPr>
            <a:r>
              <a:rPr lang="en-US" sz="1050" dirty="0">
                <a:solidFill>
                  <a:schemeClr val="tx1"/>
                </a:solidFill>
              </a:rPr>
              <a:t> providing additional examples of how vendors position conversational interaction.</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1" name="icon circle"/>
          <p:cNvSpPr/>
          <p:nvPr/>
        </p:nvSpPr>
        <p:spPr>
          <a:xfrm>
            <a:off x="4535424" y="3419856"/>
            <a:ext cx="457200" cy="457200"/>
          </a:xfrm>
          <a:prstGeom prst="ellipse">
            <a:avLst/>
          </a:prstGeom>
          <a:solidFill>
            <a:schemeClr val="accent5"/>
          </a:solidFill>
          <a:ln/>
        </p:spPr>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6" name="icon circle"/>
          <p:cNvSpPr/>
          <p:nvPr/>
        </p:nvSpPr>
        <p:spPr>
          <a:xfrm>
            <a:off x="8293608" y="3419856"/>
            <a:ext cx="457200" cy="457200"/>
          </a:xfrm>
          <a:prstGeom prst="ellipse">
            <a:avLst/>
          </a:prstGeom>
          <a:solidFill>
            <a:schemeClr val="accent5"/>
          </a:solidFill>
          <a:ln/>
        </p:spPr>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look beyond RWE to assess publicly-marketed conversational AI across five Optum LS-aligned domains, prioritizing the U.S. competitive landscape and using selected international offerings for context.</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548640" y="5596128"/>
            <a:ext cx="11091672"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548640" y="5596128"/>
            <a:ext cx="237744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2926080" y="5596128"/>
            <a:ext cx="8531352" cy="548640"/>
          </a:xfrm>
          <a:prstGeom prst="rect">
            <a:avLst/>
          </a:prstGeom>
          <a:noFill/>
          <a:ln/>
        </p:spPr>
        <p:txBody>
          <a:bodyPr wrap="square" lIns="0" tIns="0" rIns="0" bIns="0" rtlCol="0" anchor="ctr"/>
          <a:lstStyle/>
          <a:p>
            <a:pPr indent="0" marL="0">
              <a:buNone/>
            </a:pPr>
            <a:r>
              <a:rPr lang="en-US" sz="1050" b="1" dirty="0">
                <a:solidFill>
                  <a:schemeClr val="tx1"/>
                </a:solidFill>
              </a:rPr>
              <a:t>A publicly-marketed customer-facing conversational interface was not established in the reviewed materials for Optum LS</a:t>
            </a:r>
            <a:endParaRPr lang="en-US" sz="1050" dirty="0"/>
          </a:p>
          <a:p>
            <a:pPr indent="0" marL="0">
              <a:buNone/>
            </a:pPr>
            <a:r>
              <a:rPr lang="en-US" sz="1050" b="1" dirty="0">
                <a:solidFill>
                  <a:schemeClr val="tx1"/>
                </a:solidFill>
              </a:rPr>
              <a:t>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8156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9147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3017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62217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7998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914347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1029150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914814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61461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2920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80735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8109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4936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8109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915283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61461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7901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61562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915283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61405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914922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8088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915283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76877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920934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4542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915283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1034081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915102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competitors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9" name="icon circle"/>
          <p:cNvSpPr/>
          <p:nvPr/>
        </p:nvSpPr>
        <p:spPr>
          <a:xfrm>
            <a:off x="8613648" y="4247388"/>
            <a:ext cx="402336" cy="402336"/>
          </a:xfrm>
          <a:prstGeom prst="ellipse">
            <a:avLst/>
          </a:prstGeom>
          <a:solidFill>
            <a:schemeClr val="accent5"/>
          </a:solidFill>
          <a:ln/>
        </p:spPr>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NEXT: 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26" name="Invisible source link 5: https://www.merative.com/newsroom/truven-launches-">
            <a:hlinkClick r:id="rId3"/>
          </p:cNvPr>
          <p:cNvSpPr/>
          <p:nvPr/>
        </p:nvSpPr>
        <p:spPr>
          <a:xfrm>
            <a:off x="3531835" y="2122195"/>
            <a:ext cx="125081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5: https://healthverity.com/news/announcing-healthver">
            <a:hlinkClick r:id="rId4"/>
          </p:cNvPr>
          <p:cNvSpPr/>
          <p:nvPr/>
        </p:nvSpPr>
        <p:spPr>
          <a:xfrm>
            <a:off x="2953686" y="2308682"/>
            <a:ext cx="72556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5: https://healthverity.com/news/announcing-healthver">
            <a:hlinkClick r:id="rId4"/>
          </p:cNvPr>
          <p:cNvSpPr/>
          <p:nvPr/>
        </p:nvSpPr>
        <p:spPr>
          <a:xfrm>
            <a:off x="3716148" y="2311920"/>
            <a:ext cx="299336"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5: https://business.optum.com/en/data-analytics/life-">
            <a:hlinkClick r:id="rId5"/>
          </p:cNvPr>
          <p:cNvSpPr/>
          <p:nvPr/>
        </p:nvSpPr>
        <p:spPr>
          <a:xfrm>
            <a:off x="8714349" y="2215438"/>
            <a:ext cx="1022923"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5: https://business.optum.com/en/data-analytics/life-">
            <a:hlinkClick r:id="rId6"/>
          </p:cNvPr>
          <p:cNvSpPr/>
          <p:nvPr/>
        </p:nvSpPr>
        <p:spPr>
          <a:xfrm>
            <a:off x="9809815" y="2215438"/>
            <a:ext cx="12385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5: https://business.optum.com/en/data-analytics/life-">
            <a:hlinkClick r:id="rId7"/>
          </p:cNvPr>
          <p:cNvSpPr/>
          <p:nvPr/>
        </p:nvSpPr>
        <p:spPr>
          <a:xfrm>
            <a:off x="11123083" y="2215438"/>
            <a:ext cx="39436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5: https://business.optum.com/en/data-analytics/life-">
            <a:hlinkClick r:id="rId7"/>
          </p:cNvPr>
          <p:cNvSpPr/>
          <p:nvPr/>
        </p:nvSpPr>
        <p:spPr>
          <a:xfrm>
            <a:off x="8709663" y="2325242"/>
            <a:ext cx="7723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5: https://business.optum.com/en/data-analytics/life-">
            <a:hlinkClick r:id="rId12"/>
          </p:cNvPr>
          <p:cNvSpPr/>
          <p:nvPr/>
        </p:nvSpPr>
        <p:spPr>
          <a:xfrm>
            <a:off x="8704620" y="3214433"/>
            <a:ext cx="113164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5: https://business.optum.com/en/data-analytics/life-">
            <a:hlinkClick r:id="rId13"/>
          </p:cNvPr>
          <p:cNvSpPr/>
          <p:nvPr/>
        </p:nvSpPr>
        <p:spPr>
          <a:xfrm>
            <a:off x="9915287" y="3214433"/>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5: https://business.optum.com/en/data-analytics/life-">
            <a:hlinkClick r:id="rId14"/>
          </p:cNvPr>
          <p:cNvSpPr/>
          <p:nvPr/>
        </p:nvSpPr>
        <p:spPr>
          <a:xfrm>
            <a:off x="10956042" y="3218751"/>
            <a:ext cx="571849"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nvisible source link 5: https://panalgo.com/ella/">
            <a:hlinkClick r:id="rId15"/>
          </p:cNvPr>
          <p:cNvSpPr/>
          <p:nvPr/>
        </p:nvSpPr>
        <p:spPr>
          <a:xfrm>
            <a:off x="3545157" y="4122001"/>
            <a:ext cx="34864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nvisible source link 5: https://www.bcplatforms.com/bc-catalyst">
            <a:hlinkClick r:id="rId16"/>
          </p:cNvPr>
          <p:cNvSpPr/>
          <p:nvPr/>
        </p:nvSpPr>
        <p:spPr>
          <a:xfrm>
            <a:off x="3716872" y="4308487"/>
            <a:ext cx="667975"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Invisible source link 5: https://business.optum.com/en/data-analytics/life-">
            <a:hlinkClick r:id="rId12"/>
          </p:cNvPr>
          <p:cNvSpPr/>
          <p:nvPr/>
        </p:nvSpPr>
        <p:spPr>
          <a:xfrm>
            <a:off x="8704620" y="4215244"/>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Invisible source link 5: https://business.optum.com/en/data-analytics/life-">
            <a:hlinkClick r:id="rId17"/>
          </p:cNvPr>
          <p:cNvSpPr/>
          <p:nvPr/>
        </p:nvSpPr>
        <p:spPr>
          <a:xfrm>
            <a:off x="9914207" y="4215244"/>
            <a:ext cx="12004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6: https://business.optum.com/en/data-analytics/life-">
            <a:hlinkClick r:id="rId5"/>
          </p:cNvPr>
          <p:cNvSpPr/>
          <p:nvPr/>
        </p:nvSpPr>
        <p:spPr>
          <a:xfrm>
            <a:off x="8714349" y="2173681"/>
            <a:ext cx="117628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6: https://business.optum.com/en/data-analytics/life-">
            <a:hlinkClick r:id="rId6"/>
          </p:cNvPr>
          <p:cNvSpPr/>
          <p:nvPr/>
        </p:nvSpPr>
        <p:spPr>
          <a:xfrm>
            <a:off x="9961007" y="2173681"/>
            <a:ext cx="133108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6: https://business.optum.com/en/data-analytics/life-">
            <a:hlinkClick r:id="rId9"/>
          </p:cNvPr>
          <p:cNvSpPr/>
          <p:nvPr/>
        </p:nvSpPr>
        <p:spPr>
          <a:xfrm>
            <a:off x="8710742" y="3088805"/>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6: https://business.optum.com/en/data-analytics/life-">
            <a:hlinkClick r:id="rId10"/>
          </p:cNvPr>
          <p:cNvSpPr/>
          <p:nvPr/>
        </p:nvSpPr>
        <p:spPr>
          <a:xfrm>
            <a:off x="9746811" y="3088792"/>
            <a:ext cx="1761282"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6: https://business.optum.com/en/data-analytics/life-">
            <a:hlinkClick r:id="rId10"/>
          </p:cNvPr>
          <p:cNvSpPr/>
          <p:nvPr/>
        </p:nvSpPr>
        <p:spPr>
          <a:xfrm>
            <a:off x="8709663" y="3198596"/>
            <a:ext cx="417051"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6: https://business.optum.com/en/data-analytics/life-">
            <a:hlinkClick r:id="rId12"/>
          </p:cNvPr>
          <p:cNvSpPr/>
          <p:nvPr/>
        </p:nvSpPr>
        <p:spPr>
          <a:xfrm>
            <a:off x="8704620" y="3935882"/>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DOMAINS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7: https://business.optum.com/en/data-analytics/life-">
            <a:hlinkClick r:id="rId6"/>
          </p:cNvPr>
          <p:cNvSpPr/>
          <p:nvPr/>
        </p:nvSpPr>
        <p:spPr>
          <a:xfrm>
            <a:off x="8714349" y="2194559"/>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7: https://business.optum.com/en/data-analytics/life-">
            <a:hlinkClick r:id="rId6"/>
          </p:cNvPr>
          <p:cNvSpPr/>
          <p:nvPr/>
        </p:nvSpPr>
        <p:spPr>
          <a:xfrm>
            <a:off x="8714349" y="3257994"/>
            <a:ext cx="734204"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7: https://business.optum.com/en/data-analytics/life-">
            <a:hlinkClick r:id="rId6"/>
          </p:cNvPr>
          <p:cNvSpPr/>
          <p:nvPr/>
        </p:nvSpPr>
        <p:spPr>
          <a:xfrm>
            <a:off x="8714349" y="4062603"/>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comparable conversational interface for regulated documents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8: https://business.optum.com/en/data-analytics/life-">
            <a:hlinkClick r:id="rId4"/>
          </p:cNvPr>
          <p:cNvSpPr/>
          <p:nvPr/>
        </p:nvSpPr>
        <p:spPr>
          <a:xfrm>
            <a:off x="8714349" y="2141283"/>
            <a:ext cx="120904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8: https://business.optum.com/en/data-analytics/life-">
            <a:hlinkClick r:id="rId4"/>
          </p:cNvPr>
          <p:cNvSpPr/>
          <p:nvPr/>
        </p:nvSpPr>
        <p:spPr>
          <a:xfrm>
            <a:off x="10003856" y="2141283"/>
            <a:ext cx="103804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8: https://business.optum.com/en/data-analytics/life-">
            <a:hlinkClick r:id="rId7"/>
          </p:cNvPr>
          <p:cNvSpPr/>
          <p:nvPr/>
        </p:nvSpPr>
        <p:spPr>
          <a:xfrm>
            <a:off x="8714349" y="3173755"/>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53602"/>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9: https://business.optum.com/en/data-analytics/life-">
            <a:hlinkClick r:id="rId4"/>
          </p:cNvPr>
          <p:cNvSpPr/>
          <p:nvPr/>
        </p:nvSpPr>
        <p:spPr>
          <a:xfrm>
            <a:off x="8714349" y="2321280"/>
            <a:ext cx="1620161"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9: https://business.optum.com/en/data-analytics/life-">
            <a:hlinkClick r:id="rId4"/>
          </p:cNvPr>
          <p:cNvSpPr/>
          <p:nvPr/>
        </p:nvSpPr>
        <p:spPr>
          <a:xfrm>
            <a:off x="10409922" y="2321280"/>
            <a:ext cx="1107162"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9: https://business.optum.com/en/data-analytics/life-">
            <a:hlinkClick r:id="rId4"/>
          </p:cNvPr>
          <p:cNvSpPr/>
          <p:nvPr/>
        </p:nvSpPr>
        <p:spPr>
          <a:xfrm>
            <a:off x="8712545" y="2431084"/>
            <a:ext cx="63628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860560"/>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9: https://business.optum.com/en/data-analytics/life-">
            <a:hlinkClick r:id="rId4"/>
          </p:cNvPr>
          <p:cNvSpPr/>
          <p:nvPr/>
        </p:nvSpPr>
        <p:spPr>
          <a:xfrm>
            <a:off x="8710031" y="2796120"/>
            <a:ext cx="1042012" cy="10980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218114"/>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9: https://business.optum.com/en/data-analytics/life-">
            <a:hlinkClick r:id="rId7"/>
          </p:cNvPr>
          <p:cNvSpPr/>
          <p:nvPr/>
        </p:nvSpPr>
        <p:spPr>
          <a:xfrm>
            <a:off x="9109264" y="4221353"/>
            <a:ext cx="333892"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9: https://business.optum.com/en/data-analytics/life-">
            <a:hlinkClick r:id="rId8"/>
          </p:cNvPr>
          <p:cNvSpPr/>
          <p:nvPr/>
        </p:nvSpPr>
        <p:spPr>
          <a:xfrm>
            <a:off x="10594972" y="4218114"/>
            <a:ext cx="88972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9: https://business.optum.com/en/data-analytics/life-">
            <a:hlinkClick r:id="rId9"/>
          </p:cNvPr>
          <p:cNvSpPr/>
          <p:nvPr/>
        </p:nvSpPr>
        <p:spPr>
          <a:xfrm>
            <a:off x="8712901" y="4353839"/>
            <a:ext cx="2408556"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EVIDENCE BOUNDARY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EVIDENCE BOUNDARY</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METHODOLOGY NOTE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domain, not product totals. A company may appear in multiple domains. </a:t>
            </a:r>
            <a:pPr indent="0" marL="0">
              <a:buNone/>
            </a:pPr>
            <a:pPr indent="0" marL="0">
              <a:buNone/>
            </a:pPr>
            <a:r>
              <a:rPr lang="en-US" sz="1000" dirty="0">
                <a:solidFill>
                  <a:schemeClr val="tx1"/>
                </a:solidFill>
              </a:rPr>
              <a:t>These are selected screened companies, not market-wide adoption rates.</a:t>
            </a:r>
            <a:endParaRPr lang="en-US" sz="1000" dirty="0"/>
          </a:p>
        </p:txBody>
      </p:sp>
      <p:sp>
        <p:nvSpPr>
          <p:cNvPr id="12" name="slide 4 — india reconciliation"/>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INDIA RECONCILIATION</a:t>
            </a:r>
            <a:endParaRPr lang="en-US" sz="1000" dirty="0"/>
          </a:p>
        </p:txBody>
      </p:sp>
      <p:sp>
        <p:nvSpPr>
          <p:cNvPr id="14" name="Text 12"/>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Of 37 screened companies, 36 qualify as direct/specialized comparators in at least one of the five domains;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00" dirty="0"/>
          </a:p>
        </p:txBody>
      </p:sp>
      <p:sp>
        <p:nvSpPr>
          <p:cNvPr id="15" name="slide 4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EVIDENCE BOUNDARY</a:t>
            </a:r>
            <a:endParaRPr lang="en-US" sz="1000" dirty="0"/>
          </a:p>
        </p:txBody>
      </p:sp>
      <p:sp>
        <p:nvSpPr>
          <p:cNvPr id="17" name="Text 15"/>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8052816"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8235696"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EVIDENCE BOUNDARY</a:t>
            </a:r>
            <a:endParaRPr lang="en-US" sz="1000" dirty="0"/>
          </a:p>
        </p:txBody>
      </p:sp>
      <p:sp>
        <p:nvSpPr>
          <p:cNvPr id="20" name="Text 18"/>
          <p:cNvSpPr txBox="1"/>
          <p:nvPr/>
        </p:nvSpPr>
        <p:spPr>
          <a:xfrm>
            <a:off x="8235696"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3" name="slide 6 — evidence boundary"/>
          <p:cNvSpPr/>
          <p:nvPr/>
        </p:nvSpPr>
        <p:spPr>
          <a:xfrm>
            <a:off x="548640"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EVIDENCE BOUNDARY</a:t>
            </a:r>
            <a:endParaRPr lang="en-US" sz="1000" dirty="0"/>
          </a:p>
        </p:txBody>
      </p:sp>
      <p:sp>
        <p:nvSpPr>
          <p:cNvPr id="5" name="Text 3"/>
          <p:cNvSpPr txBox="1"/>
          <p:nvPr/>
        </p:nvSpPr>
        <p:spPr>
          <a:xfrm>
            <a:off x="731520"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
        <p:nvSpPr>
          <p:cNvPr id="6" name="slide 7 — evidence boundary"/>
          <p:cNvSpPr/>
          <p:nvPr/>
        </p:nvSpPr>
        <p:spPr>
          <a:xfrm>
            <a:off x="4300728"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EVIDENCE BOUNDARY</a:t>
            </a:r>
            <a:endParaRPr lang="en-US" sz="1000" dirty="0"/>
          </a:p>
        </p:txBody>
      </p:sp>
      <p:sp>
        <p:nvSpPr>
          <p:cNvPr id="8" name="Text 6"/>
          <p:cNvSpPr txBox="1"/>
          <p:nvPr/>
        </p:nvSpPr>
        <p:spPr>
          <a:xfrm>
            <a:off x="4483608"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8052816"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EVIDENCE BOUNDARY</a:t>
            </a:r>
            <a:endParaRPr lang="en-US" sz="1000" dirty="0"/>
          </a:p>
        </p:txBody>
      </p:sp>
      <p:sp>
        <p:nvSpPr>
          <p:cNvPr id="11" name="Text 9"/>
          <p:cNvSpPr txBox="1"/>
          <p:nvPr/>
        </p:nvSpPr>
        <p:spPr>
          <a:xfrm>
            <a:off x="8235696"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548640"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4" name="Text 12"/>
          <p:cNvSpPr txBox="1"/>
          <p:nvPr/>
        </p:nvSpPr>
        <p:spPr>
          <a:xfrm>
            <a:off x="731520"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4300728"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11 — EVIDENCE BOUNDARY</a:t>
            </a:r>
            <a:endParaRPr lang="en-US" sz="1000" dirty="0"/>
          </a:p>
        </p:txBody>
      </p:sp>
      <p:sp>
        <p:nvSpPr>
          <p:cNvPr id="17" name="Text 15"/>
          <p:cNvSpPr txBox="1"/>
          <p:nvPr/>
        </p:nvSpPr>
        <p:spPr>
          <a:xfrm>
            <a:off x="4483608"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8058912"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Source convention 14"/>
          <p:cNvSpPr txBox="1"/>
          <p:nvPr/>
        </p:nvSpPr>
        <p:spPr>
          <a:xfrm>
            <a:off x="8241792"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8241792"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