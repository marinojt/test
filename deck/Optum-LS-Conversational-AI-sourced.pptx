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 Id="rId18" Type="http://schemas.openxmlformats.org/officeDocument/2006/relationships/hyperlink" Target="https://healthverity.com/exos/" TargetMode="External"/><Relationship Id="rId19" Type="http://schemas.openxmlformats.org/officeDocument/2006/relationships/hyperlink" Target="https://www.norstella.com/press-releases/panalgo-revolutionizes-real-world-data-launch-linqnotes-ella-ai/" TargetMode="External"/><Relationship Id="rId20" Type="http://schemas.openxmlformats.org/officeDocument/2006/relationships/hyperlink" Target="https://www.prnewswire.com/news-releases/truven-launches-marketscan-snapshot-an-ai-powered-tool-to-evaluate-fit-for-purpose-real-world-data-in-minutes-302892187.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 Id="rId14" Type="http://schemas.openxmlformats.org/officeDocument/2006/relationships/hyperlink" Target="https://www.prnewswire.com/news-releases/verana-health-introduces-new-ai-agents-to-expedite-and-streamline-rd-302888122.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 Id="rId11" Type="http://schemas.openxmlformats.org/officeDocument/2006/relationships/hyperlink" Target="https://www.iqvia.com/solutions/commercialization/commercial-analytics/omnichannel-engagement-and-insights/field-force-agent" TargetMode="External"/><Relationship Id="rId12" Type="http://schemas.openxmlformats.org/officeDocument/2006/relationships/hyperlink" Target="https://trinitylifesciences.com/company/press-releases/trinity-launches-insightsedge-digital-twin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 Id="rId9" Type="http://schemas.openxmlformats.org/officeDocument/2006/relationships/hyperlink" Target="https://zaidyn.zs.com/products/zaidyn-medical/patient-outcome-intelligence" TargetMode="External"/><Relationship Id="rId10" Type="http://schemas.openxmlformats.org/officeDocument/2006/relationships/hyperlink" Target="https://www.iqvia.com/blogs/2025/12/introducing-iqvia-med-r1-deep-research-agen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5138928"/>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r>
              <a:rPr lang="en-US" sz="1100" b="1" i="1" dirty="0">
                <a:solidFill>
                  <a:schemeClr val="tx1"/>
                </a:solidFill>
              </a:rPr>
              <a:t>publicly-marketed</a:t>
            </a: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2" name="icon circle"/>
          <p:cNvSpPr/>
          <p:nvPr/>
        </p:nvSpPr>
        <p:spPr>
          <a:xfrm>
            <a:off x="777240" y="3419856"/>
            <a:ext cx="457200" cy="457200"/>
          </a:xfrm>
          <a:prstGeom prst="ellipse">
            <a:avLst/>
          </a:prstGeom>
          <a:solidFill>
            <a:schemeClr val="accent5"/>
          </a:solidFill>
          <a:ln/>
        </p:spPr>
        <p:txBody>
          <a:bodyPr/>
          <a:p/>
        </p:txBody>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r>
              <a:rPr lang="en-US" sz="1050" b="1" dirty="0">
                <a:solidFill>
                  <a:schemeClr val="tx1"/>
                </a:solidFill>
              </a:rPr>
              <a:t>19 conversational AI offerings</a:t>
            </a:r>
            <a:r>
              <a:rPr lang="en-US" sz="1050" dirty="0">
                <a:solidFill>
                  <a:schemeClr val="tx1"/>
                </a:solidFill>
              </a:rPr>
              <a:t> across five business domains, </a:t>
            </a:r>
            <a:r>
              <a:rPr lang="en-US" sz="1050" b="1" dirty="0">
                <a:solidFill>
                  <a:schemeClr val="tx1"/>
                </a:solidFill>
              </a:rPr>
              <a:t>concentrated in RWE and Commercial Intelligence</a:t>
            </a: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txBody>
          <a:bodyPr/>
          <a:p/>
        </p:txBody>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r>
              <a:rPr lang="en-US" sz="1050" b="1" dirty="0">
                <a:solidFill>
                  <a:schemeClr val="tx1"/>
                </a:solidFill>
              </a:rPr>
              <a:t>Nine selected international offerings</a:t>
            </a:r>
            <a:r>
              <a:rPr lang="en-US" sz="1050" dirty="0">
                <a:solidFill>
                  <a:schemeClr val="tx1"/>
                </a:solidFill>
              </a:rPr>
              <a:t> show how vendors outside the U.S. position conversational interaction, concentrated in </a:t>
            </a:r>
            <a:r>
              <a:rPr lang="en-US" sz="1050" b="1" dirty="0">
                <a:solidFill>
                  <a:schemeClr val="tx1"/>
                </a:solidFill>
              </a:rPr>
              <a:t>RWE and Commercial Intelligence</a:t>
            </a:r>
            <a:r>
              <a:rPr lang="en-US" sz="1050" dirty="0">
                <a:solidFill>
                  <a:schemeClr val="tx1"/>
                </a:solidFill>
              </a:rPr>
              <a:t>.</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icon circle"/>
          <p:cNvSpPr/>
          <p:nvPr/>
        </p:nvSpPr>
        <p:spPr>
          <a:xfrm>
            <a:off x="4535424" y="3419856"/>
            <a:ext cx="457200" cy="457200"/>
          </a:xfrm>
          <a:prstGeom prst="ellipse">
            <a:avLst/>
          </a:prstGeom>
          <a:solidFill>
            <a:schemeClr val="accent5"/>
          </a:solidFill>
          <a:ln/>
        </p:spPr>
        <p:txBody>
          <a:bodyPr/>
          <a:p/>
        </p:txBody>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6" name="icon circle"/>
          <p:cNvSpPr/>
          <p:nvPr/>
        </p:nvSpPr>
        <p:spPr>
          <a:xfrm>
            <a:off x="8293608" y="3419856"/>
            <a:ext cx="457200" cy="457200"/>
          </a:xfrm>
          <a:prstGeom prst="ellipse">
            <a:avLst/>
          </a:prstGeom>
          <a:solidFill>
            <a:schemeClr val="accent5"/>
          </a:solidFill>
          <a:ln/>
        </p:spPr>
        <p:txBody>
          <a:bodyPr/>
          <a:p/>
        </p:txBody>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Tempus’s </a:t>
            </a:r>
            <a:r>
              <a:rPr lang="en-US" sz="1050" b="1" dirty="0" u="sng">
                <a:solidFill>
                  <a:srgbClr val="002677"/>
                </a:solidFill>
                <a:uFill>
                  <a:solidFill>
                    <a:srgbClr val="9AA8CC"/>
                  </a:solidFill>
                </a:uFill>
              </a:rPr>
              <a:t>Tempus One / Lens</a:t>
            </a:r>
            <a:r>
              <a:rPr lang="en-US" sz="1050" dirty="0">
                <a:solidFill>
                  <a:schemeClr val="tx1"/>
                </a:solidFill>
              </a:rPr>
              <a:t> — AI-assisted research and cohort exploration (February)</a:t>
            </a:r>
            <a:endParaRPr lang="en-US" sz="1050" dirty="0"/>
          </a:p>
          <a:p>
            <a:pPr indent="0" marL="0">
              <a:spcBef>
                <a:spcPts val="800"/>
              </a:spcBef>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MapAI</a:t>
            </a: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Marmot</a:t>
            </a: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Truveta’s </a:t>
            </a:r>
            <a:r>
              <a:rPr lang="en-US" sz="1050" b="1" dirty="0" u="sng">
                <a:solidFill>
                  <a:srgbClr val="002677"/>
                </a:solidFill>
                <a:uFill>
                  <a:solidFill>
                    <a:srgbClr val="9AA8CC"/>
                  </a:solidFill>
                </a:uFill>
              </a:rPr>
              <a:t>Truveta Intelligence</a:t>
            </a:r>
            <a:r>
              <a:rPr lang="en-US" sz="1050" dirty="0">
                <a:solidFill>
                  <a:schemeClr val="tx1"/>
                </a:solidFill>
              </a:rPr>
              <a:t> — natural-language RWE research questions</a:t>
            </a:r>
            <a:endParaRPr lang="en-US" sz="1050" dirty="0"/>
          </a:p>
          <a:p>
            <a:pPr indent="0" marL="0">
              <a:spcBef>
                <a:spcPts val="800"/>
              </a:spcBef>
              <a:buNone/>
            </a:pPr>
            <a:r>
              <a:rPr lang="en-US" sz="1050" dirty="0" u="sng">
                <a:solidFill>
                  <a:srgbClr val="002677"/>
                </a:solidFill>
                <a:uFill>
                  <a:solidFill>
                    <a:srgbClr val="9AA8CC"/>
                  </a:solidFill>
                </a:uFill>
              </a:rPr>
              <a:t>Flatiron Health’s </a:t>
            </a:r>
            <a:r>
              <a:rPr lang="en-US" sz="1050" b="1" dirty="0" u="sng">
                <a:solidFill>
                  <a:srgbClr val="002677"/>
                </a:solidFill>
                <a:uFill>
                  <a:solidFill>
                    <a:srgbClr val="9AA8CC"/>
                  </a:solidFill>
                </a:uFill>
              </a:rPr>
              <a:t>Telescope</a:t>
            </a: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Verana Health’s </a:t>
            </a:r>
            <a:r>
              <a:rPr lang="en-US" sz="1050" b="1" dirty="0" u="sng">
                <a:solidFill>
                  <a:srgbClr val="002677"/>
                </a:solidFill>
                <a:uFill>
                  <a:solidFill>
                    <a:srgbClr val="9AA8CC"/>
                  </a:solidFill>
                </a:uFill>
              </a:rPr>
              <a:t>Agent Claire</a:t>
            </a:r>
            <a:r>
              <a:rPr lang="en-US" sz="1050" dirty="0">
                <a:solidFill>
                  <a:schemeClr val="tx1"/>
                </a:solidFill>
              </a:rPr>
              <a:t> — conversational specialty-data research</a:t>
            </a:r>
            <a:endParaRPr lang="en-US" sz="1050" dirty="0"/>
          </a:p>
          <a:p>
            <a:pPr indent="0" marL="0">
              <a:spcBef>
                <a:spcPts val="800"/>
              </a:spcBef>
              <a:buNone/>
            </a:pPr>
            <a:r>
              <a:rPr lang="en-US" sz="1050" dirty="0" u="sng">
                <a:solidFill>
                  <a:srgbClr val="002677"/>
                </a:solidFill>
                <a:uFill>
                  <a:solidFill>
                    <a:srgbClr val="9AA8CC"/>
                  </a:solidFill>
                </a:uFill>
              </a:rPr>
              <a:t>Norstella’s </a:t>
            </a:r>
            <a:r>
              <a:rPr lang="en-US" sz="1050" b="1" dirty="0" u="sng">
                <a:solidFill>
                  <a:srgbClr val="002677"/>
                </a:solidFill>
                <a:uFill>
                  <a:solidFill>
                    <a:srgbClr val="9AA8CC"/>
                  </a:solidFill>
                </a:uFill>
              </a:rPr>
              <a:t>Atlas Patient Analytics</a:t>
            </a: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provide observable evidence for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8" name="Invisible source link 3: https://investors.tempus.com/node/6451/pdf">
            <a:hlinkClick r:id="rId3"/>
          </p:cNvPr>
          <p:cNvSpPr/>
          <p:nvPr/>
        </p:nvSpPr>
        <p:spPr>
          <a:xfrm>
            <a:off x="548284" y="2627342"/>
            <a:ext cx="180485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3: https://www.komodohealth.com/press/komodo-health-unveils-new-generative-ai-offerings-to-enable-real-time-insights-across-330-million-patient-journeys/">
            <a:hlinkClick r:id="rId4"/>
          </p:cNvPr>
          <p:cNvSpPr/>
          <p:nvPr/>
        </p:nvSpPr>
        <p:spPr>
          <a:xfrm>
            <a:off x="548284" y="3208380"/>
            <a:ext cx="143985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3: https://www.komodohealth.com/press/komodo-health-introduces-marmot-the-ai-built-to-accelerate-healthcare-innovation/">
            <a:hlinkClick r:id="rId5"/>
          </p:cNvPr>
          <p:cNvSpPr/>
          <p:nvPr/>
        </p:nvSpPr>
        <p:spPr>
          <a:xfrm>
            <a:off x="3321354" y="2627342"/>
            <a:ext cx="1522182"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3: https://www.truveta.com/blog/announcement/truveta-unveils-truveta-intelligence/">
            <a:hlinkClick r:id="rId6"/>
          </p:cNvPr>
          <p:cNvSpPr/>
          <p:nvPr/>
        </p:nvSpPr>
        <p:spPr>
          <a:xfrm>
            <a:off x="6094082" y="2627342"/>
            <a:ext cx="18095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3: https://resources.flatiron.com/press/flatiron-health-launches-flatiron-telescope-a-new-ai-platform-delivering-oncology-insights-in-minutes">
            <a:hlinkClick r:id="rId7"/>
          </p:cNvPr>
          <p:cNvSpPr/>
          <p:nvPr/>
        </p:nvSpPr>
        <p:spPr>
          <a:xfrm>
            <a:off x="6094082" y="3048537"/>
            <a:ext cx="162911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3: https://veranahealth.com/verana-health-introduces-new-ai-agents-to-expedite-and-streamline-rd-tasks/">
            <a:hlinkClick r:id="rId8"/>
          </p:cNvPr>
          <p:cNvSpPr/>
          <p:nvPr/>
        </p:nvSpPr>
        <p:spPr>
          <a:xfrm>
            <a:off x="8867165" y="2627342"/>
            <a:ext cx="174911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3: https://www.norstella.com/press-releases/launches-real-world-data-agentic-platform-first-agent-replace-manual-cohort-building/">
            <a:hlinkClick r:id="rId9"/>
          </p:cNvPr>
          <p:cNvSpPr/>
          <p:nvPr/>
        </p:nvSpPr>
        <p:spPr>
          <a:xfrm>
            <a:off x="8867165" y="3048537"/>
            <a:ext cx="20745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43</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Komodo Health’s Marmot</a:t>
            </a:r>
            <a:r>
              <a:rPr lang="en-US" sz="900" dirty="0">
                <a:solidFill>
                  <a:schemeClr val="tx1"/>
                </a:solidFill>
              </a:rPr>
              <a:t> and </a:t>
            </a:r>
            <a:r>
              <a:rPr lang="en-US" sz="900" dirty="0" u="sng">
                <a:solidFill>
                  <a:srgbClr val="002677"/>
                </a:solidFill>
                <a:uFill>
                  <a:solidFill>
                    <a:srgbClr val="9AA8CC"/>
                  </a:solidFill>
                </a:uFill>
              </a:rPr>
              <a:t>MapAI</a:t>
            </a:r>
            <a:r>
              <a:rPr lang="en-US" sz="900" dirty="0">
                <a:solidFill>
                  <a:schemeClr val="tx1"/>
                </a:solidFill>
              </a:rPr>
              <a:t>; </a:t>
            </a:r>
            <a:r>
              <a:rPr lang="en-US" sz="900" dirty="0" u="sng">
                <a:solidFill>
                  <a:srgbClr val="002677"/>
                </a:solidFill>
                <a:uFill>
                  <a:solidFill>
                    <a:srgbClr val="9AA8CC"/>
                  </a:solidFill>
                </a:uFill>
              </a:rPr>
              <a:t>Truveta’s Truveta Intelligence</a:t>
            </a:r>
            <a:r>
              <a:rPr lang="en-US" sz="900" dirty="0">
                <a:solidFill>
                  <a:schemeClr val="tx1"/>
                </a:solidFill>
              </a:rPr>
              <a:t>; </a:t>
            </a:r>
            <a:r>
              <a:rPr lang="en-US" sz="900" dirty="0" u="sng">
                <a:solidFill>
                  <a:srgbClr val="002677"/>
                </a:solidFill>
                <a:uFill>
                  <a:solidFill>
                    <a:srgbClr val="9AA8CC"/>
                  </a:solidFill>
                </a:uFill>
              </a:rPr>
              <a:t>Flatiron Health’s Telescope</a:t>
            </a:r>
            <a:r>
              <a:rPr lang="en-US" sz="900" dirty="0">
                <a:solidFill>
                  <a:schemeClr val="tx1"/>
                </a:solidFill>
              </a:rPr>
              <a:t>; </a:t>
            </a:r>
            <a:r>
              <a:rPr lang="en-US" sz="900" dirty="0" u="sng">
                <a:solidFill>
                  <a:srgbClr val="002677"/>
                </a:solidFill>
                <a:uFill>
                  <a:solidFill>
                    <a:srgbClr val="9AA8CC"/>
                  </a:solidFill>
                </a:uFill>
              </a:rPr>
              <a:t>Tempus’s Lens</a:t>
            </a:r>
            <a:r>
              <a:rPr lang="en-US" sz="900" dirty="0">
                <a:solidFill>
                  <a:schemeClr val="tx1"/>
                </a:solidFill>
              </a:rPr>
              <a:t>;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Analytics on Demand</a:t>
            </a:r>
            <a:r>
              <a:rPr lang="en-US" sz="900" dirty="0">
                <a:solidFill>
                  <a:schemeClr val="tx1"/>
                </a:solidFill>
              </a:rPr>
              <a:t>; </a:t>
            </a:r>
            <a:r>
              <a:rPr lang="en-US" sz="900" dirty="0" u="sng">
                <a:solidFill>
                  <a:srgbClr val="002677"/>
                </a:solidFill>
                <a:uFill>
                  <a:solidFill>
                    <a:srgbClr val="9AA8CC"/>
                  </a:solidFill>
                </a:uFill>
              </a:rPr>
              <a:t>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IQVIA’s Field Force Agent</a:t>
            </a:r>
            <a:r>
              <a:rPr lang="en-US" sz="900" dirty="0">
                <a:solidFill>
                  <a:schemeClr val="tx1"/>
                </a:solidFill>
              </a:rPr>
              <a:t> and </a:t>
            </a:r>
            <a:r>
              <a:rPr lang="en-US" sz="900" dirty="0" u="sng">
                <a:solidFill>
                  <a:srgbClr val="002677"/>
                </a:solidFill>
                <a:uFill>
                  <a:solidFill>
                    <a:srgbClr val="9AA8CC"/>
                  </a:solidFill>
                </a:uFill>
              </a:rPr>
              <a:t>GMI Agent</a:t>
            </a:r>
            <a:r>
              <a:rPr lang="en-US" sz="900" dirty="0">
                <a:solidFill>
                  <a:schemeClr val="tx1"/>
                </a:solidFill>
              </a:rPr>
              <a:t>; </a:t>
            </a:r>
            <a:r>
              <a:rPr lang="en-US" sz="900" dirty="0" u="sng">
                <a:solidFill>
                  <a:srgbClr val="002677"/>
                </a:solidFill>
                <a:uFill>
                  <a:solidFill>
                    <a:srgbClr val="9AA8CC"/>
                  </a:solidFill>
                </a:uFill>
              </a:rPr>
              <a:t>ZS’s Conversational AI for Commercial</a:t>
            </a:r>
            <a:r>
              <a:rPr lang="en-US" sz="900" dirty="0">
                <a:solidFill>
                  <a:schemeClr val="tx1"/>
                </a:solidFill>
              </a:rPr>
              <a:t>; </a:t>
            </a:r>
            <a:r>
              <a:rPr lang="en-US" sz="900" dirty="0" u="sng">
                <a:solidFill>
                  <a:srgbClr val="002677"/>
                </a:solidFill>
                <a:uFill>
                  <a:solidFill>
                    <a:srgbClr val="9AA8CC"/>
                  </a:solidFill>
                </a:uFill>
              </a:rPr>
              <a:t>Trinity’s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Market Clarity</a:t>
            </a:r>
            <a:r>
              <a:rPr lang="en-US" sz="900" dirty="0">
                <a:solidFill>
                  <a:schemeClr val="tx1"/>
                </a:solidFill>
              </a:rPr>
              <a:t>: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IQVIA’s Med-R1</a:t>
            </a:r>
            <a:r>
              <a:rPr lang="en-US" sz="900" dirty="0">
                <a:solidFill>
                  <a:schemeClr val="tx1"/>
                </a:solidFill>
              </a:rPr>
              <a:t>; </a:t>
            </a:r>
            <a:r>
              <a:rPr lang="en-US" sz="900" dirty="0" u="sng">
                <a:solidFill>
                  <a:srgbClr val="002677"/>
                </a:solidFill>
                <a:uFill>
                  <a:solidFill>
                    <a:srgbClr val="9AA8CC"/>
                  </a:solidFill>
                </a:uFill>
              </a:rPr>
              <a:t>ZS’s Conversational AI for Medical</a:t>
            </a:r>
            <a:r>
              <a:rPr lang="en-US" sz="900" dirty="0">
                <a:solidFill>
                  <a:schemeClr val="tx1"/>
                </a:solidFill>
              </a:rPr>
              <a:t>; </a:t>
            </a:r>
            <a:r>
              <a:rPr lang="en-US" sz="900" dirty="0" u="sng">
                <a:solidFill>
                  <a:srgbClr val="002677"/>
                </a:solidFill>
                <a:uFill>
                  <a:solidFill>
                    <a:srgbClr val="9AA8CC"/>
                  </a:solidFill>
                </a:uFill>
              </a:rPr>
              <a:t>Veeva’s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Postapproval safety studies</a:t>
            </a:r>
            <a:r>
              <a:rPr lang="en-US" sz="900" dirty="0">
                <a:solidFill>
                  <a:schemeClr val="tx1"/>
                </a:solidFill>
              </a:rPr>
              <a:t>; </a:t>
            </a:r>
            <a:r>
              <a:rPr lang="en-US" sz="900" dirty="0" u="sng">
                <a:solidFill>
                  <a:srgbClr val="002677"/>
                </a:solidFill>
                <a:uFill>
                  <a:solidFill>
                    <a:srgbClr val="9AA8CC"/>
                  </a:solidFill>
                </a:uFill>
              </a:rPr>
              <a:t>Market Clarity</a:t>
            </a:r>
            <a:r>
              <a:rPr lang="en-US" sz="900" dirty="0">
                <a:solidFill>
                  <a:schemeClr val="tx1"/>
                </a:solidFill>
              </a:rPr>
              <a:t>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TriNetX’s LIVE Conversational AI + Terrain</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Prospector</a:t>
            </a:r>
            <a:r>
              <a:rPr lang="en-US" sz="900" dirty="0">
                <a:solidFill>
                  <a:schemeClr val="tx1"/>
                </a:solidFill>
              </a:rPr>
              <a:t>; </a:t>
            </a:r>
            <a:r>
              <a:rPr lang="en-US" sz="900" dirty="0" u="sng">
                <a:solidFill>
                  <a:srgbClr val="002677"/>
                </a:solidFill>
                <a:uFill>
                  <a:solidFill>
                    <a:srgbClr val="9AA8CC"/>
                  </a:solidFill>
                </a:uFill>
              </a:rPr>
              <a:t>Digital Research Network</a:t>
            </a:r>
            <a:r>
              <a:rPr lang="en-US" sz="900" dirty="0">
                <a:solidFill>
                  <a:schemeClr val="tx1"/>
                </a:solidFill>
              </a:rPr>
              <a:t>; </a:t>
            </a:r>
            <a:r>
              <a:rPr lang="en-US" sz="900" dirty="0" u="sng">
                <a:solidFill>
                  <a:srgbClr val="002677"/>
                </a:solidFill>
                <a:uFill>
                  <a:solidFill>
                    <a:srgbClr val="9AA8CC"/>
                  </a:solidFill>
                </a:uFill>
              </a:rPr>
              <a:t>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EVERSANA’s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u="sng">
                <a:solidFill>
                  <a:srgbClr val="002677"/>
                </a:solidFill>
                <a:uFill>
                  <a:solidFill>
                    <a:srgbClr val="9AA8CC"/>
                  </a:solidFill>
                </a:uFill>
              </a:rPr>
              <a:t>HEOR/value evidence</a:t>
            </a:r>
            <a:r>
              <a:rPr lang="en-US" sz="900" dirty="0">
                <a:solidFill>
                  <a:schemeClr val="tx1"/>
                </a:solidFill>
              </a:rPr>
              <a:t>; </a:t>
            </a:r>
            <a:r>
              <a:rPr lang="en-US" sz="900" dirty="0" u="sng">
                <a:solidFill>
                  <a:srgbClr val="002677"/>
                </a:solidFill>
                <a:uFill>
                  <a:solidFill>
                    <a:srgbClr val="9AA8CC"/>
                  </a:solidFill>
                </a:uFill>
              </a:rPr>
              <a:t>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1110996" y="5596128"/>
            <a:ext cx="9966960"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1293876" y="5596128"/>
            <a:ext cx="201168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3305556" y="5596128"/>
            <a:ext cx="7589520" cy="548640"/>
          </a:xfrm>
          <a:prstGeom prst="rect">
            <a:avLst/>
          </a:prstGeom>
          <a:noFill/>
          <a:ln/>
        </p:spPr>
        <p:txBody>
          <a:bodyPr wrap="square" lIns="0" tIns="0" rIns="0" bIns="0" rtlCol="0" anchor="ctr"/>
          <a:lstStyle/>
          <a:p>
            <a:pPr indent="0" marL="0" algn="ctr">
              <a:buNone/>
            </a:pPr>
            <a:r>
              <a:rPr lang="en-US" sz="1050" b="1" dirty="0">
                <a:solidFill>
                  <a:schemeClr val="tx1"/>
                </a:solidFill>
              </a:rPr>
              <a:t>A publicly-marketed customer-facing conversational interface was not established in the reviewed materials</a:t>
            </a:r>
            <a:endParaRPr lang="en-US" sz="1050" dirty="0"/>
          </a:p>
          <a:p>
            <a:pPr indent="0" marL="0" algn="ctr">
              <a:buNone/>
            </a:pPr>
            <a:r>
              <a:rPr lang="en-US" sz="1050" b="1" dirty="0">
                <a:solidFill>
                  <a:schemeClr val="tx1"/>
                </a:solidFill>
              </a:rPr>
              <a:t>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51" name="Invisible source link 4: https://www.komodohealth.com/product/marmot/">
            <a:hlinkClick r:id="rId4"/>
          </p:cNvPr>
          <p:cNvSpPr/>
          <p:nvPr/>
        </p:nvSpPr>
        <p:spPr>
          <a:xfrm>
            <a:off x="5806440" y="2799071"/>
            <a:ext cx="1286387"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2" name="Invisible source link 4: https://www.komodohealth.com/press/komodo-health-unveils-new-generative-ai-offerings-to-enable-real-time-insights-across-330-million-patient-journeys/">
            <a:hlinkClick r:id="rId5"/>
          </p:cNvPr>
          <p:cNvSpPr/>
          <p:nvPr/>
        </p:nvSpPr>
        <p:spPr>
          <a:xfrm>
            <a:off x="7345794" y="2799071"/>
            <a:ext cx="360754"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3" name="Invisible source link 4: https://www.truveta.com/blog/announcement/truveta-unveils-truveta-intelligence/">
            <a:hlinkClick r:id="rId6"/>
          </p:cNvPr>
          <p:cNvSpPr/>
          <p:nvPr/>
        </p:nvSpPr>
        <p:spPr>
          <a:xfrm>
            <a:off x="7737475" y="2799071"/>
            <a:ext cx="46271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5" name="Invisible source link 4: https://www.truveta.com/blog/announcement/truveta-unveils-truveta-intelligence/">
            <a:hlinkClick r:id="rId6"/>
          </p:cNvPr>
          <p:cNvSpPr/>
          <p:nvPr/>
        </p:nvSpPr>
        <p:spPr>
          <a:xfrm>
            <a:off x="5806440" y="2936599"/>
            <a:ext cx="102387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5" name="Invisible source link 4: https://resources.flatiron.com/press/flatiron-health-launches-flatiron-telescope-a-new-ai-platform-delivering-oncology-insights-in-minutes">
            <a:hlinkClick r:id="rId7"/>
          </p:cNvPr>
          <p:cNvSpPr/>
          <p:nvPr/>
        </p:nvSpPr>
        <p:spPr>
          <a:xfrm>
            <a:off x="6861238" y="2936599"/>
            <a:ext cx="139863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6" name="Invisible source link 4: https://www.tempus.com/solutions/lens/">
            <a:hlinkClick r:id="rId8"/>
          </p:cNvPr>
          <p:cNvSpPr/>
          <p:nvPr/>
        </p:nvSpPr>
        <p:spPr>
          <a:xfrm>
            <a:off x="5806440" y="3074115"/>
            <a:ext cx="79058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7" name="Invisible source link 4: https://www.iqvia.com/solutions/commercialization/iqvia-commercial-agentic-ai">
            <a:hlinkClick r:id="rId11"/>
          </p:cNvPr>
          <p:cNvSpPr/>
          <p:nvPr/>
        </p:nvSpPr>
        <p:spPr>
          <a:xfrm>
            <a:off x="5806440" y="3301991"/>
            <a:ext cx="130458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8" name="Invisible source link 4: https://www.iqvia.com/solutions/commercialization/iqvia-commercial-agentic-ai">
            <a:hlinkClick r:id="rId11"/>
          </p:cNvPr>
          <p:cNvSpPr/>
          <p:nvPr/>
        </p:nvSpPr>
        <p:spPr>
          <a:xfrm>
            <a:off x="7362723" y="3301991"/>
            <a:ext cx="57134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9" name="Invisible source link 4: https://zaidyn.zs.com/products/zaidyn-commercial/conversational-ai">
            <a:hlinkClick r:id="rId12"/>
          </p:cNvPr>
          <p:cNvSpPr/>
          <p:nvPr/>
        </p:nvSpPr>
        <p:spPr>
          <a:xfrm>
            <a:off x="7964995" y="3301991"/>
            <a:ext cx="22678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1" name="Invisible source link 4: https://zaidyn.zs.com/products/zaidyn-commercial/conversational-ai">
            <a:hlinkClick r:id="rId12"/>
          </p:cNvPr>
          <p:cNvSpPr/>
          <p:nvPr/>
        </p:nvSpPr>
        <p:spPr>
          <a:xfrm>
            <a:off x="5806440" y="3439519"/>
            <a:ext cx="173414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1" name="Invisible source link 4: https://trinitylifesciences.com/products/insightsedge-digital-twins/">
            <a:hlinkClick r:id="rId13"/>
          </p:cNvPr>
          <p:cNvSpPr/>
          <p:nvPr/>
        </p:nvSpPr>
        <p:spPr>
          <a:xfrm>
            <a:off x="7571524" y="3439519"/>
            <a:ext cx="38624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3" name="Invisible source link 4: https://trinitylifesciences.com/products/insightsedge-digital-twins/">
            <a:hlinkClick r:id="rId13"/>
          </p:cNvPr>
          <p:cNvSpPr/>
          <p:nvPr/>
        </p:nvSpPr>
        <p:spPr>
          <a:xfrm>
            <a:off x="5806440" y="3577035"/>
            <a:ext cx="138861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3" name="Invisible source link 4: https://www.iqvia.com/solutions/innovative-models/artificial-intelligence-and-machine-learning/iqvia-ai-platform">
            <a:hlinkClick r:id="rId15"/>
          </p:cNvPr>
          <p:cNvSpPr/>
          <p:nvPr/>
        </p:nvSpPr>
        <p:spPr>
          <a:xfrm>
            <a:off x="5806440" y="3873681"/>
            <a:ext cx="84566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4" name="Invisible source link 4: https://zaidyn.zs.com/products/zaidyn-medical/conversational-ai-for-medical">
            <a:hlinkClick r:id="rId16"/>
          </p:cNvPr>
          <p:cNvSpPr/>
          <p:nvPr/>
        </p:nvSpPr>
        <p:spPr>
          <a:xfrm>
            <a:off x="6683044" y="3873681"/>
            <a:ext cx="177519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5" name="Invisible source link 4: https://platform.veevavault.help/en/lr/950642">
            <a:hlinkClick r:id="rId17"/>
          </p:cNvPr>
          <p:cNvSpPr/>
          <p:nvPr/>
        </p:nvSpPr>
        <p:spPr>
          <a:xfrm>
            <a:off x="5806440" y="4011197"/>
            <a:ext cx="108834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6" name="Invisible source link 4: https://trinetx.com/solutions/trinetx-live/terrain/">
            <a:hlinkClick r:id="rId18"/>
          </p:cNvPr>
          <p:cNvSpPr/>
          <p:nvPr/>
        </p:nvSpPr>
        <p:spPr>
          <a:xfrm>
            <a:off x="5806440" y="4445359"/>
            <a:ext cx="21472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7" name="Invisible source link 4: https://www.navlin.com/products/tender">
            <a:hlinkClick r:id="rId20"/>
          </p:cNvPr>
          <p:cNvSpPr/>
          <p:nvPr/>
        </p:nvSpPr>
        <p:spPr>
          <a:xfrm>
            <a:off x="5806440" y="4948279"/>
            <a:ext cx="13470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8" name="Invisible source link 4: https://business.optum.com/en/data-analytics/life-sciences/heor/exploratory-analysis.html">
            <a:hlinkClick r:id="rId9"/>
          </p:cNvPr>
          <p:cNvSpPr/>
          <p:nvPr/>
        </p:nvSpPr>
        <p:spPr>
          <a:xfrm>
            <a:off x="9143644" y="2867841"/>
            <a:ext cx="111062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9" name="Invisible source link 4: https://business.optum.com/en/data-analytics/life-sciences/epidemiology-consulting.html">
            <a:hlinkClick r:id="rId10"/>
          </p:cNvPr>
          <p:cNvSpPr/>
          <p:nvPr/>
        </p:nvSpPr>
        <p:spPr>
          <a:xfrm>
            <a:off x="10285196" y="2867841"/>
            <a:ext cx="67312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1" name="Invisible source link 4: https://business.optum.com/en/data-analytics/life-sciences/epidemiology-consulting.html">
            <a:hlinkClick r:id="rId10"/>
          </p:cNvPr>
          <p:cNvSpPr/>
          <p:nvPr/>
        </p:nvSpPr>
        <p:spPr>
          <a:xfrm>
            <a:off x="9143644" y="3005357"/>
            <a:ext cx="44463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1" name="Invisible source link 4: https://business.optum.com/en/data-analytics/life-sciences/real-world-data/market-clarity-data.html">
            <a:hlinkClick r:id="rId14"/>
          </p:cNvPr>
          <p:cNvSpPr/>
          <p:nvPr/>
        </p:nvSpPr>
        <p:spPr>
          <a:xfrm>
            <a:off x="9143644" y="3370761"/>
            <a:ext cx="73586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2" name="Invisible source link 4: https://business.optum.com/en/data-analytics/life-sciences/real-world-data/market-clarity-data.html">
            <a:hlinkClick r:id="rId14"/>
          </p:cNvPr>
          <p:cNvSpPr/>
          <p:nvPr/>
        </p:nvSpPr>
        <p:spPr>
          <a:xfrm>
            <a:off x="10603801" y="3873681"/>
            <a:ext cx="34904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4" name="Invisible source link 4: https://business.optum.com/en/data-analytics/life-sciences/real-world-data/market-clarity-data.html">
            <a:hlinkClick r:id="rId14"/>
          </p:cNvPr>
          <p:cNvSpPr/>
          <p:nvPr/>
        </p:nvSpPr>
        <p:spPr>
          <a:xfrm>
            <a:off x="9143644" y="4011197"/>
            <a:ext cx="32397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4" name="Invisible source link 4: https://business.optum.com/en/data-analytics/life-sciences/epidemiology-consulting.html">
            <a:hlinkClick r:id="rId10"/>
          </p:cNvPr>
          <p:cNvSpPr/>
          <p:nvPr/>
        </p:nvSpPr>
        <p:spPr>
          <a:xfrm>
            <a:off x="9143644" y="3873681"/>
            <a:ext cx="142923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5" name="Invisible source link 4: https://business.optum.com/en/data-analytics/life-sciences/clinical-trial-design.html">
            <a:hlinkClick r:id="rId19"/>
          </p:cNvPr>
          <p:cNvSpPr/>
          <p:nvPr/>
        </p:nvSpPr>
        <p:spPr>
          <a:xfrm>
            <a:off x="9143644" y="4376601"/>
            <a:ext cx="58322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6" name="Invisible source link 4: https://business.optum.com/en/data-analytics/life-sciences/clinical-trial-design.html">
            <a:hlinkClick r:id="rId19"/>
          </p:cNvPr>
          <p:cNvSpPr/>
          <p:nvPr/>
        </p:nvSpPr>
        <p:spPr>
          <a:xfrm>
            <a:off x="9757803" y="4376601"/>
            <a:ext cx="83832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8" name="Invisible source link 4: https://business.optum.com/en/data-analytics/life-sciences/clinical-trial-design.html">
            <a:hlinkClick r:id="rId19"/>
          </p:cNvPr>
          <p:cNvSpPr/>
          <p:nvPr/>
        </p:nvSpPr>
        <p:spPr>
          <a:xfrm>
            <a:off x="9143644" y="4514117"/>
            <a:ext cx="45074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8" name="Invisible source link 4: https://business.optum.com/en/data-analytics/life-sciences/clinical-trial-design.html">
            <a:hlinkClick r:id="rId19"/>
          </p:cNvPr>
          <p:cNvSpPr/>
          <p:nvPr/>
        </p:nvSpPr>
        <p:spPr>
          <a:xfrm>
            <a:off x="9625317" y="4514117"/>
            <a:ext cx="62470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9" name="Invisible source link 4: https://business.optum.com/en/data-analytics/life-sciences/heor.html">
            <a:hlinkClick r:id="rId21"/>
          </p:cNvPr>
          <p:cNvSpPr/>
          <p:nvPr/>
        </p:nvSpPr>
        <p:spPr>
          <a:xfrm>
            <a:off x="9143644" y="4879521"/>
            <a:ext cx="115491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0" name="Invisible source link 4: https://business.optum.com/en/data-analytics/life-sciences/evidence-engine.html">
            <a:hlinkClick r:id="rId22"/>
          </p:cNvPr>
          <p:cNvSpPr/>
          <p:nvPr/>
        </p:nvSpPr>
        <p:spPr>
          <a:xfrm>
            <a:off x="10329481" y="4879521"/>
            <a:ext cx="46913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2" name="Invisible source link 4: https://business.optum.com/en/data-analytics/life-sciences/evidence-engine.html">
            <a:hlinkClick r:id="rId22"/>
          </p:cNvPr>
          <p:cNvSpPr/>
          <p:nvPr/>
        </p:nvSpPr>
        <p:spPr>
          <a:xfrm>
            <a:off x="9143644" y="5017037"/>
            <a:ext cx="35511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COMPANY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txBody>
          <a:bodyPr/>
          <a:p/>
        </p:txBody>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companies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9" name="icon circle"/>
          <p:cNvSpPr/>
          <p:nvPr/>
        </p:nvSpPr>
        <p:spPr>
          <a:xfrm>
            <a:off x="8613648" y="4247388"/>
            <a:ext cx="402336" cy="402336"/>
          </a:xfrm>
          <a:prstGeom prst="ellipse">
            <a:avLst/>
          </a:prstGeom>
          <a:solidFill>
            <a:schemeClr val="accent5"/>
          </a:solidFill>
          <a:ln/>
        </p:spPr>
        <p:txBody>
          <a:bodyPr/>
          <a:p/>
        </p:txBody>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16839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18087">
                <a:tc>
                  <a:txBody>
                    <a:bodyPr/>
                    <a:lstStyle/>
                    <a:p>
                      <a:pPr algn="ctr" indent="0" marL="0">
                        <a:buNone/>
                      </a:pPr>
                      <a:r>
                        <a:rPr lang="en-US" sz="1050" b="1" dirty="0">
                          <a:solidFill>
                            <a:schemeClr val="accent1"/>
                          </a:solidFill>
                        </a:rPr>
                        <a:t>Identify and assess</a:t>
                      </a:r>
                      <a:b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Truven’s </a:t>
                      </a:r>
                      <a:r>
                        <a:rPr lang="en-US" sz="950" b="1" dirty="0" u="sng">
                          <a:solidFill>
                            <a:srgbClr val="002677"/>
                          </a:solidFill>
                          <a:uFill>
                            <a:solidFill>
                              <a:srgbClr val="9AA8CC"/>
                            </a:solidFill>
                          </a:uFill>
                        </a:rPr>
                        <a:t>MarketScan Snapshot</a:t>
                      </a:r>
                      <a:r>
                        <a:rPr lang="en-US" sz="950" dirty="0">
                          <a:solidFill>
                            <a:schemeClr val="tx1"/>
                          </a:solidFill>
                        </a:rPr>
                        <a:t>: Natural-language assessment of MarketScan data suitability;</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b="1" dirty="0" u="sng">
                          <a:solidFill>
                            <a:srgbClr val="002677"/>
                          </a:solidFill>
                          <a:uFill>
                            <a:solidFill>
                              <a:srgbClr val="9AA8CC"/>
                            </a:solidFill>
                          </a:uFill>
                        </a:rPr>
                        <a:t>Ella AI</a:t>
                      </a:r>
                      <a:r>
                        <a:rPr lang="en-US" sz="950" dirty="0">
                          <a:solidFill>
                            <a:schemeClr val="tx1"/>
                          </a:solidFill>
                        </a:rPr>
                        <a:t>: Conversational dataset recommendations (along with cohort construction and documented RWE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 Data</a:t>
                      </a:r>
                      <a:r>
                        <a:rPr lang="en-US" sz="950" dirty="0" b="0">
                          <a:solidFill>
                            <a:schemeClr val="tx1"/>
                          </a:solidFill>
                        </a:rPr>
                        <a:t> (linked claims/EHR)</a:t>
                      </a:r>
                      <a:r>
                        <a:rPr lang="en-US" sz="950" dirty="0" b="0">
                          <a:solidFill>
                            <a:schemeClr val="tx1"/>
                          </a:solidFill>
                        </a:rPr>
                        <a:t>; </a:t>
                      </a:r>
                      <a:r>
                        <a:rPr lang="en-US" sz="950" dirty="0" b="1" u="sng">
                          <a:solidFill>
                            <a:srgbClr val="002677"/>
                          </a:solidFill>
                          <a:uFill>
                            <a:solidFill>
                              <a:srgbClr val="9AA8CC"/>
                            </a:solidFill>
                          </a:uFill>
                        </a:rPr>
                        <a:t>Enriched Clinical Data</a:t>
                      </a:r>
                      <a:r>
                        <a:rPr lang="en-US" sz="950" dirty="0" b="0">
                          <a:solidFill>
                            <a:schemeClr val="tx1"/>
                          </a:solidFill>
                        </a:rPr>
                        <a:t> (NLP-extracted clinical variables)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03037">
                <a:tc>
                  <a:txBody>
                    <a:bodyPr/>
                    <a:lstStyle/>
                    <a:p>
                      <a:pPr algn="ctr" indent="0" marL="0">
                        <a:buNone/>
                      </a:pPr>
                      <a:r>
                        <a:rPr lang="en-US" sz="1050" b="1" dirty="0">
                          <a:solidFill>
                            <a:schemeClr val="accent1"/>
                          </a:solidFill>
                        </a:rPr>
                        <a:t>Explore patient</a:t>
                      </a:r>
                      <a:b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b="1" dirty="0" u="sng">
                          <a:solidFill>
                            <a:srgbClr val="002677"/>
                          </a:solidFill>
                          <a:uFill>
                            <a:solidFill>
                              <a:srgbClr val="9AA8CC"/>
                            </a:solidFill>
                          </a:uFill>
                        </a:rPr>
                        <a:t>Marmot</a:t>
                      </a:r>
                      <a:r>
                        <a:rPr lang="en-US" sz="950" dirty="0">
                          <a:solidFill>
                            <a:schemeClr val="tx1"/>
                          </a:solidFill>
                        </a:rPr>
                        <a:t> and </a:t>
                      </a:r>
                      <a:r>
                        <a:rPr lang="en-US" sz="950" b="1" dirty="0" u="sng">
                          <a:solidFill>
                            <a:srgbClr val="002677"/>
                          </a:solidFill>
                          <a:uFill>
                            <a:solidFill>
                              <a:srgbClr val="9AA8CC"/>
                            </a:solidFill>
                          </a:uFill>
                        </a:rPr>
                        <a:t>MapAI</a:t>
                      </a:r>
                      <a:r>
                        <a:rPr lang="en-US" sz="950" dirty="0">
                          <a:solidFill>
                            <a:schemeClr val="tx1"/>
                          </a:solidFill>
                        </a:rPr>
                        <a:t>: conversational healthcare analytics and cohort exploration;</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b="1" dirty="0" u="sng">
                          <a:solidFill>
                            <a:srgbClr val="002677"/>
                          </a:solidFill>
                          <a:uFill>
                            <a:solidFill>
                              <a:srgbClr val="9AA8CC"/>
                            </a:solidFill>
                          </a:uFill>
                        </a:rPr>
                        <a:t>Truveta Intelligence</a:t>
                      </a: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u="sng">
                          <a:solidFill>
                            <a:srgbClr val="002677"/>
                          </a:solidFill>
                          <a:uFill>
                            <a:solidFill>
                              <a:srgbClr val="9AA8CC"/>
                            </a:solidFill>
                          </a:uFill>
                        </a:rPr>
                        <a:t>Briya’s </a:t>
                      </a:r>
                      <a:r>
                        <a:rPr lang="en-US" sz="950" b="1" dirty="0" u="sng">
                          <a:solidFill>
                            <a:srgbClr val="002677"/>
                          </a:solidFill>
                          <a:uFill>
                            <a:solidFill>
                              <a:srgbClr val="9AA8CC"/>
                            </a:solidFill>
                          </a:uFill>
                        </a:rPr>
                        <a:t>AIRE Population Agent</a:t>
                      </a:r>
                      <a:r>
                        <a:rPr lang="en-US" sz="950" dirty="0">
                          <a:solidFill>
                            <a:schemeClr val="tx1"/>
                          </a:solidFill>
                        </a:rPr>
                        <a:t> </a:t>
                      </a:r>
                      <a:r>
                        <a:rPr lang="en-US" sz="950" dirty="0">
                          <a:solidFill>
                            <a:schemeClr val="tx1"/>
                          </a:solidFill>
                        </a:rPr>
                        <a:t>(Israel)</a:t>
                      </a: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Analytics on Demand</a:t>
                      </a:r>
                      <a:r>
                        <a:rPr lang="en-US" sz="950" dirty="0" b="0">
                          <a:solidFill>
                            <a:schemeClr val="tx1"/>
                          </a:solidFill>
                        </a:rPr>
                        <a:t> (advanced statistical models)</a:t>
                      </a:r>
                      <a:r>
                        <a:rPr lang="en-US" sz="950" dirty="0" b="0">
                          <a:solidFill>
                            <a:schemeClr val="tx1"/>
                          </a:solidFill>
                        </a:rPr>
                        <a:t>; </a:t>
                      </a:r>
                      <a:r>
                        <a:rPr lang="en-US" sz="950" dirty="0" b="1" u="sng">
                          <a:solidFill>
                            <a:srgbClr val="002677"/>
                          </a:solidFill>
                          <a:uFill>
                            <a:solidFill>
                              <a:srgbClr val="9AA8CC"/>
                            </a:solidFill>
                          </a:uFill>
                        </a:rPr>
                        <a:t>Clinical Notes Lab</a:t>
                      </a:r>
                      <a:r>
                        <a:rPr lang="en-US" sz="950" dirty="0" b="0">
                          <a:solidFill>
                            <a:schemeClr val="tx1"/>
                          </a:solidFill>
                        </a:rPr>
                        <a:t> (NLP/LLMs, custom AI models)</a:t>
                      </a:r>
                      <a:r>
                        <a:rPr lang="en-US" sz="950" dirty="0" b="0">
                          <a:solidFill>
                            <a:schemeClr val="tx1"/>
                          </a:solidFill>
                        </a:rPr>
                        <a:t>; </a:t>
                      </a:r>
                      <a:r>
                        <a:rPr lang="en-US" sz="950" dirty="0" b="1" u="sng">
                          <a:solidFill>
                            <a:srgbClr val="002677"/>
                          </a:solidFill>
                          <a:uFill>
                            <a:solidFill>
                              <a:srgbClr val="9AA8CC"/>
                            </a:solidFill>
                          </a:uFill>
                        </a:rPr>
                        <a:t>Prospector</a:t>
                      </a:r>
                      <a:r>
                        <a:rPr lang="en-US" sz="950" dirty="0" b="0">
                          <a:solidFill>
                            <a:schemeClr val="tx1"/>
                          </a:solidFill>
                        </a:rPr>
                        <a:t> (no-code cohort building, attrition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18087">
                <a:tc>
                  <a:txBody>
                    <a:bodyPr/>
                    <a:lstStyle/>
                    <a:p>
                      <a:pPr algn="ctr" indent="0" marL="0">
                        <a:buNone/>
                      </a:pPr>
                      <a:r>
                        <a:rPr lang="en-US" sz="1050" b="1" dirty="0">
                          <a:solidFill>
                            <a:schemeClr val="accent1"/>
                          </a:solidFill>
                        </a:rPr>
                        <a:t>Investigate broader</a:t>
                      </a:r>
                      <a:b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HealthVerity’s </a:t>
                      </a:r>
                      <a:r>
                        <a:rPr lang="en-US" sz="950" b="1" dirty="0" u="sng">
                          <a:solidFill>
                            <a:srgbClr val="002677"/>
                          </a:solidFill>
                          <a:uFill>
                            <a:solidFill>
                              <a:srgbClr val="9AA8CC"/>
                            </a:solidFill>
                          </a:uFill>
                        </a:rPr>
                        <a:t>eXOs</a:t>
                      </a:r>
                      <a:r>
                        <a:rPr lang="en-US" sz="950" dirty="0">
                          <a:solidFill>
                            <a:schemeClr val="tx1"/>
                          </a:solidFill>
                        </a:rPr>
                        <a:t>: Conversational data feasibility, cohort design and auditable RWE analysis;</a:t>
                      </a:r>
                      <a:endParaRPr lang="en-US" sz="950" dirty="0"/>
                    </a:p>
                    <a:p>
                      <a:pPr indent="0" marL="0">
                        <a:spcBef>
                          <a:spcPts val="400"/>
                        </a:spcBef>
                        <a:buNone/>
                      </a:pPr>
                      <a:r>
                        <a:rPr lang="en-US" sz="950" dirty="0" u="sng">
                          <a:solidFill>
                            <a:srgbClr val="002677"/>
                          </a:solidFill>
                          <a:uFill>
                            <a:solidFill>
                              <a:srgbClr val="9AA8CC"/>
                            </a:solidFill>
                          </a:uFill>
                        </a:rPr>
                        <a:t>BC Platforms’ </a:t>
                      </a:r>
                      <a:r>
                        <a:rPr lang="en-US" sz="950" b="1" dirty="0" u="sng">
                          <a:solidFill>
                            <a:srgbClr val="002677"/>
                          </a:solidFill>
                          <a:uFill>
                            <a:solidFill>
                              <a:srgbClr val="9AA8CC"/>
                            </a:solidFill>
                          </a:uFill>
                        </a:rPr>
                        <a:t>BC Catalyst</a:t>
                      </a:r>
                      <a:r>
                        <a:rPr lang="en-US" sz="950" dirty="0">
                          <a:solidFill>
                            <a:schemeClr val="tx1"/>
                          </a:solidFill>
                        </a:rPr>
                        <a:t> </a:t>
                      </a:r>
                      <a:r>
                        <a:rPr lang="en-US" sz="950" dirty="0">
                          <a:solidFill>
                            <a:schemeClr val="tx1"/>
                          </a:solidFill>
                        </a:rPr>
                        <a:t>(Finland)</a:t>
                      </a: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Analytics on Demand</a:t>
                      </a:r>
                      <a:r>
                        <a:rPr lang="en-US" sz="950" dirty="0" b="0">
                          <a:solidFill>
                            <a:schemeClr val="tx1"/>
                          </a:solidFill>
                        </a:rPr>
                        <a:t> (statistical modeling, decision trees)</a:t>
                      </a:r>
                      <a:r>
                        <a:rPr lang="en-US" sz="950" dirty="0" b="0">
                          <a:solidFill>
                            <a:schemeClr val="tx1"/>
                          </a:solidFill>
                        </a:rPr>
                        <a:t>; </a:t>
                      </a:r>
                      <a:r>
                        <a:rPr lang="en-US" sz="950" dirty="0" u="sng">
                          <a:solidFill>
                            <a:srgbClr val="002677"/>
                          </a:solidFill>
                          <a:uFill>
                            <a:solidFill>
                              <a:srgbClr val="9AA8CC"/>
                            </a:solidFill>
                          </a:uFill>
                        </a:rPr>
                        <a:t>epidemiology research services</a:t>
                      </a:r>
                      <a:r>
                        <a:rPr lang="en-US" sz="950" dirty="0" b="0">
                          <a:solidFill>
                            <a:schemeClr val="tx1"/>
                          </a:solidFill>
                        </a:rPr>
                        <a:t> (advanced study methods, scientific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end-to-end conversational rwe card"/>
          <p:cNvSpPr/>
          <p:nvPr/>
        </p:nvSpPr>
        <p:spPr>
          <a:xfrm>
            <a:off x="548640"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END-TO-END CONVERSATIONAL RWE</a:t>
            </a:r>
            <a:endParaRPr lang="en-US" sz="1300" dirty="0"/>
          </a:p>
        </p:txBody>
      </p:sp>
      <p:sp>
        <p:nvSpPr>
          <p:cNvPr id="17" name="Text 14"/>
          <p:cNvSpPr txBox="1"/>
          <p:nvPr/>
        </p:nvSpPr>
        <p:spPr>
          <a:xfrm>
            <a:off x="749808" y="5362956"/>
            <a:ext cx="5052060" cy="507491"/>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HealthVerity’s eXOs</a:t>
            </a:r>
            <a:r>
              <a:rPr lang="en-US" sz="1050" b="1" dirty="0">
                <a:solidFill>
                  <a:schemeClr val="tx1"/>
                </a:solidFill>
              </a:rPr>
              <a:t> and </a:t>
            </a:r>
            <a:r>
              <a:rPr lang="en-US" sz="1050" b="1" dirty="0" u="sng">
                <a:solidFill>
                  <a:srgbClr val="002677"/>
                </a:solidFill>
                <a:uFill>
                  <a:solidFill>
                    <a:srgbClr val="9AA8CC"/>
                  </a:solidFill>
                </a:uFill>
              </a:rPr>
              <a:t>Norstella’s Ella</a:t>
            </a:r>
            <a:r>
              <a:rPr lang="en-US" sz="1050" b="1" dirty="0">
                <a:solidFill>
                  <a:schemeClr val="tx1"/>
                </a:solidFill>
              </a:rPr>
              <a:t> market conversational access across multiple RWE tasks, from data feasibility or exploration through cohort building and research analytics.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9903" name="pre-engagement data evaluation card"/>
          <p:cNvSpPr/>
          <p:nvPr/>
        </p:nvSpPr>
        <p:spPr>
          <a:xfrm>
            <a:off x="6185916"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9904" name="label"/>
          <p:cNvSpPr txBox="1"/>
          <p:nvPr/>
        </p:nvSpPr>
        <p:spPr>
          <a:xfrm>
            <a:off x="6387084"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PRE-ENGAGEMENT DATA EVALUATION</a:t>
            </a:r>
            <a:endParaRPr lang="en-US" sz="1300" dirty="0"/>
          </a:p>
        </p:txBody>
      </p:sp>
      <p:sp>
        <p:nvSpPr>
          <p:cNvPr id="9905" name="Text 14"/>
          <p:cNvSpPr txBox="1"/>
          <p:nvPr/>
        </p:nvSpPr>
        <p:spPr>
          <a:xfrm>
            <a:off x="6387084" y="5362956"/>
            <a:ext cx="5052060" cy="507491"/>
          </a:xfrm>
          <a:prstGeom prst="rect">
            <a:avLst/>
          </a:prstGeom>
          <a:noFill/>
          <a:ln/>
        </p:spPr>
        <p:txBody>
          <a:bodyPr wrap="square" lIns="0" tIns="0" rIns="0" bIns="0" rtlCol="0" anchor="t"/>
          <a:lstStyle/>
          <a:p>
            <a:pPr indent="0" marL="0">
              <a:buNone/>
            </a:pPr>
            <a:r>
              <a:rPr lang="en-US" sz="1050" b="1" dirty="0">
                <a:solidFill>
                  <a:schemeClr val="tx1"/>
                </a:solidFill>
              </a:rPr>
              <a:t>Truven also uses their conversational AI as a sales tool, offering qualified prospects free </a:t>
            </a:r>
            <a:r>
              <a:rPr lang="en-US" sz="1050" b="1" dirty="0" u="sng">
                <a:solidFill>
                  <a:srgbClr val="002677"/>
                </a:solidFill>
                <a:uFill>
                  <a:solidFill>
                    <a:srgbClr val="9AA8CC"/>
                  </a:solidFill>
                </a:uFill>
              </a:rPr>
              <a:t>MarketScan Snapshot</a:t>
            </a:r>
            <a:r>
              <a:rPr lang="en-US" sz="1050" b="1" dirty="0">
                <a:solidFill>
                  <a:schemeClr val="tx1"/>
                </a:solidFill>
              </a:rPr>
              <a:t> access to cohort counts and summary statistics before they commit to a full RWE analysis.</a:t>
            </a:r>
            <a:endParaRPr lang="en-US" sz="1050" dirty="0"/>
          </a:p>
        </p:txBody>
      </p:sp>
      <p:sp>
        <p:nvSpPr>
          <p:cNvPr id="990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6: https://www.merative.com/newsroom/truven-launches-marketscan-snapshot-an-ai-powered-tool-to-evaluate-fit-for-purpose-real-world-data-in-minutes">
            <a:hlinkClick r:id="rId3"/>
          </p:cNvPr>
          <p:cNvSpPr/>
          <p:nvPr/>
        </p:nvSpPr>
        <p:spPr>
          <a:xfrm>
            <a:off x="2944075" y="2041132"/>
            <a:ext cx="17786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6: https://panalgo.com/ella/">
            <a:hlinkClick r:id="rId15"/>
          </p:cNvPr>
          <p:cNvSpPr/>
          <p:nvPr/>
        </p:nvSpPr>
        <p:spPr>
          <a:xfrm>
            <a:off x="2944075" y="2227619"/>
            <a:ext cx="98920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6: https://www.komodohealth.com/product/marmot/">
            <a:hlinkClick r:id="rId8"/>
          </p:cNvPr>
          <p:cNvSpPr/>
          <p:nvPr/>
        </p:nvSpPr>
        <p:spPr>
          <a:xfrm>
            <a:off x="2944075" y="2976056"/>
            <a:ext cx="138096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6: https://www.komodohealth.com/press/komodo-health-unveils-new-generative-ai-offerings-to-enable-real-time-insights-across-330-million-patient-journeys/">
            <a:hlinkClick r:id="rId9"/>
          </p:cNvPr>
          <p:cNvSpPr/>
          <p:nvPr/>
        </p:nvSpPr>
        <p:spPr>
          <a:xfrm>
            <a:off x="4593234" y="2976056"/>
            <a:ext cx="3944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6: https://www.truveta.com/blog/announcement/truveta-unveils-truveta-intelligence/">
            <a:hlinkClick r:id="rId10"/>
          </p:cNvPr>
          <p:cNvSpPr/>
          <p:nvPr/>
        </p:nvSpPr>
        <p:spPr>
          <a:xfrm>
            <a:off x="2944075" y="3162542"/>
            <a:ext cx="16778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6: https://briya.com/aire-population-agent/">
            <a:hlinkClick r:id="rId11"/>
          </p:cNvPr>
          <p:cNvSpPr/>
          <p:nvPr/>
        </p:nvSpPr>
        <p:spPr>
          <a:xfrm>
            <a:off x="2944075" y="3349016"/>
            <a:ext cx="170319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6: https://healthverity.com/news/announcing-healthverity-exos/">
            <a:hlinkClick r:id="rId4"/>
          </p:cNvPr>
          <p:cNvSpPr/>
          <p:nvPr/>
        </p:nvSpPr>
        <p:spPr>
          <a:xfrm>
            <a:off x="2944075" y="3962096"/>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6: https://www.bcplatforms.com/bc-catalyst">
            <a:hlinkClick r:id="rId16"/>
          </p:cNvPr>
          <p:cNvSpPr/>
          <p:nvPr/>
        </p:nvSpPr>
        <p:spPr>
          <a:xfrm>
            <a:off x="2944075" y="4148583"/>
            <a:ext cx="143855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6: https://business.optum.com/en/data-analytics/life-sciences/real-world-data/market-clarity-data.html">
            <a:hlinkClick r:id="rId5"/>
          </p:cNvPr>
          <p:cNvSpPr/>
          <p:nvPr/>
        </p:nvSpPr>
        <p:spPr>
          <a:xfrm>
            <a:off x="8704795" y="2134376"/>
            <a:ext cx="108876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6: https://business.optum.com/en/data-analytics/life-sciences/real-world-data/enriched-clinical-data.html">
            <a:hlinkClick r:id="rId7"/>
          </p:cNvPr>
          <p:cNvSpPr/>
          <p:nvPr/>
        </p:nvSpPr>
        <p:spPr>
          <a:xfrm>
            <a:off x="10951197" y="2134376"/>
            <a:ext cx="5135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6: https://business.optum.com/en/data-analytics/life-sciences/real-world-data/enriched-clinical-data.html">
            <a:hlinkClick r:id="rId7"/>
          </p:cNvPr>
          <p:cNvSpPr/>
          <p:nvPr/>
        </p:nvSpPr>
        <p:spPr>
          <a:xfrm>
            <a:off x="8704795" y="2270101"/>
            <a:ext cx="72166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6: https://business.optum.com/en/data-analytics/life-sciences/heor/exploratory-analysis.html">
            <a:hlinkClick r:id="rId12"/>
          </p:cNvPr>
          <p:cNvSpPr/>
          <p:nvPr/>
        </p:nvSpPr>
        <p:spPr>
          <a:xfrm>
            <a:off x="8704795" y="2959139"/>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6: https://business.optum.com/en/data-analytics/life-sciences/heor/exploratory-analysis.html">
            <a:hlinkClick r:id="rId12"/>
          </p:cNvPr>
          <p:cNvSpPr/>
          <p:nvPr/>
        </p:nvSpPr>
        <p:spPr>
          <a:xfrm>
            <a:off x="8704795" y="3987293"/>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6: https://business.optum.com/en/data-analytics/life-sciences/real-world-data/clinical-notes.html">
            <a:hlinkClick r:id="rId13"/>
          </p:cNvPr>
          <p:cNvSpPr/>
          <p:nvPr/>
        </p:nvSpPr>
        <p:spPr>
          <a:xfrm>
            <a:off x="9198724" y="3094851"/>
            <a:ext cx="10418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5" name="Invisible source link 6: https://business.optum.com/en/data-analytics/life-sciences/clinical-trial-design.html">
            <a:hlinkClick r:id="rId14"/>
          </p:cNvPr>
          <p:cNvSpPr/>
          <p:nvPr/>
        </p:nvSpPr>
        <p:spPr>
          <a:xfrm>
            <a:off x="9198724" y="3230576"/>
            <a:ext cx="6345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6" name="Invisible source link 6: https://business.optum.com/en/data-analytics/life-sciences/epidemiology-consulting.html">
            <a:hlinkClick r:id="rId17"/>
          </p:cNvPr>
          <p:cNvSpPr/>
          <p:nvPr/>
        </p:nvSpPr>
        <p:spPr>
          <a:xfrm>
            <a:off x="9078125" y="4123018"/>
            <a:ext cx="168440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7" name="Invisible source link 6: https://healthverity.com/exos/">
            <a:hlinkClick r:id="rId18"/>
          </p:cNvPr>
          <p:cNvSpPr/>
          <p:nvPr/>
        </p:nvSpPr>
        <p:spPr>
          <a:xfrm>
            <a:off x="749515" y="5375216"/>
            <a:ext cx="124593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8" name="Invisible source link 6: https://www.norstella.com/press-releases/panalgo-revolutionizes-real-world-data-launch-linqnotes-ella-ai/">
            <a:hlinkClick r:id="rId19"/>
          </p:cNvPr>
          <p:cNvSpPr/>
          <p:nvPr/>
        </p:nvSpPr>
        <p:spPr>
          <a:xfrm>
            <a:off x="2305443" y="5375216"/>
            <a:ext cx="94397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9" name="Invisible source link 6: https://www.prnewswire.com/news-releases/truven-launches-marketscan-snapshot-an-ai-powered-tool-to-evaluate-fit-for-purpose-real-world-data-in-minutes-302892187.html">
            <a:hlinkClick r:id="rId20"/>
          </p:cNvPr>
          <p:cNvSpPr/>
          <p:nvPr/>
        </p:nvSpPr>
        <p:spPr>
          <a:xfrm>
            <a:off x="7336078" y="5535058"/>
            <a:ext cx="138219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47830">
                <a:tc>
                  <a:txBody>
                    <a:bodyPr/>
                    <a:lstStyle/>
                    <a:p>
                      <a:pPr algn="ctr" indent="0" marL="0">
                        <a:buNone/>
                      </a:pPr>
                      <a:r>
                        <a:rPr lang="en-US" sz="1050" b="1" dirty="0">
                          <a:solidFill>
                            <a:schemeClr val="accent1"/>
                          </a:solidFill>
                        </a:rPr>
                        <a:t>Explore oncology and</a:t>
                      </a:r>
                      <a:b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Flatiron Health’s </a:t>
                      </a:r>
                      <a:r>
                        <a:rPr lang="en-US" sz="950" b="1" dirty="0" u="sng">
                          <a:solidFill>
                            <a:srgbClr val="002677"/>
                          </a:solidFill>
                          <a:uFill>
                            <a:solidFill>
                              <a:srgbClr val="9AA8CC"/>
                            </a:solidFill>
                          </a:uFill>
                        </a:rPr>
                        <a:t>Telescope</a:t>
                      </a:r>
                      <a:r>
                        <a:rPr lang="en-US" sz="950" dirty="0">
                          <a:solidFill>
                            <a:schemeClr val="tx1"/>
                          </a:solidFill>
                        </a:rPr>
                        <a:t>: conversational oncology cohort exploration;</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b="1" dirty="0" u="sng">
                          <a:solidFill>
                            <a:srgbClr val="002677"/>
                          </a:solidFill>
                          <a:uFill>
                            <a:solidFill>
                              <a:srgbClr val="9AA8CC"/>
                            </a:solidFill>
                          </a:uFill>
                        </a:rPr>
                        <a:t>Lens</a:t>
                      </a: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Enriched Clinical Data</a:t>
                      </a:r>
                      <a:r>
                        <a:rPr lang="en-US" sz="950" dirty="0" b="0">
                          <a:solidFill>
                            <a:schemeClr val="tx1"/>
                          </a:solidFill>
                        </a:rPr>
                        <a:t> (NLP-derived disease attributes)</a:t>
                      </a:r>
                      <a:r>
                        <a:rPr lang="en-US" sz="950" dirty="0" b="0">
                          <a:solidFill>
                            <a:schemeClr val="tx1"/>
                          </a:solidFill>
                        </a:rPr>
                        <a:t>; </a:t>
                      </a:r>
                      <a:r>
                        <a:rPr lang="en-US" sz="950" dirty="0" u="sng">
                          <a:solidFill>
                            <a:srgbClr val="002677"/>
                          </a:solidFill>
                          <a:uFill>
                            <a:solidFill>
                              <a:srgbClr val="9AA8CC"/>
                            </a:solidFill>
                          </a:uFill>
                        </a:rPr>
                        <a:t>clinicogenomics datasets</a:t>
                      </a:r>
                      <a:r>
                        <a:rPr lang="en-US" sz="950" dirty="0" b="0">
                          <a:solidFill>
                            <a:schemeClr val="tx1"/>
                          </a:solidFill>
                        </a:rPr>
                        <a:t> (linked clinical/genomic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47818">
                <a:tc>
                  <a:txBody>
                    <a:bodyPr/>
                    <a:lstStyle/>
                    <a:p>
                      <a:pPr algn="ctr" indent="0" marL="0">
                        <a:buNone/>
                      </a:pPr>
                      <a:r>
                        <a:rPr lang="en-US" sz="1050" b="1" dirty="0">
                          <a:solidFill>
                            <a:schemeClr val="accent1"/>
                          </a:solidFill>
                        </a:rPr>
                        <a:t>Investigate specialty-</a:t>
                      </a:r>
                      <a:b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ConcertAI’s </a:t>
                      </a:r>
                      <a:r>
                        <a:rPr lang="en-US" sz="950" b="1" dirty="0" u="sng">
                          <a:solidFill>
                            <a:srgbClr val="002677"/>
                          </a:solidFill>
                          <a:uFill>
                            <a:solidFill>
                              <a:srgbClr val="9AA8CC"/>
                            </a:solidFill>
                          </a:uFill>
                        </a:rPr>
                        <a:t>Precision Explorer</a:t>
                      </a:r>
                      <a:r>
                        <a:rPr lang="en-US" sz="950" dirty="0">
                          <a:solidFill>
                            <a:schemeClr val="tx1"/>
                          </a:solidFill>
                        </a:rPr>
                        <a:t>: oncology research analytics;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b="1" dirty="0" u="sng">
                          <a:solidFill>
                            <a:srgbClr val="002677"/>
                          </a:solidFill>
                          <a:uFill>
                            <a:solidFill>
                              <a:srgbClr val="9AA8CC"/>
                            </a:solidFill>
                          </a:uFill>
                        </a:rPr>
                        <a:t>Agent Claire</a:t>
                      </a: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Clinical Notes Lab</a:t>
                      </a:r>
                      <a:r>
                        <a:rPr lang="en-US" sz="950" dirty="0" b="0">
                          <a:solidFill>
                            <a:schemeClr val="tx1"/>
                          </a:solidFill>
                        </a:rPr>
                        <a:t> (NLP/LLMs, custom AI models)</a:t>
                      </a:r>
                      <a:r>
                        <a:rPr lang="en-US" sz="950" dirty="0" b="0">
                          <a:solidFill>
                            <a:schemeClr val="tx1"/>
                          </a:solidFill>
                        </a:rPr>
                        <a:t>; </a:t>
                      </a:r>
                      <a:r>
                        <a:rPr lang="en-US" sz="950" dirty="0" u="sng">
                          <a:solidFill>
                            <a:srgbClr val="002677"/>
                          </a:solidFill>
                          <a:uFill>
                            <a:solidFill>
                              <a:srgbClr val="9AA8CC"/>
                            </a:solidFill>
                          </a:uFill>
                        </a:rPr>
                        <a:t>epidemiology and observational research</a:t>
                      </a:r>
                      <a:r>
                        <a:rPr lang="en-US" sz="950" dirty="0" b="0">
                          <a:solidFill>
                            <a:schemeClr val="tx1"/>
                          </a:solidFill>
                        </a:rPr>
                        <a:t> (study design, comparative effectiveness)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83543">
                <a:tc>
                  <a:txBody>
                    <a:bodyPr/>
                    <a:lstStyle/>
                    <a:p>
                      <a:pPr algn="ctr" indent="0" marL="0">
                        <a:buNone/>
                      </a:pPr>
                      <a:r>
                        <a:rPr lang="en-US" sz="1050" b="1" dirty="0">
                          <a:solidFill>
                            <a:schemeClr val="accent1"/>
                          </a:solidFill>
                        </a:rPr>
                        <a:t>Analyze curated</a:t>
                      </a:r>
                      <a:b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MDClone’s </a:t>
                      </a:r>
                      <a:r>
                        <a:rPr lang="en-US" sz="950" b="1" dirty="0" u="sng">
                          <a:solidFill>
                            <a:srgbClr val="002677"/>
                          </a:solidFill>
                          <a:uFill>
                            <a:solidFill>
                              <a:srgbClr val="9AA8CC"/>
                            </a:solidFill>
                          </a:uFill>
                        </a:rPr>
                        <a:t>ADAMS Copilot</a:t>
                      </a:r>
                      <a:r>
                        <a:rPr lang="en-US" sz="950" dirty="0">
                          <a:solidFill>
                            <a:schemeClr val="tx1"/>
                          </a:solidFill>
                        </a:rPr>
                        <a:t> </a:t>
                      </a:r>
                      <a:r>
                        <a:rPr lang="en-US" sz="950" dirty="0">
                          <a:solidFill>
                            <a:schemeClr val="tx1"/>
                          </a:solidFill>
                        </a:rPr>
                        <a:t>(Israel)</a:t>
                      </a: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Analytics on Demand</a:t>
                      </a:r>
                      <a:r>
                        <a:rPr lang="en-US" sz="950" dirty="0" b="0">
                          <a:solidFill>
                            <a:schemeClr val="tx1"/>
                          </a:solidFill>
                        </a:rPr>
                        <a:t> (advanced statistical modeling, survival analysis)</a:t>
                      </a:r>
                      <a:r>
                        <a:rPr lang="en-US" sz="950" dirty="0" b="0">
                          <a:solidFill>
                            <a:schemeClr val="tx1"/>
                          </a:solidFill>
                        </a:rPr>
                        <a:t>; </a:t>
                      </a:r>
                      <a:r>
                        <a:rPr lang="en-US" sz="950" dirty="0">
                          <a:solidFill>
                            <a:schemeClr val="tx1"/>
                          </a:solidFill>
                        </a:rPr>
                        <a:t>research data and study environments</a:t>
                      </a:r>
                      <a:r>
                        <a:rPr lang="en-US" sz="950" dirty="0" b="0">
                          <a:solidFill>
                            <a:schemeClr val="tx1"/>
                          </a:solidFill>
                        </a:rPr>
                        <a:t> (curated data, analytical workspaces)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packaged outcomes studies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PACKAGED OUTCOMES STUDIES</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ConcertAI markets named </a:t>
            </a:r>
            <a:r>
              <a:rPr lang="en-US" sz="1050" b="1" dirty="0" u="sng">
                <a:solidFill>
                  <a:srgbClr val="002677"/>
                </a:solidFill>
                <a:uFill>
                  <a:solidFill>
                    <a:srgbClr val="9AA8CC"/>
                  </a:solidFill>
                </a:uFill>
              </a:rPr>
              <a:t>Precision Explorer</a:t>
            </a:r>
            <a:r>
              <a:rPr lang="en-US" sz="1050" b="1" dirty="0">
                <a:solidFill>
                  <a:schemeClr val="tx1"/>
                </a:solidFill>
              </a:rPr>
              <a:t> agents for guideline concordance, real-world outcomes and comorbidity analysis; it claims projects can shrink “from 10-20 weeks to as little as 6 weeks.”</a:t>
            </a:r>
            <a:endParaRPr lang="en-US" sz="1050" dirty="0"/>
          </a:p>
        </p:txBody>
      </p:sp>
      <p:sp>
        <p:nvSpPr>
          <p:cNvPr id="18" name="self-service analysis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SELF-SERVICE ANALYSIS</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Specialty-data vendors market conversational AI as a way to supplant routine work by analysts: </a:t>
            </a:r>
            <a:r>
              <a:rPr lang="en-US" sz="1050" b="1" dirty="0" u="sng">
                <a:solidFill>
                  <a:srgbClr val="002677"/>
                </a:solidFill>
                <a:uFill>
                  <a:solidFill>
                    <a:srgbClr val="9AA8CC"/>
                  </a:solidFill>
                </a:uFill>
              </a:rPr>
              <a:t>Flatiron’s Telescope</a:t>
            </a:r>
            <a:r>
              <a:rPr lang="en-US" sz="1050" b="1" dirty="0">
                <a:solidFill>
                  <a:schemeClr val="tx1"/>
                </a:solidFill>
              </a:rPr>
              <a:t> delivers survival analyses on demand, “eliminating the need to wait in analyst queues,” while </a:t>
            </a:r>
            <a:r>
              <a:rPr lang="en-US" sz="1050" b="1" dirty="0" u="sng">
                <a:solidFill>
                  <a:srgbClr val="002677"/>
                </a:solidFill>
                <a:uFill>
                  <a:solidFill>
                    <a:srgbClr val="9AA8CC"/>
                  </a:solidFill>
                </a:uFill>
              </a:rPr>
              <a:t>Verana’s Agent Claire</a:t>
            </a:r>
            <a:r>
              <a:rPr lang="en-US" sz="1050" b="1" dirty="0">
                <a:solidFill>
                  <a:schemeClr val="tx1"/>
                </a:solidFill>
              </a:rPr>
              <a:t> offers data access “without needing programming skills or analyst assistance.”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7: https://resources.flatiron.com/press/flatiron-health-launches-flatiron-telescope-a-new-ai-platform-delivering-oncology-insights-in-minutes">
            <a:hlinkClick r:id="rId3"/>
          </p:cNvPr>
          <p:cNvSpPr/>
          <p:nvPr/>
        </p:nvSpPr>
        <p:spPr>
          <a:xfrm>
            <a:off x="2944075" y="2073898"/>
            <a:ext cx="15133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7: https://www.tempus.com/solutions/lens/">
            <a:hlinkClick r:id="rId4"/>
          </p:cNvPr>
          <p:cNvSpPr/>
          <p:nvPr/>
        </p:nvSpPr>
        <p:spPr>
          <a:xfrm>
            <a:off x="2944075" y="2260372"/>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7: https://www.concertai.com/precision-explorer">
            <a:hlinkClick r:id="rId7"/>
          </p:cNvPr>
          <p:cNvSpPr/>
          <p:nvPr/>
        </p:nvSpPr>
        <p:spPr>
          <a:xfrm>
            <a:off x="2944075" y="2921700"/>
            <a:ext cx="174953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7: https://veranahealth.com/verana-health-introduces-new-ai-agents-to-expedite-and-streamline-rd-tasks/">
            <a:hlinkClick r:id="rId8"/>
          </p:cNvPr>
          <p:cNvSpPr/>
          <p:nvPr/>
        </p:nvSpPr>
        <p:spPr>
          <a:xfrm>
            <a:off x="2944075" y="3108174"/>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7: https://mdclone.com/meet-copilot/">
            <a:hlinkClick r:id="rId11"/>
          </p:cNvPr>
          <p:cNvSpPr/>
          <p:nvPr/>
        </p:nvSpPr>
        <p:spPr>
          <a:xfrm>
            <a:off x="2944075" y="3862731"/>
            <a:ext cx="150705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7: https://business.optum.com/en/data-analytics/life-sciences/real-world-data/enriched-clinical-data.html">
            <a:hlinkClick r:id="rId5"/>
          </p:cNvPr>
          <p:cNvSpPr/>
          <p:nvPr/>
        </p:nvSpPr>
        <p:spPr>
          <a:xfrm>
            <a:off x="8704795" y="2031417"/>
            <a:ext cx="126978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7: https://business.optum.com/en/data-analytics/life-sciences/clinicogenomics.html">
            <a:hlinkClick r:id="rId6"/>
          </p:cNvPr>
          <p:cNvSpPr/>
          <p:nvPr/>
        </p:nvSpPr>
        <p:spPr>
          <a:xfrm>
            <a:off x="9306725" y="2167142"/>
            <a:ext cx="13357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7: https://business.optum.com/en/data-analytics/life-sciences/real-world-data/clinical-notes.html">
            <a:hlinkClick r:id="rId9"/>
          </p:cNvPr>
          <p:cNvSpPr/>
          <p:nvPr/>
        </p:nvSpPr>
        <p:spPr>
          <a:xfrm>
            <a:off x="8704795" y="2879218"/>
            <a:ext cx="10418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7: https://business.optum.com/en/data-analytics/life-sciences/epidemiology-consulting.html">
            <a:hlinkClick r:id="rId10"/>
          </p:cNvPr>
          <p:cNvSpPr/>
          <p:nvPr/>
        </p:nvSpPr>
        <p:spPr>
          <a:xfrm>
            <a:off x="8704795" y="3014943"/>
            <a:ext cx="219225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7: https://business.optum.com/en/data-analytics/life-sciences/heor/exploratory-analysis.html">
            <a:hlinkClick r:id="rId12"/>
          </p:cNvPr>
          <p:cNvSpPr/>
          <p:nvPr/>
        </p:nvSpPr>
        <p:spPr>
          <a:xfrm>
            <a:off x="8704795" y="3727019"/>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7: https://www.concertai.com/precision-explorer">
            <a:hlinkClick r:id="rId7"/>
          </p:cNvPr>
          <p:cNvSpPr/>
          <p:nvPr/>
        </p:nvSpPr>
        <p:spPr>
          <a:xfrm>
            <a:off x="2428925" y="5215373"/>
            <a:ext cx="11688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7: https://resources.flatiron.com/press/flatiron-health-launches-flatiron-telescope-a-new-ai-platform-delivering-oncology-insights-in-minutes">
            <a:hlinkClick r:id="rId3"/>
          </p:cNvPr>
          <p:cNvSpPr/>
          <p:nvPr/>
        </p:nvSpPr>
        <p:spPr>
          <a:xfrm>
            <a:off x="7535875" y="5375216"/>
            <a:ext cx="126564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7: https://www.prnewswire.com/news-releases/verana-health-introduces-new-ai-agents-to-expedite-and-streamline-rd-302888122.html">
            <a:hlinkClick r:id="rId14"/>
          </p:cNvPr>
          <p:cNvSpPr/>
          <p:nvPr/>
        </p:nvSpPr>
        <p:spPr>
          <a:xfrm>
            <a:off x="9849243" y="5535058"/>
            <a:ext cx="135115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1667">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GMI Agent</a:t>
                      </a:r>
                      <a:r>
                        <a:rPr lang="en-US" sz="950" dirty="0">
                          <a:solidFill>
                            <a:schemeClr val="tx1"/>
                          </a:solidFill>
                        </a:rPr>
                        <a:t>: global market insights;</a:t>
                      </a:r>
                      <a:endParaRPr lang="en-US" sz="950" dirty="0"/>
                    </a:p>
                    <a:p>
                      <a:pPr indent="0" marL="0">
                        <a:spcBef>
                          <a:spcPts val="400"/>
                        </a:spcBef>
                        <a:buNone/>
                      </a:pPr>
                      <a:r>
                        <a:rPr lang="en-US" sz="950" dirty="0" u="sng">
                          <a:solidFill>
                            <a:srgbClr val="002677"/>
                          </a:solidFill>
                          <a:uFill>
                            <a:solidFill>
                              <a:srgbClr val="9AA8CC"/>
                            </a:solidFill>
                          </a:uFill>
                        </a:rPr>
                        <a:t>GBI Health’s </a:t>
                      </a:r>
                      <a:r>
                        <a:rPr lang="en-US" sz="950" b="1" dirty="0" u="sng">
                          <a:solidFill>
                            <a:srgbClr val="002677"/>
                          </a:solidFill>
                          <a:uFill>
                            <a:solidFill>
                              <a:srgbClr val="9AA8CC"/>
                            </a:solidFill>
                          </a:uFill>
                        </a:rPr>
                        <a:t>GBI BOT</a:t>
                      </a:r>
                      <a:r>
                        <a:rPr lang="en-US" sz="950" dirty="0">
                          <a:solidFill>
                            <a:schemeClr val="tx1"/>
                          </a:solidFill>
                        </a:rPr>
                        <a:t> </a:t>
                      </a:r>
                      <a:r>
                        <a:rPr lang="en-US" sz="950" dirty="0">
                          <a:solidFill>
                            <a:schemeClr val="tx1"/>
                          </a:solidFill>
                        </a:rPr>
                        <a:t>(China)</a:t>
                      </a:r>
                      <a:r>
                        <a:rPr lang="en-US" sz="950" dirty="0">
                          <a:solidFill>
                            <a:schemeClr val="tx1"/>
                          </a:solidFill>
                        </a:rPr>
                        <a:t>: pharmaceutical database Q&amp;A and competitive intelligence;</a:t>
                      </a:r>
                      <a:endParaRPr lang="en-US" sz="950" dirty="0"/>
                    </a:p>
                    <a:p>
                      <a:pPr indent="0" marL="0">
                        <a:spcBef>
                          <a:spcPts val="400"/>
                        </a:spcBef>
                        <a:buNone/>
                      </a:pPr>
                      <a:r>
                        <a:rPr lang="en-US" sz="950" dirty="0" u="sng">
                          <a:solidFill>
                            <a:srgbClr val="002677"/>
                          </a:solidFill>
                          <a:uFill>
                            <a:solidFill>
                              <a:srgbClr val="9AA8CC"/>
                            </a:solidFill>
                          </a:uFill>
                        </a:rPr>
                        <a:t>Prospection’s </a:t>
                      </a:r>
                      <a:r>
                        <a:rPr lang="en-US" sz="950" b="1" dirty="0" u="sng">
                          <a:solidFill>
                            <a:srgbClr val="002677"/>
                          </a:solidFill>
                          <a:uFill>
                            <a:solidFill>
                              <a:srgbClr val="9AA8CC"/>
                            </a:solidFill>
                          </a:uFill>
                        </a:rPr>
                        <a:t>ProGPT</a:t>
                      </a:r>
                      <a:r>
                        <a:rPr lang="en-US" sz="950" dirty="0">
                          <a:solidFill>
                            <a:schemeClr val="tx1"/>
                          </a:solidFill>
                        </a:rPr>
                        <a:t> </a:t>
                      </a:r>
                      <a:r>
                        <a:rPr lang="en-US" sz="950" dirty="0">
                          <a:solidFill>
                            <a:schemeClr val="tx1"/>
                          </a:solidFill>
                        </a:rPr>
                        <a:t>(Australia)</a:t>
                      </a: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a:t>
                      </a:r>
                      <a:r>
                        <a:rPr lang="en-US" sz="950" dirty="0" b="0">
                          <a:solidFill>
                            <a:schemeClr val="tx1"/>
                          </a:solidFill>
                        </a:rPr>
                        <a:t> (linked claims/EHR data, market attractiveness and portfolio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7380">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Field Force Agent</a:t>
                      </a:r>
                      <a:r>
                        <a:rPr lang="en-US" sz="950" dirty="0">
                          <a:solidFill>
                            <a:schemeClr val="tx1"/>
                          </a:solidFill>
                        </a:rPr>
                        <a:t>: commercial field support;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Commercial</a:t>
                      </a:r>
                      <a:r>
                        <a:rPr lang="en-US" sz="950" dirty="0">
                          <a:solidFill>
                            <a:schemeClr val="tx1"/>
                          </a:solidFill>
                        </a:rPr>
                        <a:t>: commercial information and decision support;</a:t>
                      </a:r>
                      <a:endParaRPr lang="en-US" sz="950" dirty="0"/>
                    </a:p>
                    <a:p>
                      <a:pPr indent="0" marL="0">
                        <a:spcBef>
                          <a:spcPts val="400"/>
                        </a:spcBef>
                        <a:buNone/>
                      </a:pPr>
                      <a:r>
                        <a:rPr lang="en-US" sz="950" dirty="0" u="sng">
                          <a:solidFill>
                            <a:srgbClr val="002677"/>
                          </a:solidFill>
                          <a:uFill>
                            <a:solidFill>
                              <a:srgbClr val="9AA8CC"/>
                            </a:solidFill>
                          </a:uFill>
                        </a:rPr>
                        <a:t>Close-Up International’s </a:t>
                      </a:r>
                      <a:r>
                        <a:rPr lang="en-US" sz="950" b="1" dirty="0" u="sng">
                          <a:solidFill>
                            <a:srgbClr val="002677"/>
                          </a:solidFill>
                          <a:uFill>
                            <a:solidFill>
                              <a:srgbClr val="9AA8CC"/>
                            </a:solidFill>
                          </a:uFill>
                        </a:rPr>
                        <a:t>Xplora AI</a:t>
                      </a:r>
                      <a:r>
                        <a:rPr lang="en-US" sz="950" dirty="0">
                          <a:solidFill>
                            <a:schemeClr val="tx1"/>
                          </a:solidFill>
                        </a:rPr>
                        <a:t> </a:t>
                      </a:r>
                      <a:r>
                        <a:rPr lang="en-US" sz="950" dirty="0">
                          <a:solidFill>
                            <a:schemeClr val="tx1"/>
                          </a:solidFill>
                        </a:rPr>
                        <a:t>(Spain)</a:t>
                      </a: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a:t>
                      </a:r>
                      <a:r>
                        <a:rPr lang="en-US" sz="950" dirty="0" b="0">
                          <a:solidFill>
                            <a:schemeClr val="tx1"/>
                          </a:solidFill>
                        </a:rPr>
                        <a:t> (patient/prescriber segmentation, treatment patterns, market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80144">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Trinity Life Sciences’ </a:t>
                      </a:r>
                      <a:r>
                        <a:rPr lang="en-US" sz="950" b="1" dirty="0" u="sng">
                          <a:solidFill>
                            <a:srgbClr val="002677"/>
                          </a:solidFill>
                          <a:uFill>
                            <a:solidFill>
                              <a:srgbClr val="9AA8CC"/>
                            </a:solidFill>
                          </a:uFill>
                        </a:rPr>
                        <a:t>InsightsEDGE Digital Twins</a:t>
                      </a:r>
                      <a:r>
                        <a:rPr lang="en-US" sz="950" dirty="0">
                          <a:solidFill>
                            <a:schemeClr val="tx1"/>
                          </a:solidFill>
                        </a:rPr>
                        <a:t>: conversational simulated personas;</a:t>
                      </a:r>
                      <a:endParaRPr lang="en-US" sz="950" dirty="0"/>
                    </a:p>
                    <a:p>
                      <a:pPr indent="0" marL="0">
                        <a:spcBef>
                          <a:spcPts val="400"/>
                        </a:spcBef>
                        <a:buNone/>
                      </a:pPr>
                      <a:r>
                        <a:rPr lang="en-US" sz="950" dirty="0" u="sng">
                          <a:solidFill>
                            <a:srgbClr val="002677"/>
                          </a:solidFill>
                          <a:uFill>
                            <a:solidFill>
                              <a:srgbClr val="9AA8CC"/>
                            </a:solidFill>
                          </a:uFill>
                        </a:rPr>
                        <a:t>Ipsos’s </a:t>
                      </a:r>
                      <a:r>
                        <a:rPr lang="en-US" sz="950" b="1" dirty="0" u="sng">
                          <a:solidFill>
                            <a:srgbClr val="002677"/>
                          </a:solidFill>
                          <a:uFill>
                            <a:solidFill>
                              <a:srgbClr val="9AA8CC"/>
                            </a:solidFill>
                          </a:uFill>
                        </a:rPr>
                        <a:t>Healthcare PersonaBot</a:t>
                      </a:r>
                      <a:r>
                        <a:rPr lang="en-US" sz="950" dirty="0">
                          <a:solidFill>
                            <a:schemeClr val="tx1"/>
                          </a:solidFill>
                        </a:rPr>
                        <a:t> </a:t>
                      </a:r>
                      <a:r>
                        <a:rPr lang="en-US" sz="950" dirty="0">
                          <a:solidFill>
                            <a:schemeClr val="tx1"/>
                          </a:solidFill>
                        </a:rPr>
                        <a:t>(France)</a:t>
                      </a: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a:t>
                      </a:r>
                      <a:r>
                        <a:rPr lang="en-US" sz="950" dirty="0" b="0">
                          <a:solidFill>
                            <a:schemeClr val="tx1"/>
                          </a:solidFill>
                        </a:rPr>
                        <a:t> (observed patient/prescriber insights)</a:t>
                      </a:r>
                      <a:r>
                        <a:rPr lang="en-US" sz="950" dirty="0" b="0">
                          <a:solidFill>
                            <a:schemeClr val="tx1"/>
                          </a:solidFill>
                        </a:rPr>
                        <a:t>; </a:t>
                      </a:r>
                      <a:r>
                        <a:rPr lang="en-US" sz="950" dirty="0" b="0">
                          <a:solidFill>
                            <a:schemeClr val="tx1"/>
                          </a:solidFill>
                        </a:rPr>
                        <a:t>no comparable simulated-persona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from insight to field action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INSIGHT TO FIELD ACTION</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IQVIA’s Field Force Agent</a:t>
            </a:r>
            <a:r>
              <a:rPr lang="en-US" sz="1050" b="1" dirty="0">
                <a:solidFill>
                  <a:schemeClr val="tx1"/>
                </a:solidFill>
              </a:rPr>
              <a:t> uses CRM activity and call notes to recommend next best actions, with a claimed prep-time reduction of up to 27%. </a:t>
            </a:r>
            <a:r>
              <a:rPr lang="en-US" sz="1050" b="1" dirty="0" u="sng">
                <a:solidFill>
                  <a:srgbClr val="002677"/>
                </a:solidFill>
                <a:uFill>
                  <a:solidFill>
                    <a:srgbClr val="9AA8CC"/>
                  </a:solidFill>
                </a:uFill>
              </a:rPr>
              <a:t>ZS’s commercial assistant</a:t>
            </a:r>
            <a:r>
              <a:rPr lang="en-US" sz="1050" b="1" dirty="0">
                <a:solidFill>
                  <a:schemeClr val="tx1"/>
                </a:solidFill>
              </a:rPr>
              <a:t> generates call plans and draft emails.</a:t>
            </a:r>
            <a:endParaRPr lang="en-US" sz="1050" dirty="0"/>
          </a:p>
        </p:txBody>
      </p:sp>
      <p:sp>
        <p:nvSpPr>
          <p:cNvPr id="18" name="synthetic stakeholder research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SYNTHETIC STAKEHOLDER RESEARCH</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Trinity’s data-grounded digital twins</a:t>
            </a:r>
            <a:r>
              <a:rPr lang="en-US" sz="1050" b="1" dirty="0">
                <a:solidFill>
                  <a:schemeClr val="tx1"/>
                </a:solidFill>
              </a:rPr>
              <a:t> simulate HCP, patient and payer responses to test messages “without commissioning a new study every time”; </a:t>
            </a:r>
            <a:r>
              <a:rPr lang="en-US" sz="1050" b="1" dirty="0" u="sng">
                <a:solidFill>
                  <a:srgbClr val="002677"/>
                </a:solidFill>
                <a:uFill>
                  <a:solidFill>
                    <a:srgbClr val="9AA8CC"/>
                  </a:solidFill>
                </a:uFill>
              </a:rPr>
              <a:t>Ipsos’s PersonaBot</a:t>
            </a:r>
            <a:r>
              <a:rPr lang="en-US" sz="1050" b="1" dirty="0">
                <a:solidFill>
                  <a:schemeClr val="tx1"/>
                </a:solidFill>
              </a:rPr>
              <a:t> hosts a “focus group” of personas drawn from clients’ existing research.</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8: https://www.iqvia.com/solutions/commercialization/iqvia-commercial-agentic-ai">
            <a:hlinkClick r:id="rId3"/>
          </p:cNvPr>
          <p:cNvSpPr/>
          <p:nvPr/>
        </p:nvSpPr>
        <p:spPr>
          <a:xfrm>
            <a:off x="2944075" y="1997571"/>
            <a:ext cx="106049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8: https://www.gbihealth.com.cn/en/products/gbi-bot">
            <a:hlinkClick r:id="rId4"/>
          </p:cNvPr>
          <p:cNvSpPr/>
          <p:nvPr/>
        </p:nvSpPr>
        <p:spPr>
          <a:xfrm>
            <a:off x="2944075" y="2184058"/>
            <a:ext cx="120548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8: https://support.prospection.com/en_US/530415-using-progpt/8351360445583">
            <a:hlinkClick r:id="rId5"/>
          </p:cNvPr>
          <p:cNvSpPr/>
          <p:nvPr/>
        </p:nvSpPr>
        <p:spPr>
          <a:xfrm>
            <a:off x="2944075" y="2370532"/>
            <a:ext cx="119922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8: https://www.iqvia.com/solutions/commercialization/iqvia-commercial-agentic-ai">
            <a:hlinkClick r:id="rId3"/>
          </p:cNvPr>
          <p:cNvSpPr/>
          <p:nvPr/>
        </p:nvSpPr>
        <p:spPr>
          <a:xfrm>
            <a:off x="2944075" y="2879218"/>
            <a:ext cx="14752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8: https://zaidyn.zs.com/products/zaidyn-commercial/conversational-ai">
            <a:hlinkClick r:id="rId7"/>
          </p:cNvPr>
          <p:cNvSpPr/>
          <p:nvPr/>
        </p:nvSpPr>
        <p:spPr>
          <a:xfrm>
            <a:off x="2944075" y="3065692"/>
            <a:ext cx="272189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8: https://close-upinternational.com/es/crm-farmaceutico-nativo-en-ia-de-los-datos-a-las-decisiones-unificadas-2/">
            <a:hlinkClick r:id="rId8"/>
          </p:cNvPr>
          <p:cNvSpPr/>
          <p:nvPr/>
        </p:nvSpPr>
        <p:spPr>
          <a:xfrm>
            <a:off x="2944075" y="3252179"/>
            <a:ext cx="183740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8: https://trinitylifesciences.com/products/insightsedge-digital-twins/">
            <a:hlinkClick r:id="rId9"/>
          </p:cNvPr>
          <p:cNvSpPr/>
          <p:nvPr/>
        </p:nvSpPr>
        <p:spPr>
          <a:xfrm>
            <a:off x="2944075" y="3939058"/>
            <a:ext cx="2730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8: https://www.ipsos.com/en/healthcare/healthcare-personabot">
            <a:hlinkClick r:id="rId10"/>
          </p:cNvPr>
          <p:cNvSpPr/>
          <p:nvPr/>
        </p:nvSpPr>
        <p:spPr>
          <a:xfrm>
            <a:off x="2944075" y="4125533"/>
            <a:ext cx="172893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8: https://business.optum.com/en/data-analytics/life-sciences/real-world-data/market-clarity-data.html">
            <a:hlinkClick r:id="rId6"/>
          </p:cNvPr>
          <p:cNvSpPr/>
          <p:nvPr/>
        </p:nvSpPr>
        <p:spPr>
          <a:xfrm>
            <a:off x="8704795" y="2116012"/>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8: https://business.optum.com/en/data-analytics/life-sciences/real-world-data/market-clarity-data.html">
            <a:hlinkClick r:id="rId6"/>
          </p:cNvPr>
          <p:cNvSpPr/>
          <p:nvPr/>
        </p:nvSpPr>
        <p:spPr>
          <a:xfrm>
            <a:off x="8704795" y="3065692"/>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8: https://business.optum.com/en/data-analytics/life-sciences/real-world-data/market-clarity-data.html">
            <a:hlinkClick r:id="rId6"/>
          </p:cNvPr>
          <p:cNvSpPr/>
          <p:nvPr/>
        </p:nvSpPr>
        <p:spPr>
          <a:xfrm>
            <a:off x="8704795" y="3896577"/>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8: https://www.iqvia.com/solutions/commercialization/commercial-analytics/omnichannel-engagement-and-insights/field-force-agent">
            <a:hlinkClick r:id="rId11"/>
          </p:cNvPr>
          <p:cNvSpPr/>
          <p:nvPr/>
        </p:nvSpPr>
        <p:spPr>
          <a:xfrm>
            <a:off x="749515" y="5215373"/>
            <a:ext cx="160836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8: https://zaidyn.zs.com/products/zaidyn-commercial/conversational-ai">
            <a:hlinkClick r:id="rId7"/>
          </p:cNvPr>
          <p:cNvSpPr/>
          <p:nvPr/>
        </p:nvSpPr>
        <p:spPr>
          <a:xfrm>
            <a:off x="4682883" y="5375216"/>
            <a:ext cx="1047332"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5" name="Invisible source link 8: https://zaidyn.zs.com/products/zaidyn-commercial/conversational-ai">
            <a:hlinkClick r:id="rId7"/>
          </p:cNvPr>
          <p:cNvSpPr/>
          <p:nvPr/>
        </p:nvSpPr>
        <p:spPr>
          <a:xfrm>
            <a:off x="749515" y="5535058"/>
            <a:ext cx="57394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5" name="Invisible source link 8: https://trinitylifesciences.com/company/press-releases/trinity-launches-insightsedge-digital-twins/">
            <a:hlinkClick r:id="rId12"/>
          </p:cNvPr>
          <p:cNvSpPr/>
          <p:nvPr/>
        </p:nvSpPr>
        <p:spPr>
          <a:xfrm>
            <a:off x="6386753" y="5215373"/>
            <a:ext cx="226649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6" name="Invisible source link 8: https://www.ipsos.com/en/healthcare/healthcare-personabot">
            <a:hlinkClick r:id="rId10"/>
          </p:cNvPr>
          <p:cNvSpPr/>
          <p:nvPr/>
        </p:nvSpPr>
        <p:spPr>
          <a:xfrm>
            <a:off x="10681563" y="5375216"/>
            <a:ext cx="45140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8" name="Invisible source link 8: https://www.ipsos.com/en/healthcare/healthcare-personabot">
            <a:hlinkClick r:id="rId10"/>
          </p:cNvPr>
          <p:cNvSpPr/>
          <p:nvPr/>
        </p:nvSpPr>
        <p:spPr>
          <a:xfrm>
            <a:off x="6386753" y="5535058"/>
            <a:ext cx="74297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77565">
                <a:tc>
                  <a:txBody>
                    <a:bodyPr/>
                    <a:lstStyle/>
                    <a:p>
                      <a:pPr algn="ctr" indent="0" marL="0">
                        <a:buNone/>
                      </a:pPr>
                      <a:r>
                        <a:rPr lang="en-US" sz="1050" b="1" dirty="0">
                          <a:solidFill>
                            <a:schemeClr val="accent1"/>
                          </a:solidFill>
                        </a:rPr>
                        <a:t>Search and synthesize</a:t>
                      </a:r>
                      <a:b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Med-R1 Deep Research Agent</a:t>
                      </a: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u="sng">
                          <a:solidFill>
                            <a:srgbClr val="002677"/>
                          </a:solidFill>
                          <a:uFill>
                            <a:solidFill>
                              <a:srgbClr val="9AA8CC"/>
                            </a:solidFill>
                          </a:uFill>
                        </a:rPr>
                        <a:t>Epidemiology research</a:t>
                      </a:r>
                      <a:r>
                        <a:rPr lang="en-US" sz="950" dirty="0" b="0">
                          <a:solidFill>
                            <a:schemeClr val="tx1"/>
                          </a:solidFill>
                        </a:rPr>
                        <a:t> (study design, RWE generation)</a:t>
                      </a:r>
                      <a:r>
                        <a:rPr lang="en-US" sz="950" dirty="0" b="0">
                          <a:solidFill>
                            <a:schemeClr val="tx1"/>
                          </a:solidFill>
                        </a:rPr>
                        <a:t>; </a:t>
                      </a:r>
                      <a:r>
                        <a:rPr lang="en-US" sz="950" dirty="0" u="sng">
                          <a:solidFill>
                            <a:srgbClr val="002677"/>
                          </a:solidFill>
                          <a:uFill>
                            <a:solidFill>
                              <a:srgbClr val="9AA8CC"/>
                            </a:solidFill>
                          </a:uFill>
                        </a:rPr>
                        <a:t>postapproval safety and comparative-effectiveness studies</a:t>
                      </a:r>
                      <a:r>
                        <a:rPr lang="en-US" sz="950" dirty="0" b="0">
                          <a:solidFill>
                            <a:schemeClr val="tx1"/>
                          </a:solidFill>
                        </a:rPr>
                        <a:t> (statistical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64040">
                <a:tc>
                  <a:txBody>
                    <a:bodyPr/>
                    <a:lstStyle/>
                    <a:p>
                      <a:pPr algn="ctr" indent="0" marL="0">
                        <a:buNone/>
                      </a:pPr>
                      <a:r>
                        <a:rPr lang="en-US" sz="1050" b="1" dirty="0">
                          <a:solidFill>
                            <a:schemeClr val="accent1"/>
                          </a:solidFill>
                        </a:rPr>
                        <a:t>Explore medical insights and</a:t>
                      </a:r>
                      <a:b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Medical</a:t>
                      </a: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u="sng">
                          <a:solidFill>
                            <a:srgbClr val="002677"/>
                          </a:solidFill>
                          <a:uFill>
                            <a:solidFill>
                              <a:srgbClr val="9AA8CC"/>
                            </a:solidFill>
                          </a:uFill>
                        </a:rPr>
                        <a:t>Evidenze’s </a:t>
                      </a:r>
                      <a:r>
                        <a:rPr lang="en-US" sz="950" b="1" dirty="0" u="sng">
                          <a:solidFill>
                            <a:srgbClr val="002677"/>
                          </a:solidFill>
                          <a:uFill>
                            <a:solidFill>
                              <a:srgbClr val="9AA8CC"/>
                            </a:solidFill>
                          </a:uFill>
                        </a:rPr>
                        <a:t>AI medical-education chatbots</a:t>
                      </a:r>
                      <a:r>
                        <a:rPr lang="en-US" sz="950" dirty="0">
                          <a:solidFill>
                            <a:schemeClr val="tx1"/>
                          </a:solidFill>
                        </a:rPr>
                        <a:t> </a:t>
                      </a:r>
                      <a:r>
                        <a:rPr lang="en-US" sz="950" dirty="0">
                          <a:solidFill>
                            <a:schemeClr val="tx1"/>
                          </a:solidFill>
                        </a:rPr>
                        <a:t>(Spain)</a:t>
                      </a: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Market Clarity</a:t>
                      </a:r>
                      <a:r>
                        <a:rPr lang="en-US" sz="950" dirty="0" b="0">
                          <a:solidFill>
                            <a:schemeClr val="tx1"/>
                          </a:solidFill>
                        </a:rPr>
                        <a:t> (medical affairs evidence, MSL insights, HCP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77565">
                <a:tc>
                  <a:txBody>
                    <a:bodyPr/>
                    <a:lstStyle/>
                    <a:p>
                      <a:pPr algn="ctr" indent="0" marL="0">
                        <a:buNone/>
                      </a:pPr>
                      <a:r>
                        <a:rPr lang="en-US" sz="1050" b="1" dirty="0">
                          <a:solidFill>
                            <a:schemeClr val="accent1"/>
                          </a:solidFill>
                        </a:rPr>
                        <a:t>Question and navigate</a:t>
                      </a:r>
                      <a:b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b="1" dirty="0" u="sng">
                          <a:solidFill>
                            <a:srgbClr val="002677"/>
                          </a:solidFill>
                          <a:uFill>
                            <a:solidFill>
                              <a:srgbClr val="9AA8CC"/>
                            </a:solidFill>
                          </a:uFill>
                        </a:rPr>
                        <a:t>Vault AI Chat</a:t>
                      </a: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Safety and evidence-research services</a:t>
                      </a:r>
                      <a:r>
                        <a:rPr lang="en-US" sz="950" dirty="0" b="0">
                          <a:solidFill>
                            <a:schemeClr val="tx1"/>
                          </a:solidFill>
                        </a:rPr>
                        <a:t> (scientific analysis)</a:t>
                      </a:r>
                      <a:r>
                        <a:rPr lang="en-US" sz="950" dirty="0" b="0">
                          <a:solidFill>
                            <a:schemeClr val="tx1"/>
                          </a:solidFill>
                        </a:rPr>
                        <a:t>; </a:t>
                      </a:r>
                      <a:r>
                        <a:rPr lang="en-US" sz="950" dirty="0" b="0">
                          <a:solidFill>
                            <a:schemeClr val="tx1"/>
                          </a:solidFill>
                        </a:rPr>
                        <a:t>no comparable regulated-document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tracking medical affairs impact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TRACKING MEDICAL AFFAIRS IMPACT</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ZS positions its </a:t>
            </a:r>
            <a:r>
              <a:rPr lang="en-US" sz="1050" b="1" dirty="0" u="sng">
                <a:solidFill>
                  <a:srgbClr val="002677"/>
                </a:solidFill>
                <a:uFill>
                  <a:solidFill>
                    <a:srgbClr val="9AA8CC"/>
                  </a:solidFill>
                </a:uFill>
              </a:rPr>
              <a:t>medical-affairs analytics</a:t>
            </a:r>
            <a:r>
              <a:rPr lang="en-US" sz="1050" b="1" dirty="0">
                <a:solidFill>
                  <a:schemeClr val="tx1"/>
                </a:solidFill>
              </a:rPr>
              <a:t> as the answer to “what is medical affairs actually achieving?” The suite tracks care gaps in patient-level claims data and compares engaged and non-engaged populations over time; a conversational assistant lets teams query the results.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limits in the open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LIMITS IN THE OPEN</a:t>
            </a:r>
            <a:endParaRPr lang="en-US" sz="1300" dirty="0"/>
          </a:p>
        </p:txBody>
      </p:sp>
      <p:sp>
        <p:nvSpPr>
          <p:cNvPr id="28" name="Text 14"/>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IQVIA says its small </a:t>
            </a:r>
            <a:r>
              <a:rPr lang="en-US" sz="1050" b="1" dirty="0" u="sng">
                <a:solidFill>
                  <a:srgbClr val="002677"/>
                </a:solidFill>
                <a:uFill>
                  <a:solidFill>
                    <a:srgbClr val="9AA8CC"/>
                  </a:solidFill>
                </a:uFill>
              </a:rPr>
              <a:t>Med-R1 research agent</a:t>
            </a:r>
            <a:r>
              <a:rPr lang="en-US" sz="1050" b="1" dirty="0">
                <a:solidFill>
                  <a:schemeClr val="tx1"/>
                </a:solidFill>
              </a:rPr>
              <a:t> can “outperform much larger general-purpose models,” while conceding that multi-step biomedical reasoning remains unsolved. In its December 2025 benchmark, Med-R1 answered 21 of 50 questions—and none of the 10 hardest, where OpenAI’s and Google’s agents managed one between them.</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9: https://www.iqvia.com/solutions/innovative-models/artificial-intelligence-and-machine-learning/iqvia-ai-platform">
            <a:hlinkClick r:id="rId3"/>
          </p:cNvPr>
          <p:cNvSpPr/>
          <p:nvPr/>
        </p:nvSpPr>
        <p:spPr>
          <a:xfrm>
            <a:off x="2944075" y="2063815"/>
            <a:ext cx="217001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9: https://zaidyn.zs.com/products/zaidyn-medical/conversational-ai-for-medical">
            <a:hlinkClick r:id="rId5"/>
          </p:cNvPr>
          <p:cNvSpPr/>
          <p:nvPr/>
        </p:nvSpPr>
        <p:spPr>
          <a:xfrm>
            <a:off x="2944075" y="2773376"/>
            <a:ext cx="247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9: https://evidenze.com/">
            <a:hlinkClick r:id="rId6"/>
          </p:cNvPr>
          <p:cNvSpPr/>
          <p:nvPr/>
        </p:nvSpPr>
        <p:spPr>
          <a:xfrm>
            <a:off x="2944075" y="3095575"/>
            <a:ext cx="235622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9: https://platform.veevavault.help/en/lr/950642">
            <a:hlinkClick r:id="rId8"/>
          </p:cNvPr>
          <p:cNvSpPr/>
          <p:nvPr/>
        </p:nvSpPr>
        <p:spPr>
          <a:xfrm>
            <a:off x="2944075" y="3804781"/>
            <a:ext cx="122357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9: https://business.optum.com/en/data-analytics/life-sciences/epidemiology-consulting.html">
            <a:hlinkClick r:id="rId4"/>
          </p:cNvPr>
          <p:cNvSpPr/>
          <p:nvPr/>
        </p:nvSpPr>
        <p:spPr>
          <a:xfrm>
            <a:off x="8704795" y="1996136"/>
            <a:ext cx="122251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9: https://business.optum.com/en/data-analytics/life-sciences/epidemiology-consulting.html">
            <a:hlinkClick r:id="rId4"/>
          </p:cNvPr>
          <p:cNvSpPr/>
          <p:nvPr/>
        </p:nvSpPr>
        <p:spPr>
          <a:xfrm>
            <a:off x="9379800" y="2131861"/>
            <a:ext cx="200459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9: https://business.optum.com/en/data-analytics/life-sciences/epidemiology-consulting.html">
            <a:hlinkClick r:id="rId4"/>
          </p:cNvPr>
          <p:cNvSpPr/>
          <p:nvPr/>
        </p:nvSpPr>
        <p:spPr>
          <a:xfrm>
            <a:off x="8704795" y="2267573"/>
            <a:ext cx="111325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9: https://business.optum.com/en/data-analytics/life-sciences/real-world-data/market-clarity-data.html">
            <a:hlinkClick r:id="rId7"/>
          </p:cNvPr>
          <p:cNvSpPr/>
          <p:nvPr/>
        </p:nvSpPr>
        <p:spPr>
          <a:xfrm>
            <a:off x="8704795" y="2934298"/>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9: https://zaidyn.zs.com/products/zaidyn-medical/patient-outcome-intelligence">
            <a:hlinkClick r:id="rId9"/>
          </p:cNvPr>
          <p:cNvSpPr/>
          <p:nvPr/>
        </p:nvSpPr>
        <p:spPr>
          <a:xfrm>
            <a:off x="1772285" y="5055531"/>
            <a:ext cx="153763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9: https://www.iqvia.com/blogs/2025/12/introducing-iqvia-med-r1-deep-research-agent">
            <a:hlinkClick r:id="rId10"/>
          </p:cNvPr>
          <p:cNvSpPr/>
          <p:nvPr/>
        </p:nvSpPr>
        <p:spPr>
          <a:xfrm>
            <a:off x="7677721" y="5055531"/>
            <a:ext cx="145651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144876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59790">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TriNetX’s </a:t>
                      </a:r>
                      <a:r>
                        <a:rPr lang="en-US" sz="950" b="1" dirty="0" u="sng">
                          <a:solidFill>
                            <a:srgbClr val="002677"/>
                          </a:solidFill>
                          <a:uFill>
                            <a:solidFill>
                              <a:srgbClr val="9AA8CC"/>
                            </a:solidFill>
                          </a:uFill>
                        </a:rPr>
                        <a:t>LIVE Conversational AI + Terrain</a:t>
                      </a:r>
                      <a:r>
                        <a:rPr lang="en-US" sz="950" dirty="0">
                          <a:solidFill>
                            <a:schemeClr val="tx1"/>
                          </a:solidFill>
                        </a:rPr>
                        <a:t>: Natural-language protocol feasibility, clinical-code generation and site/investigator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Prospector</a:t>
                      </a:r>
                      <a:r>
                        <a:rPr lang="en-US" sz="950" dirty="0" b="0">
                          <a:solidFill>
                            <a:schemeClr val="tx1"/>
                          </a:solidFill>
                        </a:rPr>
                        <a:t> (no-code cohort building, attrition funnels)</a:t>
                      </a:r>
                      <a:r>
                        <a:rPr lang="en-US" sz="950" dirty="0" b="0">
                          <a:solidFill>
                            <a:schemeClr val="tx1"/>
                          </a:solidFill>
                        </a:rPr>
                        <a:t>; </a:t>
                      </a:r>
                      <a:r>
                        <a:rPr lang="en-US" sz="950" dirty="0" b="1" u="sng">
                          <a:solidFill>
                            <a:srgbClr val="002677"/>
                          </a:solidFill>
                          <a:uFill>
                            <a:solidFill>
                              <a:srgbClr val="9AA8CC"/>
                            </a:solidFill>
                          </a:uFill>
                        </a:rPr>
                        <a:t>Digital Research Network</a:t>
                      </a:r>
                      <a:r>
                        <a:rPr lang="en-US" sz="950" dirty="0" b="0">
                          <a:solidFill>
                            <a:schemeClr val="tx1"/>
                          </a:solidFill>
                        </a:rPr>
                        <a:t> (patient identification, recruitment infrastructure)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59790">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Taimei’s </a:t>
                      </a:r>
                      <a:r>
                        <a:rPr lang="en-US" sz="950" b="1" dirty="0" u="sng">
                          <a:solidFill>
                            <a:srgbClr val="002677"/>
                          </a:solidFill>
                          <a:uFill>
                            <a:solidFill>
                              <a:srgbClr val="9AA8CC"/>
                            </a:solidFill>
                          </a:uFill>
                        </a:rPr>
                        <a:t>Wiz-iCTA</a:t>
                      </a:r>
                      <a:r>
                        <a:rPr lang="en-US" sz="950" dirty="0">
                          <a:solidFill>
                            <a:schemeClr val="tx1"/>
                          </a:solidFill>
                        </a:rPr>
                        <a:t> </a:t>
                      </a:r>
                      <a:r>
                        <a:rPr lang="en-US" sz="950" dirty="0">
                          <a:solidFill>
                            <a:schemeClr val="tx1"/>
                          </a:solidFill>
                        </a:rPr>
                        <a:t>(China)</a:t>
                      </a: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u="sng">
                          <a:solidFill>
                            <a:srgbClr val="002677"/>
                          </a:solidFill>
                          <a:uFill>
                            <a:solidFill>
                              <a:srgbClr val="9AA8CC"/>
                            </a:solidFill>
                          </a:uFill>
                        </a:rPr>
                        <a:t>True Source</a:t>
                      </a:r>
                      <a:r>
                        <a:rPr lang="en-US" sz="950" dirty="0" b="0">
                          <a:solidFill>
                            <a:schemeClr val="tx1"/>
                          </a:solidFill>
                        </a:rPr>
                        <a:t> (electronic source-data capture)</a:t>
                      </a:r>
                      <a:r>
                        <a:rPr lang="en-US" sz="950" dirty="0" b="0">
                          <a:solidFill>
                            <a:schemeClr val="tx1"/>
                          </a:solidFill>
                        </a:rPr>
                        <a:t>; </a:t>
                      </a:r>
                      <a:r>
                        <a:rPr lang="en-US" sz="950" dirty="0" b="0">
                          <a:solidFill>
                            <a:schemeClr val="tx1"/>
                          </a:solidFill>
                        </a:rPr>
                        <a:t>no comparable conversational 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35071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625036"/>
          <a:ext cx="11091672" cy="1024686"/>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95502">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EVERSANA’s </a:t>
                      </a:r>
                      <a:r>
                        <a:rPr lang="en-US" sz="950" b="1" dirty="0" u="sng">
                          <a:solidFill>
                            <a:srgbClr val="002677"/>
                          </a:solidFill>
                          <a:uFill>
                            <a:solidFill>
                              <a:srgbClr val="9AA8CC"/>
                            </a:solidFill>
                          </a:uFill>
                        </a:rPr>
                        <a:t>Ask NAVLIN</a:t>
                      </a: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u="sng">
                          <a:solidFill>
                            <a:srgbClr val="002677"/>
                          </a:solidFill>
                          <a:uFill>
                            <a:solidFill>
                              <a:srgbClr val="9AA8CC"/>
                            </a:solidFill>
                          </a:uFill>
                        </a:rPr>
                        <a:t>HEOR/value evidence</a:t>
                      </a:r>
                      <a:r>
                        <a:rPr lang="en-US" sz="950" dirty="0" b="0">
                          <a:solidFill>
                            <a:schemeClr val="tx1"/>
                          </a:solidFill>
                        </a:rPr>
                        <a:t> (outcomes research, economic analysis)</a:t>
                      </a:r>
                      <a:r>
                        <a:rPr lang="en-US" sz="950" dirty="0" b="0">
                          <a:solidFill>
                            <a:schemeClr val="tx1"/>
                          </a:solidFill>
                        </a:rPr>
                        <a:t>; </a:t>
                      </a:r>
                      <a:r>
                        <a:rPr lang="en-US" sz="950" dirty="0" b="1" u="sng">
                          <a:solidFill>
                            <a:srgbClr val="002677"/>
                          </a:solidFill>
                          <a:uFill>
                            <a:solidFill>
                              <a:srgbClr val="9AA8CC"/>
                            </a:solidFill>
                          </a:uFill>
                        </a:rPr>
                        <a:t>Evidence Engine</a:t>
                      </a:r>
                      <a:r>
                        <a:rPr lang="en-US" sz="950" dirty="0" b="0">
                          <a:solidFill>
                            <a:schemeClr val="tx1"/>
                          </a:solidFill>
                        </a:rPr>
                        <a:t> (evidence-generation support)</a:t>
                      </a:r>
                      <a:r>
                        <a:rPr lang="en-US" sz="950" dirty="0" b="0">
                          <a:solidFill>
                            <a:schemeClr val="tx1"/>
                          </a:solidFill>
                        </a:rPr>
                        <a:t>; </a:t>
                      </a:r>
                      <a:r>
                        <a:rPr lang="en-US" sz="950" dirty="0" u="sng">
                          <a:solidFill>
                            <a:srgbClr val="002677"/>
                          </a:solidFill>
                          <a:uFill>
                            <a:solidFill>
                              <a:srgbClr val="9AA8CC"/>
                            </a:solidFill>
                          </a:uFill>
                        </a:rPr>
                        <a:t>health economic and budget impact modeling</a:t>
                      </a:r>
                      <a:r>
                        <a:rPr lang="en-US" sz="950" dirty="0" b="0">
                          <a:solidFill>
                            <a:schemeClr val="tx1"/>
                          </a:solidFill>
                        </a:rPr>
                        <a:t> (cost and budget scenarios)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live protocol testing card"/>
          <p:cNvSpPr/>
          <p:nvPr/>
        </p:nvSpPr>
        <p:spPr>
          <a:xfrm>
            <a:off x="2189988" y="4832604"/>
            <a:ext cx="7808975"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2391156" y="5015484"/>
            <a:ext cx="740664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LIVE PROTOCOL TESTING</a:t>
            </a:r>
            <a:endParaRPr lang="en-US" sz="1300" dirty="0"/>
          </a:p>
        </p:txBody>
      </p:sp>
      <p:sp>
        <p:nvSpPr>
          <p:cNvPr id="20" name="Text 16"/>
          <p:cNvSpPr txBox="1"/>
          <p:nvPr/>
        </p:nvSpPr>
        <p:spPr>
          <a:xfrm>
            <a:off x="2391156" y="5362956"/>
            <a:ext cx="7406640" cy="507491"/>
          </a:xfrm>
          <a:prstGeom prst="rect">
            <a:avLst/>
          </a:prstGeom>
          <a:noFill/>
          <a:ln/>
        </p:spPr>
        <p:txBody>
          <a:bodyPr wrap="square" lIns="0" tIns="0" rIns="0" bIns="0" rtlCol="0" anchor="t"/>
          <a:lstStyle/>
          <a:p>
            <a:pPr indent="0" marL="0" algn="just">
              <a:buNone/>
            </a:pPr>
            <a:r>
              <a:rPr lang="en-US" sz="1050" b="1" dirty="0">
                <a:solidFill>
                  <a:schemeClr val="tx1"/>
                </a:solidFill>
              </a:rPr>
              <a:t>TriNetX says its LIVE conversational interface turns natural-language eligibility rules into editable clinical codes. In an October 2026 demonstration, adjusting one BMI exclusion criterion shifted a diabetes cohort by 27,000 patients instantly, “with no analyst required.” This makes feasibility a live input to protocol design.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21" name="Invisible source link 10: https://trinetx.com/solutions/trinetx-live/terrain/">
            <a:hlinkClick r:id="rId3"/>
          </p:cNvPr>
          <p:cNvSpPr/>
          <p:nvPr/>
        </p:nvSpPr>
        <p:spPr>
          <a:xfrm>
            <a:off x="2944075" y="2229423"/>
            <a:ext cx="241084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0: https://cn.taimei.com/index/product/id/41">
            <a:hlinkClick r:id="rId5"/>
          </p:cNvPr>
          <p:cNvSpPr/>
          <p:nvPr/>
        </p:nvSpPr>
        <p:spPr>
          <a:xfrm>
            <a:off x="2944075" y="2788858"/>
            <a:ext cx="98262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0: https://www.navlin.com/products/tender">
            <a:hlinkClick r:id="rId6"/>
          </p:cNvPr>
          <p:cNvSpPr/>
          <p:nvPr/>
        </p:nvSpPr>
        <p:spPr>
          <a:xfrm>
            <a:off x="2944075" y="4166579"/>
            <a:ext cx="149032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0: https://business.optum.com/en/data-analytics/life-sciences/clinical-trial-design.html">
            <a:hlinkClick r:id="rId4"/>
          </p:cNvPr>
          <p:cNvSpPr/>
          <p:nvPr/>
        </p:nvSpPr>
        <p:spPr>
          <a:xfrm>
            <a:off x="8704795" y="2161376"/>
            <a:ext cx="6345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0: https://business.optum.com/en/data-analytics/life-sciences/clinical-trial-design.html">
            <a:hlinkClick r:id="rId4"/>
          </p:cNvPr>
          <p:cNvSpPr/>
          <p:nvPr/>
        </p:nvSpPr>
        <p:spPr>
          <a:xfrm>
            <a:off x="9198724" y="2297101"/>
            <a:ext cx="144960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0: https://business.optum.com/en/data-analytics/life-sciences/clinical-trial-design.html">
            <a:hlinkClick r:id="rId4"/>
          </p:cNvPr>
          <p:cNvSpPr/>
          <p:nvPr/>
        </p:nvSpPr>
        <p:spPr>
          <a:xfrm>
            <a:off x="8704795" y="2720811"/>
            <a:ext cx="69416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0: https://business.optum.com/en/data-analytics/life-sciences/heor.html">
            <a:hlinkClick r:id="rId7"/>
          </p:cNvPr>
          <p:cNvSpPr/>
          <p:nvPr/>
        </p:nvSpPr>
        <p:spPr>
          <a:xfrm>
            <a:off x="8704795" y="4030854"/>
            <a:ext cx="11825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0: https://business.optum.com/en/data-analytics/life-sciences/evidence-engine.html">
            <a:hlinkClick r:id="rId8"/>
          </p:cNvPr>
          <p:cNvSpPr/>
          <p:nvPr/>
        </p:nvSpPr>
        <p:spPr>
          <a:xfrm>
            <a:off x="9794519" y="4166579"/>
            <a:ext cx="96201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business.optum.com/en/data-analytics/life-sciences/value-based-contracts.html">
            <a:hlinkClick r:id="rId9"/>
          </p:cNvPr>
          <p:cNvSpPr/>
          <p:nvPr/>
        </p:nvSpPr>
        <p:spPr>
          <a:xfrm>
            <a:off x="9815753" y="4302291"/>
            <a:ext cx="150978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0: https://business.optum.com/en/data-analytics/life-sciences/value-based-contracts.html">
            <a:hlinkClick r:id="rId9"/>
          </p:cNvPr>
          <p:cNvSpPr/>
          <p:nvPr/>
        </p:nvSpPr>
        <p:spPr>
          <a:xfrm>
            <a:off x="8704795" y="4438016"/>
            <a:ext cx="87542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u="sng">
                          <a:solidFill>
                            <a:srgbClr val="002677"/>
                          </a:solidFill>
                          <a:uFill>
                            <a:solidFill>
                              <a:srgbClr val="9AA8CC"/>
                            </a:solidFill>
                          </a:uFill>
                        </a:rPr>
                        <a:t>Anthropic + Komodo Health</a:t>
                      </a:r>
                      <a:r>
                        <a:rPr lang="en-US" sz="900" b="1" dirty="0">
                          <a:solidFill>
                            <a:schemeClr val="tx1"/>
                          </a:solidFill>
                        </a:rPr>
                        <a:t>:</a:t>
                      </a: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u="sng">
                          <a:solidFill>
                            <a:srgbClr val="002677"/>
                          </a:solidFill>
                          <a:uFill>
                            <a:solidFill>
                              <a:srgbClr val="9AA8CC"/>
                            </a:solidFill>
                          </a:uFill>
                        </a:rPr>
                        <a:t>Anthropic + Veeva</a:t>
                      </a:r>
                      <a:r>
                        <a:rPr lang="en-US" sz="900" b="1" dirty="0">
                          <a:solidFill>
                            <a:schemeClr val="tx1"/>
                          </a:solidFill>
                        </a:rPr>
                        <a:t>:</a:t>
                      </a: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u="sng">
                          <a:solidFill>
                            <a:srgbClr val="002677"/>
                          </a:solidFill>
                          <a:uFill>
                            <a:solidFill>
                              <a:srgbClr val="9AA8CC"/>
                            </a:solidFill>
                          </a:uFill>
                        </a:rPr>
                        <a:t>AWS + Datavant</a:t>
                      </a:r>
                      <a:r>
                        <a:rPr lang="en-US" sz="900" b="1" dirty="0">
                          <a:solidFill>
                            <a:schemeClr val="tx1"/>
                          </a:solidFill>
                        </a:rPr>
                        <a:t>:</a:t>
                      </a:r>
                      <a:r>
                        <a:rPr lang="en-US" sz="900" dirty="0">
                          <a:solidFill>
                            <a:schemeClr val="tx1"/>
                          </a:solidFill>
                        </a:rPr>
                        <a:t> </a:t>
                      </a:r>
                      <a:r>
                        <a:rPr lang="en-US" sz="900" dirty="0" u="sng">
                          <a:solidFill>
                            <a:srgbClr val="002677"/>
                          </a:solidFill>
                          <a:uFill>
                            <a:solidFill>
                              <a:srgbClr val="9AA8CC"/>
                            </a:solidFill>
                          </a:uFill>
                        </a:rPr>
                        <a:t>Explore Assistant</a:t>
                      </a:r>
                      <a:r>
                        <a:rPr lang="en-US" sz="900" dirty="0">
                          <a:solidFill>
                            <a:schemeClr val="tx1"/>
                          </a:solidFill>
                        </a:rPr>
                        <a: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u="sng">
                          <a:solidFill>
                            <a:srgbClr val="002677"/>
                          </a:solidFill>
                          <a:uFill>
                            <a:solidFill>
                              <a:srgbClr val="9AA8CC"/>
                            </a:solidFill>
                          </a:uFill>
                        </a:rPr>
                        <a:t>Anthropic’s Claude for Life Sciences</a:t>
                      </a:r>
                      <a:r>
                        <a:rPr lang="en-US" sz="900" b="1" dirty="0">
                          <a:solidFill>
                            <a:schemeClr val="tx1"/>
                          </a:solidFill>
                        </a:rPr>
                        <a:t>:</a:t>
                      </a: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u="sng">
                          <a:solidFill>
                            <a:srgbClr val="002677"/>
                          </a:solidFill>
                          <a:uFill>
                            <a:solidFill>
                              <a:srgbClr val="9AA8CC"/>
                            </a:solidFill>
                          </a:uFill>
                        </a:rPr>
                        <a:t>OpenAI’s GPT-Rosalind</a:t>
                      </a:r>
                      <a:r>
                        <a:rPr lang="en-US" sz="900" b="1" dirty="0">
                          <a:solidFill>
                            <a:schemeClr val="tx1"/>
                          </a:solidFill>
                        </a:rPr>
                        <a:t>:</a:t>
                      </a: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u="sng">
                          <a:solidFill>
                            <a:srgbClr val="002677"/>
                          </a:solidFill>
                          <a:uFill>
                            <a:solidFill>
                              <a:srgbClr val="9AA8CC"/>
                            </a:solidFill>
                          </a:uFill>
                        </a:rPr>
                        <a:t>Cohere + Reliant AI</a:t>
                      </a:r>
                      <a:r>
                        <a:rPr lang="en-US" sz="900" b="1" dirty="0">
                          <a:solidFill>
                            <a:schemeClr val="tx1"/>
                          </a:solidFill>
                        </a:rPr>
                        <a:t>:</a:t>
                      </a:r>
                      <a:r>
                        <a:rPr lang="en-US" sz="900" dirty="0">
                          <a:solidFill>
                            <a:schemeClr val="tx1"/>
                          </a:solidFill>
                        </a:rPr>
                        <a:t> In May 2026, Cohere acquired a biopharma AI company offering literature review, competitive landscaping and scientific/regulatory information extraction. The acquisition supports development of </a:t>
                      </a:r>
                      <a:r>
                        <a:rPr lang="en-US" sz="900" dirty="0" u="sng">
                          <a:solidFill>
                            <a:srgbClr val="002677"/>
                          </a:solidFill>
                          <a:uFill>
                            <a:solidFill>
                              <a:srgbClr val="9AA8CC"/>
                            </a:solidFill>
                          </a:uFill>
                        </a:rPr>
                        <a:t>North for Pharma</a:t>
                      </a:r>
                      <a:r>
                        <a:rPr lang="en-US" sz="900" dirty="0">
                          <a:solidFill>
                            <a:schemeClr val="tx1"/>
                          </a:solidFill>
                        </a:rPr>
                        <a:t>,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names link to public sources</a:t>
            </a:r>
          </a:p>
        </p:txBody>
      </p:sp>
      <p:sp>
        <p:nvSpPr>
          <p:cNvPr id="9711" name="Invisible source link 11: https://www.anthropic.com/news/claude-for-life-sciences">
            <a:hlinkClick r:id="rId4"/>
          </p:cNvPr>
          <p:cNvSpPr/>
          <p:nvPr/>
        </p:nvSpPr>
        <p:spPr>
          <a:xfrm>
            <a:off x="2624035" y="2203276"/>
            <a:ext cx="1551567"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2" name="Invisible source link 11: https://www.anthropic.com/news/healthcare-life-sciences">
            <a:hlinkClick r:id="rId5"/>
          </p:cNvPr>
          <p:cNvSpPr/>
          <p:nvPr/>
        </p:nvSpPr>
        <p:spPr>
          <a:xfrm>
            <a:off x="2624035" y="2382193"/>
            <a:ext cx="103173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3" name="Invisible source link 11: https://www.datavant.com/blog/how-ai-is-powering-smarter-privacy-preserving-data-discovery-for-life-sciences">
            <a:hlinkClick r:id="rId6"/>
          </p:cNvPr>
          <p:cNvSpPr/>
          <p:nvPr/>
        </p:nvSpPr>
        <p:spPr>
          <a:xfrm>
            <a:off x="2624035" y="2561111"/>
            <a:ext cx="911487"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1: https://www.datavant.com/blog/how-ai-is-powering-smarter-privacy-preserving-data-discovery-for-life-sciences">
            <a:hlinkClick r:id="rId6"/>
          </p:cNvPr>
          <p:cNvSpPr/>
          <p:nvPr/>
        </p:nvSpPr>
        <p:spPr>
          <a:xfrm>
            <a:off x="3564724" y="2561111"/>
            <a:ext cx="90794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1: https://www.anthropic.com/news/claude-for-life-sciences">
            <a:hlinkClick r:id="rId4"/>
          </p:cNvPr>
          <p:cNvSpPr/>
          <p:nvPr/>
        </p:nvSpPr>
        <p:spPr>
          <a:xfrm>
            <a:off x="2624035" y="3167714"/>
            <a:ext cx="202711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1: https://openai.com/index/introducing-gpt-rosalind/">
            <a:hlinkClick r:id="rId7"/>
          </p:cNvPr>
          <p:cNvSpPr/>
          <p:nvPr/>
        </p:nvSpPr>
        <p:spPr>
          <a:xfrm>
            <a:off x="2624035" y="3474800"/>
            <a:ext cx="131541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1: https://cohere.com/blog/cohere-acquires-reliant-ai-expand-sovereign-enterprise-ai">
            <a:hlinkClick r:id="rId8"/>
          </p:cNvPr>
          <p:cNvSpPr/>
          <p:nvPr/>
        </p:nvSpPr>
        <p:spPr>
          <a:xfrm>
            <a:off x="2624035" y="4067356"/>
            <a:ext cx="108355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1: https://cohere.com/blog/cohere-acquires-reliant-ai-expand-sovereign-enterprise-ai">
            <a:hlinkClick r:id="rId8"/>
          </p:cNvPr>
          <p:cNvSpPr/>
          <p:nvPr/>
        </p:nvSpPr>
        <p:spPr>
          <a:xfrm>
            <a:off x="3907078" y="4323681"/>
            <a:ext cx="90794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a:t>
            </a:r>
            <a:endParaRPr lang="en-US" sz="1000" dirty="0"/>
          </a:p>
        </p:txBody>
      </p:sp>
      <p:sp>
        <p:nvSpPr>
          <p:cNvPr id="3" name="1. sources and qualification"/>
          <p:cNvSpPr/>
          <p:nvPr/>
        </p:nvSpPr>
        <p:spPr>
          <a:xfrm>
            <a:off x="548640" y="1481328"/>
            <a:ext cx="5454396" cy="1691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77240" y="1755648"/>
            <a:ext cx="4997196"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1. SOURCES AND QUALIFICATION</a:t>
            </a:r>
            <a:endParaRPr lang="en-US" sz="1000" dirty="0"/>
          </a:p>
        </p:txBody>
      </p:sp>
      <p:sp>
        <p:nvSpPr>
          <p:cNvPr id="5" name="Text 3"/>
          <p:cNvSpPr txBox="1"/>
          <p:nvPr/>
        </p:nvSpPr>
        <p:spPr>
          <a:xfrm>
            <a:off x="777240" y="2139696"/>
            <a:ext cx="4997196" cy="758952"/>
          </a:xfrm>
          <a:prstGeom prst="rect">
            <a:avLst/>
          </a:prstGeom>
          <a:noFill/>
          <a:ln/>
        </p:spPr>
        <p:txBody>
          <a:bodyPr wrap="square" lIns="0" tIns="0" rIns="0" bIns="0" rtlCol="0" anchor="t"/>
          <a:lstStyle/>
          <a:p>
            <a:pPr indent="0" marL="0">
              <a:buNone/>
            </a:pPr>
            <a:r>
              <a:rPr lang="en-US" sz="1200" dirty="0">
                <a:solidFill>
                  <a:schemeClr val="tx1"/>
                </a:solidFill>
              </a:rPr>
              <a:t>Official vendor product pages and announcements, reviewed through October 13, 2026. Included offerings with publicly marketed conversational interfaces supporting relevant biopharma customer tasks. General AI or agentic capabilities alone did not qualify.</a:t>
            </a:r>
            <a:endParaRPr lang="en-US" sz="1000" dirty="0"/>
          </a:p>
        </p:txBody>
      </p:sp>
      <p:sp>
        <p:nvSpPr>
          <p:cNvPr id="6" name="2. u.s. competitor screening"/>
          <p:cNvSpPr/>
          <p:nvPr/>
        </p:nvSpPr>
        <p:spPr>
          <a:xfrm>
            <a:off x="6185916" y="1481328"/>
            <a:ext cx="5454396" cy="1691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6414516" y="1755648"/>
            <a:ext cx="4997196"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2. U.S. COMPETITOR SCREENING</a:t>
            </a:r>
            <a:endParaRPr lang="en-US" sz="1000" dirty="0"/>
          </a:p>
        </p:txBody>
      </p:sp>
      <p:sp>
        <p:nvSpPr>
          <p:cNvPr id="8" name="Text 6"/>
          <p:cNvSpPr txBox="1"/>
          <p:nvPr/>
        </p:nvSpPr>
        <p:spPr>
          <a:xfrm>
            <a:off x="6414516" y="2139696"/>
            <a:ext cx="4997196" cy="758952"/>
          </a:xfrm>
          <a:prstGeom prst="rect">
            <a:avLst/>
          </a:prstGeom>
          <a:noFill/>
          <a:ln/>
        </p:spPr>
        <p:txBody>
          <a:bodyPr wrap="square" lIns="0" tIns="0" rIns="0" bIns="0" rtlCol="0" anchor="t"/>
          <a:lstStyle/>
          <a:p>
            <a:pPr indent="0" marL="0">
              <a:buNone/>
            </a:pPr>
            <a:r>
              <a:rPr lang="en-US" sz="1200" dirty="0">
                <a:solidFill>
                  <a:schemeClr val="tx1"/>
                </a:solidFill>
              </a:rPr>
              <a:t>43 competitor groups screened across five business domains. Identified 15 distinct groups marketing 19 qualifying conversational offerings. Domain-level company counts may overlap.</a:t>
            </a:r>
            <a:endParaRPr lang="en-US" sz="1000" dirty="0"/>
          </a:p>
        </p:txBody>
      </p:sp>
      <p:sp>
        <p:nvSpPr>
          <p:cNvPr id="9" name="3. international screening"/>
          <p:cNvSpPr/>
          <p:nvPr/>
        </p:nvSpPr>
        <p:spPr>
          <a:xfrm>
            <a:off x="548640" y="3355848"/>
            <a:ext cx="5454396" cy="1874519"/>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777240" y="3630168"/>
            <a:ext cx="4997196"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3. INTERNATIONAL SCREENING</a:t>
            </a:r>
            <a:endParaRPr lang="en-US" sz="1000" dirty="0"/>
          </a:p>
        </p:txBody>
      </p:sp>
      <p:sp>
        <p:nvSpPr>
          <p:cNvPr id="11" name="Text 9"/>
          <p:cNvSpPr txBox="1"/>
          <p:nvPr/>
        </p:nvSpPr>
        <p:spPr>
          <a:xfrm>
            <a:off x="777240" y="4014216"/>
            <a:ext cx="4997196" cy="941832"/>
          </a:xfrm>
          <a:prstGeom prst="rect">
            <a:avLst/>
          </a:prstGeom>
          <a:noFill/>
          <a:ln/>
        </p:spPr>
        <p:txBody>
          <a:bodyPr wrap="square" lIns="0" tIns="0" rIns="0" bIns="0" rtlCol="0" anchor="t"/>
          <a:lstStyle/>
          <a:p>
            <a:pPr indent="0" marL="0">
              <a:buNone/>
            </a:pPr>
            <a:r>
              <a:rPr lang="en-US" sz="1200" dirty="0">
                <a:solidFill>
                  <a:schemeClr val="tx1"/>
                </a:solidFill>
              </a:rPr>
              <a:t>14 selected country/region screens of varying depth, excluding companies already represented in the qualifying U.S. cohort. Nine selected international product examples appear in the analysis. Screened-company percentages are not national adoption rates.</a:t>
            </a:r>
            <a:endParaRPr lang="en-US" sz="1000" dirty="0"/>
          </a:p>
        </p:txBody>
      </p:sp>
      <p:sp>
        <p:nvSpPr>
          <p:cNvPr id="15" name="4. comparison and evidence limits"/>
          <p:cNvSpPr/>
          <p:nvPr/>
        </p:nvSpPr>
        <p:spPr>
          <a:xfrm>
            <a:off x="6185916" y="3355848"/>
            <a:ext cx="5454396" cy="1874519"/>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6414516" y="3630168"/>
            <a:ext cx="4997196"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4. COMPARISON AND EVIDENCE LIMITS</a:t>
            </a:r>
            <a:endParaRPr lang="en-US" sz="1000" dirty="0"/>
          </a:p>
        </p:txBody>
      </p:sp>
      <p:sp>
        <p:nvSpPr>
          <p:cNvPr id="17" name="Text 15"/>
          <p:cNvSpPr txBox="1"/>
          <p:nvPr/>
        </p:nvSpPr>
        <p:spPr>
          <a:xfrm>
            <a:off x="6414516" y="4014216"/>
            <a:ext cx="4997196" cy="941832"/>
          </a:xfrm>
          <a:prstGeom prst="rect">
            <a:avLst/>
          </a:prstGeom>
          <a:noFill/>
          <a:ln/>
        </p:spPr>
        <p:txBody>
          <a:bodyPr wrap="square" lIns="0" tIns="0" rIns="0" bIns="0" rtlCol="0" anchor="t"/>
          <a:lstStyle/>
          <a:p>
            <a:pPr indent="0" marL="0">
              <a:buNone/>
            </a:pPr>
            <a:r>
              <a:rPr lang="en-US" sz="1200" dirty="0">
                <a:solidFill>
                  <a:schemeClr val="tx1"/>
                </a:solidFill>
              </a:rPr>
              <a:t>Competitor and Optum LS offerings were compared by customer task, not assumed functional equivalence. Findings reflect public positioning rather than independently tested performance or deployment. Named offerings link to supporting public sources. LLM-provider developments are presented separately from the qualifying product counts.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How this analysis was built</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