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41985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a:t>
            </a:r>
            <a:pPr indent="0" marL="0">
              <a:buNone/>
            </a:pPr>
            <a:r>
              <a:rPr lang="en-US" sz="1050" b="1" dirty="0">
                <a:solidFill>
                  <a:schemeClr val="tx1"/>
                </a:solidFill>
              </a:rPr>
              <a:t>9 qualifying conversational AI offerings,</a:t>
            </a:r>
            <a:pPr indent="0" marL="0">
              <a:buNone/>
            </a:pPr>
            <a:r>
              <a:rPr lang="en-US" sz="1050" dirty="0">
                <a:solidFill>
                  <a:schemeClr val="tx1"/>
                </a:solidFill>
              </a:rPr>
              <a:t> providing additional examples of how vendors position conversational interaction.</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41985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41985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and descriptions of customer use provide observable evidence for comparing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548640" y="5596128"/>
            <a:ext cx="237744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2926080" y="5596128"/>
            <a:ext cx="8531352" cy="548640"/>
          </a:xfrm>
          <a:prstGeom prst="rect">
            <a:avLst/>
          </a:prstGeom>
          <a:noFill/>
          <a:ln/>
        </p:spPr>
        <p:txBody>
          <a:bodyPr wrap="square" lIns="0" tIns="0" rIns="0" bIns="0" rtlCol="0" anchor="ctr"/>
          <a:lstStyle/>
          <a:p>
            <a:pPr indent="0" marL="0">
              <a:buNone/>
            </a:pPr>
            <a:r>
              <a:rPr lang="en-US" sz="1050" b="1" dirty="0">
                <a:solidFill>
                  <a:schemeClr val="tx1"/>
                </a:solidFill>
              </a:rPr>
              <a:t>A publicly-marketed customer-facing conversational interface was not established in the reviewed materials for Optum LS</a:t>
            </a:r>
            <a:endParaRPr lang="en-US" sz="1050" dirty="0"/>
          </a:p>
          <a:p>
            <a:pPr indent="0" marL="0">
              <a:buNone/>
            </a:pPr>
            <a:r>
              <a:rPr lang="en-US" sz="1050" b="1" dirty="0">
                <a:solidFill>
                  <a:schemeClr val="tx1"/>
                </a:solidFill>
              </a:rPr>
              <a:t>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competitors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47388"/>
            <a:ext cx="402336" cy="402336"/>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NEXT: 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domains;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