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41985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a:t>
            </a:r>
            <a:pPr indent="0" marL="0">
              <a:buNone/>
            </a:pPr>
            <a:r>
              <a:rPr lang="en-US" sz="1050" b="1" dirty="0">
                <a:solidFill>
                  <a:schemeClr val="tx1"/>
                </a:solidFill>
              </a:rPr>
              <a:t>9 qualifying conversational AI offerings,</a:t>
            </a:r>
            <a:pPr indent="0" marL="0">
              <a:buNone/>
            </a:pPr>
            <a:r>
              <a:rPr lang="en-US" sz="1050" dirty="0">
                <a:solidFill>
                  <a:schemeClr val="tx1"/>
                </a:solidFill>
              </a:rPr>
              <a:t> providing additional examples of how vendors position conversational interaction.</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41985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41985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look beyond RWE to assess publicly-marketed conversational AI across five Optum LS-aligned domains, prioritizing the U.S. competitive landscape and using selected international offerings for context.</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2173986" y="1517904"/>
            <a:ext cx="2939796" cy="548640"/>
          </a:xfrm>
          <a:prstGeom prst="rect">
            <a:avLst/>
          </a:prstGeom>
          <a:solidFill>
            <a:schemeClr val="accent5"/>
          </a:solidFill>
          <a:ln/>
        </p:spPr>
      </p:sp>
      <p:sp>
        <p:nvSpPr>
          <p:cNvPr id="5" name="Text 3"/>
          <p:cNvSpPr txBox="1"/>
          <p:nvPr/>
        </p:nvSpPr>
        <p:spPr>
          <a:xfrm>
            <a:off x="24300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9603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314950" y="1673352"/>
            <a:ext cx="420624" cy="237744"/>
          </a:xfrm>
          <a:prstGeom prst="rightArrow">
            <a:avLst/>
          </a:prstGeom>
          <a:solidFill>
            <a:schemeClr val="accent4"/>
          </a:solidFill>
          <a:ln/>
        </p:spPr>
      </p:sp>
      <p:sp>
        <p:nvSpPr>
          <p:cNvPr id="8" name="kpi tile 17"/>
          <p:cNvSpPr/>
          <p:nvPr/>
        </p:nvSpPr>
        <p:spPr>
          <a:xfrm>
            <a:off x="5936742" y="1517904"/>
            <a:ext cx="4078224" cy="548640"/>
          </a:xfrm>
          <a:prstGeom prst="rect">
            <a:avLst/>
          </a:prstGeom>
          <a:solidFill>
            <a:schemeClr val="accent5"/>
          </a:solidFill>
          <a:ln/>
        </p:spPr>
      </p:sp>
      <p:sp>
        <p:nvSpPr>
          <p:cNvPr id="9" name="Text 7"/>
          <p:cNvSpPr txBox="1"/>
          <p:nvPr/>
        </p:nvSpPr>
        <p:spPr>
          <a:xfrm>
            <a:off x="61927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723126" y="1517904"/>
            <a:ext cx="31272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4864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850392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sp>
        <p:nvSpPr>
          <p:cNvPr id="16" name="Text 14"/>
          <p:cNvSpPr txBox="1"/>
          <p:nvPr/>
        </p:nvSpPr>
        <p:spPr>
          <a:xfrm>
            <a:off x="10652760" y="2286000"/>
            <a:ext cx="987552" cy="457200"/>
          </a:xfrm>
          <a:prstGeom prst="rect">
            <a:avLst/>
          </a:prstGeom>
          <a:noFill/>
          <a:ln/>
        </p:spPr>
        <p:txBody>
          <a:bodyPr wrap="square" lIns="0" tIns="0" rIns="0" bIns="0" rtlCol="0" anchor="ctr"/>
          <a:lstStyle/>
          <a:p>
            <a:pPr algn="ctr" indent="0" marL="0">
              <a:buNone/>
            </a:pPr>
            <a:r>
              <a:rPr lang="en-US" sz="900" b="1" dirty="0">
                <a:solidFill>
                  <a:schemeClr val="bg1"/>
                </a:solidFill>
              </a:rPr>
              <a:t>Optum LS</a:t>
            </a:r>
            <a:endParaRPr lang="en-US" sz="900" dirty="0"/>
          </a:p>
          <a:p>
            <a:pPr algn="ctr" indent="0" marL="0">
              <a:buNone/>
            </a:pPr>
            <a:r>
              <a:rPr lang="en-US" sz="900" b="1" dirty="0">
                <a:solidFill>
                  <a:schemeClr val="bg1"/>
                </a:solidFill>
              </a:rPr>
              <a:t>chat claim</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5778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859536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3" name="chat status RWE"/>
          <p:cNvSpPr/>
          <p:nvPr/>
        </p:nvSpPr>
        <p:spPr>
          <a:xfrm>
            <a:off x="11109960" y="2912364"/>
            <a:ext cx="164592" cy="164592"/>
          </a:xfrm>
          <a:prstGeom prst="ellipse">
            <a:avLst/>
          </a:prstGeom>
          <a:ln w="15875">
            <a:solidFill>
              <a:schemeClr val="accent4"/>
            </a:solidFill>
            <a:prstDash val="solid"/>
          </a:ln>
        </p:spPr>
      </p:sp>
      <p:sp>
        <p:nvSpPr>
          <p:cNvPr id="24" name="Shape 21"/>
          <p:cNvSpPr/>
          <p:nvPr/>
        </p:nvSpPr>
        <p:spPr>
          <a:xfrm>
            <a:off x="548640" y="3246120"/>
            <a:ext cx="11091672" cy="0"/>
          </a:xfrm>
          <a:prstGeom prst="line">
            <a:avLst/>
          </a:prstGeom>
          <a:noFill/>
          <a:ln w="9525">
            <a:solidFill>
              <a:schemeClr val="accent3"/>
            </a:solidFill>
            <a:prstDash val="solid"/>
          </a:ln>
        </p:spPr>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5778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859536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0" name="chat status Commercial Intelligence"/>
          <p:cNvSpPr/>
          <p:nvPr/>
        </p:nvSpPr>
        <p:spPr>
          <a:xfrm>
            <a:off x="11109960" y="3415284"/>
            <a:ext cx="164592" cy="164592"/>
          </a:xfrm>
          <a:prstGeom prst="ellipse">
            <a:avLst/>
          </a:prstGeom>
          <a:ln w="15875">
            <a:solidFill>
              <a:schemeClr val="accent4"/>
            </a:solidFill>
            <a:prstDash val="solid"/>
          </a:ln>
        </p:spPr>
      </p:sp>
      <p:sp>
        <p:nvSpPr>
          <p:cNvPr id="31" name="Shape 28"/>
          <p:cNvSpPr/>
          <p:nvPr/>
        </p:nvSpPr>
        <p:spPr>
          <a:xfrm>
            <a:off x="548640" y="3749040"/>
            <a:ext cx="11091672" cy="0"/>
          </a:xfrm>
          <a:prstGeom prst="line">
            <a:avLst/>
          </a:prstGeom>
          <a:noFill/>
          <a:ln w="9525">
            <a:solidFill>
              <a:schemeClr val="accent3"/>
            </a:solidFill>
            <a:prstDash val="solid"/>
          </a:ln>
        </p:spPr>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5778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859536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7" name="chat status Medical / Regulatory Research"/>
          <p:cNvSpPr/>
          <p:nvPr/>
        </p:nvSpPr>
        <p:spPr>
          <a:xfrm>
            <a:off x="11109960" y="3918204"/>
            <a:ext cx="164592" cy="164592"/>
          </a:xfrm>
          <a:prstGeom prst="ellipse">
            <a:avLst/>
          </a:prstGeom>
          <a:ln w="15875">
            <a:solidFill>
              <a:schemeClr val="accent4"/>
            </a:solidFill>
            <a:prstDash val="solid"/>
          </a:ln>
        </p:spPr>
      </p:sp>
      <p:sp>
        <p:nvSpPr>
          <p:cNvPr id="38" name="Shape 35"/>
          <p:cNvSpPr/>
          <p:nvPr/>
        </p:nvSpPr>
        <p:spPr>
          <a:xfrm>
            <a:off x="548640" y="4251960"/>
            <a:ext cx="11091672" cy="0"/>
          </a:xfrm>
          <a:prstGeom prst="line">
            <a:avLst/>
          </a:prstGeom>
          <a:noFill/>
          <a:ln w="9525">
            <a:solidFill>
              <a:schemeClr val="accent3"/>
            </a:solidFill>
            <a:prstDash val="solid"/>
          </a:ln>
        </p:spPr>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5778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859536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4" name="chat status Clinical Trials"/>
          <p:cNvSpPr/>
          <p:nvPr/>
        </p:nvSpPr>
        <p:spPr>
          <a:xfrm>
            <a:off x="11109960" y="4421124"/>
            <a:ext cx="164592" cy="164592"/>
          </a:xfrm>
          <a:prstGeom prst="ellipse">
            <a:avLst/>
          </a:prstGeom>
          <a:ln w="15875">
            <a:solidFill>
              <a:schemeClr val="accent4"/>
            </a:solidFill>
            <a:prstDash val="solid"/>
          </a:ln>
        </p:spPr>
      </p:sp>
      <p:sp>
        <p:nvSpPr>
          <p:cNvPr id="45" name="Shape 42"/>
          <p:cNvSpPr/>
          <p:nvPr/>
        </p:nvSpPr>
        <p:spPr>
          <a:xfrm>
            <a:off x="548640" y="4754880"/>
            <a:ext cx="11091672" cy="0"/>
          </a:xfrm>
          <a:prstGeom prst="line">
            <a:avLst/>
          </a:prstGeom>
          <a:noFill/>
          <a:ln w="9525">
            <a:solidFill>
              <a:schemeClr val="accent3"/>
            </a:solidFill>
            <a:prstDash val="solid"/>
          </a:ln>
        </p:spPr>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5778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859536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1" name="chat status Market Access"/>
          <p:cNvSpPr/>
          <p:nvPr/>
        </p:nvSpPr>
        <p:spPr>
          <a:xfrm>
            <a:off x="11109960" y="4924044"/>
            <a:ext cx="164592" cy="164592"/>
          </a:xfrm>
          <a:prstGeom prst="ellipse">
            <a:avLst/>
          </a:prstGeom>
          <a:ln w="15875">
            <a:solidFill>
              <a:schemeClr val="accent4"/>
            </a:solidFill>
            <a:prstDash val="solid"/>
          </a:ln>
        </p:spPr>
      </p:sp>
      <p:sp>
        <p:nvSpPr>
          <p:cNvPr id="52" name="Shape 49"/>
          <p:cNvSpPr/>
          <p:nvPr/>
        </p:nvSpPr>
        <p:spPr>
          <a:xfrm>
            <a:off x="548640" y="5257800"/>
            <a:ext cx="11091672" cy="0"/>
          </a:xfrm>
          <a:prstGeom prst="line">
            <a:avLst/>
          </a:prstGeom>
          <a:noFill/>
          <a:ln w="9525">
            <a:solidFill>
              <a:schemeClr val="accent3"/>
            </a:solidFill>
            <a:prstDash val="solid"/>
          </a:ln>
        </p:spPr>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54" name="chat claim legend"/>
          <p:cNvSpPr txBox="1"/>
          <p:nvPr/>
        </p:nvSpPr>
        <p:spPr>
          <a:xfrm>
            <a:off x="9418320" y="5321808"/>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55"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548640" y="5596128"/>
            <a:ext cx="237744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2926080" y="5596128"/>
            <a:ext cx="8531352" cy="548640"/>
          </a:xfrm>
          <a:prstGeom prst="rect">
            <a:avLst/>
          </a:prstGeom>
          <a:noFill/>
          <a:ln/>
        </p:spPr>
        <p:txBody>
          <a:bodyPr wrap="square" lIns="0" tIns="0" rIns="0" bIns="0" rtlCol="0" anchor="ctr"/>
          <a:lstStyle/>
          <a:p>
            <a:pPr indent="0" marL="0">
              <a:buNone/>
            </a:pPr>
            <a:r>
              <a:rPr lang="en-US" sz="1050" b="1" dirty="0">
                <a:solidFill>
                  <a:schemeClr val="tx1"/>
                </a:solidFill>
              </a:rPr>
              <a:t>A publicly-marketed customer-facing conversational interface was not established in the reviewed materials for Optum LS</a:t>
            </a:r>
            <a:endParaRPr lang="en-US" sz="1050" dirty="0"/>
          </a:p>
          <a:p>
            <a:pPr indent="0" marL="0">
              <a:buNone/>
            </a:pPr>
            <a:r>
              <a:rPr lang="en-US" sz="1050" b="1" dirty="0">
                <a:solidFill>
                  <a:schemeClr val="tx1"/>
                </a:solidFill>
              </a:rPr>
              <a:t>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5870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6861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0731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59931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5712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859483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974286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859950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59175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0634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78449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5823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2650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5823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860419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59175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5615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59276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860419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06541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860058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5802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860419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22013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866070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2256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860419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979217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860238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47388"/>
            <a:ext cx="402336" cy="402336"/>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NEXT: 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(Argentina)</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WORKFLOWS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00" i="1" dirty="0">
                <a:solidFill>
                  <a:schemeClr val="tx1"/>
                </a:solidFill>
              </a:rPr>
              <a:t>not publicly established in this review</a:t>
            </a:r>
            <a:pPr indent="0" marL="0">
              <a:buNone/>
            </a:pPr>
            <a:r>
              <a:rPr lang="en-US" sz="1000" dirty="0">
                <a:solidFill>
                  <a:schemeClr val="tx1"/>
                </a:solidFill>
              </a:rPr>
              <a:t>, not that the capability is absent. 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PptxGenJS</dc:creator>
  <cp:lastModifiedBy>PptxGenJS</cp:lastModifiedBy>
  <cp:revision>1</cp:revision>
  <dcterms:created xsi:type="dcterms:W3CDTF">2026-10-14T02:26:17Z</dcterms:created>
  <dcterms:modified xsi:type="dcterms:W3CDTF">2026-10-14T02:26:17Z</dcterms:modified>
</cp:coreProperties>
</file>