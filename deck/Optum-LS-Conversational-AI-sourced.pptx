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linkedin.com/in/joseph-marino-995651183/" TargetMode="External"/><Relationship Id="rId3" Type="http://schemas.openxmlformats.org/officeDocument/2006/relationships/hyperlink" Target="mailto:marinojoe@gmail.com"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 Id="rId4" Type="http://schemas.openxmlformats.org/officeDocument/2006/relationships/hyperlink" Target="https://www.komodohealth.com/product/marmot/" TargetMode="External"/><Relationship Id="rId5" Type="http://schemas.openxmlformats.org/officeDocument/2006/relationships/hyperlink" Target="https://www.komodohealth.com/press/komodo-health-unveils-new-generative-ai-offerings-to-enable-real-time-insights-across-330-million-patient-journeys/"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www.tempus.com/solutions/lens/" TargetMode="External"/><Relationship Id="rId9" Type="http://schemas.openxmlformats.org/officeDocument/2006/relationships/hyperlink" Target="https://business.optum.com/en/data-analytics/life-sciences/heor/exploratory-analysi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www.iqvia.com/solutions/commercialization/iqvia-commercial-agentic-ai" TargetMode="External"/><Relationship Id="rId12" Type="http://schemas.openxmlformats.org/officeDocument/2006/relationships/hyperlink" Target="https://zaidyn.zs.com/products/zaidyn-commercial/conversational-ai" TargetMode="External"/><Relationship Id="rId13" Type="http://schemas.openxmlformats.org/officeDocument/2006/relationships/hyperlink" Target="https://trinitylifesciences.com/products/insightsedge-digital-twins/" TargetMode="External"/><Relationship Id="rId14" Type="http://schemas.openxmlformats.org/officeDocument/2006/relationships/hyperlink" Target="https://business.optum.com/en/data-analytics/life-sciences/real-world-data/market-clarity-data.html" TargetMode="External"/><Relationship Id="rId15" Type="http://schemas.openxmlformats.org/officeDocument/2006/relationships/hyperlink" Target="https://www.iqvia.com/solutions/innovative-models/artificial-intelligence-and-machine-learning/iqvia-ai-platform" TargetMode="External"/><Relationship Id="rId16" Type="http://schemas.openxmlformats.org/officeDocument/2006/relationships/hyperlink" Target="https://zaidyn.zs.com/products/zaidyn-medical/conversational-ai-for-medical" TargetMode="External"/><Relationship Id="rId17" Type="http://schemas.openxmlformats.org/officeDocument/2006/relationships/hyperlink" Target="https://platform.veevavault.help/en/lr/950642" TargetMode="External"/><Relationship Id="rId18" Type="http://schemas.openxmlformats.org/officeDocument/2006/relationships/hyperlink" Target="https://trinetx.com/solutions/trinetx-live/terrain/" TargetMode="External"/><Relationship Id="rId19" Type="http://schemas.openxmlformats.org/officeDocument/2006/relationships/hyperlink" Target="https://business.optum.com/en/data-analytics/life-sciences/clinical-trial-design.html" TargetMode="External"/><Relationship Id="rId20" Type="http://schemas.openxmlformats.org/officeDocument/2006/relationships/hyperlink" Target="https://www.navlin.com/products/tender" TargetMode="External"/><Relationship Id="rId21" Type="http://schemas.openxmlformats.org/officeDocument/2006/relationships/hyperlink" Target="https://business.optum.com/en/data-analytics/life-sciences/heor.html" TargetMode="External"/><Relationship Id="rId22" Type="http://schemas.openxmlformats.org/officeDocument/2006/relationships/hyperlink" Target="https://business.optum.com/en/data-analytics/life-sciences/evidence-engine.html" TargetMode="Externa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5" Type="http://schemas.openxmlformats.org/officeDocument/2006/relationships/hyperlink" Target="https://business.optum.com/en/data-analytics/life-sciences/real-world-data/market-clarity-data.html" TargetMode="External"/><Relationship Id="rId6" Type="http://schemas.openxmlformats.org/officeDocument/2006/relationships/hyperlink" Target="https://business.optum.com/en/data-analytics/life-sciences/real-world-data/claims-data.html" TargetMode="External"/><Relationship Id="rId7" Type="http://schemas.openxmlformats.org/officeDocument/2006/relationships/hyperlink" Target="https://business.optum.com/en/data-analytics/life-sciences/real-world-data/enriched-clinical-data.html"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real-world-data/clinical-notes.html" TargetMode="External"/><Relationship Id="rId14" Type="http://schemas.openxmlformats.org/officeDocument/2006/relationships/hyperlink" Target="https://business.optum.com/en/data-analytics/life-sciences/clinical-trial-design.html"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7" Type="http://schemas.openxmlformats.org/officeDocument/2006/relationships/hyperlink" Target="https://business.optum.com/en/data-analytics/life-sciences/epidemiology-consulting.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5" Type="http://schemas.openxmlformats.org/officeDocument/2006/relationships/hyperlink" Target="https://business.optum.com/en/data-analytics/life-sciences/real-world-data/enriched-clinical-data.html" TargetMode="External"/><Relationship Id="rId6" Type="http://schemas.openxmlformats.org/officeDocument/2006/relationships/hyperlink" Target="https://business.optum.com/en/data-analytics/life-sciences/clinicogenomics.html"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business.optum.com/en/data-analytics/life-sciences/real-world-data/clinical-note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mdclone.com/meet-copilo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evidence-engine.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6" Type="http://schemas.openxmlformats.org/officeDocument/2006/relationships/hyperlink" Target="https://business.optum.com/en/data-analytics/life-sciences/real-world-data/market-clarity-data.html"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4" Type="http://schemas.openxmlformats.org/officeDocument/2006/relationships/hyperlink" Target="https://business.optum.com/en/data-analytics/life-sciences/epidemiology-consulting.html"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7" Type="http://schemas.openxmlformats.org/officeDocument/2006/relationships/hyperlink" Target="https://business.optum.com/en/data-analytics/life-sciences/real-world-data/market-clarity-data.html" TargetMode="External"/><Relationship Id="rId8" Type="http://schemas.openxmlformats.org/officeDocument/2006/relationships/hyperlink" Target="https://platform.veevavault.help/en/lr/95064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trinetx.com/solutions/trinetx-live/terrain/" TargetMode="External"/><Relationship Id="rId4" Type="http://schemas.openxmlformats.org/officeDocument/2006/relationships/hyperlink" Target="https://business.optum.com/en/data-analytics/life-sciences/clinical-trial-design.html" TargetMode="External"/><Relationship Id="rId5" Type="http://schemas.openxmlformats.org/officeDocument/2006/relationships/hyperlink" Target="https://cn.taimei.com/index/product/id/41" TargetMode="External"/><Relationship Id="rId6" Type="http://schemas.openxmlformats.org/officeDocument/2006/relationships/hyperlink" Target="https://www.navlin.com/products/tender" TargetMode="External"/><Relationship Id="rId7" Type="http://schemas.openxmlformats.org/officeDocument/2006/relationships/hyperlink" Target="https://business.optum.com/en/data-analytics/life-sciences/heor.html" TargetMode="External"/><Relationship Id="rId8" Type="http://schemas.openxmlformats.org/officeDocument/2006/relationships/hyperlink" Target="https://business.optum.com/en/data-analytics/life-sciences/evidence-engine.html" TargetMode="External"/><Relationship Id="rId9" Type="http://schemas.openxmlformats.org/officeDocument/2006/relationships/hyperlink" Target="https://business.optum.com/en/data-analytics/life-sciences/value-based-contracts.html"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hyperlink" Target="https://www.anthropic.com/news/claude-for-life-sciences" TargetMode="External"/><Relationship Id="rId5" Type="http://schemas.openxmlformats.org/officeDocument/2006/relationships/hyperlink" Target="https://www.anthropic.com/news/healthcare-life-sciences" TargetMode="External"/><Relationship Id="rId6" Type="http://schemas.openxmlformats.org/officeDocument/2006/relationships/hyperlink" Target="https://www.datavant.com/blog/how-ai-is-powering-smarter-privacy-preserving-data-discovery-for-life-sciences" TargetMode="External"/><Relationship Id="rId7" Type="http://schemas.openxmlformats.org/officeDocument/2006/relationships/hyperlink" Target="https://openai.com/index/introducing-gpt-rosalind/" TargetMode="External"/><Relationship Id="rId8" Type="http://schemas.openxmlformats.org/officeDocument/2006/relationships/hyperlink" Target="https://cohere.com/blog/cohere-acquires-reliant-ai-expand-sovereign-enterprise-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051560"/>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1463040"/>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240280"/>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5" name="domain chip RWE"/>
          <p:cNvSpPr/>
          <p:nvPr/>
        </p:nvSpPr>
        <p:spPr>
          <a:xfrm>
            <a:off x="822960" y="3063240"/>
            <a:ext cx="507491"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RWE</a:t>
            </a:r>
          </a:p>
        </p:txBody>
      </p:sp>
      <p:sp>
        <p:nvSpPr>
          <p:cNvPr id="6" name="domain chip Commercial Intelligence"/>
          <p:cNvSpPr/>
          <p:nvPr/>
        </p:nvSpPr>
        <p:spPr>
          <a:xfrm>
            <a:off x="1458468" y="3063240"/>
            <a:ext cx="206197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Commercial Intelligence</a:t>
            </a:r>
          </a:p>
        </p:txBody>
      </p:sp>
      <p:sp>
        <p:nvSpPr>
          <p:cNvPr id="7" name="domain chip Medical / Regulatory Research"/>
          <p:cNvSpPr/>
          <p:nvPr/>
        </p:nvSpPr>
        <p:spPr>
          <a:xfrm>
            <a:off x="3648456" y="3063240"/>
            <a:ext cx="2528316"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Medical / Regulatory Research</a:t>
            </a:r>
          </a:p>
        </p:txBody>
      </p:sp>
      <p:sp>
        <p:nvSpPr>
          <p:cNvPr id="8" name="domain chip Clinical Trials"/>
          <p:cNvSpPr/>
          <p:nvPr/>
        </p:nvSpPr>
        <p:spPr>
          <a:xfrm>
            <a:off x="6304788" y="3063240"/>
            <a:ext cx="1440180"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Clinical Trials</a:t>
            </a:r>
          </a:p>
        </p:txBody>
      </p:sp>
      <p:sp>
        <p:nvSpPr>
          <p:cNvPr id="9" name="domain chip Market Access"/>
          <p:cNvSpPr/>
          <p:nvPr/>
        </p:nvSpPr>
        <p:spPr>
          <a:xfrm>
            <a:off x="7872984" y="3063240"/>
            <a:ext cx="128473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Market Access</a:t>
            </a:r>
          </a:p>
        </p:txBody>
      </p:sp>
      <p:sp>
        <p:nvSpPr>
          <p:cNvPr id="10" name="cover scope"/>
          <p:cNvSpPr txBox="1"/>
          <p:nvPr/>
        </p:nvSpPr>
        <p:spPr>
          <a:xfrm>
            <a:off x="822960" y="3584448"/>
            <a:ext cx="10515600" cy="274320"/>
          </a:xfrm>
          <a:prstGeom prst="rect">
            <a:avLst/>
          </a:prstGeom>
          <a:noFill/>
        </p:spPr>
        <p:txBody>
          <a:bodyPr wrap="square" lIns="0" rIns="0" tIns="0" bIns="0" anchor="t">
            <a:spAutoFit/>
          </a:bodyPr>
          <a:lstStyle/>
          <a:p>
            <a:pPr algn="l"/>
            <a:r>
              <a:rPr sz="1300" b="0">
                <a:solidFill>
                  <a:srgbClr val="4B4D4F"/>
                </a:solidFill>
                <a:latin typeface="Arial"/>
              </a:rPr>
              <a:t>Outside-in assessment of publicly marketed conversational AI across five Optum LS-relevant business domains</a:t>
            </a:r>
          </a:p>
        </p:txBody>
      </p:sp>
      <p:cxnSp>
        <p:nvCxnSpPr>
          <p:cNvPr id="11" name="Connector 10"/>
          <p:cNvCxnSpPr/>
          <p:nvPr/>
        </p:nvCxnSpPr>
        <p:spPr>
          <a:xfrm>
            <a:off x="822960" y="4343400"/>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526280"/>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846320"/>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13, 2026</a:t>
            </a:r>
          </a:p>
        </p:txBody>
      </p:sp>
      <p:sp>
        <p:nvSpPr>
          <p:cNvPr id="14" name="cover disclaimer"/>
          <p:cNvSpPr txBox="1"/>
          <p:nvPr/>
        </p:nvSpPr>
        <p:spPr>
          <a:xfrm>
            <a:off x="822960" y="5715000"/>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
        <p:nvSpPr>
          <p:cNvPr id="15" name="cover contact"/>
          <p:cNvSpPr txBox="1"/>
          <p:nvPr/>
        </p:nvSpPr>
        <p:spPr>
          <a:xfrm>
            <a:off x="822960" y="5138928"/>
            <a:ext cx="8229600" cy="274320"/>
          </a:xfrm>
          <a:prstGeom prst="rect">
            <a:avLst/>
          </a:prstGeom>
          <a:noFill/>
        </p:spPr>
        <p:txBody>
          <a:bodyPr wrap="square" lIns="0" rIns="0" tIns="0" bIns="0">
            <a:spAutoFit/>
          </a:bodyPr>
          <a:lstStyle/>
          <a:p>
            <a:pPr algn="l"/>
            <a:r>
              <a:rPr sz="1200" u="none">
                <a:solidFill>
                  <a:srgbClr val="002677"/>
                </a:solidFill>
                <a:latin typeface="Arial"/>
                <a:hlinkClick r:id="rId2"/>
              </a:rPr>
              <a:t>linkedin.com/in/joseph-marino-995651183</a:t>
            </a:r>
            <a:r>
              <a:rPr sz="1200">
                <a:solidFill>
                  <a:srgbClr val="7A7C7E"/>
                </a:solidFill>
                <a:latin typeface="Arial"/>
              </a:rPr>
              <a:t>  ·  </a:t>
            </a:r>
            <a:r>
              <a:rPr sz="1200" u="none">
                <a:solidFill>
                  <a:srgbClr val="002677"/>
                </a:solidFill>
                <a:latin typeface="Arial"/>
                <a:hlinkClick r:id="rId3"/>
              </a:rPr>
              <a:t>marinojoe@gmail.com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pPr algn="l" indent="0" marL="0">
              <a:buNone/>
            </a:pP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53619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 name="icon circle"/>
          <p:cNvSpPr/>
          <p:nvPr/>
        </p:nvSpPr>
        <p:spPr>
          <a:xfrm>
            <a:off x="777240" y="1737360"/>
            <a:ext cx="475488" cy="475488"/>
          </a:xfrm>
          <a:prstGeom prst="ellipse">
            <a:avLst/>
          </a:prstGeom>
          <a:solidFill>
            <a:schemeClr val="accent5"/>
          </a:solidFill>
          <a:ln/>
        </p:spPr>
        <p:txBody>
          <a:bodyPr/>
          <a:p/>
        </p:txBody>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pPr indent="0" marL="0">
              <a:buNone/>
            </a:pPr>
            <a:r>
              <a:rPr lang="en-US" sz="1100" b="1" i="1" dirty="0">
                <a:solidFill>
                  <a:schemeClr val="tx1"/>
                </a:solidFill>
              </a:rPr>
              <a:t>publicly-marketed</a:t>
            </a:r>
            <a:pPr indent="0" marL="0">
              <a:buNone/>
            </a:pP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7403897" y="2322576"/>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7769657" y="2322576"/>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7769657" y="2322576"/>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The U.S. is the primary competitive focus; selected international offerings provide context; Optum LS anchors the comparisons.</a:t>
            </a:r>
            <a:endParaRPr lang="en-US" sz="1100" dirty="0"/>
          </a:p>
        </p:txBody>
      </p:sp>
      <p:sp>
        <p:nvSpPr>
          <p:cNvPr id="21" name="key findings card"/>
          <p:cNvSpPr/>
          <p:nvPr/>
        </p:nvSpPr>
        <p:spPr>
          <a:xfrm>
            <a:off x="548640"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2" name="icon circle"/>
          <p:cNvSpPr/>
          <p:nvPr/>
        </p:nvSpPr>
        <p:spPr>
          <a:xfrm>
            <a:off x="777240" y="3419856"/>
            <a:ext cx="457200" cy="457200"/>
          </a:xfrm>
          <a:prstGeom prst="ellipse">
            <a:avLst/>
          </a:prstGeom>
          <a:solidFill>
            <a:schemeClr val="accent5"/>
          </a:solidFill>
          <a:ln/>
        </p:spPr>
        <p:txBody>
          <a:bodyPr/>
          <a:p/>
        </p:txBody>
      </p:sp>
      <p:pic>
        <p:nvPicPr>
          <p:cNvPr id="23" name="icon MdInsights" descr="preencoded.png">    </p:cNvPr>
          <p:cNvPicPr>
            <a:picLocks noChangeAspect="1"/>
          </p:cNvPicPr>
          <p:nvPr/>
        </p:nvPicPr>
        <p:blipFill>
          <a:blip r:embed="rId2"/>
          <a:stretch>
            <a:fillRect/>
          </a:stretch>
        </p:blipFill>
        <p:spPr>
          <a:xfrm>
            <a:off x="877824" y="3520440"/>
            <a:ext cx="256032" cy="256032"/>
          </a:xfrm>
          <a:prstGeom prst="rect">
            <a:avLst/>
          </a:prstGeom>
        </p:spPr>
      </p:pic>
      <p:sp>
        <p:nvSpPr>
          <p:cNvPr id="24" name="card label"/>
          <p:cNvSpPr txBox="1"/>
          <p:nvPr/>
        </p:nvSpPr>
        <p:spPr>
          <a:xfrm>
            <a:off x="1353312"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4069080"/>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19</a:t>
            </a:r>
            <a:endParaRPr lang="en-US" sz="3400" dirty="0"/>
          </a:p>
        </p:txBody>
      </p:sp>
      <p:sp>
        <p:nvSpPr>
          <p:cNvPr id="26" name="Text 22"/>
          <p:cNvSpPr txBox="1"/>
          <p:nvPr/>
        </p:nvSpPr>
        <p:spPr>
          <a:xfrm>
            <a:off x="1444752" y="41330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a:t>
            </a:r>
            <a:pPr indent="0" marL="0">
              <a:buNone/>
            </a:pPr>
            <a:r>
              <a:rPr lang="en-US" sz="1050" b="1" dirty="0">
                <a:solidFill>
                  <a:schemeClr val="tx1"/>
                </a:solidFill>
              </a:rPr>
              <a:t>19 conversational AI offerings</a:t>
            </a:r>
            <a:pPr indent="0" marL="0">
              <a:buNone/>
            </a:pPr>
            <a:r>
              <a:rPr lang="en-US" sz="1050" dirty="0">
                <a:solidFill>
                  <a:schemeClr val="tx1"/>
                </a:solidFill>
              </a:rPr>
              <a:t> across five business domains, </a:t>
            </a:r>
            <a:pPr indent="0" marL="0">
              <a:buNone/>
            </a:pPr>
            <a:r>
              <a:rPr lang="en-US" sz="1050" b="1" dirty="0">
                <a:solidFill>
                  <a:schemeClr val="tx1"/>
                </a:solidFill>
              </a:rPr>
              <a:t>concentrated in RWE and Commercial Intelligence</a:t>
            </a:r>
            <a:pPr indent="0" marL="0">
              <a:buNone/>
            </a:pPr>
            <a:r>
              <a:rPr lang="en-US" sz="1050" dirty="0">
                <a:solidFill>
                  <a:schemeClr val="tx1"/>
                </a:solidFill>
              </a:rPr>
              <a:t>.</a:t>
            </a:r>
            <a:endParaRPr lang="en-US" sz="1050" dirty="0"/>
          </a:p>
        </p:txBody>
      </p:sp>
      <p:sp>
        <p:nvSpPr>
          <p:cNvPr id="27" name="Shape 23"/>
          <p:cNvSpPr/>
          <p:nvPr/>
        </p:nvSpPr>
        <p:spPr>
          <a:xfrm>
            <a:off x="777240" y="5010912"/>
            <a:ext cx="3118104" cy="0"/>
          </a:xfrm>
          <a:prstGeom prst="line">
            <a:avLst/>
          </a:prstGeom>
          <a:noFill/>
          <a:ln w="9525">
            <a:solidFill>
              <a:schemeClr val="accent3"/>
            </a:solidFill>
            <a:prstDash val="solid"/>
          </a:ln>
        </p:spPr>
        <p:txBody>
          <a:bodyPr/>
          <a:p/>
        </p:txBody>
      </p:sp>
      <p:sp>
        <p:nvSpPr>
          <p:cNvPr id="28" name="hero 10"/>
          <p:cNvSpPr txBox="1"/>
          <p:nvPr/>
        </p:nvSpPr>
        <p:spPr>
          <a:xfrm>
            <a:off x="777240" y="5056632"/>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9</a:t>
            </a:r>
            <a:endParaRPr lang="en-US" sz="3400" dirty="0"/>
          </a:p>
        </p:txBody>
      </p:sp>
      <p:sp>
        <p:nvSpPr>
          <p:cNvPr id="29" name="Text 25"/>
          <p:cNvSpPr txBox="1"/>
          <p:nvPr/>
        </p:nvSpPr>
        <p:spPr>
          <a:xfrm>
            <a:off x="1444752" y="5120640"/>
            <a:ext cx="2478024" cy="749808"/>
          </a:xfrm>
          <a:prstGeom prst="rect">
            <a:avLst/>
          </a:prstGeom>
          <a:noFill/>
          <a:ln/>
        </p:spPr>
        <p:txBody>
          <a:bodyPr wrap="square" lIns="0" tIns="0" rIns="0" bIns="0" rtlCol="0" anchor="t"/>
          <a:lstStyle/>
          <a:p>
            <a:pPr indent="0" marL="0">
              <a:buNone/>
            </a:pPr>
            <a:pPr indent="0" marL="0">
              <a:buNone/>
            </a:pPr>
            <a:pPr indent="0" marL="0">
              <a:buNone/>
            </a:pPr>
            <a:r>
              <a:rPr lang="en-US" sz="1050" b="1" dirty="0">
                <a:solidFill>
                  <a:schemeClr val="tx1"/>
                </a:solidFill>
              </a:rPr>
              <a:t>Nine selected international offerings</a:t>
            </a:r>
            <a:r>
              <a:rPr lang="en-US" sz="1050" dirty="0">
                <a:solidFill>
                  <a:schemeClr val="tx1"/>
                </a:solidFill>
              </a:rPr>
              <a:t> show how vendors outside the U.S. position conversational interaction, concentrated in </a:t>
            </a:r>
            <a:r>
              <a:rPr lang="en-US" sz="1050" b="1" dirty="0">
                <a:solidFill>
                  <a:schemeClr val="tx1"/>
                </a:solidFill>
              </a:rPr>
              <a:t>RWE and Commercial Intelligence</a:t>
            </a:r>
            <a:r>
              <a:rPr lang="en-US" sz="1050" dirty="0">
                <a:solidFill>
                  <a:schemeClr val="tx1"/>
                </a:solidFill>
              </a:rPr>
              <a:t>.</a:t>
            </a:r>
            <a:endParaRPr lang="en-US" sz="1050" dirty="0"/>
          </a:p>
        </p:txBody>
      </p:sp>
      <p:sp>
        <p:nvSpPr>
          <p:cNvPr id="30" name="optum ls positioning card"/>
          <p:cNvSpPr/>
          <p:nvPr/>
        </p:nvSpPr>
        <p:spPr>
          <a:xfrm>
            <a:off x="4306824"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icon circle"/>
          <p:cNvSpPr/>
          <p:nvPr/>
        </p:nvSpPr>
        <p:spPr>
          <a:xfrm>
            <a:off x="4535424" y="3419856"/>
            <a:ext cx="457200" cy="457200"/>
          </a:xfrm>
          <a:prstGeom prst="ellipse">
            <a:avLst/>
          </a:prstGeom>
          <a:solidFill>
            <a:schemeClr val="accent5"/>
          </a:solidFill>
          <a:ln/>
        </p:spPr>
        <p:txBody>
          <a:bodyPr/>
          <a:p/>
        </p:txBody>
      </p:sp>
      <p:pic>
        <p:nvPicPr>
          <p:cNvPr id="32" name="icon MdOutlineLayers" descr="preencoded.png">    </p:cNvPr>
          <p:cNvPicPr>
            <a:picLocks noChangeAspect="1"/>
          </p:cNvPicPr>
          <p:nvPr/>
        </p:nvPicPr>
        <p:blipFill>
          <a:blip r:embed="rId3"/>
          <a:stretch>
            <a:fillRect/>
          </a:stretch>
        </p:blipFill>
        <p:spPr>
          <a:xfrm>
            <a:off x="4636008" y="3520440"/>
            <a:ext cx="256032" cy="256032"/>
          </a:xfrm>
          <a:prstGeom prst="rect">
            <a:avLst/>
          </a:prstGeom>
        </p:spPr>
      </p:pic>
      <p:sp>
        <p:nvSpPr>
          <p:cNvPr id="33" name="card label"/>
          <p:cNvSpPr txBox="1"/>
          <p:nvPr/>
        </p:nvSpPr>
        <p:spPr>
          <a:xfrm>
            <a:off x="5111496"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LS POSITIONING</a:t>
            </a:r>
            <a:endParaRPr lang="en-US" sz="1300" dirty="0"/>
          </a:p>
        </p:txBody>
      </p:sp>
      <p:sp>
        <p:nvSpPr>
          <p:cNvPr id="34" name="Text 29"/>
          <p:cNvSpPr txBox="1"/>
          <p:nvPr/>
        </p:nvSpPr>
        <p:spPr>
          <a:xfrm>
            <a:off x="4535424" y="408736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6" name="icon circle"/>
          <p:cNvSpPr/>
          <p:nvPr/>
        </p:nvSpPr>
        <p:spPr>
          <a:xfrm>
            <a:off x="8293608" y="3419856"/>
            <a:ext cx="457200" cy="457200"/>
          </a:xfrm>
          <a:prstGeom prst="ellipse">
            <a:avLst/>
          </a:prstGeom>
          <a:solidFill>
            <a:schemeClr val="accent5"/>
          </a:solidFill>
          <a:ln/>
        </p:spPr>
        <p:txBody>
          <a:bodyPr/>
          <a:p/>
        </p:txBody>
      </p:sp>
      <p:pic>
        <p:nvPicPr>
          <p:cNvPr id="37" name="icon MdOutlineLightbulb" descr="preencoded.png">    </p:cNvPr>
          <p:cNvPicPr>
            <a:picLocks noChangeAspect="1"/>
          </p:cNvPicPr>
          <p:nvPr/>
        </p:nvPicPr>
        <p:blipFill>
          <a:blip r:embed="rId4"/>
          <a:stretch>
            <a:fillRect/>
          </a:stretch>
        </p:blipFill>
        <p:spPr>
          <a:xfrm>
            <a:off x="8394192" y="3520440"/>
            <a:ext cx="256032" cy="256032"/>
          </a:xfrm>
          <a:prstGeom prst="rect">
            <a:avLst/>
          </a:prstGeom>
        </p:spPr>
      </p:pic>
      <p:sp>
        <p:nvSpPr>
          <p:cNvPr id="38" name="card label"/>
          <p:cNvSpPr txBox="1"/>
          <p:nvPr/>
        </p:nvSpPr>
        <p:spPr>
          <a:xfrm>
            <a:off x="8869680"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408736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81888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 LS's existing offerings?</a:t>
            </a:r>
            <a:endParaRPr lang="en-US" sz="14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pPr algn="l" indent="0" marL="0">
              <a:buNone/>
            </a:pP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Tempus’s </a:t>
            </a:r>
            <a:pPr indent="0" marL="0">
              <a:buNone/>
            </a:pPr>
            <a:r>
              <a:rPr lang="en-US" sz="1050" b="1" dirty="0">
                <a:solidFill>
                  <a:schemeClr val="tx1"/>
                </a:solidFill>
              </a:rPr>
              <a:t>Tempus One / Lens</a:t>
            </a:r>
            <a:pPr indent="0" marL="0">
              <a:buNone/>
            </a:pPr>
            <a:r>
              <a:rPr lang="en-US" sz="1050" dirty="0">
                <a:solidFill>
                  <a:schemeClr val="tx1"/>
                </a:solidFill>
              </a:rPr>
              <a:t> — AI-assisted research and cohort exploration (February)</a:t>
            </a:r>
            <a:endParaRPr lang="en-US" sz="1050" dirty="0"/>
          </a:p>
          <a:p>
            <a:pPr indent="0" marL="0">
              <a:spcBef>
                <a:spcPts val="800"/>
              </a:spcBef>
              <a:buNone/>
            </a:pPr>
            <a:r>
              <a:rPr lang="en-US" sz="1050" dirty="0">
                <a:solidFill>
                  <a:schemeClr val="tx1"/>
                </a:solidFill>
              </a:rPr>
              <a:t>Komodo Health’s </a:t>
            </a:r>
            <a:pPr indent="0" marL="0">
              <a:buNone/>
            </a:pPr>
            <a:r>
              <a:rPr lang="en-US" sz="1050" b="1" dirty="0">
                <a:solidFill>
                  <a:schemeClr val="tx1"/>
                </a:solidFill>
              </a:rPr>
              <a:t>MapAI</a:t>
            </a:r>
            <a:pPr indent="0" marL="0">
              <a:buNone/>
            </a:pP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Komodo Health’s </a:t>
            </a:r>
            <a:pPr indent="0" marL="0">
              <a:buNone/>
            </a:pPr>
            <a:r>
              <a:rPr lang="en-US" sz="1050" b="1" dirty="0">
                <a:solidFill>
                  <a:schemeClr val="tx1"/>
                </a:solidFill>
              </a:rPr>
              <a:t>Marmot</a:t>
            </a:r>
            <a:pPr indent="0" marL="0">
              <a:buNone/>
            </a:pP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Truveta’s </a:t>
            </a:r>
            <a:pPr indent="0" marL="0">
              <a:buNone/>
            </a:pPr>
            <a:r>
              <a:rPr lang="en-US" sz="1050" b="1" dirty="0">
                <a:solidFill>
                  <a:schemeClr val="tx1"/>
                </a:solidFill>
              </a:rPr>
              <a:t>Truveta Intelligence</a:t>
            </a:r>
            <a:pPr indent="0" marL="0">
              <a:buNone/>
            </a:pPr>
            <a:r>
              <a:rPr lang="en-US" sz="1050" dirty="0">
                <a:solidFill>
                  <a:schemeClr val="tx1"/>
                </a:solidFill>
              </a:rPr>
              <a:t> — natural-language RWE research questions</a:t>
            </a:r>
            <a:endParaRPr lang="en-US" sz="1050" dirty="0"/>
          </a:p>
          <a:p>
            <a:pPr indent="0" marL="0">
              <a:spcBef>
                <a:spcPts val="800"/>
              </a:spcBef>
              <a:buNone/>
            </a:pPr>
            <a:r>
              <a:rPr lang="en-US" sz="1050" dirty="0">
                <a:solidFill>
                  <a:schemeClr val="tx1"/>
                </a:solidFill>
              </a:rPr>
              <a:t>Flatiron Health’s </a:t>
            </a:r>
            <a:pPr indent="0" marL="0">
              <a:buNone/>
            </a:pPr>
            <a:r>
              <a:rPr lang="en-US" sz="1050" b="1" dirty="0">
                <a:solidFill>
                  <a:schemeClr val="tx1"/>
                </a:solidFill>
              </a:rPr>
              <a:t>Telescope</a:t>
            </a:r>
            <a:pPr indent="0" marL="0">
              <a:buNone/>
            </a:pP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Verana Health’s </a:t>
            </a:r>
            <a:pPr indent="0" marL="0">
              <a:buNone/>
            </a:pPr>
            <a:r>
              <a:rPr lang="en-US" sz="1050" b="1" dirty="0">
                <a:solidFill>
                  <a:schemeClr val="tx1"/>
                </a:solidFill>
              </a:rPr>
              <a:t>Agent Claire</a:t>
            </a:r>
            <a:pPr indent="0" marL="0">
              <a:buNone/>
            </a:pPr>
            <a:r>
              <a:rPr lang="en-US" sz="1050" dirty="0">
                <a:solidFill>
                  <a:schemeClr val="tx1"/>
                </a:solidFill>
              </a:rPr>
              <a:t> — conversational specialty-data research</a:t>
            </a:r>
            <a:endParaRPr lang="en-US" sz="1050" dirty="0"/>
          </a:p>
          <a:p>
            <a:pPr indent="0" marL="0">
              <a:spcBef>
                <a:spcPts val="800"/>
              </a:spcBef>
              <a:buNone/>
            </a:pPr>
            <a:r>
              <a:rPr lang="en-US" sz="1050" dirty="0">
                <a:solidFill>
                  <a:schemeClr val="tx1"/>
                </a:solidFill>
              </a:rPr>
              <a:t>Norstella’s </a:t>
            </a:r>
            <a:pPr indent="0" marL="0">
              <a:buNone/>
            </a:pPr>
            <a:r>
              <a:rPr lang="en-US" sz="1050" b="1" dirty="0">
                <a:solidFill>
                  <a:schemeClr val="tx1"/>
                </a:solidFill>
              </a:rPr>
              <a:t>Atlas Patient Analytics</a:t>
            </a:r>
            <a:pPr indent="0" marL="0">
              <a:buNone/>
            </a:pP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86765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6387084"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867656"/>
            <a:ext cx="5052060" cy="798576"/>
          </a:xfrm>
          <a:prstGeom prst="rect">
            <a:avLst/>
          </a:prstGeom>
          <a:noFill/>
          <a:ln/>
        </p:spPr>
        <p:txBody>
          <a:bodyPr wrap="square" lIns="0" tIns="0" rIns="0" bIns="0" rtlCol="0" anchor="t"/>
          <a:lstStyle/>
          <a:p>
            <a:pPr indent="0" marL="0">
              <a:buNone/>
            </a:pPr>
            <a:r>
              <a:rPr lang="en-US" sz="1200" b="1" dirty="0">
                <a:solidFill>
                  <a:schemeClr val="tx1"/>
                </a:solidFill>
              </a:rPr>
              <a:t>We examine publicly marketed conversational AI across five Optum LS-relevant business domains. Vendors' product claims provide observable evidence for competitive positioning without access to internal product data.</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8" name="Invisible source link 2: https://investors.tempus.com/node/6451/pdf">
            <a:hlinkClick r:id="rId3"/>
          </p:cNvPr>
          <p:cNvSpPr/>
          <p:nvPr/>
        </p:nvSpPr>
        <p:spPr>
          <a:xfrm>
            <a:off x="551060" y="2656090"/>
            <a:ext cx="558172"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2: https://investors.tempus.com/node/6451/pdf">
            <a:hlinkClick r:id="rId3"/>
          </p:cNvPr>
          <p:cNvSpPr/>
          <p:nvPr/>
        </p:nvSpPr>
        <p:spPr>
          <a:xfrm>
            <a:off x="1143979" y="2651048"/>
            <a:ext cx="1213371"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2: https://www.komodohealth.com/press/komodo-health-u">
            <a:hlinkClick r:id="rId4"/>
          </p:cNvPr>
          <p:cNvSpPr/>
          <p:nvPr/>
        </p:nvSpPr>
        <p:spPr>
          <a:xfrm>
            <a:off x="1600819" y="3237128"/>
            <a:ext cx="382850"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2: https://www.komodohealth.com/press/komodo-health-i">
            <a:hlinkClick r:id="rId5"/>
          </p:cNvPr>
          <p:cNvSpPr/>
          <p:nvPr/>
        </p:nvSpPr>
        <p:spPr>
          <a:xfrm>
            <a:off x="4373862" y="2656078"/>
            <a:ext cx="471419" cy="935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2: https://www.truveta.com/blog/announcement/truveta-">
            <a:hlinkClick r:id="rId6"/>
          </p:cNvPr>
          <p:cNvSpPr/>
          <p:nvPr/>
        </p:nvSpPr>
        <p:spPr>
          <a:xfrm>
            <a:off x="6670279" y="2651036"/>
            <a:ext cx="1239291"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2: https://resources.flatiron.com/press/flatiron-heal">
            <a:hlinkClick r:id="rId7"/>
          </p:cNvPr>
          <p:cNvSpPr/>
          <p:nvPr/>
        </p:nvSpPr>
        <p:spPr>
          <a:xfrm>
            <a:off x="7087876" y="3072244"/>
            <a:ext cx="637012"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2: https://veranahealth.com/verana-health-introduces-">
            <a:hlinkClick r:id="rId8"/>
          </p:cNvPr>
          <p:cNvSpPr/>
          <p:nvPr/>
        </p:nvSpPr>
        <p:spPr>
          <a:xfrm>
            <a:off x="8867345" y="2651036"/>
            <a:ext cx="938685" cy="9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2: https://veranahealth.com/verana-health-introduces-">
            <a:hlinkClick r:id="rId8"/>
          </p:cNvPr>
          <p:cNvSpPr/>
          <p:nvPr/>
        </p:nvSpPr>
        <p:spPr>
          <a:xfrm>
            <a:off x="9840777" y="2651036"/>
            <a:ext cx="777765"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2: https://www.norstella.com/press-releases/launches-">
            <a:hlinkClick r:id="rId9"/>
          </p:cNvPr>
          <p:cNvSpPr/>
          <p:nvPr/>
        </p:nvSpPr>
        <p:spPr>
          <a:xfrm>
            <a:off x="9523623" y="3072244"/>
            <a:ext cx="1423605"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a:t>
            </a:r>
            <a:br/>
            <a:pPr algn="l" indent="0" marL="0">
              <a:buNone/>
            </a:pPr>
            <a:r>
              <a:rPr lang="en-US" sz="2200" b="1" dirty="0">
                <a:solidFill>
                  <a:schemeClr val="accent1"/>
                </a:solidFill>
              </a:rPr>
              <a:t>Optum LS has relevant offerings in all five domains</a:t>
            </a:r>
            <a:endParaRPr lang="en-US" sz="2200" dirty="0"/>
          </a:p>
        </p:txBody>
      </p:sp>
      <p:sp>
        <p:nvSpPr>
          <p:cNvPr id="4" name="kpi tile 45"/>
          <p:cNvSpPr/>
          <p:nvPr/>
        </p:nvSpPr>
        <p:spPr>
          <a:xfrm>
            <a:off x="1945386" y="1517904"/>
            <a:ext cx="2939796" cy="548640"/>
          </a:xfrm>
          <a:prstGeom prst="rect">
            <a:avLst/>
          </a:prstGeom>
          <a:solidFill>
            <a:schemeClr val="accent5"/>
          </a:solidFill>
          <a:ln/>
        </p:spPr>
        <p:txBody>
          <a:bodyPr/>
          <a:p/>
        </p:txBody>
      </p:sp>
      <p:sp>
        <p:nvSpPr>
          <p:cNvPr id="5" name="Text 3"/>
          <p:cNvSpPr txBox="1"/>
          <p:nvPr/>
        </p:nvSpPr>
        <p:spPr>
          <a:xfrm>
            <a:off x="2201418" y="1517904"/>
            <a:ext cx="420624" cy="548640"/>
          </a:xfrm>
          <a:prstGeom prst="rect">
            <a:avLst/>
          </a:prstGeom>
          <a:noFill/>
          <a:ln/>
        </p:spPr>
        <p:txBody>
          <a:bodyPr wrap="square" lIns="0" tIns="0" rIns="0" bIns="0" rtlCol="0" anchor="ctr"/>
          <a:lstStyle/>
          <a:p>
            <a:pPr algn="r" indent="0" marL="0">
              <a:buNone/>
            </a:pPr>
            <a:r>
              <a:rPr lang="en-US" sz="2600" b="1" dirty="0">
                <a:solidFill>
                  <a:schemeClr val="accent1"/>
                </a:solidFill>
              </a:rPr>
              <a:t>45</a:t>
            </a:r>
            <a:endParaRPr lang="en-US" sz="2600" dirty="0"/>
          </a:p>
        </p:txBody>
      </p:sp>
      <p:sp>
        <p:nvSpPr>
          <p:cNvPr id="6" name="Text 4"/>
          <p:cNvSpPr txBox="1"/>
          <p:nvPr/>
        </p:nvSpPr>
        <p:spPr>
          <a:xfrm>
            <a:off x="2731770" y="1517904"/>
            <a:ext cx="1988820" cy="548640"/>
          </a:xfrm>
          <a:prstGeom prst="rect">
            <a:avLst/>
          </a:prstGeom>
          <a:noFill/>
          <a:ln/>
        </p:spPr>
        <p:txBody>
          <a:bodyPr wrap="square" lIns="0" tIns="0" rIns="0" bIns="0" rtlCol="0" anchor="ctr"/>
          <a:lstStyle/>
          <a:p>
            <a:pPr indent="0" marL="0">
              <a:buNone/>
            </a:pPr>
            <a:r>
              <a:rPr lang="en-US" sz="1100" b="1" dirty="0">
                <a:solidFill>
                  <a:schemeClr val="accent1"/>
                </a:solidFill>
              </a:rPr>
              <a:t>U.S. competitors screened</a:t>
            </a:r>
            <a:endParaRPr lang="en-US" sz="1100" dirty="0"/>
          </a:p>
        </p:txBody>
      </p:sp>
      <p:sp>
        <p:nvSpPr>
          <p:cNvPr id="7" name="flow arrow"/>
          <p:cNvSpPr/>
          <p:nvPr/>
        </p:nvSpPr>
        <p:spPr>
          <a:xfrm>
            <a:off x="5086350" y="1673352"/>
            <a:ext cx="420624" cy="237744"/>
          </a:xfrm>
          <a:prstGeom prst="rightArrow">
            <a:avLst/>
          </a:prstGeom>
          <a:solidFill>
            <a:schemeClr val="accent4"/>
          </a:solidFill>
          <a:ln/>
        </p:spPr>
        <p:txBody>
          <a:bodyPr/>
          <a:p/>
        </p:txBody>
      </p:sp>
      <p:sp>
        <p:nvSpPr>
          <p:cNvPr id="8" name="kpi tile 17"/>
          <p:cNvSpPr/>
          <p:nvPr/>
        </p:nvSpPr>
        <p:spPr>
          <a:xfrm>
            <a:off x="5708142" y="1517904"/>
            <a:ext cx="4535424" cy="548640"/>
          </a:xfrm>
          <a:prstGeom prst="rect">
            <a:avLst/>
          </a:prstGeom>
          <a:solidFill>
            <a:schemeClr val="accent5"/>
          </a:solidFill>
          <a:ln/>
        </p:spPr>
        <p:txBody>
          <a:bodyPr/>
          <a:p/>
        </p:txBody>
      </p:sp>
      <p:sp>
        <p:nvSpPr>
          <p:cNvPr id="9" name="Text 7"/>
          <p:cNvSpPr txBox="1"/>
          <p:nvPr/>
        </p:nvSpPr>
        <p:spPr>
          <a:xfrm>
            <a:off x="5964174" y="1517904"/>
            <a:ext cx="420624" cy="548640"/>
          </a:xfrm>
          <a:prstGeom prst="rect">
            <a:avLst/>
          </a:prstGeom>
          <a:noFill/>
          <a:ln/>
        </p:spPr>
        <p:txBody>
          <a:bodyPr wrap="square" lIns="0" tIns="0" rIns="0" bIns="0" rtlCol="0" anchor="ctr"/>
          <a:lstStyle/>
          <a:p>
            <a:pPr algn="r" indent="0" marL="0">
              <a:buNone/>
            </a:pPr>
            <a:r>
              <a:rPr lang="en-US" sz="2600" b="1" dirty="0">
                <a:solidFill>
                  <a:schemeClr val="accent2"/>
                </a:solidFill>
              </a:rPr>
              <a:t>15</a:t>
            </a:r>
            <a:endParaRPr lang="en-US" sz="2600" dirty="0"/>
          </a:p>
        </p:txBody>
      </p:sp>
      <p:sp>
        <p:nvSpPr>
          <p:cNvPr id="10" name="Text 8"/>
          <p:cNvSpPr txBox="1"/>
          <p:nvPr/>
        </p:nvSpPr>
        <p:spPr>
          <a:xfrm>
            <a:off x="6494526" y="1517904"/>
            <a:ext cx="3584448" cy="548640"/>
          </a:xfrm>
          <a:prstGeom prst="rect">
            <a:avLst/>
          </a:prstGeom>
          <a:noFill/>
          <a:ln/>
        </p:spPr>
        <p:txBody>
          <a:bodyPr wrap="square" lIns="0" tIns="0" rIns="0" bIns="0" rtlCol="0" anchor="ctr"/>
          <a:lstStyle/>
          <a:p>
            <a:pPr indent="0" marL="0">
              <a:buNone/>
            </a:pPr>
            <a:r>
              <a:rPr lang="en-US" sz="1100" b="1" dirty="0">
                <a:solidFill>
                  <a:schemeClr val="accent1"/>
                </a:solidFill>
              </a:rPr>
              <a:t>distinct competitors marketing conversational AI</a:t>
            </a:r>
            <a:endParaRPr lang="en-US" sz="1100" dirty="0"/>
          </a:p>
        </p:txBody>
      </p:sp>
      <p:sp>
        <p:nvSpPr>
          <p:cNvPr id="11" name="table header"/>
          <p:cNvSpPr/>
          <p:nvPr/>
        </p:nvSpPr>
        <p:spPr>
          <a:xfrm>
            <a:off x="548640" y="2286000"/>
            <a:ext cx="11091672" cy="457200"/>
          </a:xfrm>
          <a:prstGeom prst="rect">
            <a:avLst/>
          </a:prstGeom>
          <a:solidFill>
            <a:schemeClr val="accent1"/>
          </a:solidFill>
          <a:ln/>
        </p:spPr>
        <p:txBody>
          <a:bodyPr/>
          <a:p/>
        </p:txBody>
      </p:sp>
      <p:sp>
        <p:nvSpPr>
          <p:cNvPr id="12" name="Text 10"/>
          <p:cNvSpPr txBox="1"/>
          <p:nvPr/>
        </p:nvSpPr>
        <p:spPr>
          <a:xfrm>
            <a:off x="960120" y="228600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3" name="Text 11"/>
          <p:cNvSpPr txBox="1"/>
          <p:nvPr/>
        </p:nvSpPr>
        <p:spPr>
          <a:xfrm>
            <a:off x="3474720" y="228600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4" name="Text 12"/>
          <p:cNvSpPr txBox="1"/>
          <p:nvPr/>
        </p:nvSpPr>
        <p:spPr>
          <a:xfrm>
            <a:off x="5715000" y="228600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15" name="Text 13"/>
          <p:cNvSpPr txBox="1"/>
          <p:nvPr/>
        </p:nvSpPr>
        <p:spPr>
          <a:xfrm>
            <a:off x="9052560" y="228600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graphicFrame>
        <p:nvGraphicFramePr>
          <p:cNvPr id="17" name="competitor coverage chart" descr=""/>
          <p:cNvGraphicFramePr/>
          <p:nvPr/>
        </p:nvGraphicFramePr>
        <p:xfrm>
          <a:off x="1170432" y="2743200"/>
          <a:ext cx="2212848" cy="2514600"/>
        </p:xfrm>
        <a:graphic xmlns:a="http://schemas.openxmlformats.org/drawingml/2006/main">
          <a:graphicData uri="http://schemas.openxmlformats.org/drawingml/2006/chart">
            <c:chart xmlns:c="http://schemas.openxmlformats.org/drawingml/2006/chart" r:id="rId1"/>
          </a:graphicData>
        </a:graphic>
      </p:graphicFrame>
      <p:sp>
        <p:nvSpPr>
          <p:cNvPr id="18" name="fraction RWE"/>
          <p:cNvSpPr txBox="1"/>
          <p:nvPr/>
        </p:nvSpPr>
        <p:spPr>
          <a:xfrm>
            <a:off x="566928" y="274320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19" name="workflow chip RWE"/>
          <p:cNvSpPr/>
          <p:nvPr/>
        </p:nvSpPr>
        <p:spPr>
          <a:xfrm>
            <a:off x="3547872" y="283921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0" name="Text 17"/>
          <p:cNvSpPr txBox="1"/>
          <p:nvPr/>
        </p:nvSpPr>
        <p:spPr>
          <a:xfrm>
            <a:off x="3547872" y="283921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1" name="Text 18"/>
          <p:cNvSpPr txBox="1"/>
          <p:nvPr/>
        </p:nvSpPr>
        <p:spPr>
          <a:xfrm>
            <a:off x="5806440" y="2743200"/>
            <a:ext cx="2697480" cy="502920"/>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 and more</a:t>
            </a:r>
            <a:endParaRPr lang="en-US" sz="900" dirty="0"/>
          </a:p>
        </p:txBody>
      </p:sp>
      <p:sp>
        <p:nvSpPr>
          <p:cNvPr id="22" name="Text 19"/>
          <p:cNvSpPr txBox="1"/>
          <p:nvPr/>
        </p:nvSpPr>
        <p:spPr>
          <a:xfrm>
            <a:off x="9144000" y="2743200"/>
            <a:ext cx="1920240" cy="502920"/>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4" name="Shape 21"/>
          <p:cNvSpPr/>
          <p:nvPr/>
        </p:nvSpPr>
        <p:spPr>
          <a:xfrm>
            <a:off x="548640" y="3246120"/>
            <a:ext cx="11091672" cy="0"/>
          </a:xfrm>
          <a:prstGeom prst="line">
            <a:avLst/>
          </a:prstGeom>
          <a:noFill/>
          <a:ln w="9525">
            <a:solidFill>
              <a:schemeClr val="accent3"/>
            </a:solidFill>
            <a:prstDash val="solid"/>
          </a:ln>
        </p:spPr>
        <p:txBody>
          <a:bodyPr/>
          <a:p/>
        </p:txBody>
      </p:sp>
      <p:sp>
        <p:nvSpPr>
          <p:cNvPr id="25" name="fraction Commercial Intelligence"/>
          <p:cNvSpPr txBox="1"/>
          <p:nvPr/>
        </p:nvSpPr>
        <p:spPr>
          <a:xfrm>
            <a:off x="1282849" y="324612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26" name="workflow chip Commercial Intelligence"/>
          <p:cNvSpPr/>
          <p:nvPr/>
        </p:nvSpPr>
        <p:spPr>
          <a:xfrm>
            <a:off x="3547872" y="334213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7" name="Text 24"/>
          <p:cNvSpPr txBox="1"/>
          <p:nvPr/>
        </p:nvSpPr>
        <p:spPr>
          <a:xfrm>
            <a:off x="3547872" y="33421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28" name="Text 25"/>
          <p:cNvSpPr txBox="1"/>
          <p:nvPr/>
        </p:nvSpPr>
        <p:spPr>
          <a:xfrm>
            <a:off x="5806440" y="324612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29" name="Text 26"/>
          <p:cNvSpPr txBox="1"/>
          <p:nvPr/>
        </p:nvSpPr>
        <p:spPr>
          <a:xfrm>
            <a:off x="9144000" y="3246120"/>
            <a:ext cx="1920240" cy="502920"/>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1" name="Shape 28"/>
          <p:cNvSpPr/>
          <p:nvPr/>
        </p:nvSpPr>
        <p:spPr>
          <a:xfrm>
            <a:off x="548640" y="3749040"/>
            <a:ext cx="11091672" cy="0"/>
          </a:xfrm>
          <a:prstGeom prst="line">
            <a:avLst/>
          </a:prstGeom>
          <a:noFill/>
          <a:ln w="9525">
            <a:solidFill>
              <a:schemeClr val="accent3"/>
            </a:solidFill>
            <a:prstDash val="solid"/>
          </a:ln>
        </p:spPr>
        <p:txBody>
          <a:bodyPr/>
          <a:p/>
        </p:txBody>
      </p:sp>
      <p:sp>
        <p:nvSpPr>
          <p:cNvPr id="32" name="fraction Medical / Regulatory Research"/>
          <p:cNvSpPr txBox="1"/>
          <p:nvPr/>
        </p:nvSpPr>
        <p:spPr>
          <a:xfrm>
            <a:off x="1608268" y="374904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3" name="workflow chip Medical / Regulatory Research"/>
          <p:cNvSpPr/>
          <p:nvPr/>
        </p:nvSpPr>
        <p:spPr>
          <a:xfrm>
            <a:off x="3547872" y="384505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34" name="Text 31"/>
          <p:cNvSpPr txBox="1"/>
          <p:nvPr/>
        </p:nvSpPr>
        <p:spPr>
          <a:xfrm>
            <a:off x="3547872" y="384505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35" name="Text 32"/>
          <p:cNvSpPr txBox="1"/>
          <p:nvPr/>
        </p:nvSpPr>
        <p:spPr>
          <a:xfrm>
            <a:off x="5806440" y="374904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36" name="Text 33"/>
          <p:cNvSpPr txBox="1"/>
          <p:nvPr/>
        </p:nvSpPr>
        <p:spPr>
          <a:xfrm>
            <a:off x="9144000" y="3749040"/>
            <a:ext cx="1920240" cy="502920"/>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38" name="Shape 35"/>
          <p:cNvSpPr/>
          <p:nvPr/>
        </p:nvSpPr>
        <p:spPr>
          <a:xfrm>
            <a:off x="548640" y="4251960"/>
            <a:ext cx="11091672" cy="0"/>
          </a:xfrm>
          <a:prstGeom prst="line">
            <a:avLst/>
          </a:prstGeom>
          <a:noFill/>
          <a:ln w="9525">
            <a:solidFill>
              <a:schemeClr val="accent3"/>
            </a:solidFill>
            <a:prstDash val="solid"/>
          </a:ln>
        </p:spPr>
        <p:txBody>
          <a:bodyPr/>
          <a:p/>
        </p:txBody>
      </p:sp>
      <p:sp>
        <p:nvSpPr>
          <p:cNvPr id="39" name="fraction Clinical Trials"/>
          <p:cNvSpPr txBox="1"/>
          <p:nvPr/>
        </p:nvSpPr>
        <p:spPr>
          <a:xfrm>
            <a:off x="1152682" y="425196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0" name="workflow chip Clinical Trials"/>
          <p:cNvSpPr/>
          <p:nvPr/>
        </p:nvSpPr>
        <p:spPr>
          <a:xfrm>
            <a:off x="3547872" y="434797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1" name="Text 38"/>
          <p:cNvSpPr txBox="1"/>
          <p:nvPr/>
        </p:nvSpPr>
        <p:spPr>
          <a:xfrm>
            <a:off x="3547872" y="434797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2" name="Text 39"/>
          <p:cNvSpPr txBox="1"/>
          <p:nvPr/>
        </p:nvSpPr>
        <p:spPr>
          <a:xfrm>
            <a:off x="5806440" y="4251960"/>
            <a:ext cx="2697480" cy="502920"/>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3" name="Text 40"/>
          <p:cNvSpPr txBox="1"/>
          <p:nvPr/>
        </p:nvSpPr>
        <p:spPr>
          <a:xfrm>
            <a:off x="9144000" y="4251960"/>
            <a:ext cx="1920240" cy="502920"/>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45" name="Shape 42"/>
          <p:cNvSpPr/>
          <p:nvPr/>
        </p:nvSpPr>
        <p:spPr>
          <a:xfrm>
            <a:off x="548640" y="4754880"/>
            <a:ext cx="11091672" cy="0"/>
          </a:xfrm>
          <a:prstGeom prst="line">
            <a:avLst/>
          </a:prstGeom>
          <a:noFill/>
          <a:ln w="9525">
            <a:solidFill>
              <a:schemeClr val="accent3"/>
            </a:solidFill>
            <a:prstDash val="solid"/>
          </a:ln>
        </p:spPr>
        <p:txBody>
          <a:bodyPr/>
          <a:p/>
        </p:txBody>
      </p:sp>
      <p:sp>
        <p:nvSpPr>
          <p:cNvPr id="46" name="fraction Market Access"/>
          <p:cNvSpPr txBox="1"/>
          <p:nvPr/>
        </p:nvSpPr>
        <p:spPr>
          <a:xfrm>
            <a:off x="1217766" y="475488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47" name="workflow chip Market Access"/>
          <p:cNvSpPr/>
          <p:nvPr/>
        </p:nvSpPr>
        <p:spPr>
          <a:xfrm>
            <a:off x="3547872" y="485089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8" name="Text 45"/>
          <p:cNvSpPr txBox="1"/>
          <p:nvPr/>
        </p:nvSpPr>
        <p:spPr>
          <a:xfrm>
            <a:off x="3547872" y="48508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49" name="Text 46"/>
          <p:cNvSpPr txBox="1"/>
          <p:nvPr/>
        </p:nvSpPr>
        <p:spPr>
          <a:xfrm>
            <a:off x="5806440" y="4754880"/>
            <a:ext cx="2697480" cy="502920"/>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0" name="Text 47"/>
          <p:cNvSpPr txBox="1"/>
          <p:nvPr/>
        </p:nvSpPr>
        <p:spPr>
          <a:xfrm>
            <a:off x="9144000" y="4754880"/>
            <a:ext cx="1920240" cy="502920"/>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2" name="Shape 49"/>
          <p:cNvSpPr/>
          <p:nvPr/>
        </p:nvSpPr>
        <p:spPr>
          <a:xfrm>
            <a:off x="548640" y="5257800"/>
            <a:ext cx="11091672" cy="0"/>
          </a:xfrm>
          <a:prstGeom prst="line">
            <a:avLst/>
          </a:prstGeom>
          <a:noFill/>
          <a:ln w="9525">
            <a:solidFill>
              <a:schemeClr val="accent3"/>
            </a:solidFill>
            <a:prstDash val="solid"/>
          </a:ln>
        </p:spPr>
        <p:txBody>
          <a:bodyPr/>
          <a:p/>
        </p:txBody>
      </p:sp>
      <p:sp>
        <p:nvSpPr>
          <p:cNvPr id="53"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1110996" y="5596128"/>
            <a:ext cx="9966960" cy="548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1293876" y="5596128"/>
            <a:ext cx="2011680" cy="548640"/>
          </a:xfrm>
          <a:prstGeom prst="rect">
            <a:avLst/>
          </a:prstGeom>
          <a:noFill/>
          <a:ln/>
        </p:spPr>
        <p:txBody>
          <a:bodyPr wrap="square" lIns="0" tIns="0" rIns="0" bIns="0" rtlCol="0" anchor="ctr"/>
          <a:lstStyle/>
          <a:p>
            <a:pPr algn="ctr" indent="0" marL="0">
              <a:buNone/>
            </a:pPr>
            <a:r>
              <a:rPr lang="en-US" sz="1300" b="1" spc="150" kern="0" dirty="0">
                <a:solidFill>
                  <a:schemeClr val="accent2"/>
                </a:solidFill>
              </a:rPr>
              <a:t>KEY TAKEAWAY</a:t>
            </a:r>
            <a:endParaRPr lang="en-US" sz="1300" dirty="0"/>
          </a:p>
        </p:txBody>
      </p:sp>
      <p:sp>
        <p:nvSpPr>
          <p:cNvPr id="57" name="Text 54"/>
          <p:cNvSpPr txBox="1"/>
          <p:nvPr/>
        </p:nvSpPr>
        <p:spPr>
          <a:xfrm>
            <a:off x="3305556" y="5596128"/>
            <a:ext cx="7589520" cy="548640"/>
          </a:xfrm>
          <a:prstGeom prst="rect">
            <a:avLst/>
          </a:prstGeom>
          <a:noFill/>
          <a:ln/>
        </p:spPr>
        <p:txBody>
          <a:bodyPr wrap="square" lIns="0" tIns="0" rIns="0" bIns="0" rtlCol="0" anchor="ctr"/>
          <a:lstStyle/>
          <a:p>
            <a:pPr indent="0" marL="0" algn="ctr">
              <a:buNone/>
            </a:pPr>
            <a:r>
              <a:rPr lang="en-US" sz="1050" b="1" dirty="0">
                <a:solidFill>
                  <a:schemeClr val="tx1"/>
                </a:solidFill>
              </a:rPr>
              <a:t>A publicly-marketed customer-facing conversational interface was not established in the reviewed materials</a:t>
            </a:r>
            <a:endParaRPr lang="en-US" sz="1050" dirty="0"/>
          </a:p>
          <a:p>
            <a:pPr indent="0" marL="0" algn="ctr">
              <a:buNone/>
            </a:pPr>
            <a:r>
              <a:rPr lang="en-US" sz="1050" b="1" dirty="0">
                <a:solidFill>
                  <a:schemeClr val="tx1"/>
                </a:solidFill>
              </a:rPr>
              <a:t>for Optum LS 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58" name="Invisible source link 3: https://www.komodohealth.com/product/marmot/">
            <a:hlinkClick r:id="rId4"/>
          </p:cNvPr>
          <p:cNvSpPr/>
          <p:nvPr/>
        </p:nvSpPr>
        <p:spPr>
          <a:xfrm>
            <a:off x="5815655" y="2888640"/>
            <a:ext cx="83717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Invisible source link 3: https://www.komodohealth.com/press/komodo-health-u">
            <a:hlinkClick r:id="rId5"/>
          </p:cNvPr>
          <p:cNvSpPr/>
          <p:nvPr/>
        </p:nvSpPr>
        <p:spPr>
          <a:xfrm>
            <a:off x="6914728" y="2892602"/>
            <a:ext cx="311934"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Invisible source link 3: https://www.truveta.com/blog/announcement/truveta-">
            <a:hlinkClick r:id="rId6"/>
          </p:cNvPr>
          <p:cNvSpPr/>
          <p:nvPr/>
        </p:nvSpPr>
        <p:spPr>
          <a:xfrm>
            <a:off x="7301718" y="2888640"/>
            <a:ext cx="98801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Invisible source link 3: https://resources.flatiron.com/press/flatiron-heal">
            <a:hlinkClick r:id="rId7"/>
          </p:cNvPr>
          <p:cNvSpPr/>
          <p:nvPr/>
        </p:nvSpPr>
        <p:spPr>
          <a:xfrm>
            <a:off x="6221734" y="3026168"/>
            <a:ext cx="50885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Invisible source link 3: https://www.tempus.com/solutions/lens/">
            <a:hlinkClick r:id="rId8"/>
          </p:cNvPr>
          <p:cNvSpPr/>
          <p:nvPr/>
        </p:nvSpPr>
        <p:spPr>
          <a:xfrm>
            <a:off x="6799883" y="3030130"/>
            <a:ext cx="67517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Invisible source link 3: https://business.optum.com/en/data-analytics/life-">
            <a:hlinkClick r:id="rId9"/>
          </p:cNvPr>
          <p:cNvSpPr/>
          <p:nvPr/>
        </p:nvSpPr>
        <p:spPr>
          <a:xfrm>
            <a:off x="9143470" y="2957398"/>
            <a:ext cx="1075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Invisible source link 3: https://business.optum.com/en/data-analytics/life-">
            <a:hlinkClick r:id="rId10"/>
          </p:cNvPr>
          <p:cNvSpPr/>
          <p:nvPr/>
        </p:nvSpPr>
        <p:spPr>
          <a:xfrm>
            <a:off x="10291501" y="2957398"/>
            <a:ext cx="739246"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Invisible source link 3: https://business.optum.com/en/data-analytics/life-">
            <a:hlinkClick r:id="rId10"/>
          </p:cNvPr>
          <p:cNvSpPr/>
          <p:nvPr/>
        </p:nvSpPr>
        <p:spPr>
          <a:xfrm>
            <a:off x="9148144" y="3071888"/>
            <a:ext cx="396172"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Invisible source link 3: https://www.iqvia.com/solutions/commercialization/">
            <a:hlinkClick r:id="rId11"/>
          </p:cNvPr>
          <p:cNvSpPr/>
          <p:nvPr/>
        </p:nvSpPr>
        <p:spPr>
          <a:xfrm>
            <a:off x="6146132" y="3391560"/>
            <a:ext cx="88829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Invisible source link 3: https://www.iqvia.com/solutions/commercialization/">
            <a:hlinkClick r:id="rId11"/>
          </p:cNvPr>
          <p:cNvSpPr/>
          <p:nvPr/>
        </p:nvSpPr>
        <p:spPr>
          <a:xfrm>
            <a:off x="7292003" y="3394443"/>
            <a:ext cx="535489" cy="1043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Invisible source link 3: https://zaidyn.zs.com/products/zaidyn-commercial/c">
            <a:hlinkClick r:id="rId12"/>
          </p:cNvPr>
          <p:cNvSpPr/>
          <p:nvPr/>
        </p:nvSpPr>
        <p:spPr>
          <a:xfrm>
            <a:off x="8073553" y="3394430"/>
            <a:ext cx="417419"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Invisible source link 3: https://zaidyn.zs.com/products/zaidyn-commercial/c">
            <a:hlinkClick r:id="rId12"/>
          </p:cNvPr>
          <p:cNvSpPr/>
          <p:nvPr/>
        </p:nvSpPr>
        <p:spPr>
          <a:xfrm>
            <a:off x="5810982" y="3506050"/>
            <a:ext cx="126772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Invisible source link 3: https://trinitylifesciences.com/products/insightse">
            <a:hlinkClick r:id="rId13"/>
          </p:cNvPr>
          <p:cNvSpPr/>
          <p:nvPr/>
        </p:nvSpPr>
        <p:spPr>
          <a:xfrm>
            <a:off x="7493601" y="3506038"/>
            <a:ext cx="96964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Invisible source link 3: https://trinitylifesciences.com/products/insightse">
            <a:hlinkClick r:id="rId13"/>
          </p:cNvPr>
          <p:cNvSpPr/>
          <p:nvPr/>
        </p:nvSpPr>
        <p:spPr>
          <a:xfrm>
            <a:off x="5810982" y="3620528"/>
            <a:ext cx="404097"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Invisible source link 3: https://business.optum.com/en/data-analytics/life-">
            <a:hlinkClick r:id="rId14"/>
          </p:cNvPr>
          <p:cNvSpPr/>
          <p:nvPr/>
        </p:nvSpPr>
        <p:spPr>
          <a:xfrm>
            <a:off x="9152830" y="3391560"/>
            <a:ext cx="69748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nvisible source link 3: https://www.iqvia.com/solutions/innovative-models/">
            <a:hlinkClick r:id="rId15"/>
          </p:cNvPr>
          <p:cNvSpPr/>
          <p:nvPr/>
        </p:nvSpPr>
        <p:spPr>
          <a:xfrm>
            <a:off x="6146132" y="3894480"/>
            <a:ext cx="393289"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Invisible source link 3: https://zaidyn.zs.com/products/zaidyn-medical/conv">
            <a:hlinkClick r:id="rId16"/>
          </p:cNvPr>
          <p:cNvSpPr/>
          <p:nvPr/>
        </p:nvSpPr>
        <p:spPr>
          <a:xfrm>
            <a:off x="6790168" y="3894480"/>
            <a:ext cx="147688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Invisible source link 3: https://platform.veevavault.help/en/lr/950642">
            <a:hlinkClick r:id="rId17"/>
          </p:cNvPr>
          <p:cNvSpPr/>
          <p:nvPr/>
        </p:nvSpPr>
        <p:spPr>
          <a:xfrm>
            <a:off x="6156215" y="4032008"/>
            <a:ext cx="65969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Invisible source link 3: https://business.optum.com/en/data-analytics/life-">
            <a:hlinkClick r:id="rId10"/>
          </p:cNvPr>
          <p:cNvSpPr/>
          <p:nvPr/>
        </p:nvSpPr>
        <p:spPr>
          <a:xfrm>
            <a:off x="9152830" y="3894480"/>
            <a:ext cx="1387245"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Invisible source link 3: https://business.optum.com/en/data-analytics/life-">
            <a:hlinkClick r:id="rId14"/>
          </p:cNvPr>
          <p:cNvSpPr/>
          <p:nvPr/>
        </p:nvSpPr>
        <p:spPr>
          <a:xfrm>
            <a:off x="10614052" y="3894480"/>
            <a:ext cx="341093"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Invisible source link 3: https://business.optum.com/en/data-analytics/life-">
            <a:hlinkClick r:id="rId14"/>
          </p:cNvPr>
          <p:cNvSpPr/>
          <p:nvPr/>
        </p:nvSpPr>
        <p:spPr>
          <a:xfrm>
            <a:off x="9149224" y="4008958"/>
            <a:ext cx="319490"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Invisible source link 3: https://trinetx.com/solutions/trinetx-live/terrain">
            <a:hlinkClick r:id="rId18"/>
          </p:cNvPr>
          <p:cNvSpPr/>
          <p:nvPr/>
        </p:nvSpPr>
        <p:spPr>
          <a:xfrm>
            <a:off x="5808810" y="4466170"/>
            <a:ext cx="138508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Invisible source link 3: https://business.optum.com/en/data-analytics/life-">
            <a:hlinkClick r:id="rId19"/>
          </p:cNvPr>
          <p:cNvSpPr/>
          <p:nvPr/>
        </p:nvSpPr>
        <p:spPr>
          <a:xfrm>
            <a:off x="9152830" y="4401362"/>
            <a:ext cx="54304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nvisible source link 3: https://business.optum.com/en/data-analytics/life-">
            <a:hlinkClick r:id="rId19"/>
          </p:cNvPr>
          <p:cNvSpPr/>
          <p:nvPr/>
        </p:nvSpPr>
        <p:spPr>
          <a:xfrm>
            <a:off x="9768774" y="4397400"/>
            <a:ext cx="128391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Invisible source link 3: https://business.optum.com/en/data-analytics/life-">
            <a:hlinkClick r:id="rId19"/>
          </p:cNvPr>
          <p:cNvSpPr/>
          <p:nvPr/>
        </p:nvSpPr>
        <p:spPr>
          <a:xfrm>
            <a:off x="9209345" y="4537798"/>
            <a:ext cx="618648"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Invisible source link 3: https://www.navlin.com/products/tender">
            <a:hlinkClick r:id="rId20"/>
          </p:cNvPr>
          <p:cNvSpPr/>
          <p:nvPr/>
        </p:nvSpPr>
        <p:spPr>
          <a:xfrm>
            <a:off x="6454294" y="4969090"/>
            <a:ext cx="61901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Invisible source link 3: https://business.optum.com/en/data-analytics/life-">
            <a:hlinkClick r:id="rId21"/>
          </p:cNvPr>
          <p:cNvSpPr/>
          <p:nvPr/>
        </p:nvSpPr>
        <p:spPr>
          <a:xfrm>
            <a:off x="9152830" y="4971960"/>
            <a:ext cx="316620"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Invisible source link 3: https://business.optum.com/en/data-analytics/life-">
            <a:hlinkClick r:id="rId22"/>
          </p:cNvPr>
          <p:cNvSpPr/>
          <p:nvPr/>
        </p:nvSpPr>
        <p:spPr>
          <a:xfrm>
            <a:off x="10340814" y="4969078"/>
            <a:ext cx="715853"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nvisible source link 3: https://business.optum.com/en/data-analytics/life-">
            <a:hlinkClick r:id="rId22"/>
          </p:cNvPr>
          <p:cNvSpPr/>
          <p:nvPr/>
        </p:nvSpPr>
        <p:spPr>
          <a:xfrm>
            <a:off x="9151027" y="5104803"/>
            <a:ext cx="115378" cy="633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COMPANY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companies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txBody>
          <a:bodyPr/>
          <a:p/>
        </p:txBody>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International</a:t>
            </a:r>
            <a:endParaRPr lang="en-US" sz="900" dirty="0"/>
          </a:p>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marketing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7830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8613648" y="1988820"/>
            <a:ext cx="2825496" cy="475488"/>
          </a:xfrm>
          <a:prstGeom prst="rect">
            <a:avLst/>
          </a:prstGeom>
          <a:noFill/>
          <a:ln/>
        </p:spPr>
        <p:txBody>
          <a:bodyPr wrap="square" lIns="0" tIns="0" rIns="0" bIns="0" rtlCol="0" anchor="t"/>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555748"/>
            <a:ext cx="2825496" cy="82296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companies already represented in the U.S. inventory.</a:t>
            </a:r>
            <a:endParaRPr lang="en-US" sz="1000" dirty="0"/>
          </a:p>
        </p:txBody>
      </p:sp>
      <p:sp>
        <p:nvSpPr>
          <p:cNvPr id="58" name="next card"/>
          <p:cNvSpPr/>
          <p:nvPr/>
        </p:nvSpPr>
        <p:spPr>
          <a:xfrm>
            <a:off x="8412480" y="3758184"/>
            <a:ext cx="3227832" cy="2350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9" name="icon circle"/>
          <p:cNvSpPr/>
          <p:nvPr/>
        </p:nvSpPr>
        <p:spPr>
          <a:xfrm>
            <a:off x="8613648" y="4247388"/>
            <a:ext cx="402336" cy="402336"/>
          </a:xfrm>
          <a:prstGeom prst="ellipse">
            <a:avLst/>
          </a:prstGeom>
          <a:solidFill>
            <a:schemeClr val="accent5"/>
          </a:solidFill>
          <a:ln/>
        </p:spPr>
        <p:txBody>
          <a:bodyPr/>
          <a:p/>
        </p:txBody>
      </p:sp>
      <p:pic>
        <p:nvPicPr>
          <p:cNvPr id="60" name="icon MdArrowForward" descr="preencoded.png">    </p:cNvPr>
          <p:cNvPicPr>
            <a:picLocks noChangeAspect="1"/>
          </p:cNvPicPr>
          <p:nvPr/>
        </p:nvPicPr>
        <p:blipFill>
          <a:blip r:embed="rId2"/>
          <a:stretch>
            <a:fillRect/>
          </a:stretch>
        </p:blipFill>
        <p:spPr>
          <a:xfrm>
            <a:off x="8702162" y="4335902"/>
            <a:ext cx="225308" cy="225308"/>
          </a:xfrm>
          <a:prstGeom prst="rect">
            <a:avLst/>
          </a:prstGeom>
        </p:spPr>
      </p:pic>
      <p:sp>
        <p:nvSpPr>
          <p:cNvPr id="61" name="label"/>
          <p:cNvSpPr txBox="1"/>
          <p:nvPr/>
        </p:nvSpPr>
        <p:spPr>
          <a:xfrm>
            <a:off x="9144000" y="4082796"/>
            <a:ext cx="2295144" cy="731520"/>
          </a:xfrm>
          <a:prstGeom prst="rect">
            <a:avLst/>
          </a:prstGeom>
          <a:noFill/>
          <a:ln/>
        </p:spPr>
        <p:txBody>
          <a:bodyPr wrap="square" lIns="0" tIns="0" rIns="0" bIns="0" rtlCol="0" anchor="ctr"/>
          <a:lstStyle/>
          <a:p>
            <a:pPr indent="0" marL="0">
              <a:buNone/>
            </a:pPr>
            <a:r>
              <a:rPr lang="en-US" sz="1300" b="1" spc="150" kern="0" dirty="0">
                <a:solidFill>
                  <a:schemeClr val="accent2"/>
                </a:solidFill>
              </a:rPr>
              <a:t>FROM COMPANY SCREENS TO ACTUAL PRODUCTS</a:t>
            </a:r>
            <a:endParaRPr lang="en-US" sz="1300" dirty="0"/>
          </a:p>
        </p:txBody>
      </p:sp>
      <p:sp>
        <p:nvSpPr>
          <p:cNvPr id="62" name="Text 58"/>
          <p:cNvSpPr txBox="1"/>
          <p:nvPr/>
        </p:nvSpPr>
        <p:spPr>
          <a:xfrm>
            <a:off x="8613648" y="4960620"/>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pPr algn="l" indent="0" marL="0">
              <a:buNone/>
            </a:pP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01531">
                <a:tc>
                  <a:txBody>
                    <a:bodyPr/>
                    <a:lstStyle/>
                    <a:p>
                      <a:pPr algn="ctr" indent="0" marL="0">
                        <a:buNone/>
                      </a:pPr>
                      <a:r>
                        <a:rPr lang="en-US" sz="1050" b="1" dirty="0">
                          <a:solidFill>
                            <a:schemeClr val="accent1"/>
                          </a:solidFill>
                        </a:rPr>
                        <a:t>Identify and assess</a:t>
                      </a:r>
                      <a:br/>
                      <a:pPr algn="ctr" indent="0" marL="0">
                        <a:buNone/>
                      </a:pP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 Data</a:t>
                      </a:r>
                      <a:r>
                        <a:rPr lang="en-US" sz="950" dirty="0" b="0">
                          <a:solidFill>
                            <a:schemeClr val="tx1"/>
                          </a:solidFill>
                        </a:rPr>
                        <a:t> (linked claims/EHR)</a:t>
                      </a:r>
                      <a:r>
                        <a:rPr lang="en-US" sz="950" dirty="0" b="0">
                          <a:solidFill>
                            <a:schemeClr val="tx1"/>
                          </a:solidFill>
                        </a:rPr>
                        <a:t>; </a:t>
                      </a:r>
                      <a:r>
                        <a:rPr lang="en-US" sz="950" dirty="0" b="1">
                          <a:solidFill>
                            <a:schemeClr val="tx1"/>
                          </a:solidFill>
                        </a:rPr>
                        <a:t>Enriched Clinical Data</a:t>
                      </a:r>
                      <a:r>
                        <a:rPr lang="en-US" sz="950" dirty="0" b="0">
                          <a:solidFill>
                            <a:schemeClr val="tx1"/>
                          </a:solidFill>
                        </a:rPr>
                        <a:t> (NLP-extracted clinical variables)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96476">
                <a:tc>
                  <a:txBody>
                    <a:bodyPr/>
                    <a:lstStyle/>
                    <a:p>
                      <a:pPr algn="ctr" indent="0" marL="0">
                        <a:buNone/>
                      </a:pPr>
                      <a:r>
                        <a:rPr lang="en-US" sz="1050" b="1" dirty="0">
                          <a:solidFill>
                            <a:schemeClr val="accent1"/>
                          </a:solidFill>
                        </a:rPr>
                        <a:t>Explore patient</a:t>
                      </a:r>
                      <a:br/>
                      <a:pPr algn="ctr" indent="0" marL="0">
                        <a:buNone/>
                      </a:pP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models)</a:t>
                      </a:r>
                      <a:r>
                        <a:rPr lang="en-US" sz="950" dirty="0" b="0">
                          <a:solidFill>
                            <a:schemeClr val="tx1"/>
                          </a:solidFill>
                        </a:rPr>
                        <a:t>; </a:t>
                      </a: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b="1">
                          <a:solidFill>
                            <a:schemeClr val="tx1"/>
                          </a:solidFill>
                        </a:rPr>
                        <a:t>Prospector</a:t>
                      </a:r>
                      <a:r>
                        <a:rPr lang="en-US" sz="950" dirty="0" b="0">
                          <a:solidFill>
                            <a:schemeClr val="tx1"/>
                          </a:solidFill>
                        </a:rPr>
                        <a:t> (no-code cohort building, attrition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41612">
                <a:tc>
                  <a:txBody>
                    <a:bodyPr/>
                    <a:lstStyle/>
                    <a:p>
                      <a:pPr algn="ctr" indent="0" marL="0">
                        <a:buNone/>
                      </a:pPr>
                      <a:r>
                        <a:rPr lang="en-US" sz="1050" b="1" dirty="0">
                          <a:solidFill>
                            <a:schemeClr val="accent1"/>
                          </a:solidFill>
                        </a:rPr>
                        <a:t>Investigate broader</a:t>
                      </a:r>
                      <a:br/>
                      <a:pPr algn="ctr" indent="0" marL="0">
                        <a:buNone/>
                      </a:pP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dirty="0">
                          <a:solidFill>
                            <a:schemeClr val="tx1"/>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(statistical modeling, decision trees)</a:t>
                      </a:r>
                      <a:r>
                        <a:rPr lang="en-US" sz="950" dirty="0" b="0">
                          <a:solidFill>
                            <a:schemeClr val="tx1"/>
                          </a:solidFill>
                        </a:rPr>
                        <a:t>; </a:t>
                      </a:r>
                      <a:r>
                        <a:rPr lang="en-US" sz="950" dirty="0" b="1">
                          <a:solidFill>
                            <a:schemeClr val="tx1"/>
                          </a:solidFill>
                        </a:rPr>
                        <a:t>epidemiology research services</a:t>
                      </a:r>
                      <a:r>
                        <a:rPr lang="en-US" sz="950" dirty="0" b="0">
                          <a:solidFill>
                            <a:schemeClr val="tx1"/>
                          </a:solidFill>
                        </a:rPr>
                        <a:t> (advanced study methods, scientific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26" name="Invisible source link 5: https://www.merative.com/newsroom/truven-launches-">
            <a:hlinkClick r:id="rId3"/>
          </p:cNvPr>
          <p:cNvSpPr/>
          <p:nvPr/>
        </p:nvSpPr>
        <p:spPr>
          <a:xfrm>
            <a:off x="3531835" y="2122195"/>
            <a:ext cx="125081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5: https://healthverity.com/news/announcing-healthver">
            <a:hlinkClick r:id="rId4"/>
          </p:cNvPr>
          <p:cNvSpPr/>
          <p:nvPr/>
        </p:nvSpPr>
        <p:spPr>
          <a:xfrm>
            <a:off x="2953686" y="2308682"/>
            <a:ext cx="72556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5: https://healthverity.com/news/announcing-healthver">
            <a:hlinkClick r:id="rId4"/>
          </p:cNvPr>
          <p:cNvSpPr/>
          <p:nvPr/>
        </p:nvSpPr>
        <p:spPr>
          <a:xfrm>
            <a:off x="3716148" y="2311920"/>
            <a:ext cx="299336"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5: https://www.komodohealth.com/product/marmot/">
            <a:hlinkClick r:id="rId8"/>
          </p:cNvPr>
          <p:cNvSpPr/>
          <p:nvPr/>
        </p:nvSpPr>
        <p:spPr>
          <a:xfrm>
            <a:off x="3900118" y="3032277"/>
            <a:ext cx="426779"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5: https://www.komodohealth.com/press/komodo-health-u">
            <a:hlinkClick r:id="rId9"/>
          </p:cNvPr>
          <p:cNvSpPr/>
          <p:nvPr/>
        </p:nvSpPr>
        <p:spPr>
          <a:xfrm>
            <a:off x="4602828" y="3032277"/>
            <a:ext cx="346490"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5: https://www.truveta.com/blog/announcement/truveta-">
            <a:hlinkClick r:id="rId10"/>
          </p:cNvPr>
          <p:cNvSpPr/>
          <p:nvPr/>
        </p:nvSpPr>
        <p:spPr>
          <a:xfrm>
            <a:off x="3467040" y="3214446"/>
            <a:ext cx="112120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5: https://briya.com/aire-population-agent/">
            <a:hlinkClick r:id="rId11"/>
          </p:cNvPr>
          <p:cNvSpPr/>
          <p:nvPr/>
        </p:nvSpPr>
        <p:spPr>
          <a:xfrm>
            <a:off x="3339241" y="3400920"/>
            <a:ext cx="1312367"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Invisible source link 5: https://panalgo.com/ella/">
            <a:hlinkClick r:id="rId15"/>
          </p:cNvPr>
          <p:cNvSpPr/>
          <p:nvPr/>
        </p:nvSpPr>
        <p:spPr>
          <a:xfrm>
            <a:off x="3545157" y="4122001"/>
            <a:ext cx="34864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Invisible source link 5: https://www.bcplatforms.com/bc-catalyst">
            <a:hlinkClick r:id="rId16"/>
          </p:cNvPr>
          <p:cNvSpPr/>
          <p:nvPr/>
        </p:nvSpPr>
        <p:spPr>
          <a:xfrm>
            <a:off x="3716872" y="4308487"/>
            <a:ext cx="667975"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0" name="Invisible source link 6: https://business.optum.com/en/data-analytics/life-sciences/real-world-data/market-clarity-data.html">
            <a:hlinkClick r:id="rId5"/>
          </p:cNvPr>
          <p:cNvSpPr/>
          <p:nvPr/>
        </p:nvSpPr>
        <p:spPr>
          <a:xfrm>
            <a:off x="8704795" y="2126095"/>
            <a:ext cx="108876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1" name="Invisible source link 6: https://business.optum.com/en/data-analytics/life-sciences/real-world-data/enriched-clinical-data.html">
            <a:hlinkClick r:id="rId7"/>
          </p:cNvPr>
          <p:cNvSpPr/>
          <p:nvPr/>
        </p:nvSpPr>
        <p:spPr>
          <a:xfrm>
            <a:off x="10951197" y="2126095"/>
            <a:ext cx="513511"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2" name="Invisible source link 6: https://business.optum.com/en/data-analytics/life-sciences/real-world-data/enriched-clinical-data.html">
            <a:hlinkClick r:id="rId7"/>
          </p:cNvPr>
          <p:cNvSpPr/>
          <p:nvPr/>
        </p:nvSpPr>
        <p:spPr>
          <a:xfrm>
            <a:off x="8704795" y="2261820"/>
            <a:ext cx="72166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3" name="Invisible source link 6: https://business.optum.com/en/data-analytics/life-sciences/heor/exploratory-analysis.html">
            <a:hlinkClick r:id="rId12"/>
          </p:cNvPr>
          <p:cNvSpPr/>
          <p:nvPr/>
        </p:nvSpPr>
        <p:spPr>
          <a:xfrm>
            <a:off x="8704795" y="2989022"/>
            <a:ext cx="122299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4" name="Invisible source link 6: https://business.optum.com/en/data-analytics/life-sciences/real-world-data/clinical-notes.html">
            <a:hlinkClick r:id="rId13"/>
          </p:cNvPr>
          <p:cNvSpPr/>
          <p:nvPr/>
        </p:nvSpPr>
        <p:spPr>
          <a:xfrm>
            <a:off x="9198724" y="3124734"/>
            <a:ext cx="104185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5" name="Invisible source link 6: https://business.optum.com/en/data-analytics/life-sciences/clinical-trial-design.html">
            <a:hlinkClick r:id="rId14"/>
          </p:cNvPr>
          <p:cNvSpPr/>
          <p:nvPr/>
        </p:nvSpPr>
        <p:spPr>
          <a:xfrm>
            <a:off x="9198724" y="3260459"/>
            <a:ext cx="6345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6" name="Invisible source link 6: https://business.optum.com/en/data-analytics/life-sciences/heor/exploratory-analysis.html">
            <a:hlinkClick r:id="rId12"/>
          </p:cNvPr>
          <p:cNvSpPr/>
          <p:nvPr/>
        </p:nvSpPr>
        <p:spPr>
          <a:xfrm>
            <a:off x="8704795" y="4125901"/>
            <a:ext cx="122299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7" name="Invisible source link 6: https://business.optum.com/en/data-analytics/life-sciences/epidemiology-consulting.html">
            <a:hlinkClick r:id="rId17"/>
          </p:cNvPr>
          <p:cNvSpPr/>
          <p:nvPr/>
        </p:nvSpPr>
        <p:spPr>
          <a:xfrm>
            <a:off x="9078125" y="4261613"/>
            <a:ext cx="182394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pPr algn="l" indent="0" marL="0">
              <a:buNone/>
            </a:pPr>
            <a:r>
              <a:rPr lang="en-US" sz="2200" b="1" dirty="0">
                <a:solidFill>
                  <a:schemeClr val="accent1"/>
                </a:solidFill>
              </a:rPr>
              <a:t>research and more narrowly-defined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17795">
                <a:tc>
                  <a:txBody>
                    <a:bodyPr/>
                    <a:lstStyle/>
                    <a:p>
                      <a:pPr algn="ctr" indent="0" marL="0">
                        <a:buNone/>
                      </a:pPr>
                      <a:r>
                        <a:rPr lang="en-US" sz="1050" b="1" dirty="0">
                          <a:solidFill>
                            <a:schemeClr val="accent1"/>
                          </a:solidFill>
                        </a:rPr>
                        <a:t>Explore oncology and</a:t>
                      </a:r>
                      <a:br/>
                      <a:pPr algn="ctr" indent="0" marL="0">
                        <a:buNone/>
                      </a:pP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Enriched Clinical Data</a:t>
                      </a:r>
                      <a:r>
                        <a:rPr lang="en-US" sz="950" dirty="0" b="0">
                          <a:solidFill>
                            <a:schemeClr val="tx1"/>
                          </a:solidFill>
                        </a:rPr>
                        <a:t> (NLP-derived disease attributes)</a:t>
                      </a:r>
                      <a:r>
                        <a:rPr lang="en-US" sz="950" dirty="0" b="0">
                          <a:solidFill>
                            <a:schemeClr val="tx1"/>
                          </a:solidFill>
                        </a:rPr>
                        <a:t>; </a:t>
                      </a:r>
                      <a:r>
                        <a:rPr lang="en-US" sz="950" dirty="0" b="1">
                          <a:solidFill>
                            <a:schemeClr val="tx1"/>
                          </a:solidFill>
                        </a:rPr>
                        <a:t>clinicogenomics datasets</a:t>
                      </a:r>
                      <a:r>
                        <a:rPr lang="en-US" sz="950" dirty="0" b="0">
                          <a:solidFill>
                            <a:schemeClr val="tx1"/>
                          </a:solidFill>
                        </a:rPr>
                        <a:t> (linked clinical/genomic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2740">
                <a:tc>
                  <a:txBody>
                    <a:bodyPr/>
                    <a:lstStyle/>
                    <a:p>
                      <a:pPr algn="ctr" indent="0" marL="0">
                        <a:buNone/>
                      </a:pPr>
                      <a:r>
                        <a:rPr lang="en-US" sz="1050" b="1" dirty="0">
                          <a:solidFill>
                            <a:schemeClr val="accent1"/>
                          </a:solidFill>
                        </a:rPr>
                        <a:t>Investigate specialty-</a:t>
                      </a:r>
                      <a:br/>
                      <a:pPr algn="ctr" indent="0" marL="0">
                        <a:buNone/>
                      </a:pP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Clinical Notes Lab</a:t>
                      </a:r>
                      <a:r>
                        <a:rPr lang="en-US" sz="950" dirty="0" b="0">
                          <a:solidFill>
                            <a:schemeClr val="tx1"/>
                          </a:solidFill>
                        </a:rPr>
                        <a:t> (NLP/LLMs, custom AI models)</a:t>
                      </a:r>
                      <a:r>
                        <a:rPr lang="en-US" sz="950" dirty="0" b="0">
                          <a:solidFill>
                            <a:schemeClr val="tx1"/>
                          </a:solidFill>
                        </a:rPr>
                        <a:t>; </a:t>
                      </a:r>
                      <a:r>
                        <a:rPr lang="en-US" sz="950" dirty="0" b="1">
                          <a:solidFill>
                            <a:schemeClr val="tx1"/>
                          </a:solidFill>
                        </a:rPr>
                        <a:t>epidemiology and observational research</a:t>
                      </a:r>
                      <a:r>
                        <a:rPr lang="en-US" sz="950" dirty="0" b="0">
                          <a:solidFill>
                            <a:schemeClr val="tx1"/>
                          </a:solidFill>
                        </a:rPr>
                        <a:t> (study design, comparative effectiveness)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17795">
                <a:tc>
                  <a:txBody>
                    <a:bodyPr/>
                    <a:lstStyle/>
                    <a:p>
                      <a:pPr algn="ctr" indent="0" marL="0">
                        <a:buNone/>
                      </a:pPr>
                      <a:r>
                        <a:rPr lang="en-US" sz="1050" b="1" dirty="0">
                          <a:solidFill>
                            <a:schemeClr val="accent1"/>
                          </a:solidFill>
                        </a:rPr>
                        <a:t>Analyze curated</a:t>
                      </a:r>
                      <a:br/>
                      <a:pPr algn="ctr" indent="0" marL="0">
                        <a:buNone/>
                      </a:pP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Analytics on Demand</a:t>
                      </a:r>
                      <a:r>
                        <a:rPr lang="en-US" sz="950" dirty="0" b="0">
                          <a:solidFill>
                            <a:schemeClr val="tx1"/>
                          </a:solidFill>
                        </a:rPr>
                        <a:t> (advanced statistical modeling, survival analysis)</a:t>
                      </a:r>
                      <a:r>
                        <a:rPr lang="en-US" sz="950" dirty="0" b="0">
                          <a:solidFill>
                            <a:schemeClr val="tx1"/>
                          </a:solidFill>
                        </a:rPr>
                        <a:t>; </a:t>
                      </a:r>
                      <a:r>
                        <a:rPr lang="en-US" sz="950" dirty="0" b="1">
                          <a:solidFill>
                            <a:schemeClr val="tx1"/>
                          </a:solidFill>
                        </a:rPr>
                        <a:t>research data and study environments</a:t>
                      </a:r>
                      <a:r>
                        <a:rPr lang="en-US" sz="950" dirty="0" b="0">
                          <a:solidFill>
                            <a:schemeClr val="tx1"/>
                          </a:solidFill>
                        </a:rPr>
                        <a:t> (curated data, analytical workspaces)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where does conversational analysis end and scientific evidence generation begin? card"/>
          <p:cNvSpPr/>
          <p:nvPr/>
        </p:nvSpPr>
        <p:spPr>
          <a:xfrm>
            <a:off x="548640"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4824603"/>
            <a:ext cx="5052060" cy="484632"/>
          </a:xfrm>
          <a:prstGeom prst="rect">
            <a:avLst/>
          </a:prstGeom>
          <a:noFill/>
          <a:ln/>
        </p:spPr>
        <p:txBody>
          <a:bodyPr wrap="square" lIns="0" tIns="0" rIns="0" bIns="0" rtlCol="0" anchor="t"/>
          <a:lstStyle/>
          <a:p>
            <a:pPr indent="0" marL="0">
              <a:buNone/>
            </a:pPr>
            <a:r>
              <a:rPr lang="en-US" sz="1300" b="1" spc="150" kern="0" dirty="0">
                <a:solidFill>
                  <a:schemeClr val="accent2"/>
                </a:solidFill>
              </a:rPr>
              <a:t>WHERE DOES CONVERSATIONAL ANALYSIS END AND SCIENTIFIC EVIDENCE GENERATION BEGIN?</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Optum also markets epidemiology studies and Evidence Engine services. The conversational products above are not automatically equivalent to those scientific services.</a:t>
            </a:r>
            <a:endParaRPr lang="en-US" sz="1050" dirty="0"/>
          </a:p>
        </p:txBody>
      </p:sp>
      <p:sp>
        <p:nvSpPr>
          <p:cNvPr id="18" name="beyond the public evidence card"/>
          <p:cNvSpPr/>
          <p:nvPr/>
        </p:nvSpPr>
        <p:spPr>
          <a:xfrm>
            <a:off x="6185916"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48246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7"/>
          <p:cNvSpPr txBox="1"/>
          <p:nvPr/>
        </p:nvSpPr>
        <p:spPr>
          <a:xfrm>
            <a:off x="6387084" y="5153787"/>
            <a:ext cx="5052060" cy="705612"/>
          </a:xfrm>
          <a:prstGeom prst="rect">
            <a:avLst/>
          </a:prstGeom>
          <a:noFill/>
          <a:ln/>
        </p:spPr>
        <p:txBody>
          <a:bodyPr wrap="square" lIns="0" tIns="0" rIns="0" bIns="0" rtlCol="0" anchor="t"/>
          <a:lstStyle/>
          <a:p>
            <a:pPr indent="0" marL="0">
              <a:buNone/>
            </a:pPr>
            <a:r>
              <a:rPr lang="en-US" sz="1050" b="1"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Invisible source link 6: https://resources.flatiron.com/press/flatiron-heal">
            <a:hlinkClick r:id="rId3"/>
          </p:cNvPr>
          <p:cNvSpPr/>
          <p:nvPr/>
        </p:nvSpPr>
        <p:spPr>
          <a:xfrm>
            <a:off x="3846118" y="2080437"/>
            <a:ext cx="57616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6: https://www.tempus.com/solutions/lens/">
            <a:hlinkClick r:id="rId4"/>
          </p:cNvPr>
          <p:cNvSpPr/>
          <p:nvPr/>
        </p:nvSpPr>
        <p:spPr>
          <a:xfrm>
            <a:off x="3491512" y="2271242"/>
            <a:ext cx="269453"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6: https://www.concertai.com/precision-explorer">
            <a:hlinkClick r:id="rId7"/>
          </p:cNvPr>
          <p:cNvSpPr/>
          <p:nvPr/>
        </p:nvSpPr>
        <p:spPr>
          <a:xfrm>
            <a:off x="3605278" y="2995561"/>
            <a:ext cx="1056045"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6: https://veranahealth.com/verana-health-introduces-">
            <a:hlinkClick r:id="rId8"/>
          </p:cNvPr>
          <p:cNvSpPr/>
          <p:nvPr/>
        </p:nvSpPr>
        <p:spPr>
          <a:xfrm>
            <a:off x="2944326" y="3182035"/>
            <a:ext cx="848694" cy="8928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6: https://veranahealth.com/verana-health-introduces-">
            <a:hlinkClick r:id="rId8"/>
          </p:cNvPr>
          <p:cNvSpPr/>
          <p:nvPr/>
        </p:nvSpPr>
        <p:spPr>
          <a:xfrm>
            <a:off x="3828110" y="3182035"/>
            <a:ext cx="703966"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6: https://mdclone.com/meet-copilot/">
            <a:hlinkClick r:id="rId11"/>
          </p:cNvPr>
          <p:cNvSpPr/>
          <p:nvPr/>
        </p:nvSpPr>
        <p:spPr>
          <a:xfrm>
            <a:off x="3566759" y="3935882"/>
            <a:ext cx="88756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6: https://business.optum.com/en/data-analytics/life-">
            <a:hlinkClick r:id="rId10"/>
          </p:cNvPr>
          <p:cNvSpPr/>
          <p:nvPr/>
        </p:nvSpPr>
        <p:spPr>
          <a:xfrm>
            <a:off x="2065926" y="5418353"/>
            <a:ext cx="1352688"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6: https://business.optum.com/en/data-analytics/life-">
            <a:hlinkClick r:id="rId13"/>
          </p:cNvPr>
          <p:cNvSpPr/>
          <p:nvPr/>
        </p:nvSpPr>
        <p:spPr>
          <a:xfrm>
            <a:off x="3734512" y="5418353"/>
            <a:ext cx="1054242"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8" name="Invisible source link 7: https://business.optum.com/en/data-analytics/life-sciences/real-world-data/enriched-clinical-data.html">
            <a:hlinkClick r:id="rId5"/>
          </p:cNvPr>
          <p:cNvSpPr/>
          <p:nvPr/>
        </p:nvSpPr>
        <p:spPr>
          <a:xfrm>
            <a:off x="8704795" y="2016291"/>
            <a:ext cx="126978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9" name="Invisible source link 7: https://business.optum.com/en/data-analytics/life-sciences/clinicogenomics.html">
            <a:hlinkClick r:id="rId6"/>
          </p:cNvPr>
          <p:cNvSpPr/>
          <p:nvPr/>
        </p:nvSpPr>
        <p:spPr>
          <a:xfrm>
            <a:off x="9306725" y="2152016"/>
            <a:ext cx="1463350"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0" name="Invisible source link 7: https://business.optum.com/en/data-analytics/life-sciences/real-world-data/clinical-notes.html">
            <a:hlinkClick r:id="rId9"/>
          </p:cNvPr>
          <p:cNvSpPr/>
          <p:nvPr/>
        </p:nvSpPr>
        <p:spPr>
          <a:xfrm>
            <a:off x="8704795" y="2931415"/>
            <a:ext cx="104185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1" name="Invisible source link 7: https://business.optum.com/en/data-analytics/life-sciences/epidemiology-consulting.html">
            <a:hlinkClick r:id="rId10"/>
          </p:cNvPr>
          <p:cNvSpPr/>
          <p:nvPr/>
        </p:nvSpPr>
        <p:spPr>
          <a:xfrm>
            <a:off x="8704795" y="3067140"/>
            <a:ext cx="237218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2" name="Invisible source link 7: https://business.optum.com/en/data-analytics/life-sciences/heor/exploratory-analysis.html">
            <a:hlinkClick r:id="rId12"/>
          </p:cNvPr>
          <p:cNvSpPr/>
          <p:nvPr/>
        </p:nvSpPr>
        <p:spPr>
          <a:xfrm>
            <a:off x="8704795" y="3778492"/>
            <a:ext cx="122299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95553">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(linked claims/EHR data, market attractiveness and portfolio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95553">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(patient/prescriber segmentation, treatment patterns, market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85825">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(observed patient/prescriber insights)</a:t>
                      </a:r>
                      <a:r>
                        <a:rPr lang="en-US" sz="950" dirty="0" b="0">
                          <a:solidFill>
                            <a:schemeClr val="tx1"/>
                          </a:solidFill>
                        </a:rPr>
                        <a:t>; </a:t>
                      </a:r>
                      <a:r>
                        <a:rPr lang="en-US" sz="950" dirty="0" b="0">
                          <a:solidFill>
                            <a:schemeClr val="tx1"/>
                          </a:solidFill>
                        </a:rPr>
                        <a:t>no comparable simulated-persona offering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8" name="transition to other workflows card"/>
          <p:cNvSpPr/>
          <p:nvPr/>
        </p:nvSpPr>
        <p:spPr>
          <a:xfrm>
            <a:off x="6185916"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TRANSITION TO OTHER DOMAINS</a:t>
            </a:r>
            <a:endParaRPr lang="en-US" sz="1300" dirty="0"/>
          </a:p>
        </p:txBody>
      </p:sp>
      <p:sp>
        <p:nvSpPr>
          <p:cNvPr id="20" name="Text 17"/>
          <p:cNvSpPr txBox="1"/>
          <p:nvPr/>
        </p:nvSpPr>
        <p:spPr>
          <a:xfrm>
            <a:off x="6387084"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Invisible source link 7: https://www.iqvia.com/solutions/commercialization/">
            <a:hlinkClick r:id="rId3"/>
          </p:cNvPr>
          <p:cNvSpPr/>
          <p:nvPr/>
        </p:nvSpPr>
        <p:spPr>
          <a:xfrm>
            <a:off x="3379195" y="2079358"/>
            <a:ext cx="593452" cy="11015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7: https://www.iqvia.com/solutions/commercialization/">
            <a:hlinkClick r:id="rId3"/>
          </p:cNvPr>
          <p:cNvSpPr/>
          <p:nvPr/>
        </p:nvSpPr>
        <p:spPr>
          <a:xfrm>
            <a:off x="4044110" y="2076119"/>
            <a:ext cx="115648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7: https://www.gbihealth.com.cn/en/products/gbi-bot">
            <a:hlinkClick r:id="rId4"/>
          </p:cNvPr>
          <p:cNvSpPr/>
          <p:nvPr/>
        </p:nvSpPr>
        <p:spPr>
          <a:xfrm>
            <a:off x="3655671" y="2265832"/>
            <a:ext cx="497695"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7: https://support.prospection.com/en_US/530415-using">
            <a:hlinkClick r:id="rId5"/>
          </p:cNvPr>
          <p:cNvSpPr/>
          <p:nvPr/>
        </p:nvSpPr>
        <p:spPr>
          <a:xfrm>
            <a:off x="3705708" y="2452319"/>
            <a:ext cx="440457"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7: https://www.iqvia.com/solutions/commercialization/">
            <a:hlinkClick r:id="rId3"/>
          </p:cNvPr>
          <p:cNvSpPr/>
          <p:nvPr/>
        </p:nvSpPr>
        <p:spPr>
          <a:xfrm>
            <a:off x="3382433" y="3003486"/>
            <a:ext cx="1005652"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7: https://zaidyn.zs.com/products/zaidyn-commercial/c">
            <a:hlinkClick r:id="rId7"/>
          </p:cNvPr>
          <p:cNvSpPr/>
          <p:nvPr/>
        </p:nvSpPr>
        <p:spPr>
          <a:xfrm>
            <a:off x="3219354" y="3189960"/>
            <a:ext cx="2410360"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7: https://close-upinternational.com/es/crm-farmaceut">
            <a:hlinkClick r:id="rId8"/>
          </p:cNvPr>
          <p:cNvSpPr/>
          <p:nvPr/>
        </p:nvSpPr>
        <p:spPr>
          <a:xfrm>
            <a:off x="4260833" y="3376447"/>
            <a:ext cx="51677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7: https://trinitylifesciences.com/products/insightse">
            <a:hlinkClick r:id="rId9"/>
          </p:cNvPr>
          <p:cNvSpPr/>
          <p:nvPr/>
        </p:nvSpPr>
        <p:spPr>
          <a:xfrm>
            <a:off x="4080469" y="4105084"/>
            <a:ext cx="1560764" cy="11375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7: https://www.ipsos.com/en/healthcare/healthcare-per">
            <a:hlinkClick r:id="rId10"/>
          </p:cNvPr>
          <p:cNvSpPr/>
          <p:nvPr/>
        </p:nvSpPr>
        <p:spPr>
          <a:xfrm>
            <a:off x="3357961" y="4291558"/>
            <a:ext cx="1317764"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3" name="Invisible source link 8: https://business.optum.com/en/data-analytics/life-sciences/real-world-data/market-clarity-data.html">
            <a:hlinkClick r:id="rId6"/>
          </p:cNvPr>
          <p:cNvSpPr/>
          <p:nvPr/>
        </p:nvSpPr>
        <p:spPr>
          <a:xfrm>
            <a:off x="8704795" y="2172895"/>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4" name="Invisible source link 8: https://business.optum.com/en/data-analytics/life-sciences/real-world-data/market-clarity-data.html">
            <a:hlinkClick r:id="rId6"/>
          </p:cNvPr>
          <p:cNvSpPr/>
          <p:nvPr/>
        </p:nvSpPr>
        <p:spPr>
          <a:xfrm>
            <a:off x="8704795" y="3168295"/>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5" name="Invisible source link 8: https://business.optum.com/en/data-analytics/life-sciences/real-world-data/market-clarity-data.html">
            <a:hlinkClick r:id="rId6"/>
          </p:cNvPr>
          <p:cNvSpPr/>
          <p:nvPr/>
        </p:nvSpPr>
        <p:spPr>
          <a:xfrm>
            <a:off x="8704795" y="4040938"/>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pPr algn="l" indent="0" marL="0">
              <a:buNone/>
            </a:pP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9042">
                <a:tc>
                  <a:txBody>
                    <a:bodyPr/>
                    <a:lstStyle/>
                    <a:p>
                      <a:pPr algn="ctr" indent="0" marL="0">
                        <a:buNone/>
                      </a:pPr>
                      <a:r>
                        <a:rPr lang="en-US" sz="1050" b="1" dirty="0">
                          <a:solidFill>
                            <a:schemeClr val="accent1"/>
                          </a:solidFill>
                        </a:rPr>
                        <a:t>Search and synthesize</a:t>
                      </a:r>
                      <a:br/>
                      <a:pPr algn="ctr" indent="0" marL="0">
                        <a:buNone/>
                      </a:pP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Epidemiology research</a:t>
                      </a:r>
                      <a:r>
                        <a:rPr lang="en-US" sz="950" dirty="0" b="0">
                          <a:solidFill>
                            <a:schemeClr val="tx1"/>
                          </a:solidFill>
                        </a:rPr>
                        <a:t> (study design, RWE generation)</a:t>
                      </a:r>
                      <a:r>
                        <a:rPr lang="en-US" sz="950" dirty="0" b="0">
                          <a:solidFill>
                            <a:schemeClr val="tx1"/>
                          </a:solidFill>
                        </a:rPr>
                        <a:t>; </a:t>
                      </a:r>
                      <a:r>
                        <a:rPr lang="en-US" sz="950" dirty="0" b="1">
                          <a:solidFill>
                            <a:schemeClr val="tx1"/>
                          </a:solidFill>
                        </a:rPr>
                        <a:t>postapproval safety and comparative-effectiveness studies</a:t>
                      </a:r>
                      <a:r>
                        <a:rPr lang="en-US" sz="950" dirty="0" b="0">
                          <a:solidFill>
                            <a:schemeClr val="tx1"/>
                          </a:solidFill>
                        </a:rPr>
                        <a:t> (statistical analysis)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176316">
                <a:tc>
                  <a:txBody>
                    <a:bodyPr/>
                    <a:lstStyle/>
                    <a:p>
                      <a:pPr algn="ctr" indent="0" marL="0">
                        <a:buNone/>
                      </a:pPr>
                      <a:r>
                        <a:rPr lang="en-US" sz="1050" b="1" dirty="0">
                          <a:solidFill>
                            <a:schemeClr val="accent1"/>
                          </a:solidFill>
                        </a:rPr>
                        <a:t>Explore medical insights and</a:t>
                      </a:r>
                      <a:br/>
                      <a:pPr algn="ctr" indent="0" marL="0">
                        <a:buNone/>
                      </a:pP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Market Clarity</a:t>
                      </a:r>
                      <a:r>
                        <a:rPr lang="en-US" sz="950" dirty="0" b="0">
                          <a:solidFill>
                            <a:schemeClr val="tx1"/>
                          </a:solidFill>
                        </a:rPr>
                        <a:t> (medical affairs evidence, MSL insights, HCP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74259">
                <a:tc>
                  <a:txBody>
                    <a:bodyPr/>
                    <a:lstStyle/>
                    <a:p>
                      <a:pPr algn="ctr" indent="0" marL="0">
                        <a:buNone/>
                      </a:pPr>
                      <a:r>
                        <a:rPr lang="en-US" sz="1050" b="1" dirty="0">
                          <a:solidFill>
                            <a:schemeClr val="accent1"/>
                          </a:solidFill>
                        </a:rPr>
                        <a:t>Question and navigate</a:t>
                      </a:r>
                      <a:br/>
                      <a:pPr algn="ctr" indent="0" marL="0">
                        <a:buNone/>
                      </a:pP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Safety and evidence-research services</a:t>
                      </a:r>
                      <a:r>
                        <a:rPr lang="en-US" sz="950" dirty="0" b="0">
                          <a:solidFill>
                            <a:schemeClr val="tx1"/>
                          </a:solidFill>
                        </a:rPr>
                        <a:t> (scientific analysis)</a:t>
                      </a:r>
                      <a:r>
                        <a:rPr lang="en-US" sz="950" dirty="0" b="0">
                          <a:solidFill>
                            <a:schemeClr val="tx1"/>
                          </a:solidFill>
                        </a:rPr>
                        <a:t>; </a:t>
                      </a:r>
                      <a:r>
                        <a:rPr lang="en-US" sz="950" dirty="0" b="0">
                          <a:solidFill>
                            <a:schemeClr val="tx1"/>
                          </a:solidFill>
                        </a:rPr>
                        <a:t>no comparable regulated-document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Invisible source link 8: https://www.iqvia.com/solutions/innovative-models/">
            <a:hlinkClick r:id="rId3"/>
          </p:cNvPr>
          <p:cNvSpPr/>
          <p:nvPr/>
        </p:nvSpPr>
        <p:spPr>
          <a:xfrm>
            <a:off x="3389634" y="2141283"/>
            <a:ext cx="1702240"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8: https://zaidyn.zs.com/products/zaidyn-medical/conv">
            <a:hlinkClick r:id="rId5"/>
          </p:cNvPr>
          <p:cNvSpPr/>
          <p:nvPr/>
        </p:nvSpPr>
        <p:spPr>
          <a:xfrm>
            <a:off x="3217564" y="3012833"/>
            <a:ext cx="216231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8: https://evidenze.com/">
            <a:hlinkClick r:id="rId6"/>
          </p:cNvPr>
          <p:cNvSpPr/>
          <p:nvPr/>
        </p:nvSpPr>
        <p:spPr>
          <a:xfrm>
            <a:off x="3558835" y="3335032"/>
            <a:ext cx="1742562"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8: https://platform.veevavault.help/en/lr/950642">
            <a:hlinkClick r:id="rId8"/>
          </p:cNvPr>
          <p:cNvSpPr/>
          <p:nvPr/>
        </p:nvSpPr>
        <p:spPr>
          <a:xfrm>
            <a:off x="3396111" y="4249077"/>
            <a:ext cx="738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6" name="Invisible source link 9: https://business.optum.com/en/data-analytics/life-sciences/epidemiology-consulting.html">
            <a:hlinkClick r:id="rId4"/>
          </p:cNvPr>
          <p:cNvSpPr/>
          <p:nvPr/>
        </p:nvSpPr>
        <p:spPr>
          <a:xfrm>
            <a:off x="8704795" y="1983893"/>
            <a:ext cx="1323576"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7" name="Invisible source link 9: https://business.optum.com/en/data-analytics/life-sciences/epidemiology-consulting.html">
            <a:hlinkClick r:id="rId4"/>
          </p:cNvPr>
          <p:cNvSpPr/>
          <p:nvPr/>
        </p:nvSpPr>
        <p:spPr>
          <a:xfrm>
            <a:off x="9379800" y="2119618"/>
            <a:ext cx="138315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8" name="Invisible source link 9: https://business.optum.com/en/data-analytics/life-sciences/epidemiology-consulting.html">
            <a:hlinkClick r:id="rId4"/>
          </p:cNvPr>
          <p:cNvSpPr/>
          <p:nvPr/>
        </p:nvSpPr>
        <p:spPr>
          <a:xfrm>
            <a:off x="8704795" y="2255343"/>
            <a:ext cx="196419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9" name="Invisible source link 9: https://business.optum.com/en/data-analytics/life-sciences/real-world-data/market-clarity-data.html">
            <a:hlinkClick r:id="rId7"/>
          </p:cNvPr>
          <p:cNvSpPr/>
          <p:nvPr/>
        </p:nvSpPr>
        <p:spPr>
          <a:xfrm>
            <a:off x="8704795" y="3152103"/>
            <a:ext cx="79498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1587288"/>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608076">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Prospector</a:t>
                      </a:r>
                      <a:r>
                        <a:rPr lang="en-US" sz="950" dirty="0" b="0">
                          <a:solidFill>
                            <a:schemeClr val="tx1"/>
                          </a:solidFill>
                        </a:rPr>
                        <a:t> (no-code cohort building, attrition funnels)</a:t>
                      </a:r>
                      <a:r>
                        <a:rPr lang="en-US" sz="950" dirty="0" b="0">
                          <a:solidFill>
                            <a:schemeClr val="tx1"/>
                          </a:solidFill>
                        </a:rPr>
                        <a:t>; </a:t>
                      </a:r>
                      <a:r>
                        <a:rPr lang="en-US" sz="950" dirty="0" b="1">
                          <a:solidFill>
                            <a:schemeClr val="tx1"/>
                          </a:solidFill>
                        </a:rPr>
                        <a:t>Digital Research Network</a:t>
                      </a:r>
                      <a:r>
                        <a:rPr lang="en-US" sz="950" dirty="0" b="0">
                          <a:solidFill>
                            <a:schemeClr val="tx1"/>
                          </a:solidFill>
                        </a:rPr>
                        <a:t> (patient identification, recruitment infrastructure)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50028">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True Source</a:t>
                      </a:r>
                      <a:r>
                        <a:rPr lang="en-US" sz="950" dirty="0" b="0">
                          <a:solidFill>
                            <a:schemeClr val="tx1"/>
                          </a:solidFill>
                        </a:rPr>
                        <a:t> (electronic source-data capture)</a:t>
                      </a:r>
                      <a:r>
                        <a:rPr lang="en-US" sz="950" dirty="0" b="0">
                          <a:solidFill>
                            <a:schemeClr val="tx1"/>
                          </a:solidFill>
                        </a:rPr>
                        <a:t>; </a:t>
                      </a:r>
                      <a:r>
                        <a:rPr lang="en-US" sz="950" dirty="0" b="0">
                          <a:solidFill>
                            <a:schemeClr val="tx1"/>
                          </a:solidFill>
                        </a:rPr>
                        <a:t>no comparable conversational document assistant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489241"/>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763561"/>
          <a:ext cx="11091672" cy="122682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97636">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b="1">
                          <a:solidFill>
                            <a:schemeClr val="tx1"/>
                          </a:solidFill>
                        </a:rPr>
                        <a:t>HEOR/value evidence</a:t>
                      </a:r>
                      <a:r>
                        <a:rPr lang="en-US" sz="950" dirty="0" b="0">
                          <a:solidFill>
                            <a:schemeClr val="tx1"/>
                          </a:solidFill>
                        </a:rPr>
                        <a:t> (outcomes research, economic analysis)</a:t>
                      </a:r>
                      <a:r>
                        <a:rPr lang="en-US" sz="950" dirty="0" b="0">
                          <a:solidFill>
                            <a:schemeClr val="tx1"/>
                          </a:solidFill>
                        </a:rPr>
                        <a:t>; </a:t>
                      </a:r>
                      <a:r>
                        <a:rPr lang="en-US" sz="950" dirty="0" b="1">
                          <a:solidFill>
                            <a:schemeClr val="tx1"/>
                          </a:solidFill>
                        </a:rPr>
                        <a:t>Evidence Engine</a:t>
                      </a:r>
                      <a:r>
                        <a:rPr lang="en-US" sz="950" dirty="0" b="0">
                          <a:solidFill>
                            <a:schemeClr val="tx1"/>
                          </a:solidFill>
                        </a:rPr>
                        <a:t> (evidence-generation support)</a:t>
                      </a:r>
                      <a:r>
                        <a:rPr lang="en-US" sz="950" dirty="0" b="0">
                          <a:solidFill>
                            <a:schemeClr val="tx1"/>
                          </a:solidFill>
                        </a:rPr>
                        <a:t>; </a:t>
                      </a:r>
                      <a:r>
                        <a:rPr lang="en-US" sz="950" dirty="0" b="1">
                          <a:solidFill>
                            <a:schemeClr val="tx1"/>
                          </a:solidFill>
                        </a:rPr>
                        <a:t>health economic and budget impact modeling</a:t>
                      </a:r>
                      <a:r>
                        <a:rPr lang="en-US" sz="950" dirty="0" b="0">
                          <a:solidFill>
                            <a:schemeClr val="tx1"/>
                          </a:solidFill>
                        </a:rPr>
                        <a:t> (cost and budget scenarios)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5136685"/>
            <a:ext cx="11091672" cy="971507"/>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749808" y="5183526"/>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6"/>
          <p:cNvSpPr txBox="1"/>
          <p:nvPr/>
        </p:nvSpPr>
        <p:spPr>
          <a:xfrm>
            <a:off x="749808" y="5494422"/>
            <a:ext cx="10689336" cy="566928"/>
          </a:xfrm>
          <a:prstGeom prst="rect">
            <a:avLst/>
          </a:prstGeom>
          <a:noFill/>
          <a:ln/>
        </p:spPr>
        <p:txBody>
          <a:bodyPr wrap="square" lIns="0" tIns="0" rIns="0" bIns="0" rtlCol="0" anchor="t"/>
          <a:lstStyle/>
          <a:p>
            <a:pPr indent="0" marL="0">
              <a:buNone/>
            </a:pPr>
            <a:r>
              <a:rPr lang="en-US" sz="1000" b="1" dirty="0">
                <a:solidFill>
                  <a:schemeClr val="tx1"/>
                </a:solidFill>
              </a:rPr>
              <a:t>For Clinical Trials, does the interface help identify viable sites, evaluate patients or manage trial documents—and how far does it go?</a:t>
            </a:r>
            <a:endParaRPr lang="en-US" sz="1050" dirty="0"/>
          </a:p>
          <a:p>
            <a:pPr indent="0" marL="0">
              <a:spcBef>
                <a:spcPts val="600"/>
              </a:spcBef>
              <a:buNone/>
            </a:pPr>
            <a:r>
              <a:rPr lang="en-US" sz="1000" b="1" dirty="0">
                <a:solidFill>
                  <a:schemeClr val="tx1"/>
                </a:solidFill>
              </a:rPr>
              <a:t>For Market Access, is the customer asking for pricing intelligence, reimbursement information or new economic evidence? Where do the vendor offerings overlap with Optum LS, and where do they solve a different problem?</a:t>
            </a:r>
            <a:endParaRPr lang="en-US" sz="1050" dirty="0"/>
          </a:p>
        </p:txBody>
      </p:sp>
      <p:sp>
        <p:nvSpPr>
          <p:cNvPr id="25" name="Slide Number Placeholder 0"/>
          <p:cNvSpPr>
            <a:spLocks noGrp="1"/>
          </p:cNvSpPr>
          <p:nvPr>
            <p:ph type="sldNum" sz="quarter" idx="4294967295"/>
          </p:nvPr>
        </p:nvSpPr>
        <p:spPr>
          <a:xfrm>
            <a:off x="10725912" y="668545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Invisible source link 9: https://trinetx.com/solutions/trinetx-live/terrain">
            <a:hlinkClick r:id="rId3"/>
          </p:cNvPr>
          <p:cNvSpPr/>
          <p:nvPr/>
        </p:nvSpPr>
        <p:spPr>
          <a:xfrm>
            <a:off x="3465236" y="2275234"/>
            <a:ext cx="1119405"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9: https://cn.taimei.com/index/product/id/41">
            <a:hlinkClick r:id="rId5"/>
          </p:cNvPr>
          <p:cNvSpPr/>
          <p:nvPr/>
        </p:nvSpPr>
        <p:spPr>
          <a:xfrm>
            <a:off x="3408354" y="2903825"/>
            <a:ext cx="51713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9: https://www.navlin.com/products/tender">
            <a:hlinkClick r:id="rId6"/>
          </p:cNvPr>
          <p:cNvSpPr/>
          <p:nvPr/>
        </p:nvSpPr>
        <p:spPr>
          <a:xfrm>
            <a:off x="3719031" y="4427791"/>
            <a:ext cx="684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0" name="Invisible source link 10: https://business.optum.com/en/data-analytics/life-sciences/clinical-trial-design.html">
            <a:hlinkClick r:id="rId4"/>
          </p:cNvPr>
          <p:cNvSpPr/>
          <p:nvPr/>
        </p:nvSpPr>
        <p:spPr>
          <a:xfrm>
            <a:off x="8704795" y="2185862"/>
            <a:ext cx="63459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1" name="Invisible source link 10: https://business.optum.com/en/data-analytics/life-sciences/clinical-trial-design.html">
            <a:hlinkClick r:id="rId4"/>
          </p:cNvPr>
          <p:cNvSpPr/>
          <p:nvPr/>
        </p:nvSpPr>
        <p:spPr>
          <a:xfrm>
            <a:off x="9198724" y="2321574"/>
            <a:ext cx="144960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2" name="Invisible source link 10: https://business.optum.com/en/data-analytics/life-sciences/clinical-trial-design.html">
            <a:hlinkClick r:id="rId4"/>
          </p:cNvPr>
          <p:cNvSpPr/>
          <p:nvPr/>
        </p:nvSpPr>
        <p:spPr>
          <a:xfrm>
            <a:off x="8704795" y="2814778"/>
            <a:ext cx="69416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3" name="Invisible source link 10: https://business.optum.com/en/data-analytics/life-sciences/heor.html">
            <a:hlinkClick r:id="rId7"/>
          </p:cNvPr>
          <p:cNvSpPr/>
          <p:nvPr/>
        </p:nvSpPr>
        <p:spPr>
          <a:xfrm>
            <a:off x="8704795" y="4270262"/>
            <a:ext cx="1236262"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4" name="Invisible source link 10: https://business.optum.com/en/data-analytics/life-sciences/evidence-engine.html">
            <a:hlinkClick r:id="rId8"/>
          </p:cNvPr>
          <p:cNvSpPr/>
          <p:nvPr/>
        </p:nvSpPr>
        <p:spPr>
          <a:xfrm>
            <a:off x="9794519" y="4405974"/>
            <a:ext cx="962019"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5" name="Invisible source link 10: https://business.optum.com/en/data-analytics/life-sciences/value-based-contracts.html">
            <a:hlinkClick r:id="rId9"/>
          </p:cNvPr>
          <p:cNvSpPr/>
          <p:nvPr/>
        </p:nvSpPr>
        <p:spPr>
          <a:xfrm>
            <a:off x="9815753" y="4541699"/>
            <a:ext cx="1630018"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6" name="Invisible source link 10: https://business.optum.com/en/data-analytics/life-sciences/value-based-contracts.html">
            <a:hlinkClick r:id="rId9"/>
          </p:cNvPr>
          <p:cNvSpPr/>
          <p:nvPr/>
        </p:nvSpPr>
        <p:spPr>
          <a:xfrm>
            <a:off x="8704795" y="4677411"/>
            <a:ext cx="955145" cy="13458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ADDITIONAL COMPETITIVE DYNAMIC: LLM PROVIDERS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behind conversational AI are expanding into pharmaceutical workflows through partnerships, specialized offerings and acquisitions</a:t>
            </a:r>
            <a:endParaRPr lang="en-US" sz="2200" dirty="0"/>
          </a:p>
        </p:txBody>
      </p:sp>
      <p:sp>
        <p:nvSpPr>
          <p:cNvPr id="4" name="label"/>
          <p:cNvSpPr txBox="1"/>
          <p:nvPr/>
        </p:nvSpPr>
        <p:spPr>
          <a:xfrm>
            <a:off x="548640" y="148132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965960"/>
                <a:gridCol w="5349240"/>
                <a:gridCol w="3776472"/>
              </a:tblGrid>
              <a:tr h="402336">
                <a:tc>
                  <a:txBody>
                    <a:bodyPr/>
                    <a:lstStyle/>
                    <a:p>
                      <a:pPr indent="0" marL="0">
                        <a:buNone/>
                      </a:pPr>
                      <a:r>
                        <a:rPr lang="en-US" sz="900" b="1" spc="0" kern="0" dirty="0">
                          <a:solidFill>
                            <a:schemeClr val="bg1"/>
                          </a:solidFill>
                        </a:rPr>
                        <a:t>LLM PROVIDER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LLM providers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LLM providers are building offerings aimed more directly at life-sciences users. These products are not necessarily direct substitutes for Optum LS's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LLM providers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4738878"/>
            <a:ext cx="11091672" cy="138760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4812030"/>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4900544"/>
            <a:ext cx="225308" cy="225308"/>
          </a:xfrm>
          <a:prstGeom prst="rect">
            <a:avLst/>
          </a:prstGeom>
        </p:spPr>
      </p:pic>
      <p:sp>
        <p:nvSpPr>
          <p:cNvPr id="9" name="label"/>
          <p:cNvSpPr txBox="1"/>
          <p:nvPr/>
        </p:nvSpPr>
        <p:spPr>
          <a:xfrm>
            <a:off x="1280160" y="4812030"/>
            <a:ext cx="7315200" cy="402336"/>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QUESTIONS FOR OPTUM LS</a:t>
            </a:r>
            <a:endParaRPr lang="en-US" sz="1300" dirty="0"/>
          </a:p>
        </p:txBody>
      </p:sp>
      <p:sp>
        <p:nvSpPr>
          <p:cNvPr id="10" name="Text 6"/>
          <p:cNvSpPr txBox="1"/>
          <p:nvPr/>
        </p:nvSpPr>
        <p:spPr>
          <a:xfrm>
            <a:off x="1280160" y="5287518"/>
            <a:ext cx="10131552" cy="777240"/>
          </a:xfrm>
          <a:prstGeom prst="rect">
            <a:avLst/>
          </a:prstGeom>
          <a:noFill/>
          <a:ln/>
        </p:spPr>
        <p:txBody>
          <a:bodyPr wrap="square" lIns="0" tIns="0" rIns="0" bIns="0" rtlCol="0" anchor="t"/>
          <a:lstStyle/>
          <a:p>
            <a:pPr indent="0" marL="0">
              <a:buNone/>
            </a:pPr>
            <a:r>
              <a:rPr lang="en-US" sz="1100" b="1" dirty="0">
                <a:solidFill>
                  <a:schemeClr val="accent1"/>
                </a:solidFill>
              </a:rPr>
              <a:t>As LLM providers expand beyond supplying general-purpose models, where will they remain technology partners to established life-sciences vendors—and where might they increasingly compete for the same pharmaceutical customers and workflows?</a:t>
            </a:r>
            <a:endParaRPr lang="en-US" sz="1100" dirty="0"/>
          </a:p>
          <a:p>
            <a:pPr indent="0" marL="0">
              <a:spcBef>
                <a:spcPts val="600"/>
              </a:spcBef>
              <a:buNone/>
            </a:pPr>
            <a:r>
              <a:rPr lang="en-US" sz="1100" b="1" dirty="0">
                <a:solidFill>
                  <a:schemeClr val="accent1"/>
                </a:solidFill>
              </a:rPr>
              <a:t>What could these developments mean for the competitive positions of companies whose offerings combine differentiated healthcare data, research tools and scientific expertise?</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
        <p:nvSpPr>
          <p:cNvPr id="26" name="Invisible source link 10: https://www.anthropic.com/news/claude-for-life-sci">
            <a:hlinkClick r:id="rId4"/>
          </p:cNvPr>
          <p:cNvSpPr/>
          <p:nvPr/>
        </p:nvSpPr>
        <p:spPr>
          <a:xfrm>
            <a:off x="2626448" y="2224087"/>
            <a:ext cx="1507487"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10: https://www.anthropic.com/news/healthcare-life-sci">
            <a:hlinkClick r:id="rId5"/>
          </p:cNvPr>
          <p:cNvSpPr/>
          <p:nvPr/>
        </p:nvSpPr>
        <p:spPr>
          <a:xfrm>
            <a:off x="2626448" y="2403005"/>
            <a:ext cx="994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10: https://www.datavant.com/blog/how-ai-is-powering-s">
            <a:hlinkClick r:id="rId6"/>
          </p:cNvPr>
          <p:cNvSpPr/>
          <p:nvPr/>
        </p:nvSpPr>
        <p:spPr>
          <a:xfrm>
            <a:off x="2626448" y="2584793"/>
            <a:ext cx="871732"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10: https://www.datavant.com/blog/how-ai-is-powering-s">
            <a:hlinkClick r:id="rId6"/>
          </p:cNvPr>
          <p:cNvSpPr/>
          <p:nvPr/>
        </p:nvSpPr>
        <p:spPr>
          <a:xfrm>
            <a:off x="3576475" y="2581922"/>
            <a:ext cx="869205"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10: https://www.anthropic.com/news/claude-for-life-sci">
            <a:hlinkClick r:id="rId4"/>
          </p:cNvPr>
          <p:cNvSpPr/>
          <p:nvPr/>
        </p:nvSpPr>
        <p:spPr>
          <a:xfrm>
            <a:off x="3290639" y="3188525"/>
            <a:ext cx="1320278"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10: https://openai.com/index/introducing-gpt-rosalind/">
            <a:hlinkClick r:id="rId7"/>
          </p:cNvPr>
          <p:cNvSpPr/>
          <p:nvPr/>
        </p:nvSpPr>
        <p:spPr>
          <a:xfrm>
            <a:off x="3157442" y="3495611"/>
            <a:ext cx="73889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10: https://cohere.com/blog/cohere-acquires-reliant-ai">
            <a:hlinkClick r:id="rId8"/>
          </p:cNvPr>
          <p:cNvSpPr/>
          <p:nvPr/>
        </p:nvSpPr>
        <p:spPr>
          <a:xfrm>
            <a:off x="2628607" y="4088168"/>
            <a:ext cx="103732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10: https://cohere.com/blog/cohere-acquires-reliant-ai">
            <a:hlinkClick r:id="rId8"/>
          </p:cNvPr>
          <p:cNvSpPr/>
          <p:nvPr/>
        </p:nvSpPr>
        <p:spPr>
          <a:xfrm>
            <a:off x="3916666" y="4344479"/>
            <a:ext cx="86920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a:t>
            </a:r>
            <a:endParaRPr lang="en-US" sz="1000" dirty="0"/>
          </a:p>
        </p:txBody>
      </p:sp>
      <p:sp>
        <p:nvSpPr>
          <p:cNvPr id="3" name="slide 1 — evidence boundary"/>
          <p:cNvSpPr/>
          <p:nvPr/>
        </p:nvSpPr>
        <p:spPr>
          <a:xfrm>
            <a:off x="548640"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2 — EXECUTIVE SUMMARY</a:t>
            </a:r>
            <a:endParaRPr lang="en-US" sz="1000" dirty="0"/>
          </a:p>
        </p:txBody>
      </p:sp>
      <p:sp>
        <p:nvSpPr>
          <p:cNvPr id="5" name="Text 3"/>
          <p:cNvSpPr txBox="1"/>
          <p:nvPr/>
        </p:nvSpPr>
        <p:spPr>
          <a:xfrm>
            <a:off x="731520"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Public product marketing and announcements reviewed as of October 13, 2026. The findings describe selected screened inventories—not a market census, adoption rates, verified product performance or undisclosed capabilities.</a:t>
            </a:r>
            <a:endParaRPr lang="en-US" sz="1000" dirty="0"/>
          </a:p>
        </p:txBody>
      </p:sp>
      <p:sp>
        <p:nvSpPr>
          <p:cNvPr id="6" name="slide 2 — evidence boundary"/>
          <p:cNvSpPr/>
          <p:nvPr/>
        </p:nvSpPr>
        <p:spPr>
          <a:xfrm>
            <a:off x="4300728"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RESEARCH CATALYST</a:t>
            </a:r>
            <a:endParaRPr lang="en-US" sz="1000" dirty="0"/>
          </a:p>
        </p:txBody>
      </p:sp>
      <p:sp>
        <p:nvSpPr>
          <p:cNvPr id="8" name="Text 6"/>
          <p:cNvSpPr txBox="1"/>
          <p:nvPr/>
        </p:nvSpPr>
        <p:spPr>
          <a:xfrm>
            <a:off x="4483608"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Dates reflect selected public announcements or releases, not necessarily first feature availability. The timeline illustrates a research catalyst, not measured market-wide growth. AI-enabled or agentic launches are not automatically qualifying conversational products; Norstella’s Atlas Patient Analytics is excluded from the final conversational count.</a:t>
            </a:r>
            <a:endParaRPr lang="en-US" sz="1000" dirty="0"/>
          </a:p>
        </p:txBody>
      </p:sp>
      <p:sp>
        <p:nvSpPr>
          <p:cNvPr id="9" name="slide 3 — methodology note"/>
          <p:cNvSpPr/>
          <p:nvPr/>
        </p:nvSpPr>
        <p:spPr>
          <a:xfrm>
            <a:off x="8052816"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U.S. LANDSCAPE</a:t>
            </a:r>
            <a:endParaRPr lang="en-US" sz="1000" dirty="0"/>
          </a:p>
        </p:txBody>
      </p:sp>
      <p:sp>
        <p:nvSpPr>
          <p:cNvPr id="11" name="Text 9"/>
          <p:cNvSpPr txBox="1"/>
          <p:nvPr/>
        </p:nvSpPr>
        <p:spPr>
          <a:xfrm>
            <a:off x="8235696"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Of 45 groups initially screened, 43 qualified as comparable across the five domains. Included peers are </a:t>
            </a:r>
            <a:pPr indent="0" marL="0">
              <a:buNone/>
            </a:pPr>
            <a:r>
              <a:rPr lang="en-US" sz="1000" b="1" dirty="0">
                <a:solidFill>
                  <a:schemeClr val="tx1"/>
                </a:solidFill>
              </a:rPr>
              <a:t>direct and specialized/partial offering-level competitors</a:t>
            </a:r>
            <a:pPr indent="0" marL="0">
              <a:buNone/>
            </a:pPr>
            <a:r>
              <a:rPr lang="en-US" sz="1000" dirty="0">
                <a:solidFill>
                  <a:schemeClr val="tx1"/>
                </a:solidFill>
              </a:rPr>
              <a:t> serving similar customer tasks; adjacent participants are excluded. Counts represent distinct company groups per domain, not product totals. A company may appear in multiple domains. </a:t>
            </a:r>
            <a:pPr indent="0" marL="0">
              <a:buNone/>
            </a:pPr>
            <a:pPr indent="0" marL="0">
              <a:buNone/>
            </a:pPr>
            <a:r>
              <a:rPr lang="en-US" sz="1000" dirty="0">
                <a:solidFill>
                  <a:schemeClr val="tx1"/>
                </a:solidFill>
              </a:rPr>
              <a:t>These are selected screened companies, not market-wide adoption rates.</a:t>
            </a:r>
            <a:endParaRPr lang="en-US" sz="1000" dirty="0"/>
          </a:p>
        </p:txBody>
      </p:sp>
      <p:sp>
        <p:nvSpPr>
          <p:cNvPr id="15" name="slide 4 — evidence boundary"/>
          <p:cNvSpPr/>
          <p:nvPr/>
        </p:nvSpPr>
        <p:spPr>
          <a:xfrm>
            <a:off x="548640"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31520"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INTERNATIONAL SCREENS</a:t>
            </a:r>
            <a:endParaRPr lang="en-US" sz="1000" dirty="0"/>
          </a:p>
        </p:txBody>
      </p:sp>
      <p:sp>
        <p:nvSpPr>
          <p:cNvPr id="17" name="Text 15"/>
          <p:cNvSpPr txBox="1"/>
          <p:nvPr/>
        </p:nvSpPr>
        <p:spPr>
          <a:xfrm>
            <a:off x="731520"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00" dirty="0"/>
          </a:p>
        </p:txBody>
      </p:sp>
      <p:sp>
        <p:nvSpPr>
          <p:cNvPr id="18" name="slide 5 — evidence boundary"/>
          <p:cNvSpPr/>
          <p:nvPr/>
        </p:nvSpPr>
        <p:spPr>
          <a:xfrm>
            <a:off x="4300728"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4483608"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6 — RWE</a:t>
            </a:r>
            <a:endParaRPr lang="en-US" sz="1000" dirty="0"/>
          </a:p>
        </p:txBody>
      </p:sp>
      <p:sp>
        <p:nvSpPr>
          <p:cNvPr id="20" name="Text 18"/>
          <p:cNvSpPr txBox="1"/>
          <p:nvPr/>
        </p:nvSpPr>
        <p:spPr>
          <a:xfrm>
            <a:off x="4483608"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
        <p:nvSpPr>
          <p:cNvPr id="3" name="slide 6 — evidence boundary"/>
          <p:cNvSpPr/>
          <p:nvPr/>
        </p:nvSpPr>
        <p:spPr>
          <a:xfrm>
            <a:off x="8055864" y="3163824"/>
            <a:ext cx="3587496" cy="217627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8238744" y="3310128"/>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7 — SPECIALIZED RWE</a:t>
            </a:r>
            <a:endParaRPr lang="en-US" sz="1000" dirty="0"/>
          </a:p>
        </p:txBody>
      </p:sp>
      <p:sp>
        <p:nvSpPr>
          <p:cNvPr id="5" name="Text 3"/>
          <p:cNvSpPr txBox="1"/>
          <p:nvPr/>
        </p:nvSpPr>
        <p:spPr>
          <a:xfrm>
            <a:off x="8238744" y="3584448"/>
            <a:ext cx="3221736" cy="1682495"/>
          </a:xfrm>
          <a:prstGeom prst="rect">
            <a:avLst/>
          </a:prstGeom>
          <a:noFill/>
          <a:ln/>
        </p:spPr>
        <p:txBody>
          <a:bodyPr wrap="square" lIns="0" tIns="0" rIns="0" bIns="0" rtlCol="0" anchor="t"/>
          <a:lstStyle/>
          <a:p>
            <a:pPr indent="0" marL="0">
              <a:buNone/>
            </a:pPr>
            <a:r>
              <a:rPr lang="en-US" sz="1000" dirty="0">
                <a:solidFill>
                  <a:schemeClr val="tx1"/>
                </a:solidFill>
              </a:rPr>
              <a:t>Scope: Four qualifying U.S. conversational offerings plus one selected international example. Product descriptions are based on public marketing; study-grade reliability, data entitlements and actual deployment are not independently established.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 (CONT.)</a:t>
            </a:r>
            <a:endParaRPr lang="en-US" sz="1000" dirty="0"/>
          </a:p>
        </p:txBody>
      </p:sp>
      <p:sp>
        <p:nvSpPr>
          <p:cNvPr id="6" name="slide 7 — evidence boundary"/>
          <p:cNvSpPr/>
          <p:nvPr/>
        </p:nvSpPr>
        <p:spPr>
          <a:xfrm>
            <a:off x="548640" y="822960"/>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8 — COMMERCIAL INTELLIGENCE</a:t>
            </a:r>
            <a:endParaRPr lang="en-US" sz="1000" dirty="0"/>
          </a:p>
        </p:txBody>
      </p:sp>
      <p:sp>
        <p:nvSpPr>
          <p:cNvPr id="8" name="Text 6"/>
          <p:cNvSpPr txBox="1"/>
          <p:nvPr/>
        </p:nvSpPr>
        <p:spPr>
          <a:xfrm>
            <a:off x="731520" y="1243584"/>
            <a:ext cx="3221736" cy="1828800"/>
          </a:xfrm>
          <a:prstGeom prst="rect">
            <a:avLst/>
          </a:prstGeom>
          <a:noFill/>
          <a:ln/>
        </p:spPr>
        <p:txBody>
          <a:bodyPr wrap="square" lIns="0" tIns="0" rIns="0" bIns="0" rtlCol="0" anchor="t"/>
          <a:lstStyle/>
          <a:p>
            <a:pPr indent="0" marL="0">
              <a:buNone/>
            </a:pPr>
            <a:r>
              <a:rPr lang="en-US" sz="1000" dirty="0">
                <a:solidFill>
                  <a:schemeClr val="tx1"/>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1000" dirty="0"/>
          </a:p>
        </p:txBody>
      </p:sp>
      <p:sp>
        <p:nvSpPr>
          <p:cNvPr id="9" name="slide 8 — evidence boundary"/>
          <p:cNvSpPr/>
          <p:nvPr/>
        </p:nvSpPr>
        <p:spPr>
          <a:xfrm>
            <a:off x="4297680" y="822960"/>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448056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9 — MEDICAL / REGULATORY</a:t>
            </a:r>
            <a:endParaRPr lang="en-US" sz="1000" dirty="0"/>
          </a:p>
        </p:txBody>
      </p:sp>
      <p:sp>
        <p:nvSpPr>
          <p:cNvPr id="11" name="Text 9"/>
          <p:cNvSpPr txBox="1"/>
          <p:nvPr/>
        </p:nvSpPr>
        <p:spPr>
          <a:xfrm>
            <a:off x="4480560" y="1243584"/>
            <a:ext cx="3221736" cy="1828800"/>
          </a:xfrm>
          <a:prstGeom prst="rect">
            <a:avLst/>
          </a:prstGeom>
          <a:noFill/>
          <a:ln/>
        </p:spPr>
        <p:txBody>
          <a:bodyPr wrap="square" lIns="0" tIns="0" rIns="0" bIns="0" rtlCol="0" anchor="t"/>
          <a:lstStyle/>
          <a:p>
            <a:pPr indent="0" marL="0">
              <a:buNone/>
            </a:pPr>
            <a:r>
              <a:rPr lang="en-US" sz="1000" dirty="0">
                <a:solidFill>
                  <a:schemeClr val="tx1"/>
                </a:solidFill>
              </a:rPr>
              <a:t>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1000" dirty="0"/>
          </a:p>
        </p:txBody>
      </p:sp>
      <p:sp>
        <p:nvSpPr>
          <p:cNvPr id="12" name="slide 9 — evidence boundary"/>
          <p:cNvSpPr/>
          <p:nvPr/>
        </p:nvSpPr>
        <p:spPr>
          <a:xfrm>
            <a:off x="8055864" y="822960"/>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8238744"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TRIALS &amp; MARKET ACCESS</a:t>
            </a:r>
            <a:endParaRPr lang="en-US" sz="1000" dirty="0"/>
          </a:p>
        </p:txBody>
      </p:sp>
      <p:sp>
        <p:nvSpPr>
          <p:cNvPr id="14" name="Text 12"/>
          <p:cNvSpPr txBox="1"/>
          <p:nvPr/>
        </p:nvSpPr>
        <p:spPr>
          <a:xfrm>
            <a:off x="8238744" y="1243584"/>
            <a:ext cx="3221736" cy="1828800"/>
          </a:xfrm>
          <a:prstGeom prst="rect">
            <a:avLst/>
          </a:prstGeom>
          <a:noFill/>
          <a:ln/>
        </p:spPr>
        <p:txBody>
          <a:bodyPr wrap="square" lIns="0" tIns="0" rIns="0" bIns="0" rtlCol="0" anchor="t"/>
          <a:lstStyle/>
          <a:p>
            <a:pPr indent="0" marL="0">
              <a:buNone/>
            </a:pPr>
            <a:r>
              <a:rPr lang="en-US" sz="1000" dirty="0">
                <a:solidFill>
                  <a:schemeClr val="tx1"/>
                </a:solidFill>
              </a:rPr>
              <a:t>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1000" dirty="0"/>
          </a:p>
        </p:txBody>
      </p:sp>
      <p:sp>
        <p:nvSpPr>
          <p:cNvPr id="15" name="slide 10 — evidence boundary"/>
          <p:cNvSpPr/>
          <p:nvPr/>
        </p:nvSpPr>
        <p:spPr>
          <a:xfrm>
            <a:off x="548640" y="3310128"/>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31520" y="3456432"/>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11 — LLM PROVIDERS</a:t>
            </a:r>
            <a:endParaRPr lang="en-US" sz="1000" dirty="0"/>
          </a:p>
        </p:txBody>
      </p:sp>
      <p:sp>
        <p:nvSpPr>
          <p:cNvPr id="17" name="Text 15"/>
          <p:cNvSpPr txBox="1"/>
          <p:nvPr/>
        </p:nvSpPr>
        <p:spPr>
          <a:xfrm>
            <a:off x="731520" y="3730752"/>
            <a:ext cx="3221736" cy="1828800"/>
          </a:xfrm>
          <a:prstGeom prst="rect">
            <a:avLst/>
          </a:prstGeom>
          <a:noFill/>
          <a:ln/>
        </p:spPr>
        <p:txBody>
          <a:bodyPr wrap="square" lIns="0" tIns="0" rIns="0" bIns="0" rtlCol="0" anchor="t"/>
          <a:lstStyle/>
          <a:p>
            <a:pPr indent="0" marL="0">
              <a:buNone/>
            </a:pPr>
            <a:r>
              <a:rPr lang="en-US" sz="1000" dirty="0">
                <a:solidFill>
                  <a:schemeClr val="tx1"/>
                </a:solidFill>
              </a:rPr>
              <a:t>These are selected publicly documented developments, not an exhaustive assessment of LLM providers. The three approaches are neither mutually exclusive nor predictions of future competition. They do not establish that LLM providers caused the recent RWE launch cluster, are displacing established vendors, or expose an Optum capability gap. Not all LLM provider offerings qualify as conversational products; they are not additions to the deck's product counts. North for Pharma was described as planned; Explore Assistant's general commercial availability was not established in our review.</a:t>
            </a:r>
            <a:endParaRPr lang="en-US" sz="1000" dirty="0"/>
          </a:p>
        </p:txBody>
      </p:sp>
      <p:sp>
        <p:nvSpPr>
          <p:cNvPr id="18"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
        <p:nvSpPr>
          <p:cNvPr id="26" name="Source convention 13"/>
          <p:cNvSpPr/>
          <p:nvPr/>
        </p:nvSpPr>
        <p:spPr>
          <a:xfrm>
            <a:off x="4297680" y="3310128"/>
            <a:ext cx="3587496" cy="2322576"/>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Source convention 14"/>
          <p:cNvSpPr txBox="1"/>
          <p:nvPr/>
        </p:nvSpPr>
        <p:spPr>
          <a:xfrm>
            <a:off x="4480560" y="3456432"/>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PUBLIC-SOURCE LINK CONVENTION</a:t>
            </a:r>
            <a:endParaRPr lang="en-US" sz="1000" dirty="0"/>
          </a:p>
        </p:txBody>
      </p:sp>
      <p:sp>
        <p:nvSpPr>
          <p:cNvPr id="28" name="Source convention 15"/>
          <p:cNvSpPr txBox="1"/>
          <p:nvPr/>
        </p:nvSpPr>
        <p:spPr>
          <a:xfrm>
            <a:off x="4480560" y="3730752"/>
            <a:ext cx="3221736" cy="1828800"/>
          </a:xfrm>
          <a:prstGeom prst="rect">
            <a:avLst/>
          </a:prstGeom>
          <a:noFill/>
          <a:ln/>
        </p:spPr>
        <p:txBody>
          <a:bodyPr wrap="square" lIns="0" tIns="0" rIns="0" bIns="0" rtlCol="0" anchor="t"/>
          <a:lstStyle/>
          <a:p>
            <a:pPr indent="0" marL="0">
              <a:buNone/>
            </a:pPr>
            <a:r>
              <a:rPr lang="en-US" sz="1000" dirty="0">
                <a:solidFill>
                  <a:schemeClr val="tx1"/>
                </a:solidFill>
              </a:rPr>
              <a:t>Named products, offerings and developments link directly to public vendor documentation or announcements. Quantitative findings are independent screening and classification results, not externally published statistics. Independent work sample; not commissioned by or affiliated with Optum.</a:t>
            </a:r>
            <a:endParaRPr lang="en-US" sz="1000" dirty="0"/>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Biopharma — Independent Competitive Intelligence Work Sample</dc:title>
  <dc:subject>Verified public-source links embedded invisibly over existing product and company names</dc:subject>
  <dc:creator>Joseph Marino</dc:creator>
  <cp:lastModifiedBy>Joseph Marino</cp:lastModifiedBy>
  <cp:revision>1</cp:revision>
  <dcterms:created xsi:type="dcterms:W3CDTF">2026-10-14T02:26:17Z</dcterms:created>
  <dcterms:modified xsi:type="dcterms:W3CDTF">2026-10-14T02:26:17Z</dcterms:modified>
</cp:coreProperties>
</file>