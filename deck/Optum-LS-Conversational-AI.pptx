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1143a9a4-3204-d4be-ee70-8946b8dae713}">
          <p14:sldIdLst>
            <p14:sldId id="256"/>
          </p14:sldIdLst>
        </p14:section>
        <p14:section name="Research catalyst" id="{9203be9a-9172-1ff0-49c3-bd50e2d5d770}">
          <p14:sldIdLst>
            <p14:sldId id="257"/>
          </p14:sldIdLst>
        </p14:section>
        <p14:section name="U.S. competitive landscape" id="{a9fd9fa7-5e03-3ad6-b66e-a14772e22cb3}">
          <p14:sldIdLst>
            <p14:sldId id="258"/>
          </p14:sldIdLst>
        </p14:section>
        <p14:section name="International competitor screens" id="{1abdbefb-206b-8983-571b-cf9f40ec2b15}">
          <p14:sldIdLst>
            <p14:sldId id="259"/>
          </p14:sldIdLst>
        </p14:section>
        <p14:section name="Workflow deep dives" id="{8dddd3fc-4aec-8d47-ee6c-9ac5269d35e9}">
          <p14:sldIdLst>
            <p14:sldId id="260"/>
            <p14:sldId id="261"/>
            <p14:sldId id="262"/>
            <p14:sldId id="263"/>
            <p14:sldId id="264"/>
          </p14:sldIdLst>
        </p14:section>
        <p14:section name="AI suppliers" id="{5fe9d585-6911-eb84-2885-14beba9812a3}">
          <p14:sldIdLst>
            <p14:sldId id="265"/>
          </p14:sldIdLst>
        </p14:section>
        <p14:section name="Methodology note" id="{ad12b04c-4fa3-4ca4-f089-1382db1946a7}">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292035398230087"/>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 (reference)</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 new ways to access information, analytics and decision support</a:t>
            </a:r>
            <a:endParaRPr lang="en-US" sz="2200" dirty="0"/>
          </a:p>
        </p:txBody>
      </p:sp>
      <p:sp>
        <p:nvSpPr>
          <p:cNvPr id="4" name="lens card"/>
          <p:cNvSpPr/>
          <p:nvPr/>
        </p:nvSpPr>
        <p:spPr>
          <a:xfrm>
            <a:off x="548640" y="1536192"/>
            <a:ext cx="11091672" cy="1371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 name="icon circle"/>
          <p:cNvSpPr/>
          <p:nvPr/>
        </p:nvSpPr>
        <p:spPr>
          <a:xfrm>
            <a:off x="777240" y="1737360"/>
            <a:ext cx="475488" cy="475488"/>
          </a:xfrm>
          <a:prstGeom prst="ellipse">
            <a:avLst/>
          </a:prstGeom>
          <a:solidFill>
            <a:schemeClr val="accent5"/>
          </a:solidFill>
          <a:ln/>
        </p:spPr>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dirty="0">
                <a:solidFill>
                  <a:schemeClr val="tx1"/>
                </a:solidFill>
              </a:rPr>
              <a:t>An assessment of publicly marketed conversational AI across five Optum Life Sciences decision workflows:</a:t>
            </a:r>
            <a:endParaRPr lang="en-US" sz="1100" dirty="0"/>
          </a:p>
        </p:txBody>
      </p:sp>
      <p:sp>
        <p:nvSpPr>
          <p:cNvPr id="9" name="workflow chip RWE"/>
          <p:cNvSpPr/>
          <p:nvPr/>
        </p:nvSpPr>
        <p:spPr>
          <a:xfrm>
            <a:off x="1417320" y="2304288"/>
            <a:ext cx="506578" cy="292608"/>
          </a:xfrm>
          <a:prstGeom prst="roundRect">
            <a:avLst>
              <a:gd name="adj" fmla="val 50000"/>
            </a:avLst>
          </a:prstGeom>
          <a:solidFill>
            <a:schemeClr val="accent5"/>
          </a:solidFill>
          <a:ln w="9525">
            <a:solidFill>
              <a:schemeClr val="accent1"/>
            </a:solidFill>
            <a:prstDash val="solid"/>
          </a:ln>
        </p:spPr>
      </p:sp>
      <p:sp>
        <p:nvSpPr>
          <p:cNvPr id="10" name="Text 7"/>
          <p:cNvSpPr txBox="1"/>
          <p:nvPr/>
        </p:nvSpPr>
        <p:spPr>
          <a:xfrm>
            <a:off x="1417320" y="2304288"/>
            <a:ext cx="506578" cy="292608"/>
          </a:xfrm>
          <a:prstGeom prst="rect">
            <a:avLst/>
          </a:prstGeom>
          <a:noFill/>
          <a:ln/>
        </p:spPr>
        <p:txBody>
          <a:bodyPr wrap="square" lIns="0" tIns="0" rIns="0" bIns="0" rtlCol="0" anchor="ctr"/>
          <a:lstStyle/>
          <a:p>
            <a:pPr algn="ctr" indent="0" marL="0">
              <a:buNone/>
            </a:pPr>
            <a:r>
              <a:rPr lang="en-US" sz="1000" b="1" dirty="0">
                <a:solidFill>
                  <a:schemeClr val="accent1"/>
                </a:solidFill>
              </a:rPr>
              <a:t>RWE</a:t>
            </a:r>
            <a:endParaRPr lang="en-US" sz="1000" dirty="0"/>
          </a:p>
        </p:txBody>
      </p:sp>
      <p:sp>
        <p:nvSpPr>
          <p:cNvPr id="11" name="workflow chip Commercial intelligence"/>
          <p:cNvSpPr/>
          <p:nvPr/>
        </p:nvSpPr>
        <p:spPr>
          <a:xfrm>
            <a:off x="2033626" y="2304288"/>
            <a:ext cx="1933042" cy="292608"/>
          </a:xfrm>
          <a:prstGeom prst="roundRect">
            <a:avLst>
              <a:gd name="adj" fmla="val 50000"/>
            </a:avLst>
          </a:prstGeom>
          <a:solidFill>
            <a:schemeClr val="accent5"/>
          </a:solidFill>
          <a:ln w="9525">
            <a:solidFill>
              <a:schemeClr val="accent1"/>
            </a:solidFill>
            <a:prstDash val="solid"/>
          </a:ln>
        </p:spPr>
      </p:sp>
      <p:sp>
        <p:nvSpPr>
          <p:cNvPr id="12" name="Text 9"/>
          <p:cNvSpPr txBox="1"/>
          <p:nvPr/>
        </p:nvSpPr>
        <p:spPr>
          <a:xfrm>
            <a:off x="2033626" y="2304288"/>
            <a:ext cx="1933042" cy="292608"/>
          </a:xfrm>
          <a:prstGeom prst="rect">
            <a:avLst/>
          </a:prstGeom>
          <a:noFill/>
          <a:ln/>
        </p:spPr>
        <p:txBody>
          <a:bodyPr wrap="square" lIns="0" tIns="0" rIns="0" bIns="0" rtlCol="0" anchor="ctr"/>
          <a:lstStyle/>
          <a:p>
            <a:pPr algn="ctr" indent="0" marL="0">
              <a:buNone/>
            </a:pPr>
            <a:r>
              <a:rPr lang="en-US" sz="1000" b="1" dirty="0">
                <a:solidFill>
                  <a:schemeClr val="accent1"/>
                </a:solidFill>
              </a:rPr>
              <a:t>Commercial intelligence</a:t>
            </a:r>
            <a:endParaRPr lang="en-US" sz="1000" dirty="0"/>
          </a:p>
        </p:txBody>
      </p:sp>
      <p:sp>
        <p:nvSpPr>
          <p:cNvPr id="13" name="workflow chip Medical / regulatory research"/>
          <p:cNvSpPr/>
          <p:nvPr/>
        </p:nvSpPr>
        <p:spPr>
          <a:xfrm>
            <a:off x="4076395" y="2304288"/>
            <a:ext cx="2360981" cy="292608"/>
          </a:xfrm>
          <a:prstGeom prst="roundRect">
            <a:avLst>
              <a:gd name="adj" fmla="val 50000"/>
            </a:avLst>
          </a:prstGeom>
          <a:solidFill>
            <a:schemeClr val="accent5"/>
          </a:solidFill>
          <a:ln w="9525">
            <a:solidFill>
              <a:schemeClr val="accent1"/>
            </a:solidFill>
            <a:prstDash val="solid"/>
          </a:ln>
        </p:spPr>
      </p:sp>
      <p:sp>
        <p:nvSpPr>
          <p:cNvPr id="14" name="Text 11"/>
          <p:cNvSpPr txBox="1"/>
          <p:nvPr/>
        </p:nvSpPr>
        <p:spPr>
          <a:xfrm>
            <a:off x="4076395" y="2304288"/>
            <a:ext cx="2360981" cy="292608"/>
          </a:xfrm>
          <a:prstGeom prst="rect">
            <a:avLst/>
          </a:prstGeom>
          <a:noFill/>
          <a:ln/>
        </p:spPr>
        <p:txBody>
          <a:bodyPr wrap="square" lIns="0" tIns="0" rIns="0" bIns="0" rtlCol="0" anchor="ctr"/>
          <a:lstStyle/>
          <a:p>
            <a:pPr algn="ctr" indent="0" marL="0">
              <a:buNone/>
            </a:pPr>
            <a:r>
              <a:rPr lang="en-US" sz="1000" b="1" dirty="0">
                <a:solidFill>
                  <a:schemeClr val="accent1"/>
                </a:solidFill>
              </a:rPr>
              <a:t>Medical / regulatory research</a:t>
            </a:r>
            <a:endParaRPr lang="en-US" sz="1000" dirty="0"/>
          </a:p>
        </p:txBody>
      </p:sp>
      <p:sp>
        <p:nvSpPr>
          <p:cNvPr id="15" name="workflow chip Clinical trials"/>
          <p:cNvSpPr/>
          <p:nvPr/>
        </p:nvSpPr>
        <p:spPr>
          <a:xfrm>
            <a:off x="6547104" y="2304288"/>
            <a:ext cx="1362456" cy="292608"/>
          </a:xfrm>
          <a:prstGeom prst="roundRect">
            <a:avLst>
              <a:gd name="adj" fmla="val 50000"/>
            </a:avLst>
          </a:prstGeom>
          <a:solidFill>
            <a:schemeClr val="accent5"/>
          </a:solidFill>
          <a:ln w="9525">
            <a:solidFill>
              <a:schemeClr val="accent1"/>
            </a:solidFill>
            <a:prstDash val="solid"/>
          </a:ln>
        </p:spPr>
      </p:sp>
      <p:sp>
        <p:nvSpPr>
          <p:cNvPr id="16" name="Text 13"/>
          <p:cNvSpPr txBox="1"/>
          <p:nvPr/>
        </p:nvSpPr>
        <p:spPr>
          <a:xfrm>
            <a:off x="6547104" y="2304288"/>
            <a:ext cx="1362456" cy="292608"/>
          </a:xfrm>
          <a:prstGeom prst="rect">
            <a:avLst/>
          </a:prstGeom>
          <a:noFill/>
          <a:ln/>
        </p:spPr>
        <p:txBody>
          <a:bodyPr wrap="square" lIns="0" tIns="0" rIns="0" bIns="0" rtlCol="0" anchor="ctr"/>
          <a:lstStyle/>
          <a:p>
            <a:pPr algn="ctr" indent="0" marL="0">
              <a:buNone/>
            </a:pPr>
            <a:r>
              <a:rPr lang="en-US" sz="1000" b="1" dirty="0">
                <a:solidFill>
                  <a:schemeClr val="accent1"/>
                </a:solidFill>
              </a:rPr>
              <a:t>Clinical trials</a:t>
            </a:r>
            <a:endParaRPr lang="en-US" sz="1000" dirty="0"/>
          </a:p>
        </p:txBody>
      </p:sp>
      <p:sp>
        <p:nvSpPr>
          <p:cNvPr id="17" name="Text 14"/>
          <p:cNvSpPr txBox="1"/>
          <p:nvPr/>
        </p:nvSpPr>
        <p:spPr>
          <a:xfrm>
            <a:off x="8019288" y="2304288"/>
            <a:ext cx="329184" cy="29260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8403336" y="2304288"/>
            <a:ext cx="1219810" cy="292608"/>
          </a:xfrm>
          <a:prstGeom prst="roundRect">
            <a:avLst>
              <a:gd name="adj" fmla="val 50000"/>
            </a:avLst>
          </a:prstGeom>
          <a:solidFill>
            <a:schemeClr val="accent5"/>
          </a:solidFill>
          <a:ln w="9525">
            <a:solidFill>
              <a:schemeClr val="accent1"/>
            </a:solidFill>
            <a:prstDash val="solid"/>
          </a:ln>
        </p:spPr>
      </p:sp>
      <p:sp>
        <p:nvSpPr>
          <p:cNvPr id="19" name="Text 16"/>
          <p:cNvSpPr txBox="1"/>
          <p:nvPr/>
        </p:nvSpPr>
        <p:spPr>
          <a:xfrm>
            <a:off x="8403336" y="2304288"/>
            <a:ext cx="1219810" cy="292608"/>
          </a:xfrm>
          <a:prstGeom prst="rect">
            <a:avLst/>
          </a:prstGeom>
          <a:noFill/>
          <a:ln/>
        </p:spPr>
        <p:txBody>
          <a:bodyPr wrap="square" lIns="0" tIns="0" rIns="0" bIns="0" rtlCol="0" anchor="ctr"/>
          <a:lstStyle/>
          <a:p>
            <a:pPr algn="ctr" indent="0" marL="0">
              <a:buNone/>
            </a:pPr>
            <a:r>
              <a:rPr lang="en-US" sz="1000" b="1" dirty="0">
                <a:solidFill>
                  <a:schemeClr val="accent1"/>
                </a:solidFill>
              </a:rPr>
              <a:t>Market access</a:t>
            </a:r>
            <a:endParaRPr lang="en-US" sz="100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dirty="0">
                <a:solidFill>
                  <a:schemeClr val="tx1"/>
                </a:solidFill>
              </a:rPr>
              <a:t>The U.S. competitive landscape is the primary focus; selected international offerings provide context; and Optum LS is the strategic reference point.</a:t>
            </a:r>
            <a:endParaRPr lang="en-US" sz="1100" dirty="0"/>
          </a:p>
        </p:txBody>
      </p:sp>
      <p:sp>
        <p:nvSpPr>
          <p:cNvPr id="21" name="key findings card"/>
          <p:cNvSpPr/>
          <p:nvPr/>
        </p:nvSpPr>
        <p:spPr>
          <a:xfrm>
            <a:off x="548640" y="3035808"/>
            <a:ext cx="3575304" cy="26060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2" name="icon circle"/>
          <p:cNvSpPr/>
          <p:nvPr/>
        </p:nvSpPr>
        <p:spPr>
          <a:xfrm>
            <a:off x="777240" y="3236976"/>
            <a:ext cx="457200" cy="457200"/>
          </a:xfrm>
          <a:prstGeom prst="ellipse">
            <a:avLst/>
          </a:prstGeom>
          <a:solidFill>
            <a:schemeClr val="accent5"/>
          </a:solidFill>
          <a:ln/>
        </p:spPr>
      </p:sp>
      <p:pic>
        <p:nvPicPr>
          <p:cNvPr id="23" name="icon MdInsights" descr="preencoded.png">    </p:cNvPr>
          <p:cNvPicPr>
            <a:picLocks noChangeAspect="1"/>
          </p:cNvPicPr>
          <p:nvPr/>
        </p:nvPicPr>
        <p:blipFill>
          <a:blip r:embed="rId2"/>
          <a:stretch>
            <a:fillRect/>
          </a:stretch>
        </p:blipFill>
        <p:spPr>
          <a:xfrm>
            <a:off x="877824" y="3337560"/>
            <a:ext cx="256032" cy="256032"/>
          </a:xfrm>
          <a:prstGeom prst="rect">
            <a:avLst/>
          </a:prstGeom>
        </p:spPr>
      </p:pic>
      <p:sp>
        <p:nvSpPr>
          <p:cNvPr id="24" name="card label"/>
          <p:cNvSpPr txBox="1"/>
          <p:nvPr/>
        </p:nvSpPr>
        <p:spPr>
          <a:xfrm>
            <a:off x="1353312" y="3328416"/>
            <a:ext cx="2660904"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3840480"/>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19</a:t>
            </a:r>
            <a:endParaRPr lang="en-US" sz="3400" dirty="0"/>
          </a:p>
        </p:txBody>
      </p:sp>
      <p:sp>
        <p:nvSpPr>
          <p:cNvPr id="26" name="Text 22"/>
          <p:cNvSpPr txBox="1"/>
          <p:nvPr/>
        </p:nvSpPr>
        <p:spPr>
          <a:xfrm>
            <a:off x="1444752" y="39044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19 qualifying conversational AI offerings across five decision workflows, concentrated in RWE and commercial intelligence.</a:t>
            </a:r>
            <a:endParaRPr lang="en-US" sz="1050" dirty="0"/>
          </a:p>
        </p:txBody>
      </p:sp>
      <p:sp>
        <p:nvSpPr>
          <p:cNvPr id="27" name="Shape 23"/>
          <p:cNvSpPr/>
          <p:nvPr/>
        </p:nvSpPr>
        <p:spPr>
          <a:xfrm>
            <a:off x="777240" y="4690872"/>
            <a:ext cx="3118104" cy="0"/>
          </a:xfrm>
          <a:prstGeom prst="line">
            <a:avLst/>
          </a:prstGeom>
          <a:noFill/>
          <a:ln w="9525">
            <a:solidFill>
              <a:schemeClr val="accent3"/>
            </a:solidFill>
            <a:prstDash val="solid"/>
          </a:ln>
        </p:spPr>
      </p:sp>
      <p:sp>
        <p:nvSpPr>
          <p:cNvPr id="28" name="hero 10"/>
          <p:cNvSpPr txBox="1"/>
          <p:nvPr/>
        </p:nvSpPr>
        <p:spPr>
          <a:xfrm>
            <a:off x="777240" y="4736592"/>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10</a:t>
            </a:r>
            <a:endParaRPr lang="en-US" sz="3400" dirty="0"/>
          </a:p>
        </p:txBody>
      </p:sp>
      <p:sp>
        <p:nvSpPr>
          <p:cNvPr id="29" name="Text 25"/>
          <p:cNvSpPr txBox="1"/>
          <p:nvPr/>
        </p:nvSpPr>
        <p:spPr>
          <a:xfrm>
            <a:off x="1444752" y="4800600"/>
            <a:ext cx="2478024" cy="749808"/>
          </a:xfrm>
          <a:prstGeom prst="rect">
            <a:avLst/>
          </a:prstGeom>
          <a:noFill/>
          <a:ln/>
        </p:spPr>
        <p:txBody>
          <a:bodyPr wrap="square" lIns="0" tIns="0" rIns="0" bIns="0" rtlCol="0" anchor="t"/>
          <a:lstStyle/>
          <a:p>
            <a:pPr indent="0" marL="0">
              <a:buNone/>
            </a:pPr>
            <a:r>
              <a:rPr lang="en-US" sz="1050" dirty="0">
                <a:solidFill>
                  <a:schemeClr val="tx1"/>
                </a:solidFill>
              </a:rPr>
              <a:t>The selected international comparison identified 10 qualifying offerings, providing additional examples of how vendors position conversational interaction.</a:t>
            </a:r>
            <a:endParaRPr lang="en-US" sz="1050" dirty="0"/>
          </a:p>
        </p:txBody>
      </p:sp>
      <p:sp>
        <p:nvSpPr>
          <p:cNvPr id="30" name="optum positioning card"/>
          <p:cNvSpPr/>
          <p:nvPr/>
        </p:nvSpPr>
        <p:spPr>
          <a:xfrm>
            <a:off x="4306824" y="3035808"/>
            <a:ext cx="3575304" cy="26060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1" name="icon circle"/>
          <p:cNvSpPr/>
          <p:nvPr/>
        </p:nvSpPr>
        <p:spPr>
          <a:xfrm>
            <a:off x="4535424" y="3236976"/>
            <a:ext cx="457200" cy="457200"/>
          </a:xfrm>
          <a:prstGeom prst="ellipse">
            <a:avLst/>
          </a:prstGeom>
          <a:solidFill>
            <a:schemeClr val="accent5"/>
          </a:solidFill>
          <a:ln/>
        </p:spPr>
      </p:sp>
      <p:pic>
        <p:nvPicPr>
          <p:cNvPr id="32" name="icon MdOutlineLayers" descr="preencoded.png">    </p:cNvPr>
          <p:cNvPicPr>
            <a:picLocks noChangeAspect="1"/>
          </p:cNvPicPr>
          <p:nvPr/>
        </p:nvPicPr>
        <p:blipFill>
          <a:blip r:embed="rId3"/>
          <a:stretch>
            <a:fillRect/>
          </a:stretch>
        </p:blipFill>
        <p:spPr>
          <a:xfrm>
            <a:off x="4636008" y="3337560"/>
            <a:ext cx="256032" cy="256032"/>
          </a:xfrm>
          <a:prstGeom prst="rect">
            <a:avLst/>
          </a:prstGeom>
        </p:spPr>
      </p:pic>
      <p:sp>
        <p:nvSpPr>
          <p:cNvPr id="33" name="card label"/>
          <p:cNvSpPr txBox="1"/>
          <p:nvPr/>
        </p:nvSpPr>
        <p:spPr>
          <a:xfrm>
            <a:off x="5111496" y="3328416"/>
            <a:ext cx="2660904"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OPTUM POSITIONING</a:t>
            </a:r>
            <a:endParaRPr lang="en-US" sz="1300" dirty="0"/>
          </a:p>
        </p:txBody>
      </p:sp>
      <p:sp>
        <p:nvSpPr>
          <p:cNvPr id="34" name="Text 29"/>
          <p:cNvSpPr txBox="1"/>
          <p:nvPr/>
        </p:nvSpPr>
        <p:spPr>
          <a:xfrm>
            <a:off x="4535424" y="390448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035808"/>
            <a:ext cx="3575304" cy="26060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6" name="icon circle"/>
          <p:cNvSpPr/>
          <p:nvPr/>
        </p:nvSpPr>
        <p:spPr>
          <a:xfrm>
            <a:off x="8293608" y="3236976"/>
            <a:ext cx="457200" cy="457200"/>
          </a:xfrm>
          <a:prstGeom prst="ellipse">
            <a:avLst/>
          </a:prstGeom>
          <a:solidFill>
            <a:schemeClr val="accent5"/>
          </a:solidFill>
          <a:ln/>
        </p:spPr>
      </p:sp>
      <p:pic>
        <p:nvPicPr>
          <p:cNvPr id="37" name="icon MdOutlineLightbulb" descr="preencoded.png">    </p:cNvPr>
          <p:cNvPicPr>
            <a:picLocks noChangeAspect="1"/>
          </p:cNvPicPr>
          <p:nvPr/>
        </p:nvPicPr>
        <p:blipFill>
          <a:blip r:embed="rId4"/>
          <a:stretch>
            <a:fillRect/>
          </a:stretch>
        </p:blipFill>
        <p:spPr>
          <a:xfrm>
            <a:off x="8394192" y="3337560"/>
            <a:ext cx="256032" cy="256032"/>
          </a:xfrm>
          <a:prstGeom prst="rect">
            <a:avLst/>
          </a:prstGeom>
        </p:spPr>
      </p:pic>
      <p:sp>
        <p:nvSpPr>
          <p:cNvPr id="38" name="card label"/>
          <p:cNvSpPr txBox="1"/>
          <p:nvPr/>
        </p:nvSpPr>
        <p:spPr>
          <a:xfrm>
            <a:off x="8869680" y="3328416"/>
            <a:ext cx="2660904"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390448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63600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Optum's existing offerings?</a:t>
            </a:r>
            <a:endParaRPr lang="en-US" sz="1400" dirty="0"/>
          </a:p>
        </p:txBody>
      </p:sp>
      <p:sp>
        <p:nvSpPr>
          <p:cNvPr id="41" name="evidence boundary"/>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900" i="1" dirty="0">
                <a:solidFill>
                  <a:schemeClr val="accent4"/>
                </a:solidFill>
              </a:rPr>
              <a:t>Evidence boundary: Public product marketing and announcements reviewed as of October 13, 2026. The findings describe selected screened inventories—not a market census, adoption rates, verified product performance or undisclosed capabilities.</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RWE product launches prompted a broader examination of conversational AI across life sciences</a:t>
            </a:r>
            <a:endParaRPr lang="en-US" sz="2200" dirty="0"/>
          </a:p>
        </p:txBody>
      </p:sp>
      <p:sp>
        <p:nvSpPr>
          <p:cNvPr id="4" name="label"/>
          <p:cNvSpPr txBox="1"/>
          <p:nvPr/>
        </p:nvSpPr>
        <p:spPr>
          <a:xfrm>
            <a:off x="548640" y="153619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Tempus’s </a:t>
            </a:r>
            <a:pPr indent="0" marL="0">
              <a:buNone/>
            </a:pPr>
            <a:r>
              <a:rPr lang="en-US" sz="1050" b="1" dirty="0">
                <a:solidFill>
                  <a:schemeClr val="tx1"/>
                </a:solidFill>
              </a:rPr>
              <a:t>Tempus One / Lens</a:t>
            </a:r>
            <a:pPr indent="0" marL="0">
              <a:buNone/>
            </a:pPr>
            <a:r>
              <a:rPr lang="en-US" sz="1050" dirty="0">
                <a:solidFill>
                  <a:schemeClr val="tx1"/>
                </a:solidFill>
              </a:rPr>
              <a:t> — AI-assisted research and cohort exploration (February)</a:t>
            </a:r>
            <a:endParaRPr lang="en-US" sz="1050" dirty="0"/>
          </a:p>
          <a:p>
            <a:pPr indent="0" marL="0">
              <a:spcBef>
                <a:spcPts val="800"/>
              </a:spcBef>
              <a:buNone/>
            </a:pPr>
            <a:r>
              <a:rPr lang="en-US" sz="1050" dirty="0">
                <a:solidFill>
                  <a:schemeClr val="tx1"/>
                </a:solidFill>
              </a:rPr>
              <a:t>Komodo Health’s </a:t>
            </a:r>
            <a:pPr indent="0" marL="0">
              <a:buNone/>
            </a:pPr>
            <a:r>
              <a:rPr lang="en-US" sz="1050" b="1" dirty="0">
                <a:solidFill>
                  <a:schemeClr val="tx1"/>
                </a:solidFill>
              </a:rPr>
              <a:t>MapAI</a:t>
            </a:r>
            <a:pPr indent="0" marL="0">
              <a:buNone/>
            </a:pP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Komodo Health’s </a:t>
            </a:r>
            <a:pPr indent="0" marL="0">
              <a:buNone/>
            </a:pPr>
            <a:r>
              <a:rPr lang="en-US" sz="1050" b="1" dirty="0">
                <a:solidFill>
                  <a:schemeClr val="tx1"/>
                </a:solidFill>
              </a:rPr>
              <a:t>Marmot</a:t>
            </a:r>
            <a:pPr indent="0" marL="0">
              <a:buNone/>
            </a:pP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Truveta’s </a:t>
            </a:r>
            <a:pPr indent="0" marL="0">
              <a:buNone/>
            </a:pPr>
            <a:r>
              <a:rPr lang="en-US" sz="1050" b="1" dirty="0">
                <a:solidFill>
                  <a:schemeClr val="tx1"/>
                </a:solidFill>
              </a:rPr>
              <a:t>Truveta Intelligence</a:t>
            </a:r>
            <a:pPr indent="0" marL="0">
              <a:buNone/>
            </a:pPr>
            <a:r>
              <a:rPr lang="en-US" sz="1050" dirty="0">
                <a:solidFill>
                  <a:schemeClr val="tx1"/>
                </a:solidFill>
              </a:rPr>
              <a:t> — natural-language RWE research questions</a:t>
            </a:r>
            <a:endParaRPr lang="en-US" sz="1050" dirty="0"/>
          </a:p>
          <a:p>
            <a:pPr indent="0" marL="0">
              <a:spcBef>
                <a:spcPts val="800"/>
              </a:spcBef>
              <a:buNone/>
            </a:pPr>
            <a:r>
              <a:rPr lang="en-US" sz="1050" dirty="0">
                <a:solidFill>
                  <a:schemeClr val="tx1"/>
                </a:solidFill>
              </a:rPr>
              <a:t>Flatiron Health’s </a:t>
            </a:r>
            <a:pPr indent="0" marL="0">
              <a:buNone/>
            </a:pPr>
            <a:r>
              <a:rPr lang="en-US" sz="1050" b="1" dirty="0">
                <a:solidFill>
                  <a:schemeClr val="tx1"/>
                </a:solidFill>
              </a:rPr>
              <a:t>Telescope</a:t>
            </a:r>
            <a:pPr indent="0" marL="0">
              <a:buNone/>
            </a:pP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Verana Health’s </a:t>
            </a:r>
            <a:pPr indent="0" marL="0">
              <a:buNone/>
            </a:pPr>
            <a:r>
              <a:rPr lang="en-US" sz="1050" b="1" dirty="0">
                <a:solidFill>
                  <a:schemeClr val="tx1"/>
                </a:solidFill>
              </a:rPr>
              <a:t>Agent Claire</a:t>
            </a:r>
            <a:pPr indent="0" marL="0">
              <a:buNone/>
            </a:pPr>
            <a:r>
              <a:rPr lang="en-US" sz="1050" dirty="0">
                <a:solidFill>
                  <a:schemeClr val="tx1"/>
                </a:solidFill>
              </a:rPr>
              <a:t> — conversational specialty-data research</a:t>
            </a:r>
            <a:endParaRPr lang="en-US" sz="1050" dirty="0"/>
          </a:p>
          <a:p>
            <a:pPr indent="0" marL="0">
              <a:spcBef>
                <a:spcPts val="800"/>
              </a:spcBef>
              <a:buNone/>
            </a:pPr>
            <a:r>
              <a:rPr lang="en-US" sz="1050" dirty="0">
                <a:solidFill>
                  <a:schemeClr val="tx1"/>
                </a:solidFill>
              </a:rPr>
              <a:t>Norstella’s </a:t>
            </a:r>
            <a:pPr indent="0" marL="0">
              <a:buNone/>
            </a:pPr>
            <a:r>
              <a:rPr lang="en-US" sz="1050" b="1" dirty="0">
                <a:solidFill>
                  <a:schemeClr val="tx1"/>
                </a:solidFill>
              </a:rPr>
              <a:t>Atlas Patient Analytics</a:t>
            </a:r>
            <a:pPr indent="0" marL="0">
              <a:buNone/>
            </a:pP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3931920"/>
            <a:ext cx="5454396" cy="164592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3" name="label"/>
          <p:cNvSpPr txBox="1"/>
          <p:nvPr/>
        </p:nvSpPr>
        <p:spPr>
          <a:xfrm>
            <a:off x="749808" y="4338828"/>
            <a:ext cx="50520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THE BROADER COMPETITIVE QUESTION</a:t>
            </a:r>
            <a:endParaRPr lang="en-US" sz="1000" dirty="0"/>
          </a:p>
        </p:txBody>
      </p:sp>
      <p:sp>
        <p:nvSpPr>
          <p:cNvPr id="24" name="Text 22"/>
          <p:cNvSpPr txBox="1"/>
          <p:nvPr/>
        </p:nvSpPr>
        <p:spPr>
          <a:xfrm>
            <a:off x="749808" y="4613148"/>
            <a:ext cx="5052060" cy="612648"/>
          </a:xfrm>
          <a:prstGeom prst="rect">
            <a:avLst/>
          </a:prstGeom>
          <a:noFill/>
          <a:ln/>
        </p:spPr>
        <p:txBody>
          <a:bodyPr wrap="square" lIns="0" tIns="0" rIns="0" bIns="0" rtlCol="0" anchor="t"/>
          <a:lstStyle/>
          <a:p>
            <a:pPr indent="0" marL="0">
              <a:buNone/>
            </a:pPr>
            <a:r>
              <a:rPr lang="en-US" sz="1200" b="1" dirty="0">
                <a:solidFill>
                  <a:schemeClr val="accent1"/>
                </a:solidFill>
              </a:rPr>
              <a:t>Where else are life sciences vendors marketing conversational AI, what tasks does it serve, and how does that positioning compare with Optum Life Sciences?</a:t>
            </a:r>
            <a:endParaRPr lang="en-US" sz="1200" dirty="0"/>
          </a:p>
        </p:txBody>
      </p:sp>
      <p:sp>
        <p:nvSpPr>
          <p:cNvPr id="25" name="our research response card"/>
          <p:cNvSpPr/>
          <p:nvPr/>
        </p:nvSpPr>
        <p:spPr>
          <a:xfrm>
            <a:off x="6185916" y="3931920"/>
            <a:ext cx="5454396" cy="164592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6" name="label"/>
          <p:cNvSpPr txBox="1"/>
          <p:nvPr/>
        </p:nvSpPr>
        <p:spPr>
          <a:xfrm>
            <a:off x="6387084" y="4245864"/>
            <a:ext cx="50520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OUR RESEARCH RESPONSE</a:t>
            </a:r>
            <a:endParaRPr lang="en-US" sz="1000" dirty="0"/>
          </a:p>
        </p:txBody>
      </p:sp>
      <p:sp>
        <p:nvSpPr>
          <p:cNvPr id="27" name="Text 25"/>
          <p:cNvSpPr txBox="1"/>
          <p:nvPr/>
        </p:nvSpPr>
        <p:spPr>
          <a:xfrm>
            <a:off x="6387084" y="4520184"/>
            <a:ext cx="5052060" cy="798576"/>
          </a:xfrm>
          <a:prstGeom prst="rect">
            <a:avLst/>
          </a:prstGeom>
          <a:noFill/>
          <a:ln/>
        </p:spPr>
        <p:txBody>
          <a:bodyPr wrap="square" lIns="0" tIns="0" rIns="0" bIns="0" rtlCol="0" anchor="t"/>
          <a:lstStyle/>
          <a:p>
            <a:pPr indent="0" marL="0">
              <a:buNone/>
            </a:pPr>
            <a:r>
              <a:rPr lang="en-US" sz="1200" b="1" dirty="0">
                <a:solidFill>
                  <a:schemeClr val="tx1"/>
                </a:solidFill>
              </a:rPr>
              <a:t>Expand beyond RWE to assess publicly marketed conversational AI across five Optum-aligned decision workflows, prioritizing the U.S. competitive landscape and using selected international offerings for context.</a:t>
            </a:r>
            <a:endParaRPr lang="en-US" sz="1200" dirty="0"/>
          </a:p>
        </p:txBody>
      </p:sp>
      <p:sp>
        <p:nvSpPr>
          <p:cNvPr id="28" name="evidence boundary"/>
          <p:cNvSpPr txBox="1"/>
          <p:nvPr/>
        </p:nvSpPr>
        <p:spPr>
          <a:xfrm>
            <a:off x="548640" y="5705856"/>
            <a:ext cx="11091672" cy="384048"/>
          </a:xfrm>
          <a:prstGeom prst="rect">
            <a:avLst/>
          </a:prstGeom>
          <a:noFill/>
          <a:ln/>
        </p:spPr>
        <p:txBody>
          <a:bodyPr wrap="square" lIns="0" tIns="0" rIns="0" bIns="0" rtlCol="0" anchor="t"/>
          <a:lstStyle/>
          <a:p>
            <a:pPr indent="0" marL="0">
              <a:buNone/>
            </a:pPr>
            <a:r>
              <a:rPr lang="en-US" sz="900" i="1" dirty="0">
                <a:solidFill>
                  <a:schemeClr val="accent4"/>
                </a:solidFill>
              </a:rPr>
              <a:t>Evidence boundary: Dates reflect selected public announcements or releases, not necessarily first feature availability. The timeline illustrates a research catalyst, not measured market-wide growth. AI-enabled or agentic launches are not automatically qualifying conversational products; the Norstella example is excluded from the final conversational count.</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most prominent in RWE among screened U.S. competitors; Optum has relevant offerings across five decision workflows</a:t>
            </a:r>
            <a:endParaRPr lang="en-US" sz="2200" dirty="0"/>
          </a:p>
        </p:txBody>
      </p:sp>
      <p:sp>
        <p:nvSpPr>
          <p:cNvPr id="4" name="label"/>
          <p:cNvSpPr txBox="1"/>
          <p:nvPr/>
        </p:nvSpPr>
        <p:spPr>
          <a:xfrm>
            <a:off x="548640" y="1463040"/>
            <a:ext cx="54864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SCREEN</a:t>
            </a:r>
            <a:endParaRPr lang="en-US" sz="1000" dirty="0"/>
          </a:p>
        </p:txBody>
      </p:sp>
      <p:sp>
        <p:nvSpPr>
          <p:cNvPr id="5" name="kpi tile 45"/>
          <p:cNvSpPr/>
          <p:nvPr/>
        </p:nvSpPr>
        <p:spPr>
          <a:xfrm>
            <a:off x="548640" y="1700784"/>
            <a:ext cx="3319272" cy="530352"/>
          </a:xfrm>
          <a:prstGeom prst="rect">
            <a:avLst/>
          </a:prstGeom>
          <a:solidFill>
            <a:schemeClr val="accent5"/>
          </a:solidFill>
          <a:ln/>
        </p:spPr>
      </p:sp>
      <p:sp>
        <p:nvSpPr>
          <p:cNvPr id="6" name="Text 4"/>
          <p:cNvSpPr txBox="1"/>
          <p:nvPr/>
        </p:nvSpPr>
        <p:spPr>
          <a:xfrm>
            <a:off x="713232" y="1700784"/>
            <a:ext cx="685800" cy="530352"/>
          </a:xfrm>
          <a:prstGeom prst="rect">
            <a:avLst/>
          </a:prstGeom>
          <a:noFill/>
          <a:ln/>
        </p:spPr>
        <p:txBody>
          <a:bodyPr wrap="square" lIns="0" tIns="0" rIns="0" bIns="0" rtlCol="0" anchor="ctr"/>
          <a:lstStyle/>
          <a:p>
            <a:pPr indent="0" marL="0">
              <a:buNone/>
            </a:pPr>
            <a:r>
              <a:rPr lang="en-US" sz="2600" b="1" dirty="0">
                <a:solidFill>
                  <a:schemeClr val="accent1"/>
                </a:solidFill>
              </a:rPr>
              <a:t>45</a:t>
            </a:r>
            <a:endParaRPr lang="en-US" sz="2600" dirty="0"/>
          </a:p>
        </p:txBody>
      </p:sp>
      <p:sp>
        <p:nvSpPr>
          <p:cNvPr id="7" name="Text 5"/>
          <p:cNvSpPr txBox="1"/>
          <p:nvPr/>
        </p:nvSpPr>
        <p:spPr>
          <a:xfrm>
            <a:off x="1417320" y="1700784"/>
            <a:ext cx="2331720" cy="530352"/>
          </a:xfrm>
          <a:prstGeom prst="rect">
            <a:avLst/>
          </a:prstGeom>
          <a:noFill/>
          <a:ln/>
        </p:spPr>
        <p:txBody>
          <a:bodyPr wrap="square" lIns="0" tIns="0" rIns="0" bIns="0" rtlCol="0" anchor="ctr"/>
          <a:lstStyle/>
          <a:p>
            <a:pPr indent="0" marL="0">
              <a:buNone/>
            </a:pPr>
            <a:r>
              <a:rPr lang="en-US" sz="1000" dirty="0">
                <a:solidFill>
                  <a:schemeClr val="accent1"/>
                </a:solidFill>
              </a:rPr>
              <a:t>competitor groups initially screened</a:t>
            </a:r>
            <a:endParaRPr lang="en-US" sz="1000" dirty="0"/>
          </a:p>
        </p:txBody>
      </p:sp>
      <p:sp>
        <p:nvSpPr>
          <p:cNvPr id="8" name="flow arrow"/>
          <p:cNvSpPr/>
          <p:nvPr/>
        </p:nvSpPr>
        <p:spPr>
          <a:xfrm>
            <a:off x="3995928" y="1847088"/>
            <a:ext cx="310896" cy="237744"/>
          </a:xfrm>
          <a:prstGeom prst="rightArrow">
            <a:avLst/>
          </a:prstGeom>
          <a:solidFill>
            <a:schemeClr val="accent4"/>
          </a:solidFill>
          <a:ln/>
        </p:spPr>
      </p:sp>
      <p:sp>
        <p:nvSpPr>
          <p:cNvPr id="9" name="kpi tile 15"/>
          <p:cNvSpPr/>
          <p:nvPr/>
        </p:nvSpPr>
        <p:spPr>
          <a:xfrm>
            <a:off x="4434840" y="1700784"/>
            <a:ext cx="3319272" cy="530352"/>
          </a:xfrm>
          <a:prstGeom prst="rect">
            <a:avLst/>
          </a:prstGeom>
          <a:solidFill>
            <a:schemeClr val="accent5"/>
          </a:solidFill>
          <a:ln/>
        </p:spPr>
      </p:sp>
      <p:sp>
        <p:nvSpPr>
          <p:cNvPr id="10" name="Text 8"/>
          <p:cNvSpPr txBox="1"/>
          <p:nvPr/>
        </p:nvSpPr>
        <p:spPr>
          <a:xfrm>
            <a:off x="4599432" y="1700784"/>
            <a:ext cx="685800" cy="530352"/>
          </a:xfrm>
          <a:prstGeom prst="rect">
            <a:avLst/>
          </a:prstGeom>
          <a:noFill/>
          <a:ln/>
        </p:spPr>
        <p:txBody>
          <a:bodyPr wrap="square" lIns="0" tIns="0" rIns="0" bIns="0" rtlCol="0" anchor="ctr"/>
          <a:lstStyle/>
          <a:p>
            <a:pPr indent="0" marL="0">
              <a:buNone/>
            </a:pPr>
            <a:r>
              <a:rPr lang="en-US" sz="2600" b="1" dirty="0">
                <a:solidFill>
                  <a:schemeClr val="accent1"/>
                </a:solidFill>
              </a:rPr>
              <a:t>15</a:t>
            </a:r>
            <a:endParaRPr lang="en-US" sz="2600" dirty="0"/>
          </a:p>
        </p:txBody>
      </p:sp>
      <p:sp>
        <p:nvSpPr>
          <p:cNvPr id="11" name="Text 9"/>
          <p:cNvSpPr txBox="1"/>
          <p:nvPr/>
        </p:nvSpPr>
        <p:spPr>
          <a:xfrm>
            <a:off x="5303520" y="1700784"/>
            <a:ext cx="2331720" cy="530352"/>
          </a:xfrm>
          <a:prstGeom prst="rect">
            <a:avLst/>
          </a:prstGeom>
          <a:noFill/>
          <a:ln/>
        </p:spPr>
        <p:txBody>
          <a:bodyPr wrap="square" lIns="0" tIns="0" rIns="0" bIns="0" rtlCol="0" anchor="ctr"/>
          <a:lstStyle/>
          <a:p>
            <a:pPr indent="0" marL="0">
              <a:buNone/>
            </a:pPr>
            <a:r>
              <a:rPr lang="en-US" sz="1000" dirty="0">
                <a:solidFill>
                  <a:schemeClr val="accent1"/>
                </a:solidFill>
              </a:rPr>
              <a:t>distinct groups marketing qualifying conversational AI</a:t>
            </a:r>
            <a:endParaRPr lang="en-US" sz="1000" dirty="0"/>
          </a:p>
        </p:txBody>
      </p:sp>
      <p:sp>
        <p:nvSpPr>
          <p:cNvPr id="12" name="flow arrow"/>
          <p:cNvSpPr/>
          <p:nvPr/>
        </p:nvSpPr>
        <p:spPr>
          <a:xfrm>
            <a:off x="7882128" y="1847088"/>
            <a:ext cx="310896" cy="237744"/>
          </a:xfrm>
          <a:prstGeom prst="rightArrow">
            <a:avLst/>
          </a:prstGeom>
          <a:solidFill>
            <a:schemeClr val="accent4"/>
          </a:solidFill>
          <a:ln/>
        </p:spPr>
      </p:sp>
      <p:sp>
        <p:nvSpPr>
          <p:cNvPr id="13" name="kpi tile 19"/>
          <p:cNvSpPr/>
          <p:nvPr/>
        </p:nvSpPr>
        <p:spPr>
          <a:xfrm>
            <a:off x="8321040" y="1700784"/>
            <a:ext cx="3319272" cy="530352"/>
          </a:xfrm>
          <a:prstGeom prst="rect">
            <a:avLst/>
          </a:prstGeom>
          <a:solidFill>
            <a:schemeClr val="accent5"/>
          </a:solidFill>
          <a:ln/>
        </p:spPr>
      </p:sp>
      <p:sp>
        <p:nvSpPr>
          <p:cNvPr id="14" name="Text 12"/>
          <p:cNvSpPr txBox="1"/>
          <p:nvPr/>
        </p:nvSpPr>
        <p:spPr>
          <a:xfrm>
            <a:off x="8485632" y="1700784"/>
            <a:ext cx="685800" cy="530352"/>
          </a:xfrm>
          <a:prstGeom prst="rect">
            <a:avLst/>
          </a:prstGeom>
          <a:noFill/>
          <a:ln/>
        </p:spPr>
        <p:txBody>
          <a:bodyPr wrap="square" lIns="0" tIns="0" rIns="0" bIns="0" rtlCol="0" anchor="ctr"/>
          <a:lstStyle/>
          <a:p>
            <a:pPr indent="0" marL="0">
              <a:buNone/>
            </a:pPr>
            <a:r>
              <a:rPr lang="en-US" sz="2600" b="1" dirty="0">
                <a:solidFill>
                  <a:schemeClr val="accent2"/>
                </a:solidFill>
              </a:rPr>
              <a:t>19</a:t>
            </a:r>
            <a:endParaRPr lang="en-US" sz="2600" dirty="0"/>
          </a:p>
        </p:txBody>
      </p:sp>
      <p:sp>
        <p:nvSpPr>
          <p:cNvPr id="15" name="Text 13"/>
          <p:cNvSpPr txBox="1"/>
          <p:nvPr/>
        </p:nvSpPr>
        <p:spPr>
          <a:xfrm>
            <a:off x="9189720" y="1700784"/>
            <a:ext cx="2331720" cy="530352"/>
          </a:xfrm>
          <a:prstGeom prst="rect">
            <a:avLst/>
          </a:prstGeom>
          <a:noFill/>
          <a:ln/>
        </p:spPr>
        <p:txBody>
          <a:bodyPr wrap="square" lIns="0" tIns="0" rIns="0" bIns="0" rtlCol="0" anchor="ctr"/>
          <a:lstStyle/>
          <a:p>
            <a:pPr indent="0" marL="0">
              <a:buNone/>
            </a:pPr>
            <a:r>
              <a:rPr lang="en-US" sz="1000" dirty="0">
                <a:solidFill>
                  <a:schemeClr val="accent1"/>
                </a:solidFill>
              </a:rPr>
              <a:t>qualifying conversational AI offerings across five decision workflows</a:t>
            </a:r>
            <a:endParaRPr lang="en-US" sz="1000" dirty="0"/>
          </a:p>
        </p:txBody>
      </p:sp>
      <p:sp>
        <p:nvSpPr>
          <p:cNvPr id="16" name="label"/>
          <p:cNvSpPr txBox="1"/>
          <p:nvPr/>
        </p:nvSpPr>
        <p:spPr>
          <a:xfrm>
            <a:off x="548640" y="2377440"/>
            <a:ext cx="64008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COMPETITOR COVERAGE AND OPTUM LS POSITIONING</a:t>
            </a:r>
            <a:endParaRPr lang="en-US" sz="1000" dirty="0"/>
          </a:p>
        </p:txBody>
      </p:sp>
      <p:sp>
        <p:nvSpPr>
          <p:cNvPr id="17" name="table header"/>
          <p:cNvSpPr/>
          <p:nvPr/>
        </p:nvSpPr>
        <p:spPr>
          <a:xfrm>
            <a:off x="548640" y="2615184"/>
            <a:ext cx="11091672" cy="438912"/>
          </a:xfrm>
          <a:prstGeom prst="rect">
            <a:avLst/>
          </a:prstGeom>
          <a:solidFill>
            <a:schemeClr val="accent1"/>
          </a:solidFill>
          <a:ln/>
        </p:spPr>
      </p:sp>
      <p:sp>
        <p:nvSpPr>
          <p:cNvPr id="18" name="Text 16"/>
          <p:cNvSpPr txBox="1"/>
          <p:nvPr/>
        </p:nvSpPr>
        <p:spPr>
          <a:xfrm>
            <a:off x="1097280" y="2615184"/>
            <a:ext cx="2240280" cy="438912"/>
          </a:xfrm>
          <a:prstGeom prst="rect">
            <a:avLst/>
          </a:prstGeom>
          <a:noFill/>
          <a:ln/>
        </p:spPr>
        <p:txBody>
          <a:bodyPr wrap="square" lIns="0" tIns="0" rIns="0" bIns="0" rtlCol="0" anchor="ctr"/>
          <a:lstStyle/>
          <a:p>
            <a:pPr algn="ctr" indent="0" marL="0">
              <a:buNone/>
            </a:pPr>
            <a:r>
              <a:rPr lang="en-US" sz="900" b="1" dirty="0">
                <a:solidFill>
                  <a:schemeClr val="bg1"/>
                </a:solidFill>
              </a:rPr>
              <a:t>U.S. competitors marketing chat /</a:t>
            </a:r>
            <a:endParaRPr lang="en-US" sz="900" dirty="0"/>
          </a:p>
          <a:p>
            <a:pPr algn="ctr" indent="0" marL="0">
              <a:buNone/>
            </a:pPr>
            <a:r>
              <a:rPr lang="en-US" sz="900" b="1" dirty="0">
                <a:solidFill>
                  <a:schemeClr val="bg1"/>
                </a:solidFill>
              </a:rPr>
              <a:t>all comparable competitors</a:t>
            </a:r>
            <a:endParaRPr lang="en-US" sz="900" dirty="0"/>
          </a:p>
        </p:txBody>
      </p:sp>
      <p:sp>
        <p:nvSpPr>
          <p:cNvPr id="19" name="Text 17"/>
          <p:cNvSpPr txBox="1"/>
          <p:nvPr/>
        </p:nvSpPr>
        <p:spPr>
          <a:xfrm>
            <a:off x="3474720" y="2615184"/>
            <a:ext cx="1965960" cy="438912"/>
          </a:xfrm>
          <a:prstGeom prst="rect">
            <a:avLst/>
          </a:prstGeom>
          <a:noFill/>
          <a:ln/>
        </p:spPr>
        <p:txBody>
          <a:bodyPr wrap="square" lIns="0" tIns="0" rIns="0" bIns="0" rtlCol="0" anchor="ctr"/>
          <a:lstStyle/>
          <a:p>
            <a:pPr algn="ctr" indent="0" marL="0">
              <a:buNone/>
            </a:pPr>
            <a:r>
              <a:rPr lang="en-US" sz="900" b="1" dirty="0">
                <a:solidFill>
                  <a:schemeClr val="bg1"/>
                </a:solidFill>
              </a:rPr>
              <a:t>Workflow</a:t>
            </a:r>
            <a:endParaRPr lang="en-US" sz="900" dirty="0"/>
          </a:p>
        </p:txBody>
      </p:sp>
      <p:sp>
        <p:nvSpPr>
          <p:cNvPr id="20" name="Text 18"/>
          <p:cNvSpPr txBox="1"/>
          <p:nvPr/>
        </p:nvSpPr>
        <p:spPr>
          <a:xfrm>
            <a:off x="5486400" y="2615184"/>
            <a:ext cx="2880360" cy="438912"/>
          </a:xfrm>
          <a:prstGeom prst="rect">
            <a:avLst/>
          </a:prstGeom>
          <a:noFill/>
          <a:ln/>
        </p:spPr>
        <p:txBody>
          <a:bodyPr wrap="square" lIns="0" tIns="0" rIns="0" bIns="0" rtlCol="0" anchor="ctr"/>
          <a:lstStyle/>
          <a:p>
            <a:pPr algn="ctr" indent="0" marL="0">
              <a:buNone/>
            </a:pPr>
            <a:r>
              <a:rPr lang="en-US" sz="900" b="1" dirty="0">
                <a:solidFill>
                  <a:schemeClr val="bg1"/>
                </a:solidFill>
              </a:rPr>
              <a:t>Representative conversational AI offerings</a:t>
            </a:r>
            <a:endParaRPr lang="en-US" sz="900" dirty="0"/>
          </a:p>
        </p:txBody>
      </p:sp>
      <p:sp>
        <p:nvSpPr>
          <p:cNvPr id="21" name="Text 19"/>
          <p:cNvSpPr txBox="1"/>
          <p:nvPr/>
        </p:nvSpPr>
        <p:spPr>
          <a:xfrm>
            <a:off x="8503920" y="2615184"/>
            <a:ext cx="2103120" cy="438912"/>
          </a:xfrm>
          <a:prstGeom prst="rect">
            <a:avLst/>
          </a:prstGeom>
          <a:noFill/>
          <a:ln/>
        </p:spPr>
        <p:txBody>
          <a:bodyPr wrap="square" lIns="0" tIns="0" rIns="0" bIns="0" rtlCol="0" anchor="ctr"/>
          <a:lstStyle/>
          <a:p>
            <a:pPr algn="ctr" indent="0" marL="0">
              <a:buNone/>
            </a:pPr>
            <a:r>
              <a:rPr lang="en-US" sz="900" b="1" dirty="0">
                <a:solidFill>
                  <a:schemeClr val="bg1"/>
                </a:solidFill>
              </a:rPr>
              <a:t>Optum's publicly</a:t>
            </a:r>
            <a:endParaRPr lang="en-US" sz="900" dirty="0"/>
          </a:p>
          <a:p>
            <a:pPr algn="ctr" indent="0" marL="0">
              <a:buNone/>
            </a:pPr>
            <a:r>
              <a:rPr lang="en-US" sz="900" b="1" dirty="0">
                <a:solidFill>
                  <a:schemeClr val="bg1"/>
                </a:solidFill>
              </a:rPr>
              <a:t>marketed offerings</a:t>
            </a:r>
            <a:endParaRPr lang="en-US" sz="900" dirty="0"/>
          </a:p>
        </p:txBody>
      </p:sp>
      <p:sp>
        <p:nvSpPr>
          <p:cNvPr id="22" name="Text 20"/>
          <p:cNvSpPr txBox="1"/>
          <p:nvPr/>
        </p:nvSpPr>
        <p:spPr>
          <a:xfrm>
            <a:off x="10652760" y="2615184"/>
            <a:ext cx="987552" cy="438912"/>
          </a:xfrm>
          <a:prstGeom prst="rect">
            <a:avLst/>
          </a:prstGeom>
          <a:noFill/>
          <a:ln/>
        </p:spPr>
        <p:txBody>
          <a:bodyPr wrap="square" lIns="0" tIns="0" rIns="0" bIns="0" rtlCol="0" anchor="ctr"/>
          <a:lstStyle/>
          <a:p>
            <a:pPr algn="ctr" indent="0" marL="0">
              <a:buNone/>
            </a:pPr>
            <a:r>
              <a:rPr lang="en-US" sz="900" b="1" dirty="0">
                <a:solidFill>
                  <a:schemeClr val="bg1"/>
                </a:solidFill>
              </a:rPr>
              <a:t>Optum public chat claim</a:t>
            </a:r>
            <a:endParaRPr lang="en-US" sz="900" dirty="0"/>
          </a:p>
        </p:txBody>
      </p:sp>
      <p:graphicFrame>
        <p:nvGraphicFramePr>
          <p:cNvPr id="23" name="competitor coverage chart" descr=""/>
          <p:cNvGraphicFramePr/>
          <p:nvPr/>
        </p:nvGraphicFramePr>
        <p:xfrm>
          <a:off x="1170432" y="3054096"/>
          <a:ext cx="2212848" cy="2240280"/>
        </p:xfrm>
        <a:graphic xmlns:a="http://schemas.openxmlformats.org/drawingml/2006/main">
          <a:graphicData uri="http://schemas.openxmlformats.org/drawingml/2006/chart">
            <c:chart xmlns:c="http://schemas.openxmlformats.org/drawingml/2006/chart" r:id="rId1"/>
          </a:graphicData>
        </a:graphic>
      </p:graphicFrame>
      <p:sp>
        <p:nvSpPr>
          <p:cNvPr id="24" name="fraction RWE"/>
          <p:cNvSpPr txBox="1"/>
          <p:nvPr/>
        </p:nvSpPr>
        <p:spPr>
          <a:xfrm>
            <a:off x="566928" y="3054096"/>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9</a:t>
            </a:r>
            <a:pPr algn="r" indent="0" marL="0">
              <a:buNone/>
            </a:pPr>
            <a:r>
              <a:rPr lang="en-US" sz="1000" dirty="0">
                <a:solidFill>
                  <a:schemeClr val="tx1"/>
                </a:solidFill>
              </a:rPr>
              <a:t> / 34</a:t>
            </a:r>
            <a:endParaRPr lang="en-US" sz="1000" dirty="0"/>
          </a:p>
        </p:txBody>
      </p:sp>
      <p:sp>
        <p:nvSpPr>
          <p:cNvPr id="25" name="workflow chip RWE"/>
          <p:cNvSpPr/>
          <p:nvPr/>
        </p:nvSpPr>
        <p:spPr>
          <a:xfrm>
            <a:off x="3547872" y="3122676"/>
            <a:ext cx="1819656" cy="310896"/>
          </a:xfrm>
          <a:prstGeom prst="roundRect">
            <a:avLst>
              <a:gd name="adj" fmla="val 50000"/>
            </a:avLst>
          </a:prstGeom>
          <a:solidFill>
            <a:schemeClr val="accent5"/>
          </a:solidFill>
          <a:ln w="9525">
            <a:solidFill>
              <a:schemeClr val="accent1"/>
            </a:solidFill>
            <a:prstDash val="solid"/>
          </a:ln>
        </p:spPr>
      </p:sp>
      <p:sp>
        <p:nvSpPr>
          <p:cNvPr id="26" name="Text 23"/>
          <p:cNvSpPr txBox="1"/>
          <p:nvPr/>
        </p:nvSpPr>
        <p:spPr>
          <a:xfrm>
            <a:off x="3547872" y="3122676"/>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7" name="Text 24"/>
          <p:cNvSpPr txBox="1"/>
          <p:nvPr/>
        </p:nvSpPr>
        <p:spPr>
          <a:xfrm>
            <a:off x="5577840" y="3054096"/>
            <a:ext cx="2697480" cy="448056"/>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a:t>
            </a:r>
            <a:endParaRPr lang="en-US" sz="900" dirty="0"/>
          </a:p>
        </p:txBody>
      </p:sp>
      <p:sp>
        <p:nvSpPr>
          <p:cNvPr id="28" name="Text 25"/>
          <p:cNvSpPr txBox="1"/>
          <p:nvPr/>
        </p:nvSpPr>
        <p:spPr>
          <a:xfrm>
            <a:off x="8595360" y="3054096"/>
            <a:ext cx="1920240" cy="448056"/>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9" name="chat status RWE"/>
          <p:cNvSpPr/>
          <p:nvPr/>
        </p:nvSpPr>
        <p:spPr>
          <a:xfrm>
            <a:off x="11109960" y="3195828"/>
            <a:ext cx="164592" cy="164592"/>
          </a:xfrm>
          <a:prstGeom prst="ellipse">
            <a:avLst/>
          </a:prstGeom>
          <a:ln w="15875">
            <a:solidFill>
              <a:schemeClr val="accent4"/>
            </a:solidFill>
            <a:prstDash val="solid"/>
          </a:ln>
        </p:spPr>
      </p:sp>
      <p:sp>
        <p:nvSpPr>
          <p:cNvPr id="30" name="Shape 27"/>
          <p:cNvSpPr/>
          <p:nvPr/>
        </p:nvSpPr>
        <p:spPr>
          <a:xfrm>
            <a:off x="548640" y="3502152"/>
            <a:ext cx="11091672" cy="0"/>
          </a:xfrm>
          <a:prstGeom prst="line">
            <a:avLst/>
          </a:prstGeom>
          <a:noFill/>
          <a:ln w="9525">
            <a:solidFill>
              <a:schemeClr val="accent3"/>
            </a:solidFill>
            <a:prstDash val="solid"/>
          </a:ln>
        </p:spPr>
      </p:sp>
      <p:sp>
        <p:nvSpPr>
          <p:cNvPr id="31" name="fraction Commercial intelligence"/>
          <p:cNvSpPr txBox="1"/>
          <p:nvPr/>
        </p:nvSpPr>
        <p:spPr>
          <a:xfrm>
            <a:off x="1282849" y="3502152"/>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23</a:t>
            </a:r>
            <a:endParaRPr lang="en-US" sz="1000" dirty="0"/>
          </a:p>
        </p:txBody>
      </p:sp>
      <p:sp>
        <p:nvSpPr>
          <p:cNvPr id="32" name="workflow chip Commercial intelligence"/>
          <p:cNvSpPr/>
          <p:nvPr/>
        </p:nvSpPr>
        <p:spPr>
          <a:xfrm>
            <a:off x="3547872" y="3570732"/>
            <a:ext cx="1819656" cy="310896"/>
          </a:xfrm>
          <a:prstGeom prst="roundRect">
            <a:avLst>
              <a:gd name="adj" fmla="val 50000"/>
            </a:avLst>
          </a:prstGeom>
          <a:solidFill>
            <a:schemeClr val="accent5"/>
          </a:solidFill>
          <a:ln w="9525">
            <a:solidFill>
              <a:schemeClr val="accent1"/>
            </a:solidFill>
            <a:prstDash val="solid"/>
          </a:ln>
        </p:spPr>
      </p:sp>
      <p:sp>
        <p:nvSpPr>
          <p:cNvPr id="33" name="Text 30"/>
          <p:cNvSpPr txBox="1"/>
          <p:nvPr/>
        </p:nvSpPr>
        <p:spPr>
          <a:xfrm>
            <a:off x="3547872" y="35707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34" name="Text 31"/>
          <p:cNvSpPr txBox="1"/>
          <p:nvPr/>
        </p:nvSpPr>
        <p:spPr>
          <a:xfrm>
            <a:off x="5577840" y="3502152"/>
            <a:ext cx="2697480" cy="448056"/>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35" name="Text 32"/>
          <p:cNvSpPr txBox="1"/>
          <p:nvPr/>
        </p:nvSpPr>
        <p:spPr>
          <a:xfrm>
            <a:off x="8595360" y="3502152"/>
            <a:ext cx="1920240" cy="448056"/>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6" name="chat status Commercial intelligence"/>
          <p:cNvSpPr/>
          <p:nvPr/>
        </p:nvSpPr>
        <p:spPr>
          <a:xfrm>
            <a:off x="11109960" y="3643884"/>
            <a:ext cx="164592" cy="164592"/>
          </a:xfrm>
          <a:prstGeom prst="ellipse">
            <a:avLst/>
          </a:prstGeom>
          <a:ln w="15875">
            <a:solidFill>
              <a:schemeClr val="accent4"/>
            </a:solidFill>
            <a:prstDash val="solid"/>
          </a:ln>
        </p:spPr>
      </p:sp>
      <p:sp>
        <p:nvSpPr>
          <p:cNvPr id="37" name="Shape 34"/>
          <p:cNvSpPr/>
          <p:nvPr/>
        </p:nvSpPr>
        <p:spPr>
          <a:xfrm>
            <a:off x="548640" y="3950208"/>
            <a:ext cx="11091672" cy="0"/>
          </a:xfrm>
          <a:prstGeom prst="line">
            <a:avLst/>
          </a:prstGeom>
          <a:noFill/>
          <a:ln w="9525">
            <a:solidFill>
              <a:schemeClr val="accent3"/>
            </a:solidFill>
            <a:prstDash val="solid"/>
          </a:ln>
        </p:spPr>
      </p:sp>
      <p:sp>
        <p:nvSpPr>
          <p:cNvPr id="38" name="fraction Medical / regulatory research"/>
          <p:cNvSpPr txBox="1"/>
          <p:nvPr/>
        </p:nvSpPr>
        <p:spPr>
          <a:xfrm>
            <a:off x="1608268" y="3950208"/>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18</a:t>
            </a:r>
            <a:endParaRPr lang="en-US" sz="1000" dirty="0"/>
          </a:p>
        </p:txBody>
      </p:sp>
      <p:sp>
        <p:nvSpPr>
          <p:cNvPr id="39" name="workflow chip Medical / regulatory research"/>
          <p:cNvSpPr/>
          <p:nvPr/>
        </p:nvSpPr>
        <p:spPr>
          <a:xfrm>
            <a:off x="3547872" y="4018788"/>
            <a:ext cx="1819656" cy="310896"/>
          </a:xfrm>
          <a:prstGeom prst="roundRect">
            <a:avLst>
              <a:gd name="adj" fmla="val 50000"/>
            </a:avLst>
          </a:prstGeom>
          <a:solidFill>
            <a:schemeClr val="accent5"/>
          </a:solidFill>
          <a:ln w="9525">
            <a:solidFill>
              <a:schemeClr val="accent1"/>
            </a:solidFill>
            <a:prstDash val="solid"/>
          </a:ln>
        </p:spPr>
      </p:sp>
      <p:sp>
        <p:nvSpPr>
          <p:cNvPr id="40" name="Text 37"/>
          <p:cNvSpPr txBox="1"/>
          <p:nvPr/>
        </p:nvSpPr>
        <p:spPr>
          <a:xfrm>
            <a:off x="3547872" y="4018788"/>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41" name="Text 38"/>
          <p:cNvSpPr txBox="1"/>
          <p:nvPr/>
        </p:nvSpPr>
        <p:spPr>
          <a:xfrm>
            <a:off x="5577840" y="3950208"/>
            <a:ext cx="2697480" cy="448056"/>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42" name="Text 39"/>
          <p:cNvSpPr txBox="1"/>
          <p:nvPr/>
        </p:nvSpPr>
        <p:spPr>
          <a:xfrm>
            <a:off x="8595360" y="3950208"/>
            <a:ext cx="1920240" cy="448056"/>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43" name="chat status Medical / regulatory research"/>
          <p:cNvSpPr/>
          <p:nvPr/>
        </p:nvSpPr>
        <p:spPr>
          <a:xfrm>
            <a:off x="11109960" y="4091940"/>
            <a:ext cx="164592" cy="164592"/>
          </a:xfrm>
          <a:prstGeom prst="ellipse">
            <a:avLst/>
          </a:prstGeom>
          <a:ln w="15875">
            <a:solidFill>
              <a:schemeClr val="accent4"/>
            </a:solidFill>
            <a:prstDash val="solid"/>
          </a:ln>
        </p:spPr>
      </p:sp>
      <p:sp>
        <p:nvSpPr>
          <p:cNvPr id="44" name="Shape 41"/>
          <p:cNvSpPr/>
          <p:nvPr/>
        </p:nvSpPr>
        <p:spPr>
          <a:xfrm>
            <a:off x="548640" y="4398264"/>
            <a:ext cx="11091672" cy="0"/>
          </a:xfrm>
          <a:prstGeom prst="line">
            <a:avLst/>
          </a:prstGeom>
          <a:noFill/>
          <a:ln w="9525">
            <a:solidFill>
              <a:schemeClr val="accent3"/>
            </a:solidFill>
            <a:prstDash val="solid"/>
          </a:ln>
        </p:spPr>
      </p:sp>
      <p:sp>
        <p:nvSpPr>
          <p:cNvPr id="45" name="fraction Clinical trials"/>
          <p:cNvSpPr txBox="1"/>
          <p:nvPr/>
        </p:nvSpPr>
        <p:spPr>
          <a:xfrm>
            <a:off x="1152682" y="4398264"/>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25</a:t>
            </a:r>
            <a:endParaRPr lang="en-US" sz="1000" dirty="0"/>
          </a:p>
        </p:txBody>
      </p:sp>
      <p:sp>
        <p:nvSpPr>
          <p:cNvPr id="46" name="workflow chip Clinical trials"/>
          <p:cNvSpPr/>
          <p:nvPr/>
        </p:nvSpPr>
        <p:spPr>
          <a:xfrm>
            <a:off x="3547872" y="4466844"/>
            <a:ext cx="1819656" cy="310896"/>
          </a:xfrm>
          <a:prstGeom prst="roundRect">
            <a:avLst>
              <a:gd name="adj" fmla="val 50000"/>
            </a:avLst>
          </a:prstGeom>
          <a:solidFill>
            <a:schemeClr val="accent5"/>
          </a:solidFill>
          <a:ln w="9525">
            <a:solidFill>
              <a:schemeClr val="accent1"/>
            </a:solidFill>
            <a:prstDash val="solid"/>
          </a:ln>
        </p:spPr>
      </p:sp>
      <p:sp>
        <p:nvSpPr>
          <p:cNvPr id="47" name="Text 44"/>
          <p:cNvSpPr txBox="1"/>
          <p:nvPr/>
        </p:nvSpPr>
        <p:spPr>
          <a:xfrm>
            <a:off x="3547872" y="4466844"/>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8" name="Text 45"/>
          <p:cNvSpPr txBox="1"/>
          <p:nvPr/>
        </p:nvSpPr>
        <p:spPr>
          <a:xfrm>
            <a:off x="5577840" y="4398264"/>
            <a:ext cx="2697480" cy="448056"/>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9" name="Text 46"/>
          <p:cNvSpPr txBox="1"/>
          <p:nvPr/>
        </p:nvSpPr>
        <p:spPr>
          <a:xfrm>
            <a:off x="8595360" y="4398264"/>
            <a:ext cx="1920240" cy="448056"/>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50" name="chat status Clinical trials"/>
          <p:cNvSpPr/>
          <p:nvPr/>
        </p:nvSpPr>
        <p:spPr>
          <a:xfrm>
            <a:off x="11109960" y="4539996"/>
            <a:ext cx="164592" cy="164592"/>
          </a:xfrm>
          <a:prstGeom prst="ellipse">
            <a:avLst/>
          </a:prstGeom>
          <a:ln w="15875">
            <a:solidFill>
              <a:schemeClr val="accent4"/>
            </a:solidFill>
            <a:prstDash val="solid"/>
          </a:ln>
        </p:spPr>
      </p:sp>
      <p:sp>
        <p:nvSpPr>
          <p:cNvPr id="51" name="Shape 48"/>
          <p:cNvSpPr/>
          <p:nvPr/>
        </p:nvSpPr>
        <p:spPr>
          <a:xfrm>
            <a:off x="548640" y="4846320"/>
            <a:ext cx="11091672" cy="0"/>
          </a:xfrm>
          <a:prstGeom prst="line">
            <a:avLst/>
          </a:prstGeom>
          <a:noFill/>
          <a:ln w="9525">
            <a:solidFill>
              <a:schemeClr val="accent3"/>
            </a:solidFill>
            <a:prstDash val="solid"/>
          </a:ln>
        </p:spPr>
      </p:sp>
      <p:sp>
        <p:nvSpPr>
          <p:cNvPr id="52" name="fraction Market access"/>
          <p:cNvSpPr txBox="1"/>
          <p:nvPr/>
        </p:nvSpPr>
        <p:spPr>
          <a:xfrm>
            <a:off x="1217766" y="4846320"/>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24</a:t>
            </a:r>
            <a:endParaRPr lang="en-US" sz="1000" dirty="0"/>
          </a:p>
        </p:txBody>
      </p:sp>
      <p:sp>
        <p:nvSpPr>
          <p:cNvPr id="53" name="workflow chip Market access"/>
          <p:cNvSpPr/>
          <p:nvPr/>
        </p:nvSpPr>
        <p:spPr>
          <a:xfrm>
            <a:off x="3547872" y="4914900"/>
            <a:ext cx="1819656" cy="310896"/>
          </a:xfrm>
          <a:prstGeom prst="roundRect">
            <a:avLst>
              <a:gd name="adj" fmla="val 50000"/>
            </a:avLst>
          </a:prstGeom>
          <a:solidFill>
            <a:schemeClr val="accent5"/>
          </a:solidFill>
          <a:ln w="9525">
            <a:solidFill>
              <a:schemeClr val="accent1"/>
            </a:solidFill>
            <a:prstDash val="solid"/>
          </a:ln>
        </p:spPr>
      </p:sp>
      <p:sp>
        <p:nvSpPr>
          <p:cNvPr id="54" name="Text 51"/>
          <p:cNvSpPr txBox="1"/>
          <p:nvPr/>
        </p:nvSpPr>
        <p:spPr>
          <a:xfrm>
            <a:off x="3547872" y="4914900"/>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55" name="Text 52"/>
          <p:cNvSpPr txBox="1"/>
          <p:nvPr/>
        </p:nvSpPr>
        <p:spPr>
          <a:xfrm>
            <a:off x="5577840" y="4846320"/>
            <a:ext cx="2697480" cy="448056"/>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6" name="Text 53"/>
          <p:cNvSpPr txBox="1"/>
          <p:nvPr/>
        </p:nvSpPr>
        <p:spPr>
          <a:xfrm>
            <a:off x="8595360" y="4846320"/>
            <a:ext cx="1920240" cy="448056"/>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7" name="chat status Market access"/>
          <p:cNvSpPr/>
          <p:nvPr/>
        </p:nvSpPr>
        <p:spPr>
          <a:xfrm>
            <a:off x="11109960" y="4988052"/>
            <a:ext cx="164592" cy="164592"/>
          </a:xfrm>
          <a:prstGeom prst="ellipse">
            <a:avLst/>
          </a:prstGeom>
          <a:ln w="15875">
            <a:solidFill>
              <a:schemeClr val="accent4"/>
            </a:solidFill>
            <a:prstDash val="solid"/>
          </a:ln>
        </p:spPr>
      </p:sp>
      <p:sp>
        <p:nvSpPr>
          <p:cNvPr id="58" name="Shape 55"/>
          <p:cNvSpPr/>
          <p:nvPr/>
        </p:nvSpPr>
        <p:spPr>
          <a:xfrm>
            <a:off x="548640" y="5294376"/>
            <a:ext cx="11091672" cy="0"/>
          </a:xfrm>
          <a:prstGeom prst="line">
            <a:avLst/>
          </a:prstGeom>
          <a:noFill/>
          <a:ln w="9525">
            <a:solidFill>
              <a:schemeClr val="accent3"/>
            </a:solidFill>
            <a:prstDash val="solid"/>
          </a:ln>
        </p:spPr>
      </p:sp>
      <p:sp>
        <p:nvSpPr>
          <p:cNvPr id="59" name="scope note"/>
          <p:cNvSpPr txBox="1"/>
          <p:nvPr/>
        </p:nvSpPr>
        <p:spPr>
          <a:xfrm>
            <a:off x="548640" y="5358384"/>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customer decision workflow; supporting data and analytics capabilities may serve more than one workflow.</a:t>
            </a:r>
            <a:endParaRPr lang="en-US" sz="800" dirty="0"/>
          </a:p>
        </p:txBody>
      </p:sp>
      <p:sp>
        <p:nvSpPr>
          <p:cNvPr id="60" name="chat claim legend"/>
          <p:cNvSpPr txBox="1"/>
          <p:nvPr/>
        </p:nvSpPr>
        <p:spPr>
          <a:xfrm>
            <a:off x="9418320" y="5358384"/>
            <a:ext cx="2221992" cy="182880"/>
          </a:xfrm>
          <a:prstGeom prst="rect">
            <a:avLst/>
          </a:prstGeom>
          <a:noFill/>
          <a:ln/>
        </p:spPr>
        <p:txBody>
          <a:bodyPr wrap="square" lIns="0" tIns="0" rIns="0" bIns="0" rtlCol="0" anchor="t"/>
          <a:lstStyle/>
          <a:p>
            <a:pPr algn="r" indent="0" marL="0">
              <a:buNone/>
            </a:pPr>
            <a:r>
              <a:rPr lang="en-US" sz="800" i="1" dirty="0">
                <a:solidFill>
                  <a:schemeClr val="accent4"/>
                </a:solidFill>
              </a:rPr>
              <a:t>○  Not publicly established in this review</a:t>
            </a:r>
            <a:endParaRPr lang="en-US" sz="800" dirty="0"/>
          </a:p>
        </p:txBody>
      </p:sp>
      <p:sp>
        <p:nvSpPr>
          <p:cNvPr id="61" name="key takeaway card"/>
          <p:cNvSpPr/>
          <p:nvPr/>
        </p:nvSpPr>
        <p:spPr>
          <a:xfrm>
            <a:off x="548640" y="5596128"/>
            <a:ext cx="11091672" cy="548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62" name="label"/>
          <p:cNvSpPr txBox="1"/>
          <p:nvPr/>
        </p:nvSpPr>
        <p:spPr>
          <a:xfrm>
            <a:off x="731520" y="5596128"/>
            <a:ext cx="1554480" cy="548640"/>
          </a:xfrm>
          <a:prstGeom prst="rect">
            <a:avLst/>
          </a:prstGeom>
          <a:noFill/>
          <a:ln/>
        </p:spPr>
        <p:txBody>
          <a:bodyPr wrap="square" lIns="0" tIns="0" rIns="0" bIns="0" rtlCol="0" anchor="ctr"/>
          <a:lstStyle/>
          <a:p>
            <a:pPr indent="0" marL="0">
              <a:buNone/>
            </a:pPr>
            <a:r>
              <a:rPr lang="en-US" sz="1000" b="1" spc="100" kern="0" dirty="0">
                <a:solidFill>
                  <a:schemeClr val="accent2"/>
                </a:solidFill>
              </a:rPr>
              <a:t>KEY TAKEAWAY</a:t>
            </a:r>
            <a:endParaRPr lang="en-US" sz="1000" dirty="0"/>
          </a:p>
        </p:txBody>
      </p:sp>
      <p:sp>
        <p:nvSpPr>
          <p:cNvPr id="63" name="Text 60"/>
          <p:cNvSpPr txBox="1"/>
          <p:nvPr/>
        </p:nvSpPr>
        <p:spPr>
          <a:xfrm>
            <a:off x="2331720" y="5596128"/>
            <a:ext cx="9125712" cy="548640"/>
          </a:xfrm>
          <a:prstGeom prst="rect">
            <a:avLst/>
          </a:prstGeom>
          <a:noFill/>
          <a:ln/>
        </p:spPr>
        <p:txBody>
          <a:bodyPr wrap="square" lIns="0" tIns="0" rIns="0" bIns="0" rtlCol="0" anchor="ctr"/>
          <a:lstStyle/>
          <a:p>
            <a:pPr indent="0" marL="0">
              <a:buNone/>
            </a:pPr>
            <a:r>
              <a:rPr lang="en-US" sz="1050" dirty="0">
                <a:solidFill>
                  <a:schemeClr val="tx1"/>
                </a:solidFill>
              </a:rPr>
              <a:t>RWE has the largest number of screened U.S. companies marketing qualifying conversational AI. Optum offers products and services across the five decision workflows shown, but a qualifying customer-facing conversational interface was not established in the reviewed public materials.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COMPETITOR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competitors marketing conversational AI across Optum-relevant workflows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COMPETITOR GROUPS MARKETING QUALIFYING CHAT — FIVE DECISION WORKFLOWS</a:t>
            </a:r>
            <a:endParaRPr lang="en-US" sz="1000" dirty="0"/>
          </a:p>
        </p:txBody>
      </p:sp>
      <p:sp>
        <p:nvSpPr>
          <p:cNvPr id="5" name="table header"/>
          <p:cNvSpPr/>
          <p:nvPr/>
        </p:nvSpPr>
        <p:spPr>
          <a:xfrm>
            <a:off x="548640" y="1737360"/>
            <a:ext cx="7635240" cy="384048"/>
          </a:xfrm>
          <a:prstGeom prst="rect">
            <a:avLst/>
          </a:prstGeom>
          <a:solidFill>
            <a:schemeClr val="accent1"/>
          </a:solidFill>
          <a:ln/>
        </p:spPr>
      </p:sp>
      <p:sp>
        <p:nvSpPr>
          <p:cNvPr id="6" name="Text 4"/>
          <p:cNvSpPr txBox="1"/>
          <p:nvPr/>
        </p:nvSpPr>
        <p:spPr>
          <a:xfrm>
            <a:off x="640080" y="1737360"/>
            <a:ext cx="1691640" cy="384048"/>
          </a:xfrm>
          <a:prstGeom prst="rect">
            <a:avLst/>
          </a:prstGeom>
          <a:noFill/>
          <a:ln/>
        </p:spPr>
        <p:txBody>
          <a:bodyPr wrap="square" lIns="0" tIns="0" rIns="0" bIns="0" rtlCol="0" anchor="ctr"/>
          <a:lstStyle/>
          <a:p>
            <a:pPr indent="0" marL="0">
              <a:buNone/>
            </a:pPr>
            <a:r>
              <a:rPr lang="en-US" sz="850" b="1" dirty="0">
                <a:solidFill>
                  <a:schemeClr val="bg1"/>
                </a:solidFill>
              </a:rPr>
              <a:t>Screen</a:t>
            </a:r>
            <a:endParaRPr lang="en-US" sz="850" dirty="0"/>
          </a:p>
        </p:txBody>
      </p:sp>
      <p:sp>
        <p:nvSpPr>
          <p:cNvPr id="7" name="Text 5"/>
          <p:cNvSpPr txBox="1"/>
          <p:nvPr/>
        </p:nvSpPr>
        <p:spPr>
          <a:xfrm>
            <a:off x="2331720" y="1737360"/>
            <a:ext cx="4846320" cy="384048"/>
          </a:xfrm>
          <a:prstGeom prst="rect">
            <a:avLst/>
          </a:prstGeom>
          <a:noFill/>
          <a:ln/>
        </p:spPr>
        <p:txBody>
          <a:bodyPr wrap="square" lIns="0" tIns="0" rIns="0" bIns="0" rtlCol="0" anchor="ctr"/>
          <a:lstStyle/>
          <a:p>
            <a:pPr algn="ctr" indent="0" marL="0">
              <a:buNone/>
            </a:pPr>
            <a:r>
              <a:rPr lang="en-US" sz="850" b="1" dirty="0">
                <a:solidFill>
                  <a:schemeClr val="bg1"/>
                </a:solidFill>
              </a:rPr>
              <a:t>Distinct chat-marketing groups / distinct comparable competitor groups</a:t>
            </a:r>
            <a:endParaRPr lang="en-US" sz="850" dirty="0"/>
          </a:p>
        </p:txBody>
      </p:sp>
      <p:sp>
        <p:nvSpPr>
          <p:cNvPr id="8" name="Text 6"/>
          <p:cNvSpPr txBox="1"/>
          <p:nvPr/>
        </p:nvSpPr>
        <p:spPr>
          <a:xfrm>
            <a:off x="7223760" y="1737360"/>
            <a:ext cx="914400" cy="384048"/>
          </a:xfrm>
          <a:prstGeom prst="rect">
            <a:avLst/>
          </a:prstGeom>
          <a:noFill/>
          <a:ln/>
        </p:spPr>
        <p:txBody>
          <a:bodyPr wrap="square" lIns="0" tIns="0" rIns="0" bIns="0" rtlCol="0" anchor="ctr"/>
          <a:lstStyle/>
          <a:p>
            <a:pPr algn="r" indent="0" marL="0">
              <a:buNone/>
            </a:pPr>
            <a:r>
              <a:rPr lang="en-US" sz="850" b="1" dirty="0">
                <a:solidFill>
                  <a:schemeClr val="bg1"/>
                </a:solidFill>
              </a:rPr>
              <a:t>Screened-company share</a:t>
            </a:r>
            <a:endParaRPr lang="en-US" sz="850" dirty="0"/>
          </a:p>
        </p:txBody>
      </p:sp>
      <p:graphicFrame>
        <p:nvGraphicFramePr>
          <p:cNvPr id="9" name="screened-company share chart" descr=""/>
          <p:cNvGraphicFramePr/>
          <p:nvPr/>
        </p:nvGraphicFramePr>
        <p:xfrm>
          <a:off x="2331720" y="2121408"/>
          <a:ext cx="4526280" cy="361645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40080" y="2121408"/>
            <a:ext cx="1691640" cy="224028"/>
          </a:xfrm>
          <a:prstGeom prst="rect">
            <a:avLst/>
          </a:prstGeom>
          <a:noFill/>
          <a:ln/>
        </p:spPr>
        <p:txBody>
          <a:bodyPr wrap="square" lIns="0" tIns="0" rIns="0" bIns="0" rtlCol="0" anchor="ctr"/>
          <a:lstStyle/>
          <a:p>
            <a:pPr indent="0" marL="0">
              <a:buNone/>
            </a:pPr>
            <a:r>
              <a:rPr lang="en-US" sz="900" b="1" dirty="0">
                <a:solidFill>
                  <a:schemeClr val="accent1"/>
                </a:solidFill>
              </a:rPr>
              <a:t>United States (reference)</a:t>
            </a:r>
            <a:endParaRPr lang="en-US" sz="900" dirty="0"/>
          </a:p>
        </p:txBody>
      </p:sp>
      <p:sp>
        <p:nvSpPr>
          <p:cNvPr id="11" name="fraction United States (reference)"/>
          <p:cNvSpPr txBox="1"/>
          <p:nvPr/>
        </p:nvSpPr>
        <p:spPr>
          <a:xfrm>
            <a:off x="6343065" y="2121408"/>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7360920" y="2121408"/>
            <a:ext cx="777240" cy="224028"/>
          </a:xfrm>
          <a:prstGeom prst="rect">
            <a:avLst/>
          </a:prstGeom>
          <a:noFill/>
          <a:ln/>
        </p:spPr>
        <p:txBody>
          <a:bodyPr wrap="square" lIns="0" tIns="0" rIns="0" bIns="0" rtlCol="0" anchor="ctr"/>
          <a:lstStyle/>
          <a:p>
            <a:pPr algn="r" indent="0" marL="0">
              <a:buNone/>
            </a:pPr>
            <a:r>
              <a:rPr lang="en-US" sz="850" b="1" dirty="0">
                <a:solidFill>
                  <a:schemeClr val="accent1"/>
                </a:solidFill>
              </a:rPr>
              <a:t>34.9%</a:t>
            </a:r>
            <a:endParaRPr lang="en-US" sz="850" dirty="0"/>
          </a:p>
        </p:txBody>
      </p:sp>
      <p:sp>
        <p:nvSpPr>
          <p:cNvPr id="13" name="Text 10"/>
          <p:cNvSpPr txBox="1"/>
          <p:nvPr/>
        </p:nvSpPr>
        <p:spPr>
          <a:xfrm>
            <a:off x="640080" y="2345436"/>
            <a:ext cx="1691640" cy="224028"/>
          </a:xfrm>
          <a:prstGeom prst="rect">
            <a:avLst/>
          </a:prstGeom>
          <a:noFill/>
          <a:ln/>
        </p:spPr>
        <p:txBody>
          <a:bodyPr wrap="square" lIns="0" tIns="0" rIns="0" bIns="0" rtlCol="0" anchor="ctr"/>
          <a:lstStyle/>
          <a:p>
            <a:pPr indent="0" marL="0">
              <a:buNone/>
            </a:pPr>
            <a:r>
              <a:rPr lang="en-US" sz="900" dirty="0">
                <a:solidFill>
                  <a:schemeClr val="tx1"/>
                </a:solidFill>
              </a:rPr>
              <a:t>China</a:t>
            </a:r>
            <a:endParaRPr lang="en-US" sz="900" dirty="0"/>
          </a:p>
        </p:txBody>
      </p:sp>
      <p:sp>
        <p:nvSpPr>
          <p:cNvPr id="14" name="fraction China"/>
          <p:cNvSpPr txBox="1"/>
          <p:nvPr/>
        </p:nvSpPr>
        <p:spPr>
          <a:xfrm>
            <a:off x="5224653" y="2345436"/>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7360920" y="2345436"/>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25.0%</a:t>
            </a:r>
            <a:endParaRPr lang="en-US" sz="850" dirty="0"/>
          </a:p>
        </p:txBody>
      </p:sp>
      <p:sp>
        <p:nvSpPr>
          <p:cNvPr id="16" name="Text 13"/>
          <p:cNvSpPr txBox="1"/>
          <p:nvPr/>
        </p:nvSpPr>
        <p:spPr>
          <a:xfrm>
            <a:off x="640080" y="2569464"/>
            <a:ext cx="1691640" cy="224028"/>
          </a:xfrm>
          <a:prstGeom prst="rect">
            <a:avLst/>
          </a:prstGeom>
          <a:noFill/>
          <a:ln/>
        </p:spPr>
        <p:txBody>
          <a:bodyPr wrap="square" lIns="0" tIns="0" rIns="0" bIns="0" rtlCol="0" anchor="ctr"/>
          <a:lstStyle/>
          <a:p>
            <a:pPr indent="0" marL="0">
              <a:buNone/>
            </a:pPr>
            <a:r>
              <a:rPr lang="en-US" sz="900" dirty="0">
                <a:solidFill>
                  <a:schemeClr val="tx1"/>
                </a:solidFill>
              </a:rPr>
              <a:t>Spain</a:t>
            </a:r>
            <a:endParaRPr lang="en-US" sz="900" dirty="0"/>
          </a:p>
        </p:txBody>
      </p:sp>
      <p:sp>
        <p:nvSpPr>
          <p:cNvPr id="17" name="fraction Spain"/>
          <p:cNvSpPr txBox="1"/>
          <p:nvPr/>
        </p:nvSpPr>
        <p:spPr>
          <a:xfrm>
            <a:off x="4392616" y="2569464"/>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7360920" y="2569464"/>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17.6%</a:t>
            </a:r>
            <a:endParaRPr lang="en-US" sz="850" dirty="0"/>
          </a:p>
        </p:txBody>
      </p:sp>
      <p:sp>
        <p:nvSpPr>
          <p:cNvPr id="19" name="Text 16"/>
          <p:cNvSpPr txBox="1"/>
          <p:nvPr/>
        </p:nvSpPr>
        <p:spPr>
          <a:xfrm>
            <a:off x="640080" y="2793492"/>
            <a:ext cx="1691640" cy="224028"/>
          </a:xfrm>
          <a:prstGeom prst="rect">
            <a:avLst/>
          </a:prstGeom>
          <a:noFill/>
          <a:ln/>
        </p:spPr>
        <p:txBody>
          <a:bodyPr wrap="square" lIns="0" tIns="0" rIns="0" bIns="0" rtlCol="0" anchor="ctr"/>
          <a:lstStyle/>
          <a:p>
            <a:pPr indent="0" marL="0">
              <a:buNone/>
            </a:pPr>
            <a:r>
              <a:rPr lang="en-US" sz="900" dirty="0">
                <a:solidFill>
                  <a:schemeClr val="tx1"/>
                </a:solidFill>
              </a:rPr>
              <a:t>Israel</a:t>
            </a:r>
            <a:endParaRPr lang="en-US" sz="900" dirty="0"/>
          </a:p>
        </p:txBody>
      </p:sp>
      <p:sp>
        <p:nvSpPr>
          <p:cNvPr id="20" name="fraction Israel"/>
          <p:cNvSpPr txBox="1"/>
          <p:nvPr/>
        </p:nvSpPr>
        <p:spPr>
          <a:xfrm>
            <a:off x="3904488" y="2793492"/>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7360920" y="2793492"/>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13.3%</a:t>
            </a:r>
            <a:endParaRPr lang="en-US" sz="850" dirty="0"/>
          </a:p>
        </p:txBody>
      </p:sp>
      <p:sp>
        <p:nvSpPr>
          <p:cNvPr id="22" name="Text 19"/>
          <p:cNvSpPr txBox="1"/>
          <p:nvPr/>
        </p:nvSpPr>
        <p:spPr>
          <a:xfrm>
            <a:off x="640080" y="3017520"/>
            <a:ext cx="1691640" cy="224028"/>
          </a:xfrm>
          <a:prstGeom prst="rect">
            <a:avLst/>
          </a:prstGeom>
          <a:noFill/>
          <a:ln/>
        </p:spPr>
        <p:txBody>
          <a:bodyPr wrap="square" lIns="0" tIns="0" rIns="0" bIns="0" rtlCol="0" anchor="ctr"/>
          <a:lstStyle/>
          <a:p>
            <a:pPr indent="0" marL="0">
              <a:buNone/>
            </a:pPr>
            <a:r>
              <a:rPr lang="en-US" sz="900" dirty="0">
                <a:solidFill>
                  <a:schemeClr val="tx1"/>
                </a:solidFill>
              </a:rPr>
              <a:t>France</a:t>
            </a:r>
            <a:endParaRPr lang="en-US" sz="900" dirty="0"/>
          </a:p>
        </p:txBody>
      </p:sp>
      <p:sp>
        <p:nvSpPr>
          <p:cNvPr id="23" name="fraction France"/>
          <p:cNvSpPr txBox="1"/>
          <p:nvPr/>
        </p:nvSpPr>
        <p:spPr>
          <a:xfrm>
            <a:off x="3726987" y="3017520"/>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7360920" y="3017520"/>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11.8%</a:t>
            </a:r>
            <a:endParaRPr lang="en-US" sz="850" dirty="0"/>
          </a:p>
        </p:txBody>
      </p:sp>
      <p:sp>
        <p:nvSpPr>
          <p:cNvPr id="25" name="Text 22"/>
          <p:cNvSpPr txBox="1"/>
          <p:nvPr/>
        </p:nvSpPr>
        <p:spPr>
          <a:xfrm>
            <a:off x="640080" y="3241548"/>
            <a:ext cx="1691640" cy="224028"/>
          </a:xfrm>
          <a:prstGeom prst="rect">
            <a:avLst/>
          </a:prstGeom>
          <a:noFill/>
          <a:ln/>
        </p:spPr>
        <p:txBody>
          <a:bodyPr wrap="square" lIns="0" tIns="0" rIns="0" bIns="0" rtlCol="0" anchor="ctr"/>
          <a:lstStyle/>
          <a:p>
            <a:pPr indent="0" marL="0">
              <a:buNone/>
            </a:pPr>
            <a:r>
              <a:rPr lang="en-US" sz="900" dirty="0">
                <a:solidFill>
                  <a:schemeClr val="tx1"/>
                </a:solidFill>
              </a:rPr>
              <a:t>Nordics</a:t>
            </a:r>
            <a:endParaRPr lang="en-US" sz="900" dirty="0"/>
          </a:p>
        </p:txBody>
      </p:sp>
      <p:sp>
        <p:nvSpPr>
          <p:cNvPr id="26" name="fraction Nordics"/>
          <p:cNvSpPr txBox="1"/>
          <p:nvPr/>
        </p:nvSpPr>
        <p:spPr>
          <a:xfrm>
            <a:off x="3726987" y="3241548"/>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7360920" y="3241548"/>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11.8%</a:t>
            </a:r>
            <a:endParaRPr lang="en-US" sz="850" dirty="0"/>
          </a:p>
        </p:txBody>
      </p:sp>
      <p:sp>
        <p:nvSpPr>
          <p:cNvPr id="28" name="Text 25"/>
          <p:cNvSpPr txBox="1"/>
          <p:nvPr/>
        </p:nvSpPr>
        <p:spPr>
          <a:xfrm>
            <a:off x="640080" y="3465576"/>
            <a:ext cx="1691640" cy="224028"/>
          </a:xfrm>
          <a:prstGeom prst="rect">
            <a:avLst/>
          </a:prstGeom>
          <a:noFill/>
          <a:ln/>
        </p:spPr>
        <p:txBody>
          <a:bodyPr wrap="square" lIns="0" tIns="0" rIns="0" bIns="0" rtlCol="0" anchor="ctr"/>
          <a:lstStyle/>
          <a:p>
            <a:pPr indent="0" marL="0">
              <a:buNone/>
            </a:pPr>
            <a:r>
              <a:rPr lang="en-US" sz="900" b="1" dirty="0">
                <a:solidFill>
                  <a:schemeClr val="accent1"/>
                </a:solidFill>
              </a:rPr>
              <a:t>India</a:t>
            </a:r>
            <a:endParaRPr lang="en-US" sz="900" dirty="0"/>
          </a:p>
        </p:txBody>
      </p:sp>
      <p:sp>
        <p:nvSpPr>
          <p:cNvPr id="29" name="fraction India"/>
          <p:cNvSpPr txBox="1"/>
          <p:nvPr/>
        </p:nvSpPr>
        <p:spPr>
          <a:xfrm>
            <a:off x="3456575" y="3465576"/>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7360920" y="3465576"/>
            <a:ext cx="777240" cy="224028"/>
          </a:xfrm>
          <a:prstGeom prst="rect">
            <a:avLst/>
          </a:prstGeom>
          <a:noFill/>
          <a:ln/>
        </p:spPr>
        <p:txBody>
          <a:bodyPr wrap="square" lIns="0" tIns="0" rIns="0" bIns="0" rtlCol="0" anchor="ctr"/>
          <a:lstStyle/>
          <a:p>
            <a:pPr algn="r" indent="0" marL="0">
              <a:buNone/>
            </a:pPr>
            <a:r>
              <a:rPr lang="en-US" sz="850" b="1" dirty="0">
                <a:solidFill>
                  <a:schemeClr val="accent1"/>
                </a:solidFill>
              </a:rPr>
              <a:t>9.4%</a:t>
            </a:r>
            <a:endParaRPr lang="en-US" sz="850" dirty="0"/>
          </a:p>
        </p:txBody>
      </p:sp>
      <p:sp>
        <p:nvSpPr>
          <p:cNvPr id="31" name="Text 28"/>
          <p:cNvSpPr txBox="1"/>
          <p:nvPr/>
        </p:nvSpPr>
        <p:spPr>
          <a:xfrm>
            <a:off x="640080" y="3689604"/>
            <a:ext cx="1691640" cy="224028"/>
          </a:xfrm>
          <a:prstGeom prst="rect">
            <a:avLst/>
          </a:prstGeom>
          <a:noFill/>
          <a:ln/>
        </p:spPr>
        <p:txBody>
          <a:bodyPr wrap="square" lIns="0" tIns="0" rIns="0" bIns="0" rtlCol="0" anchor="ctr"/>
          <a:lstStyle/>
          <a:p>
            <a:pPr indent="0" marL="0">
              <a:buNone/>
            </a:pPr>
            <a:r>
              <a:rPr lang="en-US" sz="900" dirty="0">
                <a:solidFill>
                  <a:schemeClr val="tx1"/>
                </a:solidFill>
              </a:rPr>
              <a:t>Netherlands</a:t>
            </a:r>
            <a:endParaRPr lang="en-US" sz="900" dirty="0"/>
          </a:p>
        </p:txBody>
      </p:sp>
      <p:sp>
        <p:nvSpPr>
          <p:cNvPr id="32" name="fraction Netherlands"/>
          <p:cNvSpPr txBox="1"/>
          <p:nvPr/>
        </p:nvSpPr>
        <p:spPr>
          <a:xfrm>
            <a:off x="3424428" y="3689604"/>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7360920" y="3689604"/>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9.1%</a:t>
            </a:r>
            <a:endParaRPr lang="en-US" sz="850" dirty="0"/>
          </a:p>
        </p:txBody>
      </p:sp>
      <p:sp>
        <p:nvSpPr>
          <p:cNvPr id="34" name="Text 31"/>
          <p:cNvSpPr txBox="1"/>
          <p:nvPr/>
        </p:nvSpPr>
        <p:spPr>
          <a:xfrm>
            <a:off x="640080" y="3913632"/>
            <a:ext cx="1691640" cy="224028"/>
          </a:xfrm>
          <a:prstGeom prst="rect">
            <a:avLst/>
          </a:prstGeom>
          <a:noFill/>
          <a:ln/>
        </p:spPr>
        <p:txBody>
          <a:bodyPr wrap="square" lIns="0" tIns="0" rIns="0" bIns="0" rtlCol="0" anchor="ctr"/>
          <a:lstStyle/>
          <a:p>
            <a:pPr indent="0" marL="0">
              <a:buNone/>
            </a:pPr>
            <a:r>
              <a:rPr lang="en-US" sz="900" dirty="0">
                <a:solidFill>
                  <a:schemeClr val="tx1"/>
                </a:solidFill>
              </a:rPr>
              <a:t>Australia</a:t>
            </a:r>
            <a:endParaRPr lang="en-US" sz="900" dirty="0"/>
          </a:p>
        </p:txBody>
      </p:sp>
      <p:sp>
        <p:nvSpPr>
          <p:cNvPr id="35" name="fraction Australia"/>
          <p:cNvSpPr txBox="1"/>
          <p:nvPr/>
        </p:nvSpPr>
        <p:spPr>
          <a:xfrm>
            <a:off x="3203992" y="3913632"/>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7360920" y="3913632"/>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7.1%</a:t>
            </a:r>
            <a:endParaRPr lang="en-US" sz="850" dirty="0"/>
          </a:p>
        </p:txBody>
      </p:sp>
      <p:sp>
        <p:nvSpPr>
          <p:cNvPr id="37" name="Text 34"/>
          <p:cNvSpPr txBox="1"/>
          <p:nvPr/>
        </p:nvSpPr>
        <p:spPr>
          <a:xfrm>
            <a:off x="640080" y="4137660"/>
            <a:ext cx="1691640" cy="224028"/>
          </a:xfrm>
          <a:prstGeom prst="rect">
            <a:avLst/>
          </a:prstGeom>
          <a:noFill/>
          <a:ln/>
        </p:spPr>
        <p:txBody>
          <a:bodyPr wrap="square" lIns="0" tIns="0" rIns="0" bIns="0" rtlCol="0" anchor="ctr"/>
          <a:lstStyle/>
          <a:p>
            <a:pPr indent="0" marL="0">
              <a:buNone/>
            </a:pPr>
            <a:r>
              <a:rPr lang="en-US" sz="900" dirty="0">
                <a:solidFill>
                  <a:schemeClr val="tx1"/>
                </a:solidFill>
              </a:rPr>
              <a:t>South Korea</a:t>
            </a:r>
            <a:endParaRPr lang="en-US" sz="900" dirty="0"/>
          </a:p>
        </p:txBody>
      </p:sp>
      <p:sp>
        <p:nvSpPr>
          <p:cNvPr id="38" name="fraction South Korea"/>
          <p:cNvSpPr txBox="1"/>
          <p:nvPr/>
        </p:nvSpPr>
        <p:spPr>
          <a:xfrm>
            <a:off x="3061357" y="4137660"/>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7360920" y="4137660"/>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5.9%</a:t>
            </a:r>
            <a:endParaRPr lang="en-US" sz="850" dirty="0"/>
          </a:p>
        </p:txBody>
      </p:sp>
      <p:sp>
        <p:nvSpPr>
          <p:cNvPr id="40" name="Text 37"/>
          <p:cNvSpPr txBox="1"/>
          <p:nvPr/>
        </p:nvSpPr>
        <p:spPr>
          <a:xfrm>
            <a:off x="640080" y="4361688"/>
            <a:ext cx="1691640" cy="224028"/>
          </a:xfrm>
          <a:prstGeom prst="rect">
            <a:avLst/>
          </a:prstGeom>
          <a:noFill/>
          <a:ln/>
        </p:spPr>
        <p:txBody>
          <a:bodyPr wrap="square" lIns="0" tIns="0" rIns="0" bIns="0" rtlCol="0" anchor="ctr"/>
          <a:lstStyle/>
          <a:p>
            <a:pPr indent="0" marL="0">
              <a:buNone/>
            </a:pPr>
            <a:r>
              <a:rPr lang="en-US" sz="900" dirty="0">
                <a:solidFill>
                  <a:schemeClr val="tx1"/>
                </a:solidFill>
              </a:rPr>
              <a:t>Belgium</a:t>
            </a:r>
            <a:endParaRPr lang="en-US" sz="900" dirty="0"/>
          </a:p>
        </p:txBody>
      </p:sp>
      <p:sp>
        <p:nvSpPr>
          <p:cNvPr id="41" name="fraction Belgium"/>
          <p:cNvSpPr txBox="1"/>
          <p:nvPr/>
        </p:nvSpPr>
        <p:spPr>
          <a:xfrm>
            <a:off x="3024378" y="4361688"/>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7360920" y="4361688"/>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5.6%</a:t>
            </a:r>
            <a:endParaRPr lang="en-US" sz="850" dirty="0"/>
          </a:p>
        </p:txBody>
      </p:sp>
      <p:sp>
        <p:nvSpPr>
          <p:cNvPr id="43" name="Text 40"/>
          <p:cNvSpPr txBox="1"/>
          <p:nvPr/>
        </p:nvSpPr>
        <p:spPr>
          <a:xfrm>
            <a:off x="640080" y="4585716"/>
            <a:ext cx="1691640" cy="224028"/>
          </a:xfrm>
          <a:prstGeom prst="rect">
            <a:avLst/>
          </a:prstGeom>
          <a:noFill/>
          <a:ln/>
        </p:spPr>
        <p:txBody>
          <a:bodyPr wrap="square" lIns="0" tIns="0" rIns="0" bIns="0" rtlCol="0" anchor="ctr"/>
          <a:lstStyle/>
          <a:p>
            <a:pPr indent="0" marL="0">
              <a:buNone/>
            </a:pPr>
            <a:r>
              <a:rPr lang="en-US" sz="900" dirty="0">
                <a:solidFill>
                  <a:schemeClr val="tx1"/>
                </a:solidFill>
              </a:rPr>
              <a:t>United Kingdom</a:t>
            </a:r>
            <a:endParaRPr lang="en-US" sz="900" dirty="0"/>
          </a:p>
        </p:txBody>
      </p:sp>
      <p:sp>
        <p:nvSpPr>
          <p:cNvPr id="44" name="fraction United Kingdom"/>
          <p:cNvSpPr txBox="1"/>
          <p:nvPr/>
        </p:nvSpPr>
        <p:spPr>
          <a:xfrm>
            <a:off x="3024378" y="4585716"/>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7360920" y="4585716"/>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5.6%</a:t>
            </a:r>
            <a:endParaRPr lang="en-US" sz="850" dirty="0"/>
          </a:p>
        </p:txBody>
      </p:sp>
      <p:sp>
        <p:nvSpPr>
          <p:cNvPr id="46" name="Text 43"/>
          <p:cNvSpPr txBox="1"/>
          <p:nvPr/>
        </p:nvSpPr>
        <p:spPr>
          <a:xfrm>
            <a:off x="640080" y="4809744"/>
            <a:ext cx="1691640" cy="224028"/>
          </a:xfrm>
          <a:prstGeom prst="rect">
            <a:avLst/>
          </a:prstGeom>
          <a:noFill/>
          <a:ln/>
        </p:spPr>
        <p:txBody>
          <a:bodyPr wrap="square" lIns="0" tIns="0" rIns="0" bIns="0" rtlCol="0" anchor="ctr"/>
          <a:lstStyle/>
          <a:p>
            <a:pPr indent="0" marL="0">
              <a:buNone/>
            </a:pPr>
            <a:r>
              <a:rPr lang="en-US" sz="900" dirty="0">
                <a:solidFill>
                  <a:schemeClr val="tx1"/>
                </a:solidFill>
              </a:rPr>
              <a:t>Canada</a:t>
            </a:r>
            <a:endParaRPr lang="en-US" sz="900" dirty="0"/>
          </a:p>
        </p:txBody>
      </p:sp>
      <p:sp>
        <p:nvSpPr>
          <p:cNvPr id="47" name="fraction Canada"/>
          <p:cNvSpPr txBox="1"/>
          <p:nvPr/>
        </p:nvSpPr>
        <p:spPr>
          <a:xfrm>
            <a:off x="2395728" y="4809744"/>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7360920" y="4809744"/>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0.0%</a:t>
            </a:r>
            <a:endParaRPr lang="en-US" sz="850" dirty="0"/>
          </a:p>
        </p:txBody>
      </p:sp>
      <p:sp>
        <p:nvSpPr>
          <p:cNvPr id="49" name="Text 46"/>
          <p:cNvSpPr txBox="1"/>
          <p:nvPr/>
        </p:nvSpPr>
        <p:spPr>
          <a:xfrm>
            <a:off x="640080" y="5033772"/>
            <a:ext cx="1691640" cy="224028"/>
          </a:xfrm>
          <a:prstGeom prst="rect">
            <a:avLst/>
          </a:prstGeom>
          <a:noFill/>
          <a:ln/>
        </p:spPr>
        <p:txBody>
          <a:bodyPr wrap="square" lIns="0" tIns="0" rIns="0" bIns="0" rtlCol="0" anchor="ctr"/>
          <a:lstStyle/>
          <a:p>
            <a:pPr indent="0" marL="0">
              <a:buNone/>
            </a:pPr>
            <a:r>
              <a:rPr lang="en-US" sz="900" dirty="0">
                <a:solidFill>
                  <a:schemeClr val="tx1"/>
                </a:solidFill>
              </a:rPr>
              <a:t>Germany</a:t>
            </a:r>
            <a:endParaRPr lang="en-US" sz="900" dirty="0"/>
          </a:p>
        </p:txBody>
      </p:sp>
      <p:sp>
        <p:nvSpPr>
          <p:cNvPr id="50" name="fraction Germany"/>
          <p:cNvSpPr txBox="1"/>
          <p:nvPr/>
        </p:nvSpPr>
        <p:spPr>
          <a:xfrm>
            <a:off x="2395728" y="5033772"/>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7360920" y="5033772"/>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0.0%</a:t>
            </a:r>
            <a:endParaRPr lang="en-US" sz="850" dirty="0"/>
          </a:p>
        </p:txBody>
      </p:sp>
      <p:sp>
        <p:nvSpPr>
          <p:cNvPr id="52" name="Text 49"/>
          <p:cNvSpPr txBox="1"/>
          <p:nvPr/>
        </p:nvSpPr>
        <p:spPr>
          <a:xfrm>
            <a:off x="640080" y="5257800"/>
            <a:ext cx="1691640" cy="224028"/>
          </a:xfrm>
          <a:prstGeom prst="rect">
            <a:avLst/>
          </a:prstGeom>
          <a:noFill/>
          <a:ln/>
        </p:spPr>
        <p:txBody>
          <a:bodyPr wrap="square" lIns="0" tIns="0" rIns="0" bIns="0" rtlCol="0" anchor="ctr"/>
          <a:lstStyle/>
          <a:p>
            <a:pPr indent="0" marL="0">
              <a:buNone/>
            </a:pPr>
            <a:r>
              <a:rPr lang="en-US" sz="900" dirty="0">
                <a:solidFill>
                  <a:schemeClr val="tx1"/>
                </a:solidFill>
              </a:rPr>
              <a:t>Japan</a:t>
            </a:r>
            <a:endParaRPr lang="en-US" sz="900" dirty="0"/>
          </a:p>
        </p:txBody>
      </p:sp>
      <p:sp>
        <p:nvSpPr>
          <p:cNvPr id="53" name="fraction Japan"/>
          <p:cNvSpPr txBox="1"/>
          <p:nvPr/>
        </p:nvSpPr>
        <p:spPr>
          <a:xfrm>
            <a:off x="2395728" y="5257800"/>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7360920" y="5257800"/>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0.0%</a:t>
            </a:r>
            <a:endParaRPr lang="en-US" sz="850" dirty="0"/>
          </a:p>
        </p:txBody>
      </p:sp>
      <p:sp>
        <p:nvSpPr>
          <p:cNvPr id="55" name="how to read card"/>
          <p:cNvSpPr/>
          <p:nvPr/>
        </p:nvSpPr>
        <p:spPr>
          <a:xfrm>
            <a:off x="8412480" y="1481328"/>
            <a:ext cx="3227832"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6" name="label"/>
          <p:cNvSpPr txBox="1"/>
          <p:nvPr/>
        </p:nvSpPr>
        <p:spPr>
          <a:xfrm>
            <a:off x="8613648" y="1618488"/>
            <a:ext cx="28254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HOW TO READ THE COMPARISON</a:t>
            </a:r>
            <a:endParaRPr lang="en-US" sz="1000" dirty="0"/>
          </a:p>
        </p:txBody>
      </p:sp>
      <p:sp>
        <p:nvSpPr>
          <p:cNvPr id="57" name="Text 54"/>
          <p:cNvSpPr txBox="1"/>
          <p:nvPr/>
        </p:nvSpPr>
        <p:spPr>
          <a:xfrm>
            <a:off x="8613648" y="1883664"/>
            <a:ext cx="2825496" cy="2011680"/>
          </a:xfrm>
          <a:prstGeom prst="rect">
            <a:avLst/>
          </a:prstGeom>
          <a:noFill/>
          <a:ln/>
        </p:spPr>
        <p:txBody>
          <a:bodyPr wrap="square" lIns="0" tIns="0" rIns="0" bIns="0" rtlCol="0" anchor="t"/>
          <a:lstStyle/>
          <a:p>
            <a:pPr indent="0" marL="0">
              <a:buNone/>
            </a:pPr>
            <a:r>
              <a:rPr lang="en-US" sz="950" dirty="0">
                <a:solidFill>
                  <a:schemeClr val="tx1"/>
                </a:solidFill>
              </a:rPr>
              <a:t>Each bar represents distinct company groups publicly marketing at least one qualifying conversational offering divided by distinct direct or specialized/partial competitor groups comparable in at least one of the five decision workflows. Count each group once per screen. International numerators and denominators exclude companies already represented in the qualifying U.S. chat inventory.</a:t>
            </a:r>
            <a:endParaRPr lang="en-US" sz="950" dirty="0"/>
          </a:p>
        </p:txBody>
      </p:sp>
      <p:sp>
        <p:nvSpPr>
          <p:cNvPr id="58" name="next card"/>
          <p:cNvSpPr/>
          <p:nvPr/>
        </p:nvSpPr>
        <p:spPr>
          <a:xfrm>
            <a:off x="8412480" y="4133088"/>
            <a:ext cx="3227832" cy="1700784"/>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9" name="icon circle"/>
          <p:cNvSpPr/>
          <p:nvPr/>
        </p:nvSpPr>
        <p:spPr>
          <a:xfrm>
            <a:off x="8613648" y="4279392"/>
            <a:ext cx="365760" cy="365760"/>
          </a:xfrm>
          <a:prstGeom prst="ellipse">
            <a:avLst/>
          </a:prstGeom>
          <a:solidFill>
            <a:schemeClr val="accent5"/>
          </a:solidFill>
          <a:ln/>
        </p:spPr>
      </p:sp>
      <p:pic>
        <p:nvPicPr>
          <p:cNvPr id="60" name="icon MdArrowForward" descr="preencoded.png">    </p:cNvPr>
          <p:cNvPicPr>
            <a:picLocks noChangeAspect="1"/>
          </p:cNvPicPr>
          <p:nvPr/>
        </p:nvPicPr>
        <p:blipFill>
          <a:blip r:embed="rId2"/>
          <a:stretch>
            <a:fillRect/>
          </a:stretch>
        </p:blipFill>
        <p:spPr>
          <a:xfrm>
            <a:off x="8694115" y="4359859"/>
            <a:ext cx="204826" cy="204826"/>
          </a:xfrm>
          <a:prstGeom prst="rect">
            <a:avLst/>
          </a:prstGeom>
        </p:spPr>
      </p:pic>
      <p:sp>
        <p:nvSpPr>
          <p:cNvPr id="61" name="label"/>
          <p:cNvSpPr txBox="1"/>
          <p:nvPr/>
        </p:nvSpPr>
        <p:spPr>
          <a:xfrm>
            <a:off x="9098280" y="4261104"/>
            <a:ext cx="2359152" cy="402336"/>
          </a:xfrm>
          <a:prstGeom prst="rect">
            <a:avLst/>
          </a:prstGeom>
          <a:noFill/>
          <a:ln/>
        </p:spPr>
        <p:txBody>
          <a:bodyPr wrap="square" lIns="0" tIns="0" rIns="0" bIns="0" rtlCol="0" anchor="ctr"/>
          <a:lstStyle/>
          <a:p>
            <a:pPr indent="0" marL="0">
              <a:buNone/>
            </a:pPr>
            <a:r>
              <a:rPr lang="en-US" sz="1000" b="1" spc="100" kern="0" dirty="0">
                <a:solidFill>
                  <a:schemeClr val="accent2"/>
                </a:solidFill>
              </a:rPr>
              <a:t>NEXT: FROM COMPANY SCREENS TO THE ACTUAL PRODUCTS</a:t>
            </a:r>
            <a:endParaRPr lang="en-US" sz="1000" dirty="0"/>
          </a:p>
        </p:txBody>
      </p:sp>
      <p:sp>
        <p:nvSpPr>
          <p:cNvPr id="62" name="Text 58"/>
          <p:cNvSpPr txBox="1"/>
          <p:nvPr/>
        </p:nvSpPr>
        <p:spPr>
          <a:xfrm>
            <a:off x="8613648" y="4754880"/>
            <a:ext cx="2825496" cy="1005840"/>
          </a:xfrm>
          <a:prstGeom prst="rect">
            <a:avLst/>
          </a:prstGeom>
          <a:noFill/>
          <a:ln/>
        </p:spPr>
        <p:txBody>
          <a:bodyPr wrap="square" lIns="0" tIns="0" rIns="0" bIns="0" rtlCol="0" anchor="t"/>
          <a:lstStyle/>
          <a:p>
            <a:pPr indent="0" marL="0">
              <a:buNone/>
            </a:pPr>
            <a:r>
              <a:rPr lang="en-US" sz="950" dirty="0">
                <a:solidFill>
                  <a:schemeClr val="tx1"/>
                </a:solidFill>
              </a:rPr>
              <a:t>The following slides examine the specific marketed conversational tools and corresponding Optum Life Sciences offerings, beginning with RWE dataset assessment, cohort exploration and research analysis.</a:t>
            </a:r>
            <a:endParaRPr lang="en-US" sz="9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1"/>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 datasets, explore cohorts and answer RWE questions</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RWE DATA ACCESS AND ANALYSIS — COMPETITIVE EXAMPLES</a:t>
            </a:r>
            <a:endParaRPr lang="en-US" sz="10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12555">
                <a:tc>
                  <a:txBody>
                    <a:bodyPr/>
                    <a:lstStyle/>
                    <a:p>
                      <a:pPr algn="ctr" indent="0" marL="0">
                        <a:buNone/>
                      </a:pPr>
                      <a:r>
                        <a:rPr lang="en-US" sz="1050" b="1" dirty="0">
                          <a:solidFill>
                            <a:schemeClr val="accent1"/>
                          </a:solidFill>
                        </a:rPr>
                        <a:t>Identify and assess 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Merative’s </a:t>
                      </a:r>
                      <a:pPr indent="0" marL="0">
                        <a:buNone/>
                      </a:pPr>
                      <a:r>
                        <a:rPr lang="en-US" sz="950" b="1" dirty="0">
                          <a:solidFill>
                            <a:schemeClr val="tx1"/>
                          </a:solidFill>
                        </a:rPr>
                        <a:t>MarketScan Snapshot</a:t>
                      </a:r>
                      <a:pPr indent="0" marL="0">
                        <a:buNone/>
                      </a:pPr>
                      <a:r>
                        <a:rPr lang="en-US" sz="950" dirty="0">
                          <a:solidFill>
                            <a:schemeClr val="tx1"/>
                          </a:solidFill>
                        </a:rPr>
                        <a:t>: natural-language assessment of dataset suitability;</a:t>
                      </a:r>
                      <a:endParaRPr lang="en-US" sz="950" dirty="0"/>
                    </a:p>
                    <a:p>
                      <a:pPr indent="0" marL="0">
                        <a:spcBef>
                          <a:spcPts val="400"/>
                        </a:spcBef>
                        <a:buNone/>
                      </a:pPr>
                      <a:r>
                        <a:rPr lang="en-US" sz="950" dirty="0">
                          <a:solidFill>
                            <a:schemeClr val="tx1"/>
                          </a:solidFill>
                        </a:rPr>
                        <a:t>HealthVerity’s </a:t>
                      </a:r>
                      <a:pPr indent="0" marL="0">
                        <a:buNone/>
                      </a:pPr>
                      <a:r>
                        <a:rPr lang="en-US" sz="950" b="1" dirty="0">
                          <a:solidFill>
                            <a:schemeClr val="tx1"/>
                          </a:solidFill>
                        </a:rPr>
                        <a:t>eXOs</a:t>
                      </a:r>
                      <a:pPr indent="0" marL="0">
                        <a:buNone/>
                      </a:pPr>
                      <a:r>
                        <a:rPr lang="en-US" sz="950" dirty="0">
                          <a:solidFill>
                            <a:schemeClr val="tx1"/>
                          </a:solidFill>
                        </a:rPr>
                        <a:t>: conversational exploration of connected healthcare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Data; linked claims/EHR data; Enriched Clinical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07500">
                <a:tc>
                  <a:txBody>
                    <a:bodyPr/>
                    <a:lstStyle/>
                    <a:p>
                      <a:pPr algn="ctr" indent="0" marL="0">
                        <a:buNone/>
                      </a:pPr>
                      <a:r>
                        <a:rPr lang="en-US" sz="1050" b="1" dirty="0">
                          <a:solidFill>
                            <a:schemeClr val="accent1"/>
                          </a:solidFill>
                        </a:rPr>
                        <a:t>Explore patient 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Clinical Notes Lab; Prospector</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52636">
                <a:tc>
                  <a:txBody>
                    <a:bodyPr/>
                    <a:lstStyle/>
                    <a:p>
                      <a:pPr algn="ctr" indent="0" marL="0">
                        <a:buNone/>
                      </a:pPr>
                      <a:r>
                        <a:rPr lang="en-US" sz="1050" b="1" dirty="0">
                          <a:solidFill>
                            <a:schemeClr val="accent1"/>
                          </a:solidFill>
                        </a:rPr>
                        <a:t>Investigate broader 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Norstella’s </a:t>
                      </a:r>
                      <a:pPr indent="0" marL="0">
                        <a:buNone/>
                      </a:pPr>
                      <a:r>
                        <a:rPr lang="en-US" sz="950" b="1" dirty="0">
                          <a:solidFill>
                            <a:schemeClr val="tx1"/>
                          </a:solidFill>
                        </a:rPr>
                        <a:t>Ella AI</a:t>
                      </a:r>
                      <a:pPr indent="0" marL="0">
                        <a:buNone/>
                      </a:pPr>
                      <a:r>
                        <a:rPr lang="en-US" sz="950" dirty="0">
                          <a:solidFill>
                            <a:schemeClr val="tx1"/>
                          </a:solidFill>
                        </a:rPr>
                        <a:t>: conversational RWE analytics;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dirty="0">
                          <a:solidFill>
                            <a:schemeClr val="tx1"/>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epidemiology research services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beyond the public evidence card"/>
          <p:cNvSpPr/>
          <p:nvPr/>
        </p:nvSpPr>
        <p:spPr>
          <a:xfrm>
            <a:off x="548640" y="4740402"/>
            <a:ext cx="11091672" cy="965454"/>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923282"/>
            <a:ext cx="10689336"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BEYOND THE PUBLIC EVIDENCE</a:t>
            </a:r>
            <a:endParaRPr lang="en-US" sz="1000" dirty="0"/>
          </a:p>
        </p:txBody>
      </p:sp>
      <p:sp>
        <p:nvSpPr>
          <p:cNvPr id="18" name="Text 15"/>
          <p:cNvSpPr txBox="1"/>
          <p:nvPr/>
        </p:nvSpPr>
        <p:spPr>
          <a:xfrm>
            <a:off x="749808" y="5197602"/>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What information can researchers query directly? What outputs can they generate, inspect and reuse? Where do dataset permissions, cohort definitions or specialist involvement constrain the experience?</a:t>
            </a:r>
            <a:endParaRPr lang="en-US" sz="1050" dirty="0"/>
          </a:p>
        </p:txBody>
      </p:sp>
      <p:sp>
        <p:nvSpPr>
          <p:cNvPr id="19" name="evidence boundary"/>
          <p:cNvSpPr txBox="1"/>
          <p:nvPr/>
        </p:nvSpPr>
        <p:spPr>
          <a:xfrm>
            <a:off x="548640" y="5797296"/>
            <a:ext cx="11091672" cy="384048"/>
          </a:xfrm>
          <a:prstGeom prst="rect">
            <a:avLst/>
          </a:prstGeom>
          <a:noFill/>
          <a:ln/>
        </p:spPr>
        <p:txBody>
          <a:bodyPr wrap="square" lIns="0" tIns="0" rIns="0" bIns="0" rtlCol="0" anchor="t"/>
          <a:lstStyle/>
          <a:p>
            <a:pPr indent="0" marL="0">
              <a:buNone/>
            </a:pPr>
            <a:r>
              <a:rPr lang="en-US" sz="900" b="1" i="1" spc="100" kern="0" dirty="0">
                <a:solidFill>
                  <a:schemeClr val="accent4"/>
                </a:solidFill>
              </a:rPr>
              <a:t>EVIDENCE BOUNDARY  </a:t>
            </a:r>
            <a:pPr indent="0" marL="0">
              <a:buNone/>
            </a:pPr>
            <a:r>
              <a:rPr lang="en-US" sz="900" i="1" dirty="0">
                <a:solidFill>
                  <a:schemeClr val="accent4"/>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1"/>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 research and more narrowly defined evidence questions</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 COMPETITIVE EXAMPLES</a:t>
            </a:r>
            <a:endParaRPr lang="en-US" sz="10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647107">
                <a:tc>
                  <a:txBody>
                    <a:bodyPr/>
                    <a:lstStyle/>
                    <a:p>
                      <a:pPr algn="ctr" indent="0" marL="0">
                        <a:buNone/>
                      </a:pPr>
                      <a:r>
                        <a:rPr lang="en-US" sz="1050" b="1" dirty="0">
                          <a:solidFill>
                            <a:schemeClr val="accent1"/>
                          </a:solidFill>
                        </a:rPr>
                        <a:t>Explore oncology and 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Enriched Clinical Data; clinicogenomics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42052">
                <a:tc>
                  <a:txBody>
                    <a:bodyPr/>
                    <a:lstStyle/>
                    <a:p>
                      <a:pPr algn="ctr" indent="0" marL="0">
                        <a:buNone/>
                      </a:pPr>
                      <a:r>
                        <a:rPr lang="en-US" sz="1050" b="1" dirty="0">
                          <a:solidFill>
                            <a:schemeClr val="accent1"/>
                          </a:solidFill>
                        </a:rPr>
                        <a:t>Investigate specialty-disease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p>
                      <a:pPr indent="0" marL="0">
                        <a:spcBef>
                          <a:spcPts val="400"/>
                        </a:spcBef>
                        <a:buNone/>
                      </a:pPr>
                      <a:r>
                        <a:rPr lang="en-US" sz="950" dirty="0">
                          <a:solidFill>
                            <a:schemeClr val="tx1"/>
                          </a:solidFill>
                        </a:rPr>
                        <a:t>OrigiMed’s </a:t>
                      </a:r>
                      <a:pPr indent="0" marL="0">
                        <a:buNone/>
                      </a:pPr>
                      <a:r>
                        <a:rPr lang="en-US" sz="950" b="1" dirty="0">
                          <a:solidFill>
                            <a:schemeClr val="tx1"/>
                          </a:solidFill>
                        </a:rPr>
                        <a:t>OMSmartData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AI-supported analysis of oncology real-world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Clinical Notes Lab; epidemiology and observational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47107">
                <a:tc>
                  <a:txBody>
                    <a:bodyPr/>
                    <a:lstStyle/>
                    <a:p>
                      <a:pPr algn="ctr" indent="0" marL="0">
                        <a:buNone/>
                      </a:pPr>
                      <a:r>
                        <a:rPr lang="en-US" sz="1050" b="1" dirty="0">
                          <a:solidFill>
                            <a:schemeClr val="accent1"/>
                          </a:solidFill>
                        </a:rPr>
                        <a:t>Analyze curated 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research data and study environments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where does conversational analysis end and scientific evidence generation begin? card"/>
          <p:cNvSpPr/>
          <p:nvPr/>
        </p:nvSpPr>
        <p:spPr>
          <a:xfrm>
            <a:off x="548640" y="4403979"/>
            <a:ext cx="5454396" cy="130187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586859"/>
            <a:ext cx="5052060" cy="374904"/>
          </a:xfrm>
          <a:prstGeom prst="rect">
            <a:avLst/>
          </a:prstGeom>
          <a:noFill/>
          <a:ln/>
        </p:spPr>
        <p:txBody>
          <a:bodyPr wrap="square" lIns="0" tIns="0" rIns="0" bIns="0" rtlCol="0" anchor="t"/>
          <a:lstStyle/>
          <a:p>
            <a:pPr indent="0" marL="0">
              <a:buNone/>
            </a:pPr>
            <a:r>
              <a:rPr lang="en-US" sz="1000" b="1" spc="100" kern="0" dirty="0">
                <a:solidFill>
                  <a:schemeClr val="accent2"/>
                </a:solidFill>
              </a:rPr>
              <a:t>WHERE DOES CONVERSATIONAL ANALYSIS END AND SCIENTIFIC EVIDENCE GENERATION BEGIN?</a:t>
            </a:r>
            <a:endParaRPr lang="en-US" sz="1000" dirty="0"/>
          </a:p>
        </p:txBody>
      </p:sp>
      <p:sp>
        <p:nvSpPr>
          <p:cNvPr id="18" name="Text 15"/>
          <p:cNvSpPr txBox="1"/>
          <p:nvPr/>
        </p:nvSpPr>
        <p:spPr>
          <a:xfrm>
            <a:off x="749808" y="5034915"/>
            <a:ext cx="5052060" cy="542925"/>
          </a:xfrm>
          <a:prstGeom prst="rect">
            <a:avLst/>
          </a:prstGeom>
          <a:noFill/>
          <a:ln/>
        </p:spPr>
        <p:txBody>
          <a:bodyPr wrap="square" lIns="0" tIns="0" rIns="0" bIns="0" rtlCol="0" anchor="t"/>
          <a:lstStyle/>
          <a:p>
            <a:pPr indent="0" marL="0">
              <a:buNone/>
            </a:pPr>
            <a:r>
              <a:rPr lang="en-US" sz="1050" b="1" dirty="0">
                <a:solidFill>
                  <a:schemeClr val="tx1"/>
                </a:solidFill>
              </a:rPr>
              <a:t>Optum also markets epidemiology studies and Evidence Engine services. The conversational products above are not automatically equivalent to those scientific services.</a:t>
            </a:r>
            <a:endParaRPr lang="en-US" sz="1050" dirty="0"/>
          </a:p>
        </p:txBody>
      </p:sp>
      <p:sp>
        <p:nvSpPr>
          <p:cNvPr id="19" name="beyond the public evidence card"/>
          <p:cNvSpPr/>
          <p:nvPr/>
        </p:nvSpPr>
        <p:spPr>
          <a:xfrm>
            <a:off x="6185916" y="4403979"/>
            <a:ext cx="5454396" cy="130187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0" name="label"/>
          <p:cNvSpPr txBox="1"/>
          <p:nvPr/>
        </p:nvSpPr>
        <p:spPr>
          <a:xfrm>
            <a:off x="6387084" y="4592384"/>
            <a:ext cx="50520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BEYOND THE PUBLIC EVIDENCE</a:t>
            </a:r>
            <a:endParaRPr lang="en-US" sz="1000" dirty="0"/>
          </a:p>
        </p:txBody>
      </p:sp>
      <p:sp>
        <p:nvSpPr>
          <p:cNvPr id="21" name="Text 18"/>
          <p:cNvSpPr txBox="1"/>
          <p:nvPr/>
        </p:nvSpPr>
        <p:spPr>
          <a:xfrm>
            <a:off x="6387084" y="4866704"/>
            <a:ext cx="5052060" cy="705612"/>
          </a:xfrm>
          <a:prstGeom prst="rect">
            <a:avLst/>
          </a:prstGeom>
          <a:noFill/>
          <a:ln/>
        </p:spPr>
        <p:txBody>
          <a:bodyPr wrap="square" lIns="0" tIns="0" rIns="0" bIns="0" rtlCol="0" anchor="t"/>
          <a:lstStyle/>
          <a:p>
            <a:pPr indent="0" marL="0">
              <a:buNone/>
            </a:pPr>
            <a:r>
              <a:rPr lang="en-US" sz="1050" b="1"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050" dirty="0"/>
          </a:p>
        </p:txBody>
      </p:sp>
      <p:sp>
        <p:nvSpPr>
          <p:cNvPr id="22" name="evidence boundary"/>
          <p:cNvSpPr txBox="1"/>
          <p:nvPr/>
        </p:nvSpPr>
        <p:spPr>
          <a:xfrm>
            <a:off x="548640" y="5797296"/>
            <a:ext cx="11091672" cy="384048"/>
          </a:xfrm>
          <a:prstGeom prst="rect">
            <a:avLst/>
          </a:prstGeom>
          <a:noFill/>
          <a:ln/>
        </p:spPr>
        <p:txBody>
          <a:bodyPr wrap="square" lIns="0" tIns="0" rIns="0" bIns="0" rtlCol="0" anchor="t"/>
          <a:lstStyle/>
          <a:p>
            <a:pPr indent="0" marL="0">
              <a:buNone/>
            </a:pPr>
            <a:r>
              <a:rPr lang="en-US" sz="900" b="1" i="1" spc="100" kern="0" dirty="0">
                <a:solidFill>
                  <a:schemeClr val="accent4"/>
                </a:solidFill>
              </a:rPr>
              <a:t>EVIDENCE BOUNDARY  </a:t>
            </a:r>
            <a:pPr indent="0" marL="0">
              <a:buNone/>
            </a:pPr>
            <a:r>
              <a:rPr lang="en-US" sz="900" i="1" dirty="0">
                <a:solidFill>
                  <a:schemeClr val="accent4"/>
                </a:solidFill>
              </a:rPr>
              <a:t>Scope: Four qualifying U.S. conversational offerings plus two selected international examples. Product descriptions are based on public marketing; study-grade reliability, data entitlements and actual deployment are not independently established.</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5"/>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1"/>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AI products extend conversational interaction into market intelligence, field decisions and simulated stakeholder research</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COMMERCIAL INTELLIGENCE — COMPETITIVE EXAMPLES</a:t>
            </a:r>
            <a:endParaRPr lang="en-US" sz="10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06577">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dirty="0">
                          <a:solidFill>
                            <a:schemeClr val="tx1"/>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market attractiveness and portfolio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06577">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patient and 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96849">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dirty="0">
                          <a:solidFill>
                            <a:schemeClr val="tx1"/>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provides market insights; a directly comparable simulated-persona offering was not established in the Optum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beyond the public evidence card"/>
          <p:cNvSpPr/>
          <p:nvPr/>
        </p:nvSpPr>
        <p:spPr>
          <a:xfrm>
            <a:off x="548640" y="4577715"/>
            <a:ext cx="5454396" cy="1128141"/>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760595"/>
            <a:ext cx="50520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BEYOND THE PUBLIC EVIDENCE</a:t>
            </a:r>
            <a:endParaRPr lang="en-US" sz="1000" dirty="0"/>
          </a:p>
        </p:txBody>
      </p:sp>
      <p:sp>
        <p:nvSpPr>
          <p:cNvPr id="18" name="Text 15"/>
          <p:cNvSpPr txBox="1"/>
          <p:nvPr/>
        </p:nvSpPr>
        <p:spPr>
          <a:xfrm>
            <a:off x="749808" y="5034915"/>
            <a:ext cx="5052060" cy="542925"/>
          </a:xfrm>
          <a:prstGeom prst="rect">
            <a:avLst/>
          </a:prstGeom>
          <a:noFill/>
          <a:ln/>
        </p:spPr>
        <p:txBody>
          <a:bodyPr wrap="square" lIns="0" tIns="0" rIns="0" bIns="0" rtlCol="0" anchor="t"/>
          <a:lstStyle/>
          <a:p>
            <a:pPr indent="0" marL="0">
              <a:buNone/>
            </a:pPr>
            <a:r>
              <a:rPr lang="en-US" sz="1050" b="1"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050" dirty="0"/>
          </a:p>
        </p:txBody>
      </p:sp>
      <p:sp>
        <p:nvSpPr>
          <p:cNvPr id="19" name="transition to other workflows card"/>
          <p:cNvSpPr/>
          <p:nvPr/>
        </p:nvSpPr>
        <p:spPr>
          <a:xfrm>
            <a:off x="6185916" y="4577715"/>
            <a:ext cx="5454396" cy="1128141"/>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0" name="label"/>
          <p:cNvSpPr txBox="1"/>
          <p:nvPr/>
        </p:nvSpPr>
        <p:spPr>
          <a:xfrm>
            <a:off x="6387084" y="4760595"/>
            <a:ext cx="50520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TRANSITION TO OTHER WORKFLOWS</a:t>
            </a:r>
            <a:endParaRPr lang="en-US" sz="1000" dirty="0"/>
          </a:p>
        </p:txBody>
      </p:sp>
      <p:sp>
        <p:nvSpPr>
          <p:cNvPr id="21" name="Text 18"/>
          <p:cNvSpPr txBox="1"/>
          <p:nvPr/>
        </p:nvSpPr>
        <p:spPr>
          <a:xfrm>
            <a:off x="6387084" y="5034915"/>
            <a:ext cx="5052060" cy="542925"/>
          </a:xfrm>
          <a:prstGeom prst="rect">
            <a:avLst/>
          </a:prstGeom>
          <a:noFill/>
          <a:ln/>
        </p:spPr>
        <p:txBody>
          <a:bodyPr wrap="square" lIns="0" tIns="0" rIns="0" bIns="0" rtlCol="0" anchor="t"/>
          <a:lstStyle/>
          <a:p>
            <a:pPr indent="0" marL="0">
              <a:buNone/>
            </a:pPr>
            <a:r>
              <a:rPr lang="en-US" sz="1050" b="1" dirty="0">
                <a:solidFill>
                  <a:schemeClr val="tx1"/>
                </a:solidFill>
              </a:rPr>
              <a:t>How does the comparison change for medical affairs, clinical development and market access, where the intended users, evidence requirements and decisions differ?</a:t>
            </a:r>
            <a:endParaRPr lang="en-US" sz="1050" dirty="0"/>
          </a:p>
        </p:txBody>
      </p:sp>
      <p:sp>
        <p:nvSpPr>
          <p:cNvPr id="22" name="evidence boundary"/>
          <p:cNvSpPr txBox="1"/>
          <p:nvPr/>
        </p:nvSpPr>
        <p:spPr>
          <a:xfrm>
            <a:off x="548640" y="5797296"/>
            <a:ext cx="11091672" cy="384048"/>
          </a:xfrm>
          <a:prstGeom prst="rect">
            <a:avLst/>
          </a:prstGeom>
          <a:noFill/>
          <a:ln/>
        </p:spPr>
        <p:txBody>
          <a:bodyPr wrap="square" lIns="0" tIns="0" rIns="0" bIns="0" rtlCol="0" anchor="t"/>
          <a:lstStyle/>
          <a:p>
            <a:pPr indent="0" marL="0">
              <a:buNone/>
            </a:pPr>
            <a:r>
              <a:rPr lang="en-US" sz="900" b="1" i="1" spc="100" kern="0" dirty="0">
                <a:solidFill>
                  <a:schemeClr val="accent4"/>
                </a:solidFill>
              </a:rPr>
              <a:t>EVIDENCE BOUNDARY  </a:t>
            </a:r>
            <a:pPr indent="0" marL="0">
              <a:buNone/>
            </a:pPr>
            <a:r>
              <a:rPr lang="en-US" sz="900" i="1" dirty="0">
                <a:solidFill>
                  <a:schemeClr val="accent4"/>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5"/>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1"/>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 medical insights and regulated content workflows</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U.S. SCREEN: 3 COMPANIES | 3 QUALIFYING OFFERINGS</a:t>
            </a:r>
            <a:endParaRPr lang="en-US" sz="10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00066">
                <a:tc>
                  <a:txBody>
                    <a:bodyPr/>
                    <a:lstStyle/>
                    <a:p>
                      <a:pPr algn="ctr" indent="0" marL="0">
                        <a:buNone/>
                      </a:pPr>
                      <a:r>
                        <a:rPr lang="en-US" sz="1050" b="1" dirty="0">
                          <a:solidFill>
                            <a:schemeClr val="accent1"/>
                          </a:solidFill>
                        </a:rPr>
                        <a:t>Search and synthesize 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 postapproval safety and comparative-effectiveness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87340">
                <a:tc>
                  <a:txBody>
                    <a:bodyPr/>
                    <a:lstStyle/>
                    <a:p>
                      <a:pPr algn="ctr" indent="0" marL="0">
                        <a:buNone/>
                      </a:pPr>
                      <a:r>
                        <a:rPr lang="en-US" sz="1050" b="1" dirty="0">
                          <a:solidFill>
                            <a:schemeClr val="accent1"/>
                          </a:solidFill>
                        </a:rPr>
                        <a:t>Explore medical insights and 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medical affairs evidence and MSL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85283">
                <a:tc>
                  <a:txBody>
                    <a:bodyPr/>
                    <a:lstStyle/>
                    <a:p>
                      <a:pPr algn="ctr" indent="0" marL="0">
                        <a:buNone/>
                      </a:pPr>
                      <a:r>
                        <a:rPr lang="en-US" sz="1050" b="1" dirty="0">
                          <a:solidFill>
                            <a:schemeClr val="accent1"/>
                          </a:solidFill>
                        </a:rPr>
                        <a:t>Question and navigate 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Optum's safety and evidence-research services are adjacent; a directly comparable document-chat offering was not established in the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beyond the public evidence card"/>
          <p:cNvSpPr/>
          <p:nvPr/>
        </p:nvSpPr>
        <p:spPr>
          <a:xfrm>
            <a:off x="548640" y="4740402"/>
            <a:ext cx="11091672" cy="965454"/>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923282"/>
            <a:ext cx="10689336"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BEYOND THE PUBLIC EVIDENCE</a:t>
            </a:r>
            <a:endParaRPr lang="en-US" sz="1000" dirty="0"/>
          </a:p>
        </p:txBody>
      </p:sp>
      <p:sp>
        <p:nvSpPr>
          <p:cNvPr id="18" name="Text 15"/>
          <p:cNvSpPr txBox="1"/>
          <p:nvPr/>
        </p:nvSpPr>
        <p:spPr>
          <a:xfrm>
            <a:off x="749808" y="5197602"/>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050" dirty="0"/>
          </a:p>
        </p:txBody>
      </p:sp>
      <p:sp>
        <p:nvSpPr>
          <p:cNvPr id="19" name="evidence boundary"/>
          <p:cNvSpPr txBox="1"/>
          <p:nvPr/>
        </p:nvSpPr>
        <p:spPr>
          <a:xfrm>
            <a:off x="548640" y="5797296"/>
            <a:ext cx="11091672" cy="384048"/>
          </a:xfrm>
          <a:prstGeom prst="rect">
            <a:avLst/>
          </a:prstGeom>
          <a:noFill/>
          <a:ln/>
        </p:spPr>
        <p:txBody>
          <a:bodyPr wrap="square" lIns="0" tIns="0" rIns="0" bIns="0" rtlCol="0" anchor="t"/>
          <a:lstStyle/>
          <a:p>
            <a:pPr indent="0" marL="0">
              <a:buNone/>
            </a:pPr>
            <a:r>
              <a:rPr lang="en-US" sz="900" i="1" dirty="0">
                <a:solidFill>
                  <a:schemeClr val="accent4"/>
                </a:solidFill>
              </a:rPr>
              <a:t>Evidence boundary: 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5"/>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1"/>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1"/>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 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CLINICAL TRIALS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39242">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Prospector Data Mining Studio; Optum Digital Research Network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24459">
                <a:tc>
                  <a:txBody>
                    <a:bodyPr/>
                    <a:lstStyle/>
                    <a:p>
                      <a:pPr algn="ct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True Source supports clinical-trial source-data capture; a directly equivalent document assistant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label"/>
          <p:cNvSpPr txBox="1"/>
          <p:nvPr/>
        </p:nvSpPr>
        <p:spPr>
          <a:xfrm>
            <a:off x="548640" y="3394837"/>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MARKET ACCESS — COMPETITIVE EXAMPLES</a:t>
            </a:r>
            <a:endParaRPr lang="en-US" sz="1000" dirty="0"/>
          </a:p>
        </p:txBody>
      </p:sp>
      <p:graphicFrame>
        <p:nvGraphicFramePr>
          <p:cNvPr id="19" name="task table"/>
          <p:cNvGraphicFramePr>
            <a:graphicFrameLocks noGrp="1"/>
          </p:cNvGraphicFramePr>
          <p:nvPr>
            <p:extLst>
              <p:ext uri="{D42A27DB-BD31-4B8C-83A1-F6EECF244321}">
                <p14:modId xmlns:p14="http://schemas.microsoft.com/office/powerpoint/2010/main" val="1579011935"/>
              </p:ext>
            </p:extLst>
          </p:nvPr>
        </p:nvGraphicFramePr>
        <p:xfrm>
          <a:off x="548640" y="3669157"/>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39242">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HEOR and value evidence; Evidence Engine; health economic and budget impact modeling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beyond the public evidence card"/>
          <p:cNvSpPr/>
          <p:nvPr/>
        </p:nvSpPr>
        <p:spPr>
          <a:xfrm>
            <a:off x="548640" y="4702175"/>
            <a:ext cx="11091672" cy="1003681"/>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749808" y="4786249"/>
            <a:ext cx="10689336"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BEYOND THE PUBLIC EVIDENCE</a:t>
            </a:r>
            <a:endParaRPr lang="en-US" sz="1000" dirty="0"/>
          </a:p>
        </p:txBody>
      </p:sp>
      <p:sp>
        <p:nvSpPr>
          <p:cNvPr id="20" name="Text 16"/>
          <p:cNvSpPr txBox="1"/>
          <p:nvPr/>
        </p:nvSpPr>
        <p:spPr>
          <a:xfrm>
            <a:off x="749808" y="5060569"/>
            <a:ext cx="10689336" cy="616077"/>
          </a:xfrm>
          <a:prstGeom prst="rect">
            <a:avLst/>
          </a:prstGeom>
          <a:noFill/>
          <a:ln/>
        </p:spPr>
        <p:txBody>
          <a:bodyPr wrap="square" lIns="0" tIns="0" rIns="0" bIns="0" rtlCol="0" anchor="t"/>
          <a:lstStyle/>
          <a:p>
            <a:pPr indent="0" marL="0">
              <a:buNone/>
            </a:pPr>
            <a:r>
              <a:rPr lang="en-US" sz="1050" b="1" dirty="0">
                <a:solidFill>
                  <a:schemeClr val="tx1"/>
                </a:solidFill>
              </a:rPr>
              <a:t>For trials, does the interface help identify viable sites, evaluate patients or manage trial documents—and how far does it go?</a:t>
            </a:r>
            <a:endParaRPr lang="en-US" sz="1050" dirty="0"/>
          </a:p>
          <a:p>
            <a:pPr indent="0" marL="0">
              <a:spcBef>
                <a:spcPts val="600"/>
              </a:spcBef>
              <a:buNone/>
            </a:pPr>
            <a:r>
              <a:rPr lang="en-US" sz="1050" b="1" dirty="0">
                <a:solidFill>
                  <a:schemeClr val="tx1"/>
                </a:solidFill>
              </a:rPr>
              <a:t>For market access, is the customer asking for pricing intelligence, reimbursement information or new economic evidence? Where do the vendor offerings overlap with Optum, and where do they solve a different problem?</a:t>
            </a:r>
            <a:endParaRPr lang="en-US" sz="1050" dirty="0"/>
          </a:p>
        </p:txBody>
      </p:sp>
      <p:sp>
        <p:nvSpPr>
          <p:cNvPr id="21" name="evidence boundary"/>
          <p:cNvSpPr txBox="1"/>
          <p:nvPr/>
        </p:nvSpPr>
        <p:spPr>
          <a:xfrm>
            <a:off x="548640" y="5797296"/>
            <a:ext cx="11091672" cy="384048"/>
          </a:xfrm>
          <a:prstGeom prst="rect">
            <a:avLst/>
          </a:prstGeom>
          <a:noFill/>
          <a:ln/>
        </p:spPr>
        <p:txBody>
          <a:bodyPr wrap="square" lIns="0" tIns="0" rIns="0" bIns="0" rtlCol="0" anchor="t"/>
          <a:lstStyle/>
          <a:p>
            <a:pPr indent="0" marL="0">
              <a:buNone/>
            </a:pPr>
            <a:r>
              <a:rPr lang="en-US" sz="900" i="1" dirty="0">
                <a:solidFill>
                  <a:schemeClr val="accent4"/>
                </a:solidFill>
              </a:rPr>
              <a:t>Evidence boundary: 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AI SUPPLIERS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AI technology providers are expanding into pharmaceutical workflows through partnerships, specialized offerings and acquisitions</a:t>
            </a:r>
            <a:endParaRPr lang="en-US" sz="2200" dirty="0"/>
          </a:p>
        </p:txBody>
      </p:sp>
      <p:sp>
        <p:nvSpPr>
          <p:cNvPr id="4" name="label"/>
          <p:cNvSpPr txBox="1"/>
          <p:nvPr/>
        </p:nvSpPr>
        <p:spPr>
          <a:xfrm>
            <a:off x="548640" y="1417320"/>
            <a:ext cx="54864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A SECOND COMPETITIVE DYNAMIC</a:t>
            </a:r>
            <a:endParaRPr lang="en-US" sz="1000" dirty="0"/>
          </a:p>
        </p:txBody>
      </p:sp>
      <p:sp>
        <p:nvSpPr>
          <p:cNvPr id="5" name="Text 3"/>
          <p:cNvSpPr txBox="1"/>
          <p:nvPr/>
        </p:nvSpPr>
        <p:spPr>
          <a:xfrm>
            <a:off x="548640" y="1645920"/>
            <a:ext cx="11091672" cy="365760"/>
          </a:xfrm>
          <a:prstGeom prst="rect">
            <a:avLst/>
          </a:prstGeom>
          <a:noFill/>
          <a:ln/>
        </p:spPr>
        <p:txBody>
          <a:bodyPr wrap="square" lIns="0" tIns="0" rIns="0" bIns="0" rtlCol="0" anchor="t"/>
          <a:lstStyle/>
          <a:p>
            <a:pPr indent="0" marL="0">
              <a:buNone/>
            </a:pPr>
            <a:r>
              <a:rPr lang="en-US" sz="1000" dirty="0">
                <a:solidFill>
                  <a:schemeClr val="tx1"/>
                </a:solidFill>
              </a:rPr>
              <a:t>The preceding slides examine conversational AI products marketed by established life-sciences data, technology and services companies. At the same time, AI model and infrastructure providers are pursuing life-sciences customers through several distinct approaches—some complementary to incumbent platforms, others potentially competitive.</a:t>
            </a:r>
            <a:endParaRPr lang="en-US" sz="1000" dirty="0"/>
          </a:p>
        </p:txBody>
      </p:sp>
      <p:sp>
        <p:nvSpPr>
          <p:cNvPr id="6" name="label"/>
          <p:cNvSpPr txBox="1"/>
          <p:nvPr/>
        </p:nvSpPr>
        <p:spPr>
          <a:xfrm>
            <a:off x="548640" y="208483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2313432"/>
          <a:ext cx="11091672" cy="914400"/>
        </p:xfrm>
        <a:graphic>
          <a:graphicData uri="http://schemas.openxmlformats.org/drawingml/2006/table">
            <a:tbl>
              <a:tblPr/>
              <a:tblGrid>
                <a:gridCol w="1737360"/>
                <a:gridCol w="5349240"/>
                <a:gridCol w="4005072"/>
              </a:tblGrid>
              <a:tr h="329184">
                <a:tc>
                  <a:txBody>
                    <a:bodyPr/>
                    <a:lstStyle/>
                    <a:p>
                      <a:pPr indent="0" marL="0">
                        <a:buNone/>
                      </a:pPr>
                      <a:r>
                        <a:rPr lang="en-US" sz="900" b="1" spc="100" kern="0" dirty="0">
                          <a:solidFill>
                            <a:schemeClr val="bg1"/>
                          </a:solidFill>
                        </a:rPr>
                        <a:t>AI SUPPLIER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LIFE SCIENCES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AI suppliers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AI companies are building offerings aimed more directly at life-sciences users. These products are not necessarily direct substitutes for Optum's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AI companies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8" name="strategic question card"/>
          <p:cNvSpPr/>
          <p:nvPr/>
        </p:nvSpPr>
        <p:spPr>
          <a:xfrm>
            <a:off x="548640" y="5241798"/>
            <a:ext cx="11091672" cy="884682"/>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9" name="icon circle"/>
          <p:cNvSpPr/>
          <p:nvPr/>
        </p:nvSpPr>
        <p:spPr>
          <a:xfrm>
            <a:off x="731520" y="5492115"/>
            <a:ext cx="384048" cy="384048"/>
          </a:xfrm>
          <a:prstGeom prst="ellipse">
            <a:avLst/>
          </a:prstGeom>
          <a:solidFill>
            <a:schemeClr val="accent5"/>
          </a:solidFill>
          <a:ln/>
        </p:spPr>
      </p:sp>
      <p:pic>
        <p:nvPicPr>
          <p:cNvPr id="10" name="icon MdOutlineLightbulb" descr="preencoded.png">    </p:cNvPr>
          <p:cNvPicPr>
            <a:picLocks noChangeAspect="1"/>
          </p:cNvPicPr>
          <p:nvPr/>
        </p:nvPicPr>
        <p:blipFill>
          <a:blip r:embed="rId1"/>
          <a:stretch>
            <a:fillRect/>
          </a:stretch>
        </p:blipFill>
        <p:spPr>
          <a:xfrm>
            <a:off x="816011" y="5576606"/>
            <a:ext cx="215067" cy="215067"/>
          </a:xfrm>
          <a:prstGeom prst="rect">
            <a:avLst/>
          </a:prstGeom>
        </p:spPr>
      </p:pic>
      <p:sp>
        <p:nvSpPr>
          <p:cNvPr id="11" name="label"/>
          <p:cNvSpPr txBox="1"/>
          <p:nvPr/>
        </p:nvSpPr>
        <p:spPr>
          <a:xfrm>
            <a:off x="1234440" y="5333238"/>
            <a:ext cx="1280160" cy="701802"/>
          </a:xfrm>
          <a:prstGeom prst="rect">
            <a:avLst/>
          </a:prstGeom>
          <a:noFill/>
          <a:ln/>
        </p:spPr>
        <p:txBody>
          <a:bodyPr wrap="square" lIns="0" tIns="0" rIns="0" bIns="0" rtlCol="0" anchor="ctr"/>
          <a:lstStyle/>
          <a:p>
            <a:pPr indent="0" marL="0">
              <a:buNone/>
            </a:pPr>
            <a:r>
              <a:rPr lang="en-US" sz="850" b="1" spc="100" kern="0" dirty="0">
                <a:solidFill>
                  <a:schemeClr val="accent2"/>
                </a:solidFill>
              </a:rPr>
              <a:t>THE STRATEGIC QUESTION FOR OPTUM LIFE SCIENCES</a:t>
            </a:r>
            <a:endParaRPr lang="en-US" sz="850" dirty="0"/>
          </a:p>
        </p:txBody>
      </p:sp>
      <p:sp>
        <p:nvSpPr>
          <p:cNvPr id="12" name="Text 8"/>
          <p:cNvSpPr txBox="1"/>
          <p:nvPr/>
        </p:nvSpPr>
        <p:spPr>
          <a:xfrm>
            <a:off x="2651760" y="5314950"/>
            <a:ext cx="8805672" cy="738378"/>
          </a:xfrm>
          <a:prstGeom prst="rect">
            <a:avLst/>
          </a:prstGeom>
          <a:noFill/>
          <a:ln/>
        </p:spPr>
        <p:txBody>
          <a:bodyPr wrap="square" lIns="0" tIns="0" rIns="0" bIns="0" rtlCol="0" anchor="ctr"/>
          <a:lstStyle/>
          <a:p>
            <a:pPr indent="0" marL="0">
              <a:buNone/>
            </a:pPr>
            <a:r>
              <a:rPr lang="en-US" sz="1050" b="1" dirty="0">
                <a:solidFill>
                  <a:schemeClr val="accent1"/>
                </a:solidFill>
              </a:rPr>
              <a:t>As AI providers expand beyond supplying general-purpose models, where will they remain technology partners to established life-sciences vendors—and where might they increasingly compete for the same pharmaceutical customers and workflows?</a:t>
            </a:r>
            <a:endParaRPr lang="en-US" sz="1050" dirty="0"/>
          </a:p>
          <a:p>
            <a:pPr indent="0" marL="0">
              <a:spcBef>
                <a:spcPts val="600"/>
              </a:spcBef>
              <a:buNone/>
            </a:pPr>
            <a:r>
              <a:rPr lang="en-US" sz="1050" b="1" dirty="0">
                <a:solidFill>
                  <a:schemeClr val="accent1"/>
                </a:solidFill>
              </a:rPr>
              <a:t>What could these developments mean for the competitive positions of companies whose offerings combine differentiated healthcare data, research tools and scientific expertise?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a:t>
            </a:r>
            <a:endParaRPr lang="en-US" sz="1000" dirty="0"/>
          </a:p>
        </p:txBody>
      </p:sp>
      <p:sp>
        <p:nvSpPr>
          <p:cNvPr id="3" name="slide 3 — methodology note"/>
          <p:cNvSpPr/>
          <p:nvPr/>
        </p:nvSpPr>
        <p:spPr>
          <a:xfrm>
            <a:off x="548640" y="82296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4" name="label"/>
          <p:cNvSpPr txBox="1"/>
          <p:nvPr/>
        </p:nvSpPr>
        <p:spPr>
          <a:xfrm>
            <a:off x="777240" y="102412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3 — METHODOLOGY NOTE</a:t>
            </a:r>
            <a:endParaRPr lang="en-US" sz="1000" dirty="0"/>
          </a:p>
        </p:txBody>
      </p:sp>
      <p:sp>
        <p:nvSpPr>
          <p:cNvPr id="5" name="Text 3"/>
          <p:cNvSpPr txBox="1"/>
          <p:nvPr/>
        </p:nvSpPr>
        <p:spPr>
          <a:xfrm>
            <a:off x="777240" y="1325880"/>
            <a:ext cx="4997196" cy="1874520"/>
          </a:xfrm>
          <a:prstGeom prst="rect">
            <a:avLst/>
          </a:prstGeom>
          <a:noFill/>
          <a:ln/>
        </p:spPr>
        <p:txBody>
          <a:bodyPr wrap="square" lIns="0" tIns="0" rIns="0" bIns="0" rtlCol="0" anchor="t"/>
          <a:lstStyle/>
          <a:p>
            <a:pPr indent="0" marL="0">
              <a:buNone/>
            </a:pPr>
            <a:r>
              <a:rPr lang="en-US" sz="1050" dirty="0">
                <a:solidFill>
                  <a:schemeClr val="tx1"/>
                </a:solidFill>
              </a:rPr>
              <a:t>Comparable competitors include </a:t>
            </a:r>
            <a:pPr indent="0" marL="0">
              <a:buNone/>
            </a:pPr>
            <a:r>
              <a:rPr lang="en-US" sz="1050" b="1" dirty="0">
                <a:solidFill>
                  <a:schemeClr val="tx1"/>
                </a:solidFill>
              </a:rPr>
              <a:t>direct and specialized/partial offering-level competitors</a:t>
            </a:r>
            <a:pPr indent="0" marL="0">
              <a:buNone/>
            </a:pPr>
            <a:r>
              <a:rPr lang="en-US" sz="1050" dirty="0">
                <a:solidFill>
                  <a:schemeClr val="tx1"/>
                </a:solidFill>
              </a:rPr>
              <a:t> serving similar customer tasks; adjacent participants are excluded. Counts represent distinct company groups per workflow, not product totals. A company may appear in multiple workflows. Optum's ○ indicates that a qualifying conversational interface was </a:t>
            </a:r>
            <a:pPr indent="0" marL="0">
              <a:buNone/>
            </a:pPr>
            <a:r>
              <a:rPr lang="en-US" sz="1050" i="1" dirty="0">
                <a:solidFill>
                  <a:schemeClr val="tx1"/>
                </a:solidFill>
              </a:rPr>
              <a:t>not publicly established in this review</a:t>
            </a:r>
            <a:pPr indent="0" marL="0">
              <a:buNone/>
            </a:pPr>
            <a:r>
              <a:rPr lang="en-US" sz="1050" dirty="0">
                <a:solidFill>
                  <a:schemeClr val="tx1"/>
                </a:solidFill>
              </a:rPr>
              <a:t>, not that the capability is absent. These are selected screened companies, not market-wide adoption rates.</a:t>
            </a:r>
            <a:endParaRPr lang="en-US" sz="1050" dirty="0"/>
          </a:p>
        </p:txBody>
      </p:sp>
      <p:sp>
        <p:nvSpPr>
          <p:cNvPr id="6" name="slide 4 — india reconciliation"/>
          <p:cNvSpPr/>
          <p:nvPr/>
        </p:nvSpPr>
        <p:spPr>
          <a:xfrm>
            <a:off x="6185916" y="82296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7" name="label"/>
          <p:cNvSpPr txBox="1"/>
          <p:nvPr/>
        </p:nvSpPr>
        <p:spPr>
          <a:xfrm>
            <a:off x="6414516" y="102412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INDIA RECONCILIATION</a:t>
            </a:r>
            <a:endParaRPr lang="en-US" sz="1000" dirty="0"/>
          </a:p>
        </p:txBody>
      </p:sp>
      <p:sp>
        <p:nvSpPr>
          <p:cNvPr id="8" name="Text 6"/>
          <p:cNvSpPr txBox="1"/>
          <p:nvPr/>
        </p:nvSpPr>
        <p:spPr>
          <a:xfrm>
            <a:off x="6414516" y="1325880"/>
            <a:ext cx="4997196" cy="1874520"/>
          </a:xfrm>
          <a:prstGeom prst="rect">
            <a:avLst/>
          </a:prstGeom>
          <a:noFill/>
          <a:ln/>
        </p:spPr>
        <p:txBody>
          <a:bodyPr wrap="square" lIns="0" tIns="0" rIns="0" bIns="0" rtlCol="0" anchor="t"/>
          <a:lstStyle/>
          <a:p>
            <a:pPr indent="0" marL="0">
              <a:buNone/>
            </a:pPr>
            <a:r>
              <a:rPr lang="en-US" sz="1050" dirty="0">
                <a:solidFill>
                  <a:schemeClr val="tx1"/>
                </a:solidFill>
              </a:rPr>
              <a:t>Of 37 screened companies, 36 qualify as direct/specialized comparators in at least one of the five decision workflows; excluding four companies already represented in the qualifying U.S. chat cohort leaves 32. Three additional chat-marketing companies qualify: Axtria, Doceree and Genpact. Company presence in an India screen does not prove the specific product is available or deployed in India.</a:t>
            </a:r>
            <a:endParaRPr lang="en-US" sz="1050" dirty="0"/>
          </a:p>
        </p:txBody>
      </p:sp>
      <p:sp>
        <p:nvSpPr>
          <p:cNvPr id="9" name="slide 4 — evidence boundary"/>
          <p:cNvSpPr/>
          <p:nvPr/>
        </p:nvSpPr>
        <p:spPr>
          <a:xfrm>
            <a:off x="548640" y="352044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0" name="label"/>
          <p:cNvSpPr txBox="1"/>
          <p:nvPr/>
        </p:nvSpPr>
        <p:spPr>
          <a:xfrm>
            <a:off x="777240" y="372160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EVIDENCE BOUNDARY</a:t>
            </a:r>
            <a:endParaRPr lang="en-US" sz="1000" dirty="0"/>
          </a:p>
        </p:txBody>
      </p:sp>
      <p:sp>
        <p:nvSpPr>
          <p:cNvPr id="11" name="Text 9"/>
          <p:cNvSpPr txBox="1"/>
          <p:nvPr/>
        </p:nvSpPr>
        <p:spPr>
          <a:xfrm>
            <a:off x="777240" y="4023360"/>
            <a:ext cx="4997196" cy="1874520"/>
          </a:xfrm>
          <a:prstGeom prst="rect">
            <a:avLst/>
          </a:prstGeom>
          <a:noFill/>
          <a:ln/>
        </p:spPr>
        <p:txBody>
          <a:bodyPr wrap="square" lIns="0" tIns="0" rIns="0" bIns="0" rtlCol="0" anchor="t"/>
          <a:lstStyle/>
          <a:p>
            <a:pPr indent="0" marL="0">
              <a:buNone/>
            </a:pPr>
            <a:r>
              <a:rPr lang="en-US" sz="105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1050" dirty="0"/>
          </a:p>
        </p:txBody>
      </p:sp>
      <p:sp>
        <p:nvSpPr>
          <p:cNvPr id="12" name="slide 10 — evidence boundary"/>
          <p:cNvSpPr/>
          <p:nvPr/>
        </p:nvSpPr>
        <p:spPr>
          <a:xfrm>
            <a:off x="6185916" y="352044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3" name="label"/>
          <p:cNvSpPr txBox="1"/>
          <p:nvPr/>
        </p:nvSpPr>
        <p:spPr>
          <a:xfrm>
            <a:off x="6414516" y="372160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10 — EVIDENCE BOUNDARY</a:t>
            </a:r>
            <a:endParaRPr lang="en-US" sz="1000" dirty="0"/>
          </a:p>
        </p:txBody>
      </p:sp>
      <p:sp>
        <p:nvSpPr>
          <p:cNvPr id="14" name="Text 12"/>
          <p:cNvSpPr txBox="1"/>
          <p:nvPr/>
        </p:nvSpPr>
        <p:spPr>
          <a:xfrm>
            <a:off x="6414516" y="4023360"/>
            <a:ext cx="4997196" cy="1874520"/>
          </a:xfrm>
          <a:prstGeom prst="rect">
            <a:avLst/>
          </a:prstGeom>
          <a:noFill/>
          <a:ln/>
        </p:spPr>
        <p:txBody>
          <a:bodyPr wrap="square" lIns="0" tIns="0" rIns="0" bIns="0" rtlCol="0" anchor="t"/>
          <a:lstStyle/>
          <a:p>
            <a:pPr indent="0" marL="0">
              <a:buNone/>
            </a:pPr>
            <a:r>
              <a:rPr lang="en-US" sz="1050" i="1" dirty="0">
                <a:solidFill>
                  <a:schemeClr val="tx1"/>
                </a:solidFill>
              </a:rPr>
              <a:t>These are selected publicly documented developments, not an exhaustive assessment of AI suppliers. The three approaches are neither mutually exclusive nor predictions of future competition. They do not establish that AI suppliers caused the recent RWE launch cluster, are displacing established vendors, or expose an Optum capability gap. Not all supplier offerings qualify as conversational products; they are not additions to the deck's product counts. North for Pharma was described as planned; Explore Assistant's general commercial availability was not established in our review.</a:t>
            </a:r>
            <a:endParaRPr lang="en-US" sz="1050" dirty="0"/>
          </a:p>
        </p:txBody>
      </p:sp>
      <p:sp>
        <p:nvSpPr>
          <p:cNvPr id="15"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Optum Life Sciences — Conversational AI</dc:title>
  <dc:subject>PptxGenJS Presentation</dc:subject>
  <dc:creator>PptxGenJS</dc:creator>
  <cp:lastModifiedBy>PptxGenJS</cp:lastModifiedBy>
  <cp:revision>1</cp:revision>
  <dcterms:created xsi:type="dcterms:W3CDTF">2026-10-13T22:55:36Z</dcterms:created>
  <dcterms:modified xsi:type="dcterms:W3CDTF">2026-10-13T22:55:36Z</dcterms:modified>
</cp:coreProperties>
</file>