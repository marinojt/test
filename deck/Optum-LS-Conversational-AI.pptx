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6c9bfa8d-7a5b-09e7-e6d0-dd79a7347360}">
          <p14:sldIdLst>
            <p14:sldId id="256"/>
          </p14:sldIdLst>
        </p14:section>
        <p14:section name="Research catalyst" id="{68104345-790d-2f27-2fcd-16c33f9462b2}">
          <p14:sldIdLst>
            <p14:sldId id="257"/>
          </p14:sldIdLst>
        </p14:section>
        <p14:section name="U.S. competitive landscape" id="{c37692eb-cf14-6596-400f-ca1c44bbc423}">
          <p14:sldIdLst>
            <p14:sldId id="258"/>
          </p14:sldIdLst>
        </p14:section>
        <p14:section name="International competitor screens" id="{0629baca-5c82-7587-5021-b735ecd3d57c}">
          <p14:sldIdLst>
            <p14:sldId id="259"/>
          </p14:sldIdLst>
        </p14:section>
        <p14:section name="Workflow deep dives" id="{6c0e562b-7c67-2658-eea1-18e609ff666e}">
          <p14:sldIdLst>
            <p14:sldId id="260"/>
            <p14:sldId id="261"/>
            <p14:sldId id="262"/>
            <p14:sldId id="263"/>
            <p14:sldId id="264"/>
          </p14:sldIdLst>
        </p14:section>
        <p14:section name="AI suppliers" id="{ac7aa4ba-e4c9-ac02-a215-dd374a338166}">
          <p14:sldIdLst>
            <p14:sldId id="265"/>
          </p14:sldIdLst>
        </p14:section>
        <p14:section name="Methodology note" id="{af69f129-19c6-f317-f6a6-c70124360a7c}">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292035398230087"/>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 (reference)</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 new ways to access information, analytics and decision support</a:t>
            </a:r>
            <a:endParaRPr lang="en-US" sz="2200" dirty="0"/>
          </a:p>
        </p:txBody>
      </p:sp>
      <p:sp>
        <p:nvSpPr>
          <p:cNvPr id="4" name="lens card"/>
          <p:cNvSpPr/>
          <p:nvPr/>
        </p:nvSpPr>
        <p:spPr>
          <a:xfrm>
            <a:off x="548640" y="1536192"/>
            <a:ext cx="11091672" cy="1371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dirty="0">
                <a:solidFill>
                  <a:schemeClr val="tx1"/>
                </a:solidFill>
              </a:rPr>
              <a:t>An assessment of publicly marketed conversational AI across five Optum Life Sciences decision workflows:</a:t>
            </a:r>
            <a:endParaRPr lang="en-US" sz="1100" dirty="0"/>
          </a:p>
        </p:txBody>
      </p:sp>
      <p:sp>
        <p:nvSpPr>
          <p:cNvPr id="9" name="workflow chip RWE"/>
          <p:cNvSpPr/>
          <p:nvPr/>
        </p:nvSpPr>
        <p:spPr>
          <a:xfrm>
            <a:off x="1417320" y="2304288"/>
            <a:ext cx="506578" cy="29260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04288"/>
            <a:ext cx="506578" cy="292608"/>
          </a:xfrm>
          <a:prstGeom prst="rect">
            <a:avLst/>
          </a:prstGeom>
          <a:noFill/>
          <a:ln/>
        </p:spPr>
        <p:txBody>
          <a:bodyPr wrap="square" lIns="0" tIns="0" rIns="0" bIns="0" rtlCol="0" anchor="ctr"/>
          <a:lstStyle/>
          <a:p>
            <a:pPr algn="ctr" indent="0" marL="0">
              <a:buNone/>
            </a:pPr>
            <a:r>
              <a:rPr lang="en-US" sz="1000" b="1" dirty="0">
                <a:solidFill>
                  <a:schemeClr val="accent1"/>
                </a:solidFill>
              </a:rPr>
              <a:t>RWE</a:t>
            </a:r>
            <a:endParaRPr lang="en-US" sz="1000" dirty="0"/>
          </a:p>
        </p:txBody>
      </p:sp>
      <p:sp>
        <p:nvSpPr>
          <p:cNvPr id="11" name="workflow chip Commercial intelligence"/>
          <p:cNvSpPr/>
          <p:nvPr/>
        </p:nvSpPr>
        <p:spPr>
          <a:xfrm>
            <a:off x="2033626" y="2304288"/>
            <a:ext cx="1933042" cy="29260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2033626" y="2304288"/>
            <a:ext cx="1933042" cy="292608"/>
          </a:xfrm>
          <a:prstGeom prst="rect">
            <a:avLst/>
          </a:prstGeom>
          <a:noFill/>
          <a:ln/>
        </p:spPr>
        <p:txBody>
          <a:bodyPr wrap="square" lIns="0" tIns="0" rIns="0" bIns="0" rtlCol="0" anchor="ctr"/>
          <a:lstStyle/>
          <a:p>
            <a:pPr algn="ctr" indent="0" marL="0">
              <a:buNone/>
            </a:pPr>
            <a:r>
              <a:rPr lang="en-US" sz="1000" b="1" dirty="0">
                <a:solidFill>
                  <a:schemeClr val="accent1"/>
                </a:solidFill>
              </a:rPr>
              <a:t>Commercial intelligence</a:t>
            </a:r>
            <a:endParaRPr lang="en-US" sz="1000" dirty="0"/>
          </a:p>
        </p:txBody>
      </p:sp>
      <p:sp>
        <p:nvSpPr>
          <p:cNvPr id="13" name="workflow chip Medical / regulatory research"/>
          <p:cNvSpPr/>
          <p:nvPr/>
        </p:nvSpPr>
        <p:spPr>
          <a:xfrm>
            <a:off x="4076395" y="2304288"/>
            <a:ext cx="2360981" cy="29260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4076395" y="2304288"/>
            <a:ext cx="2360981" cy="292608"/>
          </a:xfrm>
          <a:prstGeom prst="rect">
            <a:avLst/>
          </a:prstGeom>
          <a:noFill/>
          <a:ln/>
        </p:spPr>
        <p:txBody>
          <a:bodyPr wrap="square" lIns="0" tIns="0" rIns="0" bIns="0" rtlCol="0" anchor="ctr"/>
          <a:lstStyle/>
          <a:p>
            <a:pPr algn="ctr" indent="0" marL="0">
              <a:buNone/>
            </a:pPr>
            <a:r>
              <a:rPr lang="en-US" sz="1000" b="1" dirty="0">
                <a:solidFill>
                  <a:schemeClr val="accent1"/>
                </a:solidFill>
              </a:rPr>
              <a:t>Medical / regulatory research</a:t>
            </a:r>
            <a:endParaRPr lang="en-US" sz="1000" dirty="0"/>
          </a:p>
        </p:txBody>
      </p:sp>
      <p:sp>
        <p:nvSpPr>
          <p:cNvPr id="15" name="workflow chip Clinical trials"/>
          <p:cNvSpPr/>
          <p:nvPr/>
        </p:nvSpPr>
        <p:spPr>
          <a:xfrm>
            <a:off x="6547104" y="2304288"/>
            <a:ext cx="1362456" cy="29260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547104" y="2304288"/>
            <a:ext cx="1362456" cy="292608"/>
          </a:xfrm>
          <a:prstGeom prst="rect">
            <a:avLst/>
          </a:prstGeom>
          <a:noFill/>
          <a:ln/>
        </p:spPr>
        <p:txBody>
          <a:bodyPr wrap="square" lIns="0" tIns="0" rIns="0" bIns="0" rtlCol="0" anchor="ctr"/>
          <a:lstStyle/>
          <a:p>
            <a:pPr algn="ctr" indent="0" marL="0">
              <a:buNone/>
            </a:pPr>
            <a:r>
              <a:rPr lang="en-US" sz="1000" b="1" dirty="0">
                <a:solidFill>
                  <a:schemeClr val="accent1"/>
                </a:solidFill>
              </a:rPr>
              <a:t>Clinical trials</a:t>
            </a:r>
            <a:endParaRPr lang="en-US" sz="1000" dirty="0"/>
          </a:p>
        </p:txBody>
      </p:sp>
      <p:sp>
        <p:nvSpPr>
          <p:cNvPr id="17" name="Text 14"/>
          <p:cNvSpPr txBox="1"/>
          <p:nvPr/>
        </p:nvSpPr>
        <p:spPr>
          <a:xfrm>
            <a:off x="8019288" y="2304288"/>
            <a:ext cx="329184" cy="29260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8403336" y="2304288"/>
            <a:ext cx="1219810" cy="29260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8403336" y="2304288"/>
            <a:ext cx="1219810" cy="292608"/>
          </a:xfrm>
          <a:prstGeom prst="rect">
            <a:avLst/>
          </a:prstGeom>
          <a:noFill/>
          <a:ln/>
        </p:spPr>
        <p:txBody>
          <a:bodyPr wrap="square" lIns="0" tIns="0" rIns="0" bIns="0" rtlCol="0" anchor="ctr"/>
          <a:lstStyle/>
          <a:p>
            <a:pPr algn="ctr" indent="0" marL="0">
              <a:buNone/>
            </a:pPr>
            <a:r>
              <a:rPr lang="en-US" sz="1000" b="1" dirty="0">
                <a:solidFill>
                  <a:schemeClr val="accent1"/>
                </a:solidFill>
              </a:rPr>
              <a:t>Market access</a:t>
            </a:r>
            <a:endParaRPr lang="en-US" sz="100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23697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337560"/>
            <a:ext cx="256032" cy="256032"/>
          </a:xfrm>
          <a:prstGeom prst="rect">
            <a:avLst/>
          </a:prstGeom>
        </p:spPr>
      </p:pic>
      <p:sp>
        <p:nvSpPr>
          <p:cNvPr id="24" name="card label"/>
          <p:cNvSpPr txBox="1"/>
          <p:nvPr/>
        </p:nvSpPr>
        <p:spPr>
          <a:xfrm>
            <a:off x="1353312"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38404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39044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19 qualifying conversational AI offerings across five decision workflows, concentrated in RWE and commercial intelligence.</a:t>
            </a:r>
            <a:endParaRPr lang="en-US" sz="1050" dirty="0"/>
          </a:p>
        </p:txBody>
      </p:sp>
      <p:sp>
        <p:nvSpPr>
          <p:cNvPr id="27" name="Shape 23"/>
          <p:cNvSpPr/>
          <p:nvPr/>
        </p:nvSpPr>
        <p:spPr>
          <a:xfrm>
            <a:off x="777240" y="4690872"/>
            <a:ext cx="3118104" cy="0"/>
          </a:xfrm>
          <a:prstGeom prst="line">
            <a:avLst/>
          </a:prstGeom>
          <a:noFill/>
          <a:ln w="9525">
            <a:solidFill>
              <a:schemeClr val="accent3"/>
            </a:solidFill>
            <a:prstDash val="solid"/>
          </a:ln>
        </p:spPr>
      </p:sp>
      <p:sp>
        <p:nvSpPr>
          <p:cNvPr id="28" name="hero 10"/>
          <p:cNvSpPr txBox="1"/>
          <p:nvPr/>
        </p:nvSpPr>
        <p:spPr>
          <a:xfrm>
            <a:off x="777240" y="473659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9" name="Text 25"/>
          <p:cNvSpPr txBox="1"/>
          <p:nvPr/>
        </p:nvSpPr>
        <p:spPr>
          <a:xfrm>
            <a:off x="1444752" y="480060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10 qualifying offerings, providing additional examples of how vendors position conversational interaction.</a:t>
            </a:r>
            <a:endParaRPr lang="en-US" sz="1050" dirty="0"/>
          </a:p>
        </p:txBody>
      </p:sp>
      <p:sp>
        <p:nvSpPr>
          <p:cNvPr id="30" name="optum positioning card"/>
          <p:cNvSpPr/>
          <p:nvPr/>
        </p:nvSpPr>
        <p:spPr>
          <a:xfrm>
            <a:off x="4306824"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23697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337560"/>
            <a:ext cx="256032" cy="256032"/>
          </a:xfrm>
          <a:prstGeom prst="rect">
            <a:avLst/>
          </a:prstGeom>
        </p:spPr>
      </p:pic>
      <p:sp>
        <p:nvSpPr>
          <p:cNvPr id="33" name="card label"/>
          <p:cNvSpPr txBox="1"/>
          <p:nvPr/>
        </p:nvSpPr>
        <p:spPr>
          <a:xfrm>
            <a:off x="5111496"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4" name="Text 29"/>
          <p:cNvSpPr txBox="1"/>
          <p:nvPr/>
        </p:nvSpPr>
        <p:spPr>
          <a:xfrm>
            <a:off x="4535424" y="390448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23697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337560"/>
            <a:ext cx="256032" cy="256032"/>
          </a:xfrm>
          <a:prstGeom prst="rect">
            <a:avLst/>
          </a:prstGeom>
        </p:spPr>
      </p:pic>
      <p:sp>
        <p:nvSpPr>
          <p:cNvPr id="38" name="card label"/>
          <p:cNvSpPr txBox="1"/>
          <p:nvPr/>
        </p:nvSpPr>
        <p:spPr>
          <a:xfrm>
            <a:off x="8869680"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390448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63600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Optum's existing offerings?</a:t>
            </a:r>
            <a:endParaRPr lang="en-US" sz="1400" dirty="0"/>
          </a:p>
        </p:txBody>
      </p:sp>
      <p:sp>
        <p:nvSpPr>
          <p:cNvPr id="41" name="evidence boundary"/>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900" i="1" dirty="0">
                <a:solidFill>
                  <a:schemeClr val="accent4"/>
                </a:solidFill>
              </a:rPr>
              <a:t>Evidence boundary: Public product marketing and announcements reviewed as of October 13, 2026. The findings describe selected screened inventories—not a market census, adoption rates, verified product performance or undisclosed capabilities.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RWE product launches prompted a broader examination of conversational AI across life sciences</a:t>
            </a:r>
            <a:endParaRPr lang="en-US" sz="2200" dirty="0"/>
          </a:p>
        </p:txBody>
      </p:sp>
      <p:sp>
        <p:nvSpPr>
          <p:cNvPr id="4" name="Text 2"/>
          <p:cNvSpPr txBox="1"/>
          <p:nvPr/>
        </p:nvSpPr>
        <p:spPr>
          <a:xfrm>
            <a:off x="548640" y="1389888"/>
            <a:ext cx="11091672" cy="228600"/>
          </a:xfrm>
          <a:prstGeom prst="rect">
            <a:avLst/>
          </a:prstGeom>
          <a:noFill/>
          <a:ln/>
        </p:spPr>
        <p:txBody>
          <a:bodyPr wrap="square" lIns="0" tIns="0" rIns="0" bIns="0" rtlCol="0" anchor="t"/>
          <a:lstStyle/>
          <a:p>
            <a:pPr indent="0" marL="0">
              <a:buNone/>
            </a:pPr>
            <a:r>
              <a:rPr lang="en-US" sz="1200" dirty="0">
                <a:solidFill>
                  <a:schemeClr val="tx1"/>
                </a:solidFill>
              </a:rPr>
              <a:t>A series of public announcements brought greater attention to natural-language access to healthcare data, cohort exploration and research workflows.</a:t>
            </a:r>
            <a:endParaRPr lang="en-US" sz="1200" dirty="0"/>
          </a:p>
        </p:txBody>
      </p:sp>
      <p:sp>
        <p:nvSpPr>
          <p:cNvPr id="5" name="label"/>
          <p:cNvSpPr txBox="1"/>
          <p:nvPr/>
        </p:nvSpPr>
        <p:spPr>
          <a:xfrm>
            <a:off x="548640" y="175564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6" name="timeline"/>
          <p:cNvSpPr/>
          <p:nvPr/>
        </p:nvSpPr>
        <p:spPr>
          <a:xfrm>
            <a:off x="548640" y="2615184"/>
            <a:ext cx="11091672" cy="0"/>
          </a:xfrm>
          <a:prstGeom prst="line">
            <a:avLst/>
          </a:prstGeom>
          <a:noFill/>
          <a:ln w="19050">
            <a:solidFill>
              <a:schemeClr val="accent1"/>
            </a:solidFill>
            <a:prstDash val="solid"/>
          </a:ln>
        </p:spPr>
      </p:sp>
      <p:sp>
        <p:nvSpPr>
          <p:cNvPr id="7" name="Text 5"/>
          <p:cNvSpPr txBox="1"/>
          <p:nvPr/>
        </p:nvSpPr>
        <p:spPr>
          <a:xfrm>
            <a:off x="548640"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8" name="Text 6"/>
          <p:cNvSpPr txBox="1"/>
          <p:nvPr/>
        </p:nvSpPr>
        <p:spPr>
          <a:xfrm>
            <a:off x="548640"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9" name="milestone"/>
          <p:cNvSpPr/>
          <p:nvPr/>
        </p:nvSpPr>
        <p:spPr>
          <a:xfrm>
            <a:off x="548640" y="2532888"/>
            <a:ext cx="164592" cy="164592"/>
          </a:xfrm>
          <a:prstGeom prst="ellipse">
            <a:avLst/>
          </a:prstGeom>
          <a:solidFill>
            <a:schemeClr val="accent1"/>
          </a:solidFill>
          <a:ln w="19050">
            <a:solidFill>
              <a:schemeClr val="bg2"/>
            </a:solidFill>
            <a:prstDash val="solid"/>
          </a:ln>
        </p:spPr>
      </p:sp>
      <p:sp>
        <p:nvSpPr>
          <p:cNvPr id="10" name="Text 8"/>
          <p:cNvSpPr txBox="1"/>
          <p:nvPr/>
        </p:nvSpPr>
        <p:spPr>
          <a:xfrm>
            <a:off x="548640"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February:</a:t>
            </a:r>
            <a:pPr indent="0" marL="0">
              <a:buNone/>
            </a:pPr>
            <a:r>
              <a:rPr lang="en-US" sz="1000" dirty="0">
                <a:solidFill>
                  <a:schemeClr val="tx1"/>
                </a:solidFill>
              </a:rPr>
              <a:t> Tempus One / Lens — AI-assisted research and cohort exploration</a:t>
            </a:r>
            <a:endParaRPr lang="en-US" sz="1000" dirty="0"/>
          </a:p>
          <a:p>
            <a:pPr indent="0" marL="0">
              <a:spcBef>
                <a:spcPts val="600"/>
              </a:spcBef>
              <a:buNone/>
            </a:pPr>
            <a:r>
              <a:rPr lang="en-US" sz="1000" b="1" dirty="0">
                <a:solidFill>
                  <a:schemeClr val="tx1"/>
                </a:solidFill>
              </a:rPr>
              <a:t>September:</a:t>
            </a:r>
            <a:pPr indent="0" marL="0">
              <a:buNone/>
            </a:pPr>
            <a:r>
              <a:rPr lang="en-US" sz="1000" dirty="0">
                <a:solidFill>
                  <a:schemeClr val="tx1"/>
                </a:solidFill>
              </a:rPr>
              <a:t> Komodo MapAI — conversational healthcare analytics</a:t>
            </a:r>
            <a:endParaRPr lang="en-US" sz="1000" dirty="0"/>
          </a:p>
        </p:txBody>
      </p:sp>
      <p:sp>
        <p:nvSpPr>
          <p:cNvPr id="11" name="Text 9"/>
          <p:cNvSpPr txBox="1"/>
          <p:nvPr/>
        </p:nvSpPr>
        <p:spPr>
          <a:xfrm>
            <a:off x="3321558"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2" name="Text 10"/>
          <p:cNvSpPr txBox="1"/>
          <p:nvPr/>
        </p:nvSpPr>
        <p:spPr>
          <a:xfrm>
            <a:off x="3321558"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3" name="milestone"/>
          <p:cNvSpPr/>
          <p:nvPr/>
        </p:nvSpPr>
        <p:spPr>
          <a:xfrm>
            <a:off x="3321558" y="2532888"/>
            <a:ext cx="164592" cy="164592"/>
          </a:xfrm>
          <a:prstGeom prst="ellipse">
            <a:avLst/>
          </a:prstGeom>
          <a:solidFill>
            <a:schemeClr val="accent1"/>
          </a:solidFill>
          <a:ln w="19050">
            <a:solidFill>
              <a:schemeClr val="bg2"/>
            </a:solidFill>
            <a:prstDash val="solid"/>
          </a:ln>
        </p:spPr>
      </p:sp>
      <p:sp>
        <p:nvSpPr>
          <p:cNvPr id="14" name="Text 12"/>
          <p:cNvSpPr txBox="1"/>
          <p:nvPr/>
        </p:nvSpPr>
        <p:spPr>
          <a:xfrm>
            <a:off x="3321558"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Komodo Marmot</a:t>
            </a:r>
            <a:pPr indent="0" marL="0">
              <a:buNone/>
            </a:pPr>
            <a:r>
              <a:rPr lang="en-US" sz="1000" dirty="0">
                <a:solidFill>
                  <a:schemeClr val="tx1"/>
                </a:solidFill>
              </a:rPr>
              <a:t> — AI-powered healthcare analytics and research workflows</a:t>
            </a:r>
            <a:endParaRPr lang="en-US" sz="1000" dirty="0"/>
          </a:p>
        </p:txBody>
      </p:sp>
      <p:sp>
        <p:nvSpPr>
          <p:cNvPr id="15" name="Text 13"/>
          <p:cNvSpPr txBox="1"/>
          <p:nvPr/>
        </p:nvSpPr>
        <p:spPr>
          <a:xfrm>
            <a:off x="6094476"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6" name="Text 14"/>
          <p:cNvSpPr txBox="1"/>
          <p:nvPr/>
        </p:nvSpPr>
        <p:spPr>
          <a:xfrm>
            <a:off x="6094476"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7" name="milestone"/>
          <p:cNvSpPr/>
          <p:nvPr/>
        </p:nvSpPr>
        <p:spPr>
          <a:xfrm>
            <a:off x="6094476" y="2532888"/>
            <a:ext cx="164592" cy="164592"/>
          </a:xfrm>
          <a:prstGeom prst="ellipse">
            <a:avLst/>
          </a:prstGeom>
          <a:solidFill>
            <a:schemeClr val="accent1"/>
          </a:solidFill>
          <a:ln w="19050">
            <a:solidFill>
              <a:schemeClr val="bg2"/>
            </a:solidFill>
            <a:prstDash val="solid"/>
          </a:ln>
        </p:spPr>
      </p:sp>
      <p:sp>
        <p:nvSpPr>
          <p:cNvPr id="18" name="Text 16"/>
          <p:cNvSpPr txBox="1"/>
          <p:nvPr/>
        </p:nvSpPr>
        <p:spPr>
          <a:xfrm>
            <a:off x="6094476"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Truveta Intelligence</a:t>
            </a:r>
            <a:pPr indent="0" marL="0">
              <a:buNone/>
            </a:pPr>
            <a:r>
              <a:rPr lang="en-US" sz="1000" dirty="0">
                <a:solidFill>
                  <a:schemeClr val="tx1"/>
                </a:solidFill>
              </a:rPr>
              <a:t> — natural-language RWE research questions</a:t>
            </a:r>
            <a:endParaRPr lang="en-US" sz="1000" dirty="0"/>
          </a:p>
          <a:p>
            <a:pPr indent="0" marL="0">
              <a:spcBef>
                <a:spcPts val="600"/>
              </a:spcBef>
              <a:buNone/>
            </a:pPr>
            <a:r>
              <a:rPr lang="en-US" sz="1000" b="1" dirty="0">
                <a:solidFill>
                  <a:schemeClr val="tx1"/>
                </a:solidFill>
              </a:rPr>
              <a:t>Flatiron Telescope</a:t>
            </a:r>
            <a:pPr indent="0" marL="0">
              <a:buNone/>
            </a:pPr>
            <a:r>
              <a:rPr lang="en-US" sz="1000" dirty="0">
                <a:solidFill>
                  <a:schemeClr val="tx1"/>
                </a:solidFill>
              </a:rPr>
              <a:t> — conversational oncology cohort exploration</a:t>
            </a:r>
            <a:endParaRPr lang="en-US" sz="1000" dirty="0"/>
          </a:p>
        </p:txBody>
      </p:sp>
      <p:sp>
        <p:nvSpPr>
          <p:cNvPr id="19" name="Text 17"/>
          <p:cNvSpPr txBox="1"/>
          <p:nvPr/>
        </p:nvSpPr>
        <p:spPr>
          <a:xfrm>
            <a:off x="8867394"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20" name="Text 18"/>
          <p:cNvSpPr txBox="1"/>
          <p:nvPr/>
        </p:nvSpPr>
        <p:spPr>
          <a:xfrm>
            <a:off x="8867394"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1" name="milestone"/>
          <p:cNvSpPr/>
          <p:nvPr/>
        </p:nvSpPr>
        <p:spPr>
          <a:xfrm>
            <a:off x="8867394" y="2532888"/>
            <a:ext cx="164592" cy="164592"/>
          </a:xfrm>
          <a:prstGeom prst="ellipse">
            <a:avLst/>
          </a:prstGeom>
          <a:solidFill>
            <a:schemeClr val="accent2"/>
          </a:solidFill>
          <a:ln w="19050">
            <a:solidFill>
              <a:schemeClr val="bg2"/>
            </a:solidFill>
            <a:prstDash val="solid"/>
          </a:ln>
        </p:spPr>
      </p:sp>
      <p:sp>
        <p:nvSpPr>
          <p:cNvPr id="22" name="Text 20"/>
          <p:cNvSpPr txBox="1"/>
          <p:nvPr/>
        </p:nvSpPr>
        <p:spPr>
          <a:xfrm>
            <a:off x="8867394"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Verana Agent Claire</a:t>
            </a:r>
            <a:pPr indent="0" marL="0">
              <a:buNone/>
            </a:pPr>
            <a:r>
              <a:rPr lang="en-US" sz="1000" dirty="0">
                <a:solidFill>
                  <a:schemeClr val="tx1"/>
                </a:solidFill>
              </a:rPr>
              <a:t> — conversational specialty-data research</a:t>
            </a:r>
            <a:endParaRPr lang="en-US" sz="1000" dirty="0"/>
          </a:p>
          <a:p>
            <a:pPr indent="0" marL="0">
              <a:spcBef>
                <a:spcPts val="600"/>
              </a:spcBef>
              <a:buNone/>
            </a:pPr>
            <a:r>
              <a:rPr lang="en-US" sz="1000" b="1" dirty="0">
                <a:solidFill>
                  <a:schemeClr val="accent4"/>
                </a:solidFill>
              </a:rPr>
              <a:t>Norstella Atlas Patient Analytics</a:t>
            </a:r>
            <a:pPr indent="0" marL="0">
              <a:buNone/>
            </a:pPr>
            <a:r>
              <a:rPr lang="en-US" sz="1000" dirty="0">
                <a:solidFill>
                  <a:schemeClr val="accent4"/>
                </a:solidFill>
              </a:rPr>
              <a:t> — agentic, managed cohort analytics</a:t>
            </a:r>
            <a:endParaRPr lang="en-US" sz="1000" dirty="0"/>
          </a:p>
        </p:txBody>
      </p:sp>
      <p:sp>
        <p:nvSpPr>
          <p:cNvPr id="23" name="broader competitive signal card"/>
          <p:cNvSpPr/>
          <p:nvPr/>
        </p:nvSpPr>
        <p:spPr>
          <a:xfrm>
            <a:off x="548640"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4" name="label"/>
          <p:cNvSpPr txBox="1"/>
          <p:nvPr/>
        </p:nvSpPr>
        <p:spPr>
          <a:xfrm>
            <a:off x="749808"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BROADER COMPETITIVE SIGNAL</a:t>
            </a:r>
            <a:endParaRPr lang="en-US" sz="1000" dirty="0"/>
          </a:p>
        </p:txBody>
      </p:sp>
      <p:sp>
        <p:nvSpPr>
          <p:cNvPr id="25" name="Text 23"/>
          <p:cNvSpPr txBox="1"/>
          <p:nvPr/>
        </p:nvSpPr>
        <p:spPr>
          <a:xfrm>
            <a:off x="749808" y="4443984"/>
            <a:ext cx="3172968" cy="1106424"/>
          </a:xfrm>
          <a:prstGeom prst="rect">
            <a:avLst/>
          </a:prstGeom>
          <a:noFill/>
          <a:ln/>
        </p:spPr>
        <p:txBody>
          <a:bodyPr wrap="square" lIns="0" tIns="0" rIns="0" bIns="0" rtlCol="0" anchor="t"/>
          <a:lstStyle/>
          <a:p>
            <a:pPr indent="0" marL="0">
              <a:buNone/>
            </a:pPr>
            <a:r>
              <a:rPr lang="en-US" sz="1100" dirty="0">
                <a:solidFill>
                  <a:schemeClr val="tx1"/>
                </a:solidFill>
              </a:rPr>
              <a:t>AI model providers are actively expanding enterprise sales into life sciences, offering models, integrations and implementation partnerships that may accelerate AI adoption among established healthcare-data vendors.</a:t>
            </a:r>
            <a:endParaRPr lang="en-US" sz="1100" dirty="0"/>
          </a:p>
        </p:txBody>
      </p:sp>
      <p:sp>
        <p:nvSpPr>
          <p:cNvPr id="26" name="the broader competitive question card"/>
          <p:cNvSpPr/>
          <p:nvPr/>
        </p:nvSpPr>
        <p:spPr>
          <a:xfrm>
            <a:off x="4306824"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7" name="label"/>
          <p:cNvSpPr txBox="1"/>
          <p:nvPr/>
        </p:nvSpPr>
        <p:spPr>
          <a:xfrm>
            <a:off x="4507992"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BROADER COMPETITIVE QUESTION</a:t>
            </a:r>
            <a:endParaRPr lang="en-US" sz="1000" dirty="0"/>
          </a:p>
        </p:txBody>
      </p:sp>
      <p:sp>
        <p:nvSpPr>
          <p:cNvPr id="28" name="Text 26"/>
          <p:cNvSpPr txBox="1"/>
          <p:nvPr/>
        </p:nvSpPr>
        <p:spPr>
          <a:xfrm>
            <a:off x="4507992" y="4443984"/>
            <a:ext cx="3172968" cy="1106424"/>
          </a:xfrm>
          <a:prstGeom prst="rect">
            <a:avLst/>
          </a:prstGeom>
          <a:noFill/>
          <a:ln/>
        </p:spPr>
        <p:txBody>
          <a:bodyPr wrap="square" lIns="0" tIns="0" rIns="0" bIns="0" rtlCol="0" anchor="t"/>
          <a:lstStyle/>
          <a:p>
            <a:pPr indent="0" marL="0">
              <a:buNone/>
            </a:pPr>
            <a:r>
              <a:rPr lang="en-US" sz="1100" b="1" dirty="0">
                <a:solidFill>
                  <a:schemeClr val="accent1"/>
                </a:solidFill>
              </a:rPr>
              <a:t>Where else are life sciences vendors marketing conversational AI, what tasks does it serve, and how does that positioning compare with Optum Life Sciences?</a:t>
            </a:r>
            <a:endParaRPr lang="en-US" sz="1100" dirty="0"/>
          </a:p>
        </p:txBody>
      </p:sp>
      <p:sp>
        <p:nvSpPr>
          <p:cNvPr id="29" name="our research response card"/>
          <p:cNvSpPr/>
          <p:nvPr/>
        </p:nvSpPr>
        <p:spPr>
          <a:xfrm>
            <a:off x="8065008"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0" name="label"/>
          <p:cNvSpPr txBox="1"/>
          <p:nvPr/>
        </p:nvSpPr>
        <p:spPr>
          <a:xfrm>
            <a:off x="8266176"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OUR RESEARCH RESPONSE</a:t>
            </a:r>
            <a:endParaRPr lang="en-US" sz="1000" dirty="0"/>
          </a:p>
        </p:txBody>
      </p:sp>
      <p:sp>
        <p:nvSpPr>
          <p:cNvPr id="31" name="Text 29"/>
          <p:cNvSpPr txBox="1"/>
          <p:nvPr/>
        </p:nvSpPr>
        <p:spPr>
          <a:xfrm>
            <a:off x="8266176" y="4443984"/>
            <a:ext cx="3172968" cy="1106424"/>
          </a:xfrm>
          <a:prstGeom prst="rect">
            <a:avLst/>
          </a:prstGeom>
          <a:noFill/>
          <a:ln/>
        </p:spPr>
        <p:txBody>
          <a:bodyPr wrap="square" lIns="0" tIns="0" rIns="0" bIns="0" rtlCol="0" anchor="t"/>
          <a:lstStyle/>
          <a:p>
            <a:pPr indent="0" marL="0">
              <a:buNone/>
            </a:pPr>
            <a:r>
              <a:rPr lang="en-US" sz="1100" dirty="0">
                <a:solidFill>
                  <a:schemeClr val="tx1"/>
                </a:solidFill>
              </a:rPr>
              <a:t>Expand beyond RWE to assess publicly marketed conversational AI across five Optum-aligned decision workflows, prioritizing the U.S. competitive landscape and using selected international offerings for context.</a:t>
            </a:r>
            <a:endParaRPr lang="en-US" sz="1100" dirty="0"/>
          </a:p>
        </p:txBody>
      </p:sp>
      <p:sp>
        <p:nvSpPr>
          <p:cNvPr id="32" name="evidence boundary"/>
          <p:cNvSpPr txBox="1"/>
          <p:nvPr/>
        </p:nvSpPr>
        <p:spPr>
          <a:xfrm>
            <a:off x="548640" y="570585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prominent in RWE among screened U.S. competitors; Optum has relevant offerings across five decision workflows</a:t>
            </a:r>
            <a:endParaRPr lang="en-US" sz="2200" dirty="0"/>
          </a:p>
        </p:txBody>
      </p:sp>
      <p:sp>
        <p:nvSpPr>
          <p:cNvPr id="4" name="label"/>
          <p:cNvSpPr txBox="1"/>
          <p:nvPr/>
        </p:nvSpPr>
        <p:spPr>
          <a:xfrm>
            <a:off x="548640" y="146304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SCREEN</a:t>
            </a:r>
            <a:endParaRPr lang="en-US" sz="1000" dirty="0"/>
          </a:p>
        </p:txBody>
      </p:sp>
      <p:sp>
        <p:nvSpPr>
          <p:cNvPr id="5" name="kpi tile 45"/>
          <p:cNvSpPr/>
          <p:nvPr/>
        </p:nvSpPr>
        <p:spPr>
          <a:xfrm>
            <a:off x="548640" y="1700784"/>
            <a:ext cx="3319272" cy="530352"/>
          </a:xfrm>
          <a:prstGeom prst="rect">
            <a:avLst/>
          </a:prstGeom>
          <a:solidFill>
            <a:schemeClr val="accent5"/>
          </a:solidFill>
          <a:ln/>
        </p:spPr>
      </p:sp>
      <p:sp>
        <p:nvSpPr>
          <p:cNvPr id="6" name="Text 4"/>
          <p:cNvSpPr txBox="1"/>
          <p:nvPr/>
        </p:nvSpPr>
        <p:spPr>
          <a:xfrm>
            <a:off x="7132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45</a:t>
            </a:r>
            <a:endParaRPr lang="en-US" sz="2600" dirty="0"/>
          </a:p>
        </p:txBody>
      </p:sp>
      <p:sp>
        <p:nvSpPr>
          <p:cNvPr id="7" name="Text 5"/>
          <p:cNvSpPr txBox="1"/>
          <p:nvPr/>
        </p:nvSpPr>
        <p:spPr>
          <a:xfrm>
            <a:off x="14173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competitor groups initially screened</a:t>
            </a:r>
            <a:endParaRPr lang="en-US" sz="1000" dirty="0"/>
          </a:p>
        </p:txBody>
      </p:sp>
      <p:sp>
        <p:nvSpPr>
          <p:cNvPr id="8" name="flow arrow"/>
          <p:cNvSpPr/>
          <p:nvPr/>
        </p:nvSpPr>
        <p:spPr>
          <a:xfrm>
            <a:off x="3995928" y="1847088"/>
            <a:ext cx="310896" cy="237744"/>
          </a:xfrm>
          <a:prstGeom prst="rightArrow">
            <a:avLst/>
          </a:prstGeom>
          <a:solidFill>
            <a:schemeClr val="accent4"/>
          </a:solidFill>
          <a:ln/>
        </p:spPr>
      </p:sp>
      <p:sp>
        <p:nvSpPr>
          <p:cNvPr id="9" name="kpi tile 15"/>
          <p:cNvSpPr/>
          <p:nvPr/>
        </p:nvSpPr>
        <p:spPr>
          <a:xfrm>
            <a:off x="4434840" y="1700784"/>
            <a:ext cx="3319272" cy="530352"/>
          </a:xfrm>
          <a:prstGeom prst="rect">
            <a:avLst/>
          </a:prstGeom>
          <a:solidFill>
            <a:schemeClr val="accent5"/>
          </a:solidFill>
          <a:ln/>
        </p:spPr>
      </p:sp>
      <p:sp>
        <p:nvSpPr>
          <p:cNvPr id="10" name="Text 8"/>
          <p:cNvSpPr txBox="1"/>
          <p:nvPr/>
        </p:nvSpPr>
        <p:spPr>
          <a:xfrm>
            <a:off x="45994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15</a:t>
            </a:r>
            <a:endParaRPr lang="en-US" sz="2600" dirty="0"/>
          </a:p>
        </p:txBody>
      </p:sp>
      <p:sp>
        <p:nvSpPr>
          <p:cNvPr id="11" name="Text 9"/>
          <p:cNvSpPr txBox="1"/>
          <p:nvPr/>
        </p:nvSpPr>
        <p:spPr>
          <a:xfrm>
            <a:off x="53035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distinct groups marketing qualifying conversational AI</a:t>
            </a:r>
            <a:endParaRPr lang="en-US" sz="1000" dirty="0"/>
          </a:p>
        </p:txBody>
      </p:sp>
      <p:sp>
        <p:nvSpPr>
          <p:cNvPr id="12" name="flow arrow"/>
          <p:cNvSpPr/>
          <p:nvPr/>
        </p:nvSpPr>
        <p:spPr>
          <a:xfrm>
            <a:off x="7882128" y="1847088"/>
            <a:ext cx="310896" cy="237744"/>
          </a:xfrm>
          <a:prstGeom prst="rightArrow">
            <a:avLst/>
          </a:prstGeom>
          <a:solidFill>
            <a:schemeClr val="accent4"/>
          </a:solidFill>
          <a:ln/>
        </p:spPr>
      </p:sp>
      <p:sp>
        <p:nvSpPr>
          <p:cNvPr id="13" name="kpi tile 19"/>
          <p:cNvSpPr/>
          <p:nvPr/>
        </p:nvSpPr>
        <p:spPr>
          <a:xfrm>
            <a:off x="8321040" y="1700784"/>
            <a:ext cx="3319272" cy="530352"/>
          </a:xfrm>
          <a:prstGeom prst="rect">
            <a:avLst/>
          </a:prstGeom>
          <a:solidFill>
            <a:schemeClr val="accent5"/>
          </a:solidFill>
          <a:ln/>
        </p:spPr>
      </p:sp>
      <p:sp>
        <p:nvSpPr>
          <p:cNvPr id="14" name="Text 12"/>
          <p:cNvSpPr txBox="1"/>
          <p:nvPr/>
        </p:nvSpPr>
        <p:spPr>
          <a:xfrm>
            <a:off x="8485632" y="1700784"/>
            <a:ext cx="685800" cy="530352"/>
          </a:xfrm>
          <a:prstGeom prst="rect">
            <a:avLst/>
          </a:prstGeom>
          <a:noFill/>
          <a:ln/>
        </p:spPr>
        <p:txBody>
          <a:bodyPr wrap="square" lIns="0" tIns="0" rIns="0" bIns="0" rtlCol="0" anchor="ctr"/>
          <a:lstStyle/>
          <a:p>
            <a:pPr indent="0" marL="0">
              <a:buNone/>
            </a:pPr>
            <a:r>
              <a:rPr lang="en-US" sz="2600" b="1" dirty="0">
                <a:solidFill>
                  <a:schemeClr val="accent2"/>
                </a:solidFill>
              </a:rPr>
              <a:t>19</a:t>
            </a:r>
            <a:endParaRPr lang="en-US" sz="2600" dirty="0"/>
          </a:p>
        </p:txBody>
      </p:sp>
      <p:sp>
        <p:nvSpPr>
          <p:cNvPr id="15" name="Text 13"/>
          <p:cNvSpPr txBox="1"/>
          <p:nvPr/>
        </p:nvSpPr>
        <p:spPr>
          <a:xfrm>
            <a:off x="91897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qualifying conversational AI offerings across five decision workflows</a:t>
            </a:r>
            <a:endParaRPr lang="en-US" sz="1000" dirty="0"/>
          </a:p>
        </p:txBody>
      </p:sp>
      <p:sp>
        <p:nvSpPr>
          <p:cNvPr id="16" name="label"/>
          <p:cNvSpPr txBox="1"/>
          <p:nvPr/>
        </p:nvSpPr>
        <p:spPr>
          <a:xfrm>
            <a:off x="548640" y="2377440"/>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7" name="table header"/>
          <p:cNvSpPr/>
          <p:nvPr/>
        </p:nvSpPr>
        <p:spPr>
          <a:xfrm>
            <a:off x="548640" y="2615184"/>
            <a:ext cx="11091672" cy="438912"/>
          </a:xfrm>
          <a:prstGeom prst="rect">
            <a:avLst/>
          </a:prstGeom>
          <a:solidFill>
            <a:schemeClr val="accent1"/>
          </a:solidFill>
          <a:ln/>
        </p:spPr>
      </p:sp>
      <p:sp>
        <p:nvSpPr>
          <p:cNvPr id="18" name="Text 16"/>
          <p:cNvSpPr txBox="1"/>
          <p:nvPr/>
        </p:nvSpPr>
        <p:spPr>
          <a:xfrm>
            <a:off x="1097280" y="2615184"/>
            <a:ext cx="2240280" cy="438912"/>
          </a:xfrm>
          <a:prstGeom prst="rect">
            <a:avLst/>
          </a:prstGeom>
          <a:noFill/>
          <a:ln/>
        </p:spPr>
        <p:txBody>
          <a:bodyPr wrap="square" lIns="0" tIns="0" rIns="0" bIns="0" rtlCol="0" anchor="ctr"/>
          <a:lstStyle/>
          <a:p>
            <a:pPr algn="ctr" indent="0" marL="0">
              <a:buNone/>
            </a:pPr>
            <a:r>
              <a:rPr lang="en-US" sz="900" b="1" dirty="0">
                <a:solidFill>
                  <a:schemeClr val="bg1"/>
                </a:solidFill>
              </a:rPr>
              <a:t>U.S. competitors marketing chat /</a:t>
            </a:r>
            <a:endParaRPr lang="en-US" sz="900" dirty="0"/>
          </a:p>
          <a:p>
            <a:pPr algn="ctr" indent="0" marL="0">
              <a:buNone/>
            </a:pPr>
            <a:r>
              <a:rPr lang="en-US" sz="900" b="1" dirty="0">
                <a:solidFill>
                  <a:schemeClr val="bg1"/>
                </a:solidFill>
              </a:rPr>
              <a:t>all comparable competitors</a:t>
            </a:r>
            <a:endParaRPr lang="en-US" sz="900" dirty="0"/>
          </a:p>
        </p:txBody>
      </p:sp>
      <p:sp>
        <p:nvSpPr>
          <p:cNvPr id="19" name="Text 17"/>
          <p:cNvSpPr txBox="1"/>
          <p:nvPr/>
        </p:nvSpPr>
        <p:spPr>
          <a:xfrm>
            <a:off x="3474720" y="2615184"/>
            <a:ext cx="1965960" cy="438912"/>
          </a:xfrm>
          <a:prstGeom prst="rect">
            <a:avLst/>
          </a:prstGeom>
          <a:noFill/>
          <a:ln/>
        </p:spPr>
        <p:txBody>
          <a:bodyPr wrap="square" lIns="0" tIns="0" rIns="0" bIns="0" rtlCol="0" anchor="ctr"/>
          <a:lstStyle/>
          <a:p>
            <a:pPr algn="ctr" indent="0" marL="0">
              <a:buNone/>
            </a:pPr>
            <a:r>
              <a:rPr lang="en-US" sz="900" b="1" dirty="0">
                <a:solidFill>
                  <a:schemeClr val="bg1"/>
                </a:solidFill>
              </a:rPr>
              <a:t>Workflow</a:t>
            </a:r>
            <a:endParaRPr lang="en-US" sz="900" dirty="0"/>
          </a:p>
        </p:txBody>
      </p:sp>
      <p:sp>
        <p:nvSpPr>
          <p:cNvPr id="20" name="Text 18"/>
          <p:cNvSpPr txBox="1"/>
          <p:nvPr/>
        </p:nvSpPr>
        <p:spPr>
          <a:xfrm>
            <a:off x="5486400" y="2615184"/>
            <a:ext cx="2880360" cy="438912"/>
          </a:xfrm>
          <a:prstGeom prst="rect">
            <a:avLst/>
          </a:prstGeom>
          <a:noFill/>
          <a:ln/>
        </p:spPr>
        <p:txBody>
          <a:bodyPr wrap="square" lIns="0" tIns="0" rIns="0" bIns="0" rtlCol="0" anchor="ctr"/>
          <a:lstStyle/>
          <a:p>
            <a:pPr algn="ctr" indent="0" marL="0">
              <a:buNone/>
            </a:pPr>
            <a:r>
              <a:rPr lang="en-US" sz="900" b="1" dirty="0">
                <a:solidFill>
                  <a:schemeClr val="bg1"/>
                </a:solidFill>
              </a:rPr>
              <a:t>Representative conversational AI offerings</a:t>
            </a:r>
            <a:endParaRPr lang="en-US" sz="900" dirty="0"/>
          </a:p>
        </p:txBody>
      </p:sp>
      <p:sp>
        <p:nvSpPr>
          <p:cNvPr id="21" name="Text 19"/>
          <p:cNvSpPr txBox="1"/>
          <p:nvPr/>
        </p:nvSpPr>
        <p:spPr>
          <a:xfrm>
            <a:off x="8503920" y="2615184"/>
            <a:ext cx="2103120" cy="438912"/>
          </a:xfrm>
          <a:prstGeom prst="rect">
            <a:avLst/>
          </a:prstGeom>
          <a:noFill/>
          <a:ln/>
        </p:spPr>
        <p:txBody>
          <a:bodyPr wrap="square" lIns="0" tIns="0" rIns="0" bIns="0" rtlCol="0" anchor="ctr"/>
          <a:lstStyle/>
          <a:p>
            <a:pPr algn="ctr" indent="0" marL="0">
              <a:buNone/>
            </a:pPr>
            <a:r>
              <a:rPr lang="en-US" sz="900" b="1" dirty="0">
                <a:solidFill>
                  <a:schemeClr val="bg1"/>
                </a:solidFill>
              </a:rPr>
              <a:t>Optum's publicly</a:t>
            </a:r>
            <a:endParaRPr lang="en-US" sz="900" dirty="0"/>
          </a:p>
          <a:p>
            <a:pPr algn="ctr" indent="0" marL="0">
              <a:buNone/>
            </a:pPr>
            <a:r>
              <a:rPr lang="en-US" sz="900" b="1" dirty="0">
                <a:solidFill>
                  <a:schemeClr val="bg1"/>
                </a:solidFill>
              </a:rPr>
              <a:t>marketed offerings</a:t>
            </a:r>
            <a:endParaRPr lang="en-US" sz="900" dirty="0"/>
          </a:p>
        </p:txBody>
      </p:sp>
      <p:sp>
        <p:nvSpPr>
          <p:cNvPr id="22" name="Text 20"/>
          <p:cNvSpPr txBox="1"/>
          <p:nvPr/>
        </p:nvSpPr>
        <p:spPr>
          <a:xfrm>
            <a:off x="10652760" y="2615184"/>
            <a:ext cx="987552" cy="438912"/>
          </a:xfrm>
          <a:prstGeom prst="rect">
            <a:avLst/>
          </a:prstGeom>
          <a:noFill/>
          <a:ln/>
        </p:spPr>
        <p:txBody>
          <a:bodyPr wrap="square" lIns="0" tIns="0" rIns="0" bIns="0" rtlCol="0" anchor="ctr"/>
          <a:lstStyle/>
          <a:p>
            <a:pPr algn="ctr" indent="0" marL="0">
              <a:buNone/>
            </a:pPr>
            <a:r>
              <a:rPr lang="en-US" sz="900" b="1" dirty="0">
                <a:solidFill>
                  <a:schemeClr val="bg1"/>
                </a:solidFill>
              </a:rPr>
              <a:t>Optum public chat claim</a:t>
            </a:r>
            <a:endParaRPr lang="en-US" sz="900" dirty="0"/>
          </a:p>
        </p:txBody>
      </p:sp>
      <p:graphicFrame>
        <p:nvGraphicFramePr>
          <p:cNvPr id="23" name="competitor coverage chart" descr=""/>
          <p:cNvGraphicFramePr/>
          <p:nvPr/>
        </p:nvGraphicFramePr>
        <p:xfrm>
          <a:off x="1170432" y="3054096"/>
          <a:ext cx="2212848" cy="2240280"/>
        </p:xfrm>
        <a:graphic xmlns:a="http://schemas.openxmlformats.org/drawingml/2006/main">
          <a:graphicData uri="http://schemas.openxmlformats.org/drawingml/2006/chart">
            <c:chart xmlns:c="http://schemas.openxmlformats.org/drawingml/2006/chart" r:id="rId1"/>
          </a:graphicData>
        </a:graphic>
      </p:graphicFrame>
      <p:sp>
        <p:nvSpPr>
          <p:cNvPr id="24" name="fraction RWE"/>
          <p:cNvSpPr txBox="1"/>
          <p:nvPr/>
        </p:nvSpPr>
        <p:spPr>
          <a:xfrm>
            <a:off x="566928" y="3054096"/>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25" name="workflow chip RWE"/>
          <p:cNvSpPr/>
          <p:nvPr/>
        </p:nvSpPr>
        <p:spPr>
          <a:xfrm>
            <a:off x="3547872" y="3122676"/>
            <a:ext cx="1819656" cy="310896"/>
          </a:xfrm>
          <a:prstGeom prst="roundRect">
            <a:avLst>
              <a:gd name="adj" fmla="val 50000"/>
            </a:avLst>
          </a:prstGeom>
          <a:solidFill>
            <a:schemeClr val="accent5"/>
          </a:solidFill>
          <a:ln w="9525">
            <a:solidFill>
              <a:schemeClr val="accent1"/>
            </a:solidFill>
            <a:prstDash val="solid"/>
          </a:ln>
        </p:spPr>
      </p:sp>
      <p:sp>
        <p:nvSpPr>
          <p:cNvPr id="26" name="Text 23"/>
          <p:cNvSpPr txBox="1"/>
          <p:nvPr/>
        </p:nvSpPr>
        <p:spPr>
          <a:xfrm>
            <a:off x="3547872" y="312267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7" name="Text 24"/>
          <p:cNvSpPr txBox="1"/>
          <p:nvPr/>
        </p:nvSpPr>
        <p:spPr>
          <a:xfrm>
            <a:off x="5577840" y="3054096"/>
            <a:ext cx="2697480" cy="448056"/>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a:t>
            </a:r>
            <a:endParaRPr lang="en-US" sz="900" dirty="0"/>
          </a:p>
        </p:txBody>
      </p:sp>
      <p:sp>
        <p:nvSpPr>
          <p:cNvPr id="28" name="Text 25"/>
          <p:cNvSpPr txBox="1"/>
          <p:nvPr/>
        </p:nvSpPr>
        <p:spPr>
          <a:xfrm>
            <a:off x="8595360" y="3054096"/>
            <a:ext cx="1920240" cy="448056"/>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9" name="chat status RWE"/>
          <p:cNvSpPr/>
          <p:nvPr/>
        </p:nvSpPr>
        <p:spPr>
          <a:xfrm>
            <a:off x="11109960" y="3195828"/>
            <a:ext cx="164592" cy="164592"/>
          </a:xfrm>
          <a:prstGeom prst="ellipse">
            <a:avLst/>
          </a:prstGeom>
          <a:ln w="15875">
            <a:solidFill>
              <a:schemeClr val="accent4"/>
            </a:solidFill>
            <a:prstDash val="solid"/>
          </a:ln>
        </p:spPr>
      </p:sp>
      <p:sp>
        <p:nvSpPr>
          <p:cNvPr id="30" name="Shape 27"/>
          <p:cNvSpPr/>
          <p:nvPr/>
        </p:nvSpPr>
        <p:spPr>
          <a:xfrm>
            <a:off x="548640" y="3502152"/>
            <a:ext cx="11091672" cy="0"/>
          </a:xfrm>
          <a:prstGeom prst="line">
            <a:avLst/>
          </a:prstGeom>
          <a:noFill/>
          <a:ln w="9525">
            <a:solidFill>
              <a:schemeClr val="accent3"/>
            </a:solidFill>
            <a:prstDash val="solid"/>
          </a:ln>
        </p:spPr>
      </p:sp>
      <p:sp>
        <p:nvSpPr>
          <p:cNvPr id="31" name="fraction Commercial intelligence"/>
          <p:cNvSpPr txBox="1"/>
          <p:nvPr/>
        </p:nvSpPr>
        <p:spPr>
          <a:xfrm>
            <a:off x="1282849" y="3502152"/>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32" name="workflow chip Commercial intelligence"/>
          <p:cNvSpPr/>
          <p:nvPr/>
        </p:nvSpPr>
        <p:spPr>
          <a:xfrm>
            <a:off x="3547872" y="3570732"/>
            <a:ext cx="1819656" cy="310896"/>
          </a:xfrm>
          <a:prstGeom prst="roundRect">
            <a:avLst>
              <a:gd name="adj" fmla="val 50000"/>
            </a:avLst>
          </a:prstGeom>
          <a:solidFill>
            <a:schemeClr val="accent5"/>
          </a:solidFill>
          <a:ln w="9525">
            <a:solidFill>
              <a:schemeClr val="accent1"/>
            </a:solidFill>
            <a:prstDash val="solid"/>
          </a:ln>
        </p:spPr>
      </p:sp>
      <p:sp>
        <p:nvSpPr>
          <p:cNvPr id="33" name="Text 30"/>
          <p:cNvSpPr txBox="1"/>
          <p:nvPr/>
        </p:nvSpPr>
        <p:spPr>
          <a:xfrm>
            <a:off x="3547872" y="35707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34" name="Text 31"/>
          <p:cNvSpPr txBox="1"/>
          <p:nvPr/>
        </p:nvSpPr>
        <p:spPr>
          <a:xfrm>
            <a:off x="5577840" y="3502152"/>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5" name="Text 32"/>
          <p:cNvSpPr txBox="1"/>
          <p:nvPr/>
        </p:nvSpPr>
        <p:spPr>
          <a:xfrm>
            <a:off x="8595360" y="3502152"/>
            <a:ext cx="1920240" cy="448056"/>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6" name="chat status Commercial intelligence"/>
          <p:cNvSpPr/>
          <p:nvPr/>
        </p:nvSpPr>
        <p:spPr>
          <a:xfrm>
            <a:off x="11109960" y="3643884"/>
            <a:ext cx="164592" cy="164592"/>
          </a:xfrm>
          <a:prstGeom prst="ellipse">
            <a:avLst/>
          </a:prstGeom>
          <a:ln w="15875">
            <a:solidFill>
              <a:schemeClr val="accent4"/>
            </a:solidFill>
            <a:prstDash val="solid"/>
          </a:ln>
        </p:spPr>
      </p:sp>
      <p:sp>
        <p:nvSpPr>
          <p:cNvPr id="37" name="Shape 34"/>
          <p:cNvSpPr/>
          <p:nvPr/>
        </p:nvSpPr>
        <p:spPr>
          <a:xfrm>
            <a:off x="548640" y="3950208"/>
            <a:ext cx="11091672" cy="0"/>
          </a:xfrm>
          <a:prstGeom prst="line">
            <a:avLst/>
          </a:prstGeom>
          <a:noFill/>
          <a:ln w="9525">
            <a:solidFill>
              <a:schemeClr val="accent3"/>
            </a:solidFill>
            <a:prstDash val="solid"/>
          </a:ln>
        </p:spPr>
      </p:sp>
      <p:sp>
        <p:nvSpPr>
          <p:cNvPr id="38" name="fraction Medical / regulatory research"/>
          <p:cNvSpPr txBox="1"/>
          <p:nvPr/>
        </p:nvSpPr>
        <p:spPr>
          <a:xfrm>
            <a:off x="1608268" y="3950208"/>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9" name="workflow chip Medical / regulatory research"/>
          <p:cNvSpPr/>
          <p:nvPr/>
        </p:nvSpPr>
        <p:spPr>
          <a:xfrm>
            <a:off x="3547872" y="4018788"/>
            <a:ext cx="1819656" cy="310896"/>
          </a:xfrm>
          <a:prstGeom prst="roundRect">
            <a:avLst>
              <a:gd name="adj" fmla="val 50000"/>
            </a:avLst>
          </a:prstGeom>
          <a:solidFill>
            <a:schemeClr val="accent5"/>
          </a:solidFill>
          <a:ln w="9525">
            <a:solidFill>
              <a:schemeClr val="accent1"/>
            </a:solidFill>
            <a:prstDash val="solid"/>
          </a:ln>
        </p:spPr>
      </p:sp>
      <p:sp>
        <p:nvSpPr>
          <p:cNvPr id="40" name="Text 37"/>
          <p:cNvSpPr txBox="1"/>
          <p:nvPr/>
        </p:nvSpPr>
        <p:spPr>
          <a:xfrm>
            <a:off x="3547872" y="401878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41" name="Text 38"/>
          <p:cNvSpPr txBox="1"/>
          <p:nvPr/>
        </p:nvSpPr>
        <p:spPr>
          <a:xfrm>
            <a:off x="5577840" y="3950208"/>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42" name="Text 39"/>
          <p:cNvSpPr txBox="1"/>
          <p:nvPr/>
        </p:nvSpPr>
        <p:spPr>
          <a:xfrm>
            <a:off x="8595360" y="3950208"/>
            <a:ext cx="1920240" cy="448056"/>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43" name="chat status Medical / regulatory research"/>
          <p:cNvSpPr/>
          <p:nvPr/>
        </p:nvSpPr>
        <p:spPr>
          <a:xfrm>
            <a:off x="11109960" y="4091940"/>
            <a:ext cx="164592" cy="164592"/>
          </a:xfrm>
          <a:prstGeom prst="ellipse">
            <a:avLst/>
          </a:prstGeom>
          <a:ln w="15875">
            <a:solidFill>
              <a:schemeClr val="accent4"/>
            </a:solidFill>
            <a:prstDash val="solid"/>
          </a:ln>
        </p:spPr>
      </p:sp>
      <p:sp>
        <p:nvSpPr>
          <p:cNvPr id="44" name="Shape 41"/>
          <p:cNvSpPr/>
          <p:nvPr/>
        </p:nvSpPr>
        <p:spPr>
          <a:xfrm>
            <a:off x="548640" y="4398264"/>
            <a:ext cx="11091672" cy="0"/>
          </a:xfrm>
          <a:prstGeom prst="line">
            <a:avLst/>
          </a:prstGeom>
          <a:noFill/>
          <a:ln w="9525">
            <a:solidFill>
              <a:schemeClr val="accent3"/>
            </a:solidFill>
            <a:prstDash val="solid"/>
          </a:ln>
        </p:spPr>
      </p:sp>
      <p:sp>
        <p:nvSpPr>
          <p:cNvPr id="45" name="fraction Clinical trials"/>
          <p:cNvSpPr txBox="1"/>
          <p:nvPr/>
        </p:nvSpPr>
        <p:spPr>
          <a:xfrm>
            <a:off x="1152682" y="4398264"/>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6" name="workflow chip Clinical trials"/>
          <p:cNvSpPr/>
          <p:nvPr/>
        </p:nvSpPr>
        <p:spPr>
          <a:xfrm>
            <a:off x="3547872" y="4466844"/>
            <a:ext cx="1819656" cy="310896"/>
          </a:xfrm>
          <a:prstGeom prst="roundRect">
            <a:avLst>
              <a:gd name="adj" fmla="val 50000"/>
            </a:avLst>
          </a:prstGeom>
          <a:solidFill>
            <a:schemeClr val="accent5"/>
          </a:solidFill>
          <a:ln w="9525">
            <a:solidFill>
              <a:schemeClr val="accent1"/>
            </a:solidFill>
            <a:prstDash val="solid"/>
          </a:ln>
        </p:spPr>
      </p:sp>
      <p:sp>
        <p:nvSpPr>
          <p:cNvPr id="47" name="Text 44"/>
          <p:cNvSpPr txBox="1"/>
          <p:nvPr/>
        </p:nvSpPr>
        <p:spPr>
          <a:xfrm>
            <a:off x="3547872" y="446684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8" name="Text 45"/>
          <p:cNvSpPr txBox="1"/>
          <p:nvPr/>
        </p:nvSpPr>
        <p:spPr>
          <a:xfrm>
            <a:off x="5577840" y="4398264"/>
            <a:ext cx="2697480" cy="448056"/>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9" name="Text 46"/>
          <p:cNvSpPr txBox="1"/>
          <p:nvPr/>
        </p:nvSpPr>
        <p:spPr>
          <a:xfrm>
            <a:off x="8595360" y="4398264"/>
            <a:ext cx="1920240" cy="448056"/>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50" name="chat status Clinical trials"/>
          <p:cNvSpPr/>
          <p:nvPr/>
        </p:nvSpPr>
        <p:spPr>
          <a:xfrm>
            <a:off x="11109960" y="4539996"/>
            <a:ext cx="164592" cy="164592"/>
          </a:xfrm>
          <a:prstGeom prst="ellipse">
            <a:avLst/>
          </a:prstGeom>
          <a:ln w="15875">
            <a:solidFill>
              <a:schemeClr val="accent4"/>
            </a:solidFill>
            <a:prstDash val="solid"/>
          </a:ln>
        </p:spPr>
      </p:sp>
      <p:sp>
        <p:nvSpPr>
          <p:cNvPr id="51" name="Shape 48"/>
          <p:cNvSpPr/>
          <p:nvPr/>
        </p:nvSpPr>
        <p:spPr>
          <a:xfrm>
            <a:off x="548640" y="4846320"/>
            <a:ext cx="11091672" cy="0"/>
          </a:xfrm>
          <a:prstGeom prst="line">
            <a:avLst/>
          </a:prstGeom>
          <a:noFill/>
          <a:ln w="9525">
            <a:solidFill>
              <a:schemeClr val="accent3"/>
            </a:solidFill>
            <a:prstDash val="solid"/>
          </a:ln>
        </p:spPr>
      </p:sp>
      <p:sp>
        <p:nvSpPr>
          <p:cNvPr id="52" name="fraction Market access"/>
          <p:cNvSpPr txBox="1"/>
          <p:nvPr/>
        </p:nvSpPr>
        <p:spPr>
          <a:xfrm>
            <a:off x="1217766" y="4846320"/>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53" name="workflow chip Market access"/>
          <p:cNvSpPr/>
          <p:nvPr/>
        </p:nvSpPr>
        <p:spPr>
          <a:xfrm>
            <a:off x="3547872" y="4914900"/>
            <a:ext cx="1819656" cy="310896"/>
          </a:xfrm>
          <a:prstGeom prst="roundRect">
            <a:avLst>
              <a:gd name="adj" fmla="val 50000"/>
            </a:avLst>
          </a:prstGeom>
          <a:solidFill>
            <a:schemeClr val="accent5"/>
          </a:solidFill>
          <a:ln w="9525">
            <a:solidFill>
              <a:schemeClr val="accent1"/>
            </a:solidFill>
            <a:prstDash val="solid"/>
          </a:ln>
        </p:spPr>
      </p:sp>
      <p:sp>
        <p:nvSpPr>
          <p:cNvPr id="54" name="Text 51"/>
          <p:cNvSpPr txBox="1"/>
          <p:nvPr/>
        </p:nvSpPr>
        <p:spPr>
          <a:xfrm>
            <a:off x="3547872" y="491490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5" name="Text 52"/>
          <p:cNvSpPr txBox="1"/>
          <p:nvPr/>
        </p:nvSpPr>
        <p:spPr>
          <a:xfrm>
            <a:off x="5577840" y="4846320"/>
            <a:ext cx="2697480" cy="448056"/>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6" name="Text 53"/>
          <p:cNvSpPr txBox="1"/>
          <p:nvPr/>
        </p:nvSpPr>
        <p:spPr>
          <a:xfrm>
            <a:off x="8595360" y="4846320"/>
            <a:ext cx="1920240" cy="448056"/>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7" name="chat status Market access"/>
          <p:cNvSpPr/>
          <p:nvPr/>
        </p:nvSpPr>
        <p:spPr>
          <a:xfrm>
            <a:off x="11109960" y="4988052"/>
            <a:ext cx="164592" cy="164592"/>
          </a:xfrm>
          <a:prstGeom prst="ellipse">
            <a:avLst/>
          </a:prstGeom>
          <a:ln w="15875">
            <a:solidFill>
              <a:schemeClr val="accent4"/>
            </a:solidFill>
            <a:prstDash val="solid"/>
          </a:ln>
        </p:spPr>
      </p:sp>
      <p:sp>
        <p:nvSpPr>
          <p:cNvPr id="58" name="Shape 55"/>
          <p:cNvSpPr/>
          <p:nvPr/>
        </p:nvSpPr>
        <p:spPr>
          <a:xfrm>
            <a:off x="548640" y="5294376"/>
            <a:ext cx="11091672" cy="0"/>
          </a:xfrm>
          <a:prstGeom prst="line">
            <a:avLst/>
          </a:prstGeom>
          <a:noFill/>
          <a:ln w="9525">
            <a:solidFill>
              <a:schemeClr val="accent3"/>
            </a:solidFill>
            <a:prstDash val="solid"/>
          </a:ln>
        </p:spPr>
      </p:sp>
      <p:sp>
        <p:nvSpPr>
          <p:cNvPr id="59" name="scope note"/>
          <p:cNvSpPr txBox="1"/>
          <p:nvPr/>
        </p:nvSpPr>
        <p:spPr>
          <a:xfrm>
            <a:off x="548640" y="5358384"/>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60" name="chat claim legend"/>
          <p:cNvSpPr txBox="1"/>
          <p:nvPr/>
        </p:nvSpPr>
        <p:spPr>
          <a:xfrm>
            <a:off x="9418320" y="5358384"/>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61"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62" name="label"/>
          <p:cNvSpPr txBox="1"/>
          <p:nvPr/>
        </p:nvSpPr>
        <p:spPr>
          <a:xfrm>
            <a:off x="731520" y="5596128"/>
            <a:ext cx="1554480" cy="548640"/>
          </a:xfrm>
          <a:prstGeom prst="rect">
            <a:avLst/>
          </a:prstGeom>
          <a:noFill/>
          <a:ln/>
        </p:spPr>
        <p:txBody>
          <a:bodyPr wrap="square" lIns="0" tIns="0" rIns="0" bIns="0" rtlCol="0" anchor="ctr"/>
          <a:lstStyle/>
          <a:p>
            <a:pPr indent="0" marL="0">
              <a:buNone/>
            </a:pPr>
            <a:r>
              <a:rPr lang="en-US" sz="1000" b="1" spc="100" kern="0" dirty="0">
                <a:solidFill>
                  <a:schemeClr val="accent2"/>
                </a:solidFill>
              </a:rPr>
              <a:t>KEY TAKEAWAY</a:t>
            </a:r>
            <a:endParaRPr lang="en-US" sz="1000" dirty="0"/>
          </a:p>
        </p:txBody>
      </p:sp>
      <p:sp>
        <p:nvSpPr>
          <p:cNvPr id="63" name="Text 60"/>
          <p:cNvSpPr txBox="1"/>
          <p:nvPr/>
        </p:nvSpPr>
        <p:spPr>
          <a:xfrm>
            <a:off x="2331720" y="5596128"/>
            <a:ext cx="9125712" cy="548640"/>
          </a:xfrm>
          <a:prstGeom prst="rect">
            <a:avLst/>
          </a:prstGeom>
          <a:noFill/>
          <a:ln/>
        </p:spPr>
        <p:txBody>
          <a:bodyPr wrap="square" lIns="0" tIns="0" rIns="0" bIns="0" rtlCol="0" anchor="ctr"/>
          <a:lstStyle/>
          <a:p>
            <a:pPr indent="0" marL="0">
              <a:buNone/>
            </a:pPr>
            <a:r>
              <a:rPr lang="en-US" sz="1050" dirty="0">
                <a:solidFill>
                  <a:schemeClr val="tx1"/>
                </a:solidFill>
              </a:rPr>
              <a:t>RWE has the largest number of screened U.S. companies marketing qualifying conversational AI. Optum offers products and services across the five decision workflows shown, but a qualifying customer-facing conversational interface was not established in the reviewed public materials.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Optum-relevant workflows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COMPETITOR GROUPS MARKETING QUALIFYING CHAT — FIVE DECISION WORKFLOWS</a:t>
            </a:r>
            <a:endParaRPr lang="en-US" sz="1000" dirty="0"/>
          </a:p>
        </p:txBody>
      </p:sp>
      <p:sp>
        <p:nvSpPr>
          <p:cNvPr id="5" name="table header"/>
          <p:cNvSpPr/>
          <p:nvPr/>
        </p:nvSpPr>
        <p:spPr>
          <a:xfrm>
            <a:off x="548640" y="1737360"/>
            <a:ext cx="7635240" cy="384048"/>
          </a:xfrm>
          <a:prstGeom prst="rect">
            <a:avLst/>
          </a:prstGeom>
          <a:solidFill>
            <a:schemeClr val="accent1"/>
          </a:solidFill>
          <a:ln/>
        </p:spPr>
      </p:sp>
      <p:sp>
        <p:nvSpPr>
          <p:cNvPr id="6" name="Text 4"/>
          <p:cNvSpPr txBox="1"/>
          <p:nvPr/>
        </p:nvSpPr>
        <p:spPr>
          <a:xfrm>
            <a:off x="640080" y="1737360"/>
            <a:ext cx="1691640" cy="384048"/>
          </a:xfrm>
          <a:prstGeom prst="rect">
            <a:avLst/>
          </a:prstGeom>
          <a:noFill/>
          <a:ln/>
        </p:spPr>
        <p:txBody>
          <a:bodyPr wrap="square" lIns="0" tIns="0" rIns="0" bIns="0" rtlCol="0" anchor="ctr"/>
          <a:lstStyle/>
          <a:p>
            <a:pPr indent="0" marL="0">
              <a:buNone/>
            </a:pPr>
            <a:r>
              <a:rPr lang="en-US" sz="850" b="1" dirty="0">
                <a:solidFill>
                  <a:schemeClr val="bg1"/>
                </a:solidFill>
              </a:rPr>
              <a:t>Screen</a:t>
            </a:r>
            <a:endParaRPr lang="en-US" sz="850" dirty="0"/>
          </a:p>
        </p:txBody>
      </p:sp>
      <p:sp>
        <p:nvSpPr>
          <p:cNvPr id="7" name="Text 5"/>
          <p:cNvSpPr txBox="1"/>
          <p:nvPr/>
        </p:nvSpPr>
        <p:spPr>
          <a:xfrm>
            <a:off x="2331720" y="1737360"/>
            <a:ext cx="4846320" cy="384048"/>
          </a:xfrm>
          <a:prstGeom prst="rect">
            <a:avLst/>
          </a:prstGeom>
          <a:noFill/>
          <a:ln/>
        </p:spPr>
        <p:txBody>
          <a:bodyPr wrap="square" lIns="0" tIns="0" rIns="0" bIns="0" rtlCol="0" anchor="ctr"/>
          <a:lstStyle/>
          <a:p>
            <a:pPr algn="ctr" indent="0" marL="0">
              <a:buNone/>
            </a:pPr>
            <a:r>
              <a:rPr lang="en-US" sz="850" b="1" dirty="0">
                <a:solidFill>
                  <a:schemeClr val="bg1"/>
                </a:solidFill>
              </a:rPr>
              <a:t>Distinct chat-marketing groups / distinct comparable competitor groups</a:t>
            </a:r>
            <a:endParaRPr lang="en-US" sz="850" dirty="0"/>
          </a:p>
        </p:txBody>
      </p:sp>
      <p:sp>
        <p:nvSpPr>
          <p:cNvPr id="8" name="Text 6"/>
          <p:cNvSpPr txBox="1"/>
          <p:nvPr/>
        </p:nvSpPr>
        <p:spPr>
          <a:xfrm>
            <a:off x="7223760" y="1737360"/>
            <a:ext cx="914400" cy="384048"/>
          </a:xfrm>
          <a:prstGeom prst="rect">
            <a:avLst/>
          </a:prstGeom>
          <a:noFill/>
          <a:ln/>
        </p:spPr>
        <p:txBody>
          <a:bodyPr wrap="square" lIns="0" tIns="0" rIns="0" bIns="0" rtlCol="0" anchor="ctr"/>
          <a:lstStyle/>
          <a:p>
            <a:pPr algn="r" indent="0" marL="0">
              <a:buNone/>
            </a:pPr>
            <a:r>
              <a:rPr lang="en-US" sz="850" b="1" dirty="0">
                <a:solidFill>
                  <a:schemeClr val="bg1"/>
                </a:solidFill>
              </a:rPr>
              <a:t>Screened-company share</a:t>
            </a:r>
            <a:endParaRPr lang="en-US" sz="850" dirty="0"/>
          </a:p>
        </p:txBody>
      </p:sp>
      <p:graphicFrame>
        <p:nvGraphicFramePr>
          <p:cNvPr id="9" name="screened-company share chart" descr=""/>
          <p:cNvGraphicFramePr/>
          <p:nvPr/>
        </p:nvGraphicFramePr>
        <p:xfrm>
          <a:off x="2331720" y="2121408"/>
          <a:ext cx="4526280" cy="361645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2121408"/>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United States (reference)</a:t>
            </a:r>
            <a:endParaRPr lang="en-US" sz="900" dirty="0"/>
          </a:p>
        </p:txBody>
      </p:sp>
      <p:sp>
        <p:nvSpPr>
          <p:cNvPr id="11" name="fraction United States (reference)"/>
          <p:cNvSpPr txBox="1"/>
          <p:nvPr/>
        </p:nvSpPr>
        <p:spPr>
          <a:xfrm>
            <a:off x="6343065" y="212140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7360920" y="2121408"/>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34.9%</a:t>
            </a:r>
            <a:endParaRPr lang="en-US" sz="850" dirty="0"/>
          </a:p>
        </p:txBody>
      </p:sp>
      <p:sp>
        <p:nvSpPr>
          <p:cNvPr id="13" name="Text 10"/>
          <p:cNvSpPr txBox="1"/>
          <p:nvPr/>
        </p:nvSpPr>
        <p:spPr>
          <a:xfrm>
            <a:off x="640080" y="2345436"/>
            <a:ext cx="1691640" cy="224028"/>
          </a:xfrm>
          <a:prstGeom prst="rect">
            <a:avLst/>
          </a:prstGeom>
          <a:noFill/>
          <a:ln/>
        </p:spPr>
        <p:txBody>
          <a:bodyPr wrap="square" lIns="0" tIns="0" rIns="0" bIns="0" rtlCol="0" anchor="ctr"/>
          <a:lstStyle/>
          <a:p>
            <a:pPr indent="0" marL="0">
              <a:buNone/>
            </a:pPr>
            <a:r>
              <a:rPr lang="en-US" sz="900" dirty="0">
                <a:solidFill>
                  <a:schemeClr val="tx1"/>
                </a:solidFill>
              </a:rPr>
              <a:t>China</a:t>
            </a:r>
            <a:endParaRPr lang="en-US" sz="900" dirty="0"/>
          </a:p>
        </p:txBody>
      </p:sp>
      <p:sp>
        <p:nvSpPr>
          <p:cNvPr id="14" name="fraction China"/>
          <p:cNvSpPr txBox="1"/>
          <p:nvPr/>
        </p:nvSpPr>
        <p:spPr>
          <a:xfrm>
            <a:off x="5224653" y="234543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7360920" y="234543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25.0%</a:t>
            </a:r>
            <a:endParaRPr lang="en-US" sz="850" dirty="0"/>
          </a:p>
        </p:txBody>
      </p:sp>
      <p:sp>
        <p:nvSpPr>
          <p:cNvPr id="16" name="Text 13"/>
          <p:cNvSpPr txBox="1"/>
          <p:nvPr/>
        </p:nvSpPr>
        <p:spPr>
          <a:xfrm>
            <a:off x="640080" y="2569464"/>
            <a:ext cx="1691640" cy="224028"/>
          </a:xfrm>
          <a:prstGeom prst="rect">
            <a:avLst/>
          </a:prstGeom>
          <a:noFill/>
          <a:ln/>
        </p:spPr>
        <p:txBody>
          <a:bodyPr wrap="square" lIns="0" tIns="0" rIns="0" bIns="0" rtlCol="0" anchor="ctr"/>
          <a:lstStyle/>
          <a:p>
            <a:pPr indent="0" marL="0">
              <a:buNone/>
            </a:pPr>
            <a:r>
              <a:rPr lang="en-US" sz="900" dirty="0">
                <a:solidFill>
                  <a:schemeClr val="tx1"/>
                </a:solidFill>
              </a:rPr>
              <a:t>Spain</a:t>
            </a:r>
            <a:endParaRPr lang="en-US" sz="900" dirty="0"/>
          </a:p>
        </p:txBody>
      </p:sp>
      <p:sp>
        <p:nvSpPr>
          <p:cNvPr id="17" name="fraction Spain"/>
          <p:cNvSpPr txBox="1"/>
          <p:nvPr/>
        </p:nvSpPr>
        <p:spPr>
          <a:xfrm>
            <a:off x="4392616" y="256946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7360920" y="256946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17.6%</a:t>
            </a:r>
            <a:endParaRPr lang="en-US" sz="850" dirty="0"/>
          </a:p>
        </p:txBody>
      </p:sp>
      <p:sp>
        <p:nvSpPr>
          <p:cNvPr id="19" name="Text 16"/>
          <p:cNvSpPr txBox="1"/>
          <p:nvPr/>
        </p:nvSpPr>
        <p:spPr>
          <a:xfrm>
            <a:off x="640080" y="2793492"/>
            <a:ext cx="1691640" cy="224028"/>
          </a:xfrm>
          <a:prstGeom prst="rect">
            <a:avLst/>
          </a:prstGeom>
          <a:noFill/>
          <a:ln/>
        </p:spPr>
        <p:txBody>
          <a:bodyPr wrap="square" lIns="0" tIns="0" rIns="0" bIns="0" rtlCol="0" anchor="ctr"/>
          <a:lstStyle/>
          <a:p>
            <a:pPr indent="0" marL="0">
              <a:buNone/>
            </a:pPr>
            <a:r>
              <a:rPr lang="en-US" sz="900" dirty="0">
                <a:solidFill>
                  <a:schemeClr val="tx1"/>
                </a:solidFill>
              </a:rPr>
              <a:t>Israel</a:t>
            </a:r>
            <a:endParaRPr lang="en-US" sz="900" dirty="0"/>
          </a:p>
        </p:txBody>
      </p:sp>
      <p:sp>
        <p:nvSpPr>
          <p:cNvPr id="20" name="fraction Israel"/>
          <p:cNvSpPr txBox="1"/>
          <p:nvPr/>
        </p:nvSpPr>
        <p:spPr>
          <a:xfrm>
            <a:off x="3904488" y="279349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7360920" y="279349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13.3%</a:t>
            </a:r>
            <a:endParaRPr lang="en-US" sz="850" dirty="0"/>
          </a:p>
        </p:txBody>
      </p:sp>
      <p:sp>
        <p:nvSpPr>
          <p:cNvPr id="22" name="Text 19"/>
          <p:cNvSpPr txBox="1"/>
          <p:nvPr/>
        </p:nvSpPr>
        <p:spPr>
          <a:xfrm>
            <a:off x="640080" y="3017520"/>
            <a:ext cx="1691640" cy="224028"/>
          </a:xfrm>
          <a:prstGeom prst="rect">
            <a:avLst/>
          </a:prstGeom>
          <a:noFill/>
          <a:ln/>
        </p:spPr>
        <p:txBody>
          <a:bodyPr wrap="square" lIns="0" tIns="0" rIns="0" bIns="0" rtlCol="0" anchor="ctr"/>
          <a:lstStyle/>
          <a:p>
            <a:pPr indent="0" marL="0">
              <a:buNone/>
            </a:pPr>
            <a:r>
              <a:rPr lang="en-US" sz="900" dirty="0">
                <a:solidFill>
                  <a:schemeClr val="tx1"/>
                </a:solidFill>
              </a:rPr>
              <a:t>France</a:t>
            </a:r>
            <a:endParaRPr lang="en-US" sz="900" dirty="0"/>
          </a:p>
        </p:txBody>
      </p:sp>
      <p:sp>
        <p:nvSpPr>
          <p:cNvPr id="23" name="fraction France"/>
          <p:cNvSpPr txBox="1"/>
          <p:nvPr/>
        </p:nvSpPr>
        <p:spPr>
          <a:xfrm>
            <a:off x="3726987" y="301752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7360920" y="301752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5" name="Text 22"/>
          <p:cNvSpPr txBox="1"/>
          <p:nvPr/>
        </p:nvSpPr>
        <p:spPr>
          <a:xfrm>
            <a:off x="640080" y="3241548"/>
            <a:ext cx="1691640" cy="224028"/>
          </a:xfrm>
          <a:prstGeom prst="rect">
            <a:avLst/>
          </a:prstGeom>
          <a:noFill/>
          <a:ln/>
        </p:spPr>
        <p:txBody>
          <a:bodyPr wrap="square" lIns="0" tIns="0" rIns="0" bIns="0" rtlCol="0" anchor="ctr"/>
          <a:lstStyle/>
          <a:p>
            <a:pPr indent="0" marL="0">
              <a:buNone/>
            </a:pPr>
            <a:r>
              <a:rPr lang="en-US" sz="900" dirty="0">
                <a:solidFill>
                  <a:schemeClr val="tx1"/>
                </a:solidFill>
              </a:rPr>
              <a:t>Nordics</a:t>
            </a:r>
            <a:endParaRPr lang="en-US" sz="900" dirty="0"/>
          </a:p>
        </p:txBody>
      </p:sp>
      <p:sp>
        <p:nvSpPr>
          <p:cNvPr id="26" name="fraction Nordics"/>
          <p:cNvSpPr txBox="1"/>
          <p:nvPr/>
        </p:nvSpPr>
        <p:spPr>
          <a:xfrm>
            <a:off x="3726987" y="324154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7360920" y="324154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8" name="Text 25"/>
          <p:cNvSpPr txBox="1"/>
          <p:nvPr/>
        </p:nvSpPr>
        <p:spPr>
          <a:xfrm>
            <a:off x="640080" y="3465576"/>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India</a:t>
            </a:r>
            <a:endParaRPr lang="en-US" sz="900" dirty="0"/>
          </a:p>
        </p:txBody>
      </p:sp>
      <p:sp>
        <p:nvSpPr>
          <p:cNvPr id="29" name="fraction India"/>
          <p:cNvSpPr txBox="1"/>
          <p:nvPr/>
        </p:nvSpPr>
        <p:spPr>
          <a:xfrm>
            <a:off x="3456575" y="346557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7360920" y="3465576"/>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9.4%</a:t>
            </a:r>
            <a:endParaRPr lang="en-US" sz="850" dirty="0"/>
          </a:p>
        </p:txBody>
      </p:sp>
      <p:sp>
        <p:nvSpPr>
          <p:cNvPr id="31" name="Text 28"/>
          <p:cNvSpPr txBox="1"/>
          <p:nvPr/>
        </p:nvSpPr>
        <p:spPr>
          <a:xfrm>
            <a:off x="640080" y="3689604"/>
            <a:ext cx="1691640" cy="224028"/>
          </a:xfrm>
          <a:prstGeom prst="rect">
            <a:avLst/>
          </a:prstGeom>
          <a:noFill/>
          <a:ln/>
        </p:spPr>
        <p:txBody>
          <a:bodyPr wrap="square" lIns="0" tIns="0" rIns="0" bIns="0" rtlCol="0" anchor="ctr"/>
          <a:lstStyle/>
          <a:p>
            <a:pPr indent="0" marL="0">
              <a:buNone/>
            </a:pPr>
            <a:r>
              <a:rPr lang="en-US" sz="900" dirty="0">
                <a:solidFill>
                  <a:schemeClr val="tx1"/>
                </a:solidFill>
              </a:rPr>
              <a:t>Netherlands</a:t>
            </a:r>
            <a:endParaRPr lang="en-US" sz="900" dirty="0"/>
          </a:p>
        </p:txBody>
      </p:sp>
      <p:sp>
        <p:nvSpPr>
          <p:cNvPr id="32" name="fraction Netherlands"/>
          <p:cNvSpPr txBox="1"/>
          <p:nvPr/>
        </p:nvSpPr>
        <p:spPr>
          <a:xfrm>
            <a:off x="3424428" y="368960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7360920" y="368960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9.1%</a:t>
            </a:r>
            <a:endParaRPr lang="en-US" sz="850" dirty="0"/>
          </a:p>
        </p:txBody>
      </p:sp>
      <p:sp>
        <p:nvSpPr>
          <p:cNvPr id="34" name="Text 31"/>
          <p:cNvSpPr txBox="1"/>
          <p:nvPr/>
        </p:nvSpPr>
        <p:spPr>
          <a:xfrm>
            <a:off x="640080" y="3913632"/>
            <a:ext cx="1691640" cy="224028"/>
          </a:xfrm>
          <a:prstGeom prst="rect">
            <a:avLst/>
          </a:prstGeom>
          <a:noFill/>
          <a:ln/>
        </p:spPr>
        <p:txBody>
          <a:bodyPr wrap="square" lIns="0" tIns="0" rIns="0" bIns="0" rtlCol="0" anchor="ctr"/>
          <a:lstStyle/>
          <a:p>
            <a:pPr indent="0" marL="0">
              <a:buNone/>
            </a:pPr>
            <a:r>
              <a:rPr lang="en-US" sz="900" dirty="0">
                <a:solidFill>
                  <a:schemeClr val="tx1"/>
                </a:solidFill>
              </a:rPr>
              <a:t>Australia</a:t>
            </a:r>
            <a:endParaRPr lang="en-US" sz="900" dirty="0"/>
          </a:p>
        </p:txBody>
      </p:sp>
      <p:sp>
        <p:nvSpPr>
          <p:cNvPr id="35" name="fraction Australia"/>
          <p:cNvSpPr txBox="1"/>
          <p:nvPr/>
        </p:nvSpPr>
        <p:spPr>
          <a:xfrm>
            <a:off x="3203992" y="391363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7360920" y="391363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7.1%</a:t>
            </a:r>
            <a:endParaRPr lang="en-US" sz="850" dirty="0"/>
          </a:p>
        </p:txBody>
      </p:sp>
      <p:sp>
        <p:nvSpPr>
          <p:cNvPr id="37" name="Text 34"/>
          <p:cNvSpPr txBox="1"/>
          <p:nvPr/>
        </p:nvSpPr>
        <p:spPr>
          <a:xfrm>
            <a:off x="640080" y="4137660"/>
            <a:ext cx="1691640" cy="224028"/>
          </a:xfrm>
          <a:prstGeom prst="rect">
            <a:avLst/>
          </a:prstGeom>
          <a:noFill/>
          <a:ln/>
        </p:spPr>
        <p:txBody>
          <a:bodyPr wrap="square" lIns="0" tIns="0" rIns="0" bIns="0" rtlCol="0" anchor="ctr"/>
          <a:lstStyle/>
          <a:p>
            <a:pPr indent="0" marL="0">
              <a:buNone/>
            </a:pPr>
            <a:r>
              <a:rPr lang="en-US" sz="900" dirty="0">
                <a:solidFill>
                  <a:schemeClr val="tx1"/>
                </a:solidFill>
              </a:rPr>
              <a:t>South Korea</a:t>
            </a:r>
            <a:endParaRPr lang="en-US" sz="900" dirty="0"/>
          </a:p>
        </p:txBody>
      </p:sp>
      <p:sp>
        <p:nvSpPr>
          <p:cNvPr id="38" name="fraction South Korea"/>
          <p:cNvSpPr txBox="1"/>
          <p:nvPr/>
        </p:nvSpPr>
        <p:spPr>
          <a:xfrm>
            <a:off x="3061357" y="413766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7360920" y="413766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5.9%</a:t>
            </a:r>
            <a:endParaRPr lang="en-US" sz="850" dirty="0"/>
          </a:p>
        </p:txBody>
      </p:sp>
      <p:sp>
        <p:nvSpPr>
          <p:cNvPr id="40" name="Text 37"/>
          <p:cNvSpPr txBox="1"/>
          <p:nvPr/>
        </p:nvSpPr>
        <p:spPr>
          <a:xfrm>
            <a:off x="640080" y="4361688"/>
            <a:ext cx="1691640" cy="224028"/>
          </a:xfrm>
          <a:prstGeom prst="rect">
            <a:avLst/>
          </a:prstGeom>
          <a:noFill/>
          <a:ln/>
        </p:spPr>
        <p:txBody>
          <a:bodyPr wrap="square" lIns="0" tIns="0" rIns="0" bIns="0" rtlCol="0" anchor="ctr"/>
          <a:lstStyle/>
          <a:p>
            <a:pPr indent="0" marL="0">
              <a:buNone/>
            </a:pPr>
            <a:r>
              <a:rPr lang="en-US" sz="900" dirty="0">
                <a:solidFill>
                  <a:schemeClr val="tx1"/>
                </a:solidFill>
              </a:rPr>
              <a:t>Belgium</a:t>
            </a:r>
            <a:endParaRPr lang="en-US" sz="900" dirty="0"/>
          </a:p>
        </p:txBody>
      </p:sp>
      <p:sp>
        <p:nvSpPr>
          <p:cNvPr id="41" name="fraction Belgium"/>
          <p:cNvSpPr txBox="1"/>
          <p:nvPr/>
        </p:nvSpPr>
        <p:spPr>
          <a:xfrm>
            <a:off x="3024378" y="436168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7360920" y="436168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3" name="Text 40"/>
          <p:cNvSpPr txBox="1"/>
          <p:nvPr/>
        </p:nvSpPr>
        <p:spPr>
          <a:xfrm>
            <a:off x="640080" y="4585716"/>
            <a:ext cx="1691640" cy="224028"/>
          </a:xfrm>
          <a:prstGeom prst="rect">
            <a:avLst/>
          </a:prstGeom>
          <a:noFill/>
          <a:ln/>
        </p:spPr>
        <p:txBody>
          <a:bodyPr wrap="square" lIns="0" tIns="0" rIns="0" bIns="0" rtlCol="0" anchor="ctr"/>
          <a:lstStyle/>
          <a:p>
            <a:pPr indent="0" marL="0">
              <a:buNone/>
            </a:pPr>
            <a:r>
              <a:rPr lang="en-US" sz="900" dirty="0">
                <a:solidFill>
                  <a:schemeClr val="tx1"/>
                </a:solidFill>
              </a:rPr>
              <a:t>United Kingdom</a:t>
            </a:r>
            <a:endParaRPr lang="en-US" sz="900" dirty="0"/>
          </a:p>
        </p:txBody>
      </p:sp>
      <p:sp>
        <p:nvSpPr>
          <p:cNvPr id="44" name="fraction United Kingdom"/>
          <p:cNvSpPr txBox="1"/>
          <p:nvPr/>
        </p:nvSpPr>
        <p:spPr>
          <a:xfrm>
            <a:off x="3024378" y="458571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7360920" y="458571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6" name="Text 43"/>
          <p:cNvSpPr txBox="1"/>
          <p:nvPr/>
        </p:nvSpPr>
        <p:spPr>
          <a:xfrm>
            <a:off x="640080" y="4809744"/>
            <a:ext cx="1691640" cy="224028"/>
          </a:xfrm>
          <a:prstGeom prst="rect">
            <a:avLst/>
          </a:prstGeom>
          <a:noFill/>
          <a:ln/>
        </p:spPr>
        <p:txBody>
          <a:bodyPr wrap="square" lIns="0" tIns="0" rIns="0" bIns="0" rtlCol="0" anchor="ctr"/>
          <a:lstStyle/>
          <a:p>
            <a:pPr indent="0" marL="0">
              <a:buNone/>
            </a:pPr>
            <a:r>
              <a:rPr lang="en-US" sz="900" dirty="0">
                <a:solidFill>
                  <a:schemeClr val="tx1"/>
                </a:solidFill>
              </a:rPr>
              <a:t>Canada</a:t>
            </a:r>
            <a:endParaRPr lang="en-US" sz="900" dirty="0"/>
          </a:p>
        </p:txBody>
      </p:sp>
      <p:sp>
        <p:nvSpPr>
          <p:cNvPr id="47" name="fraction Canada"/>
          <p:cNvSpPr txBox="1"/>
          <p:nvPr/>
        </p:nvSpPr>
        <p:spPr>
          <a:xfrm>
            <a:off x="2395728" y="480974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7360920" y="480974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49" name="Text 46"/>
          <p:cNvSpPr txBox="1"/>
          <p:nvPr/>
        </p:nvSpPr>
        <p:spPr>
          <a:xfrm>
            <a:off x="640080" y="5033772"/>
            <a:ext cx="1691640" cy="224028"/>
          </a:xfrm>
          <a:prstGeom prst="rect">
            <a:avLst/>
          </a:prstGeom>
          <a:noFill/>
          <a:ln/>
        </p:spPr>
        <p:txBody>
          <a:bodyPr wrap="square" lIns="0" tIns="0" rIns="0" bIns="0" rtlCol="0" anchor="ctr"/>
          <a:lstStyle/>
          <a:p>
            <a:pPr indent="0" marL="0">
              <a:buNone/>
            </a:pPr>
            <a:r>
              <a:rPr lang="en-US" sz="900" dirty="0">
                <a:solidFill>
                  <a:schemeClr val="tx1"/>
                </a:solidFill>
              </a:rPr>
              <a:t>Germany</a:t>
            </a:r>
            <a:endParaRPr lang="en-US" sz="900" dirty="0"/>
          </a:p>
        </p:txBody>
      </p:sp>
      <p:sp>
        <p:nvSpPr>
          <p:cNvPr id="50" name="fraction Germany"/>
          <p:cNvSpPr txBox="1"/>
          <p:nvPr/>
        </p:nvSpPr>
        <p:spPr>
          <a:xfrm>
            <a:off x="2395728" y="503377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7360920" y="503377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2" name="Text 49"/>
          <p:cNvSpPr txBox="1"/>
          <p:nvPr/>
        </p:nvSpPr>
        <p:spPr>
          <a:xfrm>
            <a:off x="640080" y="5257800"/>
            <a:ext cx="1691640" cy="224028"/>
          </a:xfrm>
          <a:prstGeom prst="rect">
            <a:avLst/>
          </a:prstGeom>
          <a:noFill/>
          <a:ln/>
        </p:spPr>
        <p:txBody>
          <a:bodyPr wrap="square" lIns="0" tIns="0" rIns="0" bIns="0" rtlCol="0" anchor="ctr"/>
          <a:lstStyle/>
          <a:p>
            <a:pPr indent="0" marL="0">
              <a:buNone/>
            </a:pPr>
            <a:r>
              <a:rPr lang="en-US" sz="900" dirty="0">
                <a:solidFill>
                  <a:schemeClr val="tx1"/>
                </a:solidFill>
              </a:rPr>
              <a:t>Japan</a:t>
            </a:r>
            <a:endParaRPr lang="en-US" sz="900" dirty="0"/>
          </a:p>
        </p:txBody>
      </p:sp>
      <p:sp>
        <p:nvSpPr>
          <p:cNvPr id="53" name="fraction Japan"/>
          <p:cNvSpPr txBox="1"/>
          <p:nvPr/>
        </p:nvSpPr>
        <p:spPr>
          <a:xfrm>
            <a:off x="2395728" y="525780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7360920" y="525780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5" name="how to read card"/>
          <p:cNvSpPr/>
          <p:nvPr/>
        </p:nvSpPr>
        <p:spPr>
          <a:xfrm>
            <a:off x="8412480" y="1481328"/>
            <a:ext cx="3227832"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618488"/>
            <a:ext cx="28254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HOW TO READ THE COMPARISON</a:t>
            </a:r>
            <a:endParaRPr lang="en-US" sz="1000" dirty="0"/>
          </a:p>
        </p:txBody>
      </p:sp>
      <p:sp>
        <p:nvSpPr>
          <p:cNvPr id="57" name="Text 54"/>
          <p:cNvSpPr txBox="1"/>
          <p:nvPr/>
        </p:nvSpPr>
        <p:spPr>
          <a:xfrm>
            <a:off x="8613648" y="1883664"/>
            <a:ext cx="2825496" cy="2011680"/>
          </a:xfrm>
          <a:prstGeom prst="rect">
            <a:avLst/>
          </a:prstGeom>
          <a:noFill/>
          <a:ln/>
        </p:spPr>
        <p:txBody>
          <a:bodyPr wrap="square" lIns="0" tIns="0" rIns="0" bIns="0" rtlCol="0" anchor="t"/>
          <a:lstStyle/>
          <a:p>
            <a:pPr indent="0" marL="0">
              <a:buNone/>
            </a:pPr>
            <a:r>
              <a:rPr lang="en-US" sz="950" dirty="0">
                <a:solidFill>
                  <a:schemeClr val="tx1"/>
                </a:solidFill>
              </a:rPr>
              <a:t>Each bar represents distinct company groups publicly marketing at least one qualifying conversational offering divided by distinct direct or specialized/partial competitor groups comparable in at least one of the five decision workflows. Count each group once per screen. International numerators and denominators exclude companies already represented in the qualifying U.S. chat inventory.</a:t>
            </a:r>
            <a:endParaRPr lang="en-US" sz="950" dirty="0"/>
          </a:p>
        </p:txBody>
      </p:sp>
      <p:sp>
        <p:nvSpPr>
          <p:cNvPr id="58" name="next card"/>
          <p:cNvSpPr/>
          <p:nvPr/>
        </p:nvSpPr>
        <p:spPr>
          <a:xfrm>
            <a:off x="8412480" y="4133088"/>
            <a:ext cx="3227832" cy="170078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79392"/>
            <a:ext cx="365760" cy="365760"/>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694115" y="4359859"/>
            <a:ext cx="204826" cy="204826"/>
          </a:xfrm>
          <a:prstGeom prst="rect">
            <a:avLst/>
          </a:prstGeom>
        </p:spPr>
      </p:pic>
      <p:sp>
        <p:nvSpPr>
          <p:cNvPr id="61" name="label"/>
          <p:cNvSpPr txBox="1"/>
          <p:nvPr/>
        </p:nvSpPr>
        <p:spPr>
          <a:xfrm>
            <a:off x="9098280" y="4261104"/>
            <a:ext cx="2359152" cy="402336"/>
          </a:xfrm>
          <a:prstGeom prst="rect">
            <a:avLst/>
          </a:prstGeom>
          <a:noFill/>
          <a:ln/>
        </p:spPr>
        <p:txBody>
          <a:bodyPr wrap="square" lIns="0" tIns="0" rIns="0" bIns="0" rtlCol="0" anchor="ctr"/>
          <a:lstStyle/>
          <a:p>
            <a:pPr indent="0" marL="0">
              <a:buNone/>
            </a:pPr>
            <a:r>
              <a:rPr lang="en-US" sz="1000" b="1" spc="100" kern="0" dirty="0">
                <a:solidFill>
                  <a:schemeClr val="accent2"/>
                </a:solidFill>
              </a:rPr>
              <a:t>NEXT: FROM COMPANY SCREENS TO THE ACTUAL PRODUCTS</a:t>
            </a:r>
            <a:endParaRPr lang="en-US" sz="1000" dirty="0"/>
          </a:p>
        </p:txBody>
      </p:sp>
      <p:sp>
        <p:nvSpPr>
          <p:cNvPr id="62" name="Text 58"/>
          <p:cNvSpPr txBox="1"/>
          <p:nvPr/>
        </p:nvSpPr>
        <p:spPr>
          <a:xfrm>
            <a:off x="8613648" y="4754880"/>
            <a:ext cx="2825496" cy="1005840"/>
          </a:xfrm>
          <a:prstGeom prst="rect">
            <a:avLst/>
          </a:prstGeom>
          <a:noFill/>
          <a:ln/>
        </p:spPr>
        <p:txBody>
          <a:bodyPr wrap="square" lIns="0" tIns="0" rIns="0" bIns="0" rtlCol="0" anchor="t"/>
          <a:lstStyle/>
          <a:p>
            <a:pPr indent="0" marL="0">
              <a:buNone/>
            </a:pPr>
            <a:r>
              <a:rPr lang="en-US" sz="950" dirty="0">
                <a:solidFill>
                  <a:schemeClr val="tx1"/>
                </a:solidFill>
              </a:rPr>
              <a:t>The following slides examine the specific marketed conversational tools and corresponding Optum Life Sciences offerings, beginning with RWE dataset assessment, cohort exploration and research analysis.</a:t>
            </a:r>
            <a:endParaRPr lang="en-US" sz="9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 datasets, explore cohorts and answer RWE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RWE DATA ACCESS AND ANALYSIS — COMPETITIVE EXAMPLES</a:t>
            </a:r>
            <a:endParaRPr lang="en-US" sz="10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Identify and assess 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algn="l" indent="0" marL="0">
                        <a:buNone/>
                      </a:pPr>
                      <a:r>
                        <a:rPr lang="en-US" sz="1050" b="1" dirty="0">
                          <a:solidFill>
                            <a:schemeClr val="accent1"/>
                          </a:solidFill>
                        </a:rPr>
                        <a:t>Explore patient 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79323">
                <a:tc>
                  <a:txBody>
                    <a:bodyPr/>
                    <a:lstStyle/>
                    <a:p>
                      <a:pPr algn="l" indent="0" marL="0">
                        <a:buNone/>
                      </a:pPr>
                      <a:r>
                        <a:rPr lang="en-US" sz="1050" b="1" dirty="0">
                          <a:solidFill>
                            <a:schemeClr val="accent1"/>
                          </a:solidFill>
                        </a:rPr>
                        <a:t>Investigate broader 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b="1" dirty="0">
                          <a:solidFill>
                            <a:schemeClr val="accent2"/>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20464"/>
            <a:ext cx="11091672" cy="143052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57624"/>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59376"/>
            <a:ext cx="10689336" cy="945896"/>
          </a:xfrm>
          <a:prstGeom prst="rect">
            <a:avLst/>
          </a:prstGeom>
          <a:noFill/>
          <a:ln/>
        </p:spPr>
        <p:txBody>
          <a:bodyPr wrap="square" lIns="0" tIns="0" rIns="0" bIns="0" rtlCol="0" anchor="t"/>
          <a:lstStyle/>
          <a:p>
            <a:pPr indent="0" marL="0">
              <a:buNone/>
            </a:pPr>
            <a:r>
              <a:rPr lang="en-US" sz="1100"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 research and more narrowly defined evidence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 COMPETITIVE EXAMPLES</a:t>
            </a:r>
            <a:endParaRPr lang="en-US" sz="10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Explore oncology and 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algn="l" indent="0" marL="0">
                        <a:buNone/>
                      </a:pPr>
                      <a:r>
                        <a:rPr lang="en-US" sz="1050" b="1" dirty="0">
                          <a:solidFill>
                            <a:schemeClr val="accent1"/>
                          </a:solidFill>
                        </a:rPr>
                        <a:t>Investigate specialty-disease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39242">
                <a:tc>
                  <a:txBody>
                    <a:bodyPr/>
                    <a:lstStyle/>
                    <a:p>
                      <a:pPr algn="l" indent="0" marL="0">
                        <a:buNone/>
                      </a:pPr>
                      <a:r>
                        <a:rPr lang="en-US" sz="1050" b="1" dirty="0">
                          <a:solidFill>
                            <a:schemeClr val="accent1"/>
                          </a:solidFill>
                        </a:rPr>
                        <a:t>Analyze curated 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where does conversational analysis end and scientific evidence generation begin? card"/>
          <p:cNvSpPr/>
          <p:nvPr/>
        </p:nvSpPr>
        <p:spPr>
          <a:xfrm>
            <a:off x="548640"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217543"/>
            <a:ext cx="5052060" cy="402336"/>
          </a:xfrm>
          <a:prstGeom prst="rect">
            <a:avLst/>
          </a:prstGeom>
          <a:noFill/>
          <a:ln/>
        </p:spPr>
        <p:txBody>
          <a:bodyPr wrap="square" lIns="0" tIns="0" rIns="0" bIns="0" rtlCol="0" anchor="t"/>
          <a:lstStyle/>
          <a:p>
            <a:pPr indent="0" marL="0">
              <a:buNone/>
            </a:pPr>
            <a:r>
              <a:rPr lang="en-US" sz="1000" b="1" spc="100" kern="0" dirty="0">
                <a:solidFill>
                  <a:schemeClr val="accent2"/>
                </a:solidFill>
              </a:rPr>
              <a:t>WHERE DOES CONVERSATIONAL ANALYSIS END AND SCIENTIFIC EVIDENCE GENERATION BEGIN?</a:t>
            </a:r>
            <a:endParaRPr lang="en-US" sz="1000" dirty="0"/>
          </a:p>
        </p:txBody>
      </p:sp>
      <p:sp>
        <p:nvSpPr>
          <p:cNvPr id="18" name="Text 15"/>
          <p:cNvSpPr txBox="1"/>
          <p:nvPr/>
        </p:nvSpPr>
        <p:spPr>
          <a:xfrm>
            <a:off x="749808" y="4702175"/>
            <a:ext cx="5052060" cy="903097"/>
          </a:xfrm>
          <a:prstGeom prst="rect">
            <a:avLst/>
          </a:prstGeom>
          <a:noFill/>
          <a:ln/>
        </p:spPr>
        <p:txBody>
          <a:bodyPr wrap="square" lIns="0" tIns="0" rIns="0" bIns="0" rtlCol="0" anchor="t"/>
          <a:lstStyle/>
          <a:p>
            <a:pPr indent="0" marL="0">
              <a:buNone/>
            </a:pPr>
            <a:r>
              <a:rPr lang="en-US" sz="1100" dirty="0">
                <a:solidFill>
                  <a:schemeClr val="tx1"/>
                </a:solidFill>
              </a:rPr>
              <a:t>Optum also markets epidemiology studies and Evidence Engine services. The conversational products above are not automatically equivalent to those scientific services.</a:t>
            </a:r>
            <a:endParaRPr lang="en-US" sz="1100" dirty="0"/>
          </a:p>
        </p:txBody>
      </p:sp>
      <p:sp>
        <p:nvSpPr>
          <p:cNvPr id="19" name="questions for comparison card"/>
          <p:cNvSpPr/>
          <p:nvPr/>
        </p:nvSpPr>
        <p:spPr>
          <a:xfrm>
            <a:off x="6185916"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217543"/>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21" name="Text 18"/>
          <p:cNvSpPr txBox="1"/>
          <p:nvPr/>
        </p:nvSpPr>
        <p:spPr>
          <a:xfrm>
            <a:off x="6387084" y="4519295"/>
            <a:ext cx="5052060" cy="1085977"/>
          </a:xfrm>
          <a:prstGeom prst="rect">
            <a:avLst/>
          </a:prstGeom>
          <a:noFill/>
          <a:ln/>
        </p:spPr>
        <p:txBody>
          <a:bodyPr wrap="square" lIns="0" tIns="0" rIns="0" bIns="0" rtlCol="0" anchor="t"/>
          <a:lstStyle/>
          <a:p>
            <a:pPr indent="0" marL="0">
              <a:buNone/>
            </a:pPr>
            <a:r>
              <a:rPr lang="en-US" sz="1100"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100" dirty="0"/>
          </a:p>
        </p:txBody>
      </p:sp>
      <p:sp>
        <p:nvSpPr>
          <p:cNvPr id="22"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1"/>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AI products extend conversational interaction into market intelligence, field decisions and simulated stakeholder research</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COMMERCIAL INTELLIGENCE — COMPETITIVE EXAMPLES</a:t>
            </a:r>
            <a:endParaRPr lang="en-US" sz="10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220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220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5247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beyond the public evidence card"/>
          <p:cNvSpPr/>
          <p:nvPr/>
        </p:nvSpPr>
        <p:spPr>
          <a:xfrm>
            <a:off x="548640" y="4689729"/>
            <a:ext cx="5454396" cy="103441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781169"/>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18" name="Text 15"/>
          <p:cNvSpPr txBox="1"/>
          <p:nvPr/>
        </p:nvSpPr>
        <p:spPr>
          <a:xfrm>
            <a:off x="749808" y="5018913"/>
            <a:ext cx="5052060" cy="659511"/>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9" name="transition to other workflows card"/>
          <p:cNvSpPr/>
          <p:nvPr/>
        </p:nvSpPr>
        <p:spPr>
          <a:xfrm>
            <a:off x="6185916" y="4689729"/>
            <a:ext cx="5454396" cy="103441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781169"/>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TRANSITION TO OTHER WORKFLOWS</a:t>
            </a:r>
            <a:endParaRPr lang="en-US" sz="1000" dirty="0"/>
          </a:p>
        </p:txBody>
      </p:sp>
      <p:sp>
        <p:nvSpPr>
          <p:cNvPr id="21" name="Text 18"/>
          <p:cNvSpPr txBox="1"/>
          <p:nvPr/>
        </p:nvSpPr>
        <p:spPr>
          <a:xfrm>
            <a:off x="6387084" y="5018913"/>
            <a:ext cx="5052060" cy="659511"/>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2" name="evidence boundary"/>
          <p:cNvSpPr txBox="1"/>
          <p:nvPr/>
        </p:nvSpPr>
        <p:spPr>
          <a:xfrm>
            <a:off x="548640" y="5815584"/>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1"/>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 medical insights and regulated content workflows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SCREEN: 3 COMPANIES | 3 QUALIFYING OFFERINGS</a:t>
            </a:r>
            <a:endParaRPr lang="en-US" sz="10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Search and synthesize 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26516">
                <a:tc>
                  <a:txBody>
                    <a:bodyPr/>
                    <a:lstStyle/>
                    <a:p>
                      <a:pPr algn="l" indent="0" marL="0">
                        <a:buNone/>
                      </a:pPr>
                      <a:r>
                        <a:rPr lang="en-US" sz="1050" b="1" dirty="0">
                          <a:solidFill>
                            <a:schemeClr val="accent1"/>
                          </a:solidFill>
                        </a:rPr>
                        <a:t>Explore medical insights and 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b="1" dirty="0">
                          <a:solidFill>
                            <a:schemeClr val="accent2"/>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l" indent="0" marL="0">
                        <a:buNone/>
                      </a:pPr>
                      <a:r>
                        <a:rPr lang="en-US" sz="1050" b="1" dirty="0">
                          <a:solidFill>
                            <a:schemeClr val="accent1"/>
                          </a:solidFill>
                        </a:rPr>
                        <a:t>Question and navigate 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57929"/>
            <a:ext cx="11091672" cy="1393063"/>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95089"/>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96841"/>
            <a:ext cx="10689336" cy="908431"/>
          </a:xfrm>
          <a:prstGeom prst="rect">
            <a:avLst/>
          </a:prstGeom>
          <a:noFill/>
          <a:ln/>
        </p:spPr>
        <p:txBody>
          <a:bodyPr wrap="square" lIns="0" tIns="0" rIns="0" bIns="0" rtlCol="0" anchor="t"/>
          <a:lstStyle/>
          <a:p>
            <a:pPr indent="0" marL="0">
              <a:buNone/>
            </a:pPr>
            <a:r>
              <a:rPr lang="en-US" sz="1100"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1"/>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1"/>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TWO DISTINCT WORKFLOWS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l"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l"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539242">
                <a:tc>
                  <a:txBody>
                    <a:bodyPr/>
                    <a:lstStyle/>
                    <a:p>
                      <a:pPr algn="l"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3970655"/>
            <a:ext cx="11091672" cy="168033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107815"/>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409567"/>
            <a:ext cx="10689336" cy="1195705"/>
          </a:xfrm>
          <a:prstGeom prst="rect">
            <a:avLst/>
          </a:prstGeom>
          <a:noFill/>
          <a:ln/>
        </p:spPr>
        <p:txBody>
          <a:bodyPr wrap="square" lIns="0" tIns="0" rIns="0" bIns="0" rtlCol="0" anchor="t"/>
          <a:lstStyle/>
          <a:p>
            <a:pPr indent="0" marL="0">
              <a:buNone/>
            </a:pPr>
            <a:r>
              <a:rPr lang="en-US" sz="1100" dirty="0">
                <a:solidFill>
                  <a:schemeClr val="tx1"/>
                </a:solidFill>
              </a:rPr>
              <a:t>For trials, does the interface help identify viable sites, evaluate patients or manage trial documents—and how far does it go?</a:t>
            </a:r>
            <a:endParaRPr lang="en-US" sz="1100" dirty="0"/>
          </a:p>
          <a:p>
            <a:pPr indent="0" marL="0">
              <a:spcBef>
                <a:spcPts val="600"/>
              </a:spcBef>
              <a:buNone/>
            </a:pPr>
            <a:r>
              <a:rPr lang="en-US" sz="1100"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AI technology providers are expanding into pharmaceutical workflows through partnerships, specialized offerings and acquisitions</a:t>
            </a:r>
            <a:endParaRPr lang="en-US" sz="2200" dirty="0"/>
          </a:p>
        </p:txBody>
      </p:sp>
      <p:sp>
        <p:nvSpPr>
          <p:cNvPr id="4" name="label"/>
          <p:cNvSpPr txBox="1"/>
          <p:nvPr/>
        </p:nvSpPr>
        <p:spPr>
          <a:xfrm>
            <a:off x="548640" y="141732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A SECOND COMPETITIVE DYNAMIC</a:t>
            </a:r>
            <a:endParaRPr lang="en-US" sz="1000" dirty="0"/>
          </a:p>
        </p:txBody>
      </p:sp>
      <p:sp>
        <p:nvSpPr>
          <p:cNvPr id="5" name="Text 3"/>
          <p:cNvSpPr txBox="1"/>
          <p:nvPr/>
        </p:nvSpPr>
        <p:spPr>
          <a:xfrm>
            <a:off x="548640" y="1645920"/>
            <a:ext cx="11091672" cy="365760"/>
          </a:xfrm>
          <a:prstGeom prst="rect">
            <a:avLst/>
          </a:prstGeom>
          <a:noFill/>
          <a:ln/>
        </p:spPr>
        <p:txBody>
          <a:bodyPr wrap="square" lIns="0" tIns="0" rIns="0" bIns="0" rtlCol="0" anchor="t"/>
          <a:lstStyle/>
          <a:p>
            <a:pPr indent="0" marL="0">
              <a:buNone/>
            </a:pPr>
            <a:r>
              <a:rPr lang="en-US" sz="1000" dirty="0">
                <a:solidFill>
                  <a:schemeClr val="tx1"/>
                </a:solidFill>
              </a:rPr>
              <a:t>The preceding slides examine conversational AI products marketed by established life-sciences data, technology and services companies. At the same time, AI model and infrastructure providers are pursuing life-sciences customers through several distinct approaches—some complementary to incumbent platforms, others potentially competitive.</a:t>
            </a:r>
            <a:endParaRPr lang="en-US" sz="1000" dirty="0"/>
          </a:p>
        </p:txBody>
      </p:sp>
      <p:sp>
        <p:nvSpPr>
          <p:cNvPr id="6" name="label"/>
          <p:cNvSpPr txBox="1"/>
          <p:nvPr/>
        </p:nvSpPr>
        <p:spPr>
          <a:xfrm>
            <a:off x="548640" y="208483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313432"/>
          <a:ext cx="11091672" cy="914400"/>
        </p:xfrm>
        <a:graphic>
          <a:graphicData uri="http://schemas.openxmlformats.org/drawingml/2006/table">
            <a:tbl>
              <a:tblPr/>
              <a:tblGrid>
                <a:gridCol w="1737360"/>
                <a:gridCol w="5349240"/>
                <a:gridCol w="4005072"/>
              </a:tblGrid>
              <a:tr h="329184">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LIFE SCIENCES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8" name="strategic question card"/>
          <p:cNvSpPr/>
          <p:nvPr/>
        </p:nvSpPr>
        <p:spPr>
          <a:xfrm>
            <a:off x="548640" y="5241798"/>
            <a:ext cx="11091672" cy="88468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9" name="icon circle"/>
          <p:cNvSpPr/>
          <p:nvPr/>
        </p:nvSpPr>
        <p:spPr>
          <a:xfrm>
            <a:off x="731520" y="5492115"/>
            <a:ext cx="384048" cy="384048"/>
          </a:xfrm>
          <a:prstGeom prst="ellipse">
            <a:avLst/>
          </a:prstGeom>
          <a:solidFill>
            <a:schemeClr val="accent5"/>
          </a:solidFill>
          <a:ln/>
        </p:spPr>
      </p:sp>
      <p:pic>
        <p:nvPicPr>
          <p:cNvPr id="10" name="icon MdOutlineLightbulb" descr="preencoded.png">    </p:cNvPr>
          <p:cNvPicPr>
            <a:picLocks noChangeAspect="1"/>
          </p:cNvPicPr>
          <p:nvPr/>
        </p:nvPicPr>
        <p:blipFill>
          <a:blip r:embed="rId1"/>
          <a:stretch>
            <a:fillRect/>
          </a:stretch>
        </p:blipFill>
        <p:spPr>
          <a:xfrm>
            <a:off x="816011" y="5576606"/>
            <a:ext cx="215067" cy="215067"/>
          </a:xfrm>
          <a:prstGeom prst="rect">
            <a:avLst/>
          </a:prstGeom>
        </p:spPr>
      </p:pic>
      <p:sp>
        <p:nvSpPr>
          <p:cNvPr id="11" name="label"/>
          <p:cNvSpPr txBox="1"/>
          <p:nvPr/>
        </p:nvSpPr>
        <p:spPr>
          <a:xfrm>
            <a:off x="1234440" y="5333238"/>
            <a:ext cx="1280160" cy="701802"/>
          </a:xfrm>
          <a:prstGeom prst="rect">
            <a:avLst/>
          </a:prstGeom>
          <a:noFill/>
          <a:ln/>
        </p:spPr>
        <p:txBody>
          <a:bodyPr wrap="square" lIns="0" tIns="0" rIns="0" bIns="0" rtlCol="0" anchor="ctr"/>
          <a:lstStyle/>
          <a:p>
            <a:pPr indent="0" marL="0">
              <a:buNone/>
            </a:pPr>
            <a:r>
              <a:rPr lang="en-US" sz="850" b="1" spc="100" kern="0" dirty="0">
                <a:solidFill>
                  <a:schemeClr val="accent2"/>
                </a:solidFill>
              </a:rPr>
              <a:t>THE STRATEGIC QUESTION FOR OPTUM LIFE SCIENCES</a:t>
            </a:r>
            <a:endParaRPr lang="en-US" sz="850" dirty="0"/>
          </a:p>
        </p:txBody>
      </p:sp>
      <p:sp>
        <p:nvSpPr>
          <p:cNvPr id="12" name="Text 8"/>
          <p:cNvSpPr txBox="1"/>
          <p:nvPr/>
        </p:nvSpPr>
        <p:spPr>
          <a:xfrm>
            <a:off x="2651760" y="5314950"/>
            <a:ext cx="8805672" cy="738378"/>
          </a:xfrm>
          <a:prstGeom prst="rect">
            <a:avLst/>
          </a:prstGeom>
          <a:noFill/>
          <a:ln/>
        </p:spPr>
        <p:txBody>
          <a:bodyPr wrap="square" lIns="0" tIns="0" rIns="0" bIns="0" rtlCol="0" anchor="ctr"/>
          <a:lstStyle/>
          <a:p>
            <a:pPr indent="0" marL="0">
              <a:buNone/>
            </a:pPr>
            <a:r>
              <a:rPr lang="en-US" sz="1050" b="1" dirty="0">
                <a:solidFill>
                  <a:schemeClr val="accent1"/>
                </a:solidFill>
              </a:rPr>
              <a:t>As AI providers expand beyond supplying general-purpose models, where will they remain technology partners to established life-sciences vendors—and where might they increasingly compete for the same pharmaceutical customers and workflows?</a:t>
            </a:r>
            <a:endParaRPr lang="en-US" sz="1050" dirty="0"/>
          </a:p>
          <a:p>
            <a:pPr indent="0" marL="0">
              <a:spcBef>
                <a:spcPts val="600"/>
              </a:spcBef>
              <a:buNone/>
            </a:pPr>
            <a:r>
              <a:rPr lang="en-US" sz="1050" b="1" dirty="0">
                <a:solidFill>
                  <a:schemeClr val="accent1"/>
                </a:solidFill>
              </a:rPr>
              <a:t>What could these developments mean for the competitive positions of companies whose offerings combine differentiated healthcare data, research tools and scientific expertise?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3 — methodology note"/>
          <p:cNvSpPr/>
          <p:nvPr/>
        </p:nvSpPr>
        <p:spPr>
          <a:xfrm>
            <a:off x="548640"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77240"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5" name="Text 3"/>
          <p:cNvSpPr txBox="1"/>
          <p:nvPr/>
        </p:nvSpPr>
        <p:spPr>
          <a:xfrm>
            <a:off x="777240"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Comparable competitors include </a:t>
            </a:r>
            <a:pPr indent="0" marL="0">
              <a:buNone/>
            </a:pPr>
            <a:r>
              <a:rPr lang="en-US" sz="1050" b="1" dirty="0">
                <a:solidFill>
                  <a:schemeClr val="tx1"/>
                </a:solidFill>
              </a:rPr>
              <a:t>direct and specialized/partial offering-level competitors</a:t>
            </a:r>
            <a:pPr indent="0" marL="0">
              <a:buNone/>
            </a:pPr>
            <a:r>
              <a:rPr lang="en-US" sz="105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50" i="1" dirty="0">
                <a:solidFill>
                  <a:schemeClr val="tx1"/>
                </a:solidFill>
              </a:rPr>
              <a:t>not publicly established in this review</a:t>
            </a:r>
            <a:pPr indent="0" marL="0">
              <a:buNone/>
            </a:pPr>
            <a:r>
              <a:rPr lang="en-US" sz="1050" dirty="0">
                <a:solidFill>
                  <a:schemeClr val="tx1"/>
                </a:solidFill>
              </a:rPr>
              <a:t>, not that the capability is absent. These are selected screened companies, not market-wide adoption rates.</a:t>
            </a:r>
            <a:endParaRPr lang="en-US" sz="1050" dirty="0"/>
          </a:p>
        </p:txBody>
      </p:sp>
      <p:sp>
        <p:nvSpPr>
          <p:cNvPr id="6" name="slide 4 — india reconciliation"/>
          <p:cNvSpPr/>
          <p:nvPr/>
        </p:nvSpPr>
        <p:spPr>
          <a:xfrm>
            <a:off x="6185916"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6414516"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8" name="Text 6"/>
          <p:cNvSpPr txBox="1"/>
          <p:nvPr/>
        </p:nvSpPr>
        <p:spPr>
          <a:xfrm>
            <a:off x="6414516"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50" dirty="0"/>
          </a:p>
        </p:txBody>
      </p:sp>
      <p:sp>
        <p:nvSpPr>
          <p:cNvPr id="9" name="slide 4 — evidence boundary"/>
          <p:cNvSpPr/>
          <p:nvPr/>
        </p:nvSpPr>
        <p:spPr>
          <a:xfrm>
            <a:off x="548640"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777240"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1" name="Text 9"/>
          <p:cNvSpPr txBox="1"/>
          <p:nvPr/>
        </p:nvSpPr>
        <p:spPr>
          <a:xfrm>
            <a:off x="777240" y="4023360"/>
            <a:ext cx="4997196" cy="1874520"/>
          </a:xfrm>
          <a:prstGeom prst="rect">
            <a:avLst/>
          </a:prstGeom>
          <a:noFill/>
          <a:ln/>
        </p:spPr>
        <p:txBody>
          <a:bodyPr wrap="square" lIns="0" tIns="0" rIns="0" bIns="0" rtlCol="0" anchor="t"/>
          <a:lstStyle/>
          <a:p>
            <a:pPr indent="0" marL="0">
              <a:buNone/>
            </a:pPr>
            <a:r>
              <a:rPr lang="en-US" sz="105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50" dirty="0"/>
          </a:p>
        </p:txBody>
      </p:sp>
      <p:sp>
        <p:nvSpPr>
          <p:cNvPr id="12" name="slide 10 — evidence boundary"/>
          <p:cNvSpPr/>
          <p:nvPr/>
        </p:nvSpPr>
        <p:spPr>
          <a:xfrm>
            <a:off x="6185916"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6414516"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6414516" y="4023360"/>
            <a:ext cx="4997196" cy="1874520"/>
          </a:xfrm>
          <a:prstGeom prst="rect">
            <a:avLst/>
          </a:prstGeom>
          <a:noFill/>
          <a:ln/>
        </p:spPr>
        <p:txBody>
          <a:bodyPr wrap="square" lIns="0" tIns="0" rIns="0" bIns="0" rtlCol="0" anchor="t"/>
          <a:lstStyle/>
          <a:p>
            <a:pPr indent="0" marL="0">
              <a:buNone/>
            </a:pPr>
            <a:r>
              <a:rPr lang="en-US" sz="1050" i="1"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50" dirty="0"/>
          </a:p>
        </p:txBody>
      </p:sp>
      <p:sp>
        <p:nvSpPr>
          <p:cNvPr id="15"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2026-10-13T22:37:11Z</dcterms:created>
  <dcterms:modified xsi:type="dcterms:W3CDTF">2026-10-13T22:37:11Z</dcterms:modified>
</cp:coreProperties>
</file>