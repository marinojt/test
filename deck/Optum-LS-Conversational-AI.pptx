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xecutive summary" id="{24a83ca0-fbf1-5aa1-231e-0e9ee1b3a55d}">
          <p14:sldIdLst>
            <p14:sldId id="256"/>
          </p14:sldIdLst>
        </p14:section>
        <p14:section name="Research catalyst" id="{a3ae336b-83b3-7ccf-6aee-cd2831e1ba46}">
          <p14:sldIdLst>
            <p14:sldId id="257"/>
          </p14:sldIdLst>
        </p14:section>
        <p14:section name="U.S. competitive landscape" id="{94ea1914-a217-df21-74d7-d7894557f7aa}">
          <p14:sldIdLst>
            <p14:sldId id="258"/>
          </p14:sldIdLst>
        </p14:section>
        <p14:section name="International competitor screens" id="{5c2e99d5-36e9-0a01-e587-5d607015bf90}">
          <p14:sldIdLst>
            <p14:sldId id="259"/>
          </p14:sldIdLst>
        </p14:section>
        <p14:section name="Workflow deep dives" id="{8ddf841b-5ded-34d4-2bec-e63798bae4f9}">
          <p14:sldIdLst>
            <p14:sldId id="260"/>
            <p14:sldId id="261"/>
            <p14:sldId id="262"/>
            <p14:sldId id="263"/>
            <p14:sldId id="264"/>
          </p14:sldIdLst>
        </p14:section>
        <p14:section name="AI suppliers" id="{8ce88946-6d30-3dca-4f63-319bce2eeb93}">
          <p14:sldIdLst>
            <p14:sldId id="265"/>
          </p14:sldIdLst>
        </p14:section>
        <p14:section name="Methodology note" id="{195c6e09-c7e0-6bdb-94e4-1e5d4c03ac7f}">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barChart>
        <c:barDir val="bar"/>
        <c:grouping val="stacked"/>
        <c:varyColors val="0"/>
        <c:ser>
          <c:idx val="0"/>
          <c:order val="0"/>
          <c:tx>
            <c:strRef>
              <c:f>Sheet1!$B$1</c:f>
              <c:strCache>
                <c:ptCount val="1"/>
                <c:pt idx="0">
                  <c:v>Marketing qualifying chat</c:v>
                </c:pt>
              </c:strCache>
            </c:strRef>
          </c:tx>
          <c:spPr>
            <a:solidFill>
              <a:srgbClr val="00267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RWE</c:v>
                  </c:pt>
                  <c:pt idx="1">
                    <c:v>Commercial Intelligence</c:v>
                  </c:pt>
                  <c:pt idx="2">
                    <c:v>Medical / Regulatory Research</c:v>
                  </c:pt>
                  <c:pt idx="3">
                    <c:v>Clinical Trials</c:v>
                  </c:pt>
                  <c:pt idx="4">
                    <c:v>Market Access</c:v>
                  </c:pt>
                </c:lvl>
              </c:multiLvlStrCache>
            </c:multiLvlStrRef>
          </c:cat>
          <c:val>
            <c:numRef>
              <c:f>Sheet1!$B$2:$B$6</c:f>
              <c:numCache>
                <c:formatCode>General</c:formatCode>
                <c:ptCount val="5"/>
                <c:pt idx="0">
                  <c:v>9</c:v>
                </c:pt>
                <c:pt idx="1">
                  <c:v>3</c:v>
                </c:pt>
                <c:pt idx="2">
                  <c:v>3</c:v>
                </c:pt>
                <c:pt idx="3">
                  <c:v>1</c:v>
                </c:pt>
                <c:pt idx="4">
                  <c:v>1</c:v>
                </c:pt>
              </c:numCache>
            </c:numRef>
          </c:val>
        </c:ser>
        <c:ser>
          <c:idx val="1"/>
          <c:order val="1"/>
          <c:tx>
            <c:strRef>
              <c:f>Sheet1!$C$1</c:f>
              <c:strCache>
                <c:ptCount val="1"/>
                <c:pt idx="0">
                  <c:v>Remaining comparable</c:v>
                </c:pt>
              </c:strCache>
            </c:strRef>
          </c:tx>
          <c:spPr>
            <a:solidFill>
              <a:srgbClr val="D9D4C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RWE</c:v>
                  </c:pt>
                  <c:pt idx="1">
                    <c:v>Commercial Intelligence</c:v>
                  </c:pt>
                  <c:pt idx="2">
                    <c:v>Medical / Regulatory Research</c:v>
                  </c:pt>
                  <c:pt idx="3">
                    <c:v>Clinical Trials</c:v>
                  </c:pt>
                  <c:pt idx="4">
                    <c:v>Market Access</c:v>
                  </c:pt>
                </c:lvl>
              </c:multiLvlStrCache>
            </c:multiLvlStrRef>
          </c:cat>
          <c:val>
            <c:numRef>
              <c:f>Sheet1!$C$2:$C$6</c:f>
              <c:numCache>
                <c:formatCode>General</c:formatCode>
                <c:ptCount val="5"/>
                <c:pt idx="0">
                  <c:v>25</c:v>
                </c:pt>
                <c:pt idx="1">
                  <c:v>20</c:v>
                </c:pt>
                <c:pt idx="2">
                  <c:v>15</c:v>
                </c:pt>
                <c:pt idx="3">
                  <c:v>24</c:v>
                </c:pt>
                <c:pt idx="4">
                  <c:v>23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85"/>
        <c:overlap val="100"/>
        <c:axId val="2094734554"/>
        <c:axId val="2094734552"/>
        <c:axId val="2094734556"/>
      </c:barChart>
      <c:catAx>
        <c:axId val="2094734554"/>
        <c:scaling>
          <c:orientation val="maxMin"/>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axMin"/>
          <c:max val="34"/>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0.9305210918114143"/>
        </c:manualLayout>
      </c:layout>
      <c:barChart>
        <c:barDir val="bar"/>
        <c:grouping val="clustered"/>
        <c:varyColors val="0"/>
        <c:ser>
          <c:idx val="0"/>
          <c:order val="0"/>
          <c:tx>
            <c:strRef>
              <c:f>Sheet1!$B$1</c:f>
              <c:strCache>
                <c:ptCount val="1"/>
                <c:pt idx="0">
                  <c:v>Screened-company share</c:v>
                </c:pt>
              </c:strCache>
            </c:strRef>
          </c:tx>
          <c:spPr>
            <a:solidFill>
              <a:srgbClr val="8FA3C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8FA3C4"/>
              </a:solidFill>
              <a:effectLst/>
            </c:spPr>
          </c:dPt>
          <c:dPt>
            <c:idx val="1"/>
            <c:invertIfNegative val="0"/>
            <c:bubble3D val="0"/>
            <c:spPr>
              <a:solidFill>
                <a:srgbClr val="8FA3C4"/>
              </a:solidFill>
              <a:effectLst/>
            </c:spPr>
          </c:dPt>
          <c:dPt>
            <c:idx val="2"/>
            <c:invertIfNegative val="0"/>
            <c:bubble3D val="0"/>
            <c:spPr>
              <a:solidFill>
                <a:srgbClr val="8FA3C4"/>
              </a:solidFill>
              <a:effectLst/>
            </c:spPr>
          </c:dPt>
          <c:dPt>
            <c:idx val="3"/>
            <c:invertIfNegative val="0"/>
            <c:bubble3D val="0"/>
            <c:spPr>
              <a:solidFill>
                <a:srgbClr val="8FA3C4"/>
              </a:solidFill>
              <a:effectLst/>
            </c:spPr>
          </c:dPt>
          <c:dPt>
            <c:idx val="4"/>
            <c:invertIfNegative val="0"/>
            <c:bubble3D val="0"/>
            <c:spPr>
              <a:solidFill>
                <a:srgbClr val="8FA3C4"/>
              </a:solidFill>
              <a:effectLst/>
            </c:spPr>
          </c:dPt>
          <c:dPt>
            <c:idx val="5"/>
            <c:invertIfNegative val="0"/>
            <c:bubble3D val="0"/>
            <c:spPr>
              <a:solidFill>
                <a:srgbClr val="8FA3C4"/>
              </a:solidFill>
              <a:effectLst/>
            </c:spPr>
          </c:dPt>
          <c:dPt>
            <c:idx val="6"/>
            <c:invertIfNegative val="0"/>
            <c:bubble3D val="0"/>
            <c:spPr>
              <a:solidFill>
                <a:srgbClr val="8FA3C4"/>
              </a:solidFill>
              <a:effectLst/>
            </c:spPr>
          </c:dPt>
          <c:dPt>
            <c:idx val="7"/>
            <c:invertIfNegative val="0"/>
            <c:bubble3D val="0"/>
            <c:spPr>
              <a:solidFill>
                <a:srgbClr val="8FA3C4"/>
              </a:solidFill>
              <a:effectLst/>
            </c:spPr>
          </c:dPt>
          <c:dPt>
            <c:idx val="8"/>
            <c:invertIfNegative val="0"/>
            <c:bubble3D val="0"/>
            <c:spPr>
              <a:solidFill>
                <a:srgbClr val="8FA3C4"/>
              </a:solidFill>
              <a:effectLst/>
            </c:spPr>
          </c:dPt>
          <c:dPt>
            <c:idx val="9"/>
            <c:invertIfNegative val="0"/>
            <c:bubble3D val="0"/>
            <c:spPr>
              <a:solidFill>
                <a:srgbClr val="8FA3C4"/>
              </a:solidFill>
              <a:effectLst/>
            </c:spPr>
          </c:dPt>
          <c:dPt>
            <c:idx val="10"/>
            <c:invertIfNegative val="0"/>
            <c:bubble3D val="0"/>
            <c:spPr>
              <a:solidFill>
                <a:srgbClr val="8FA3C4"/>
              </a:solidFill>
              <a:effectLst/>
            </c:spPr>
          </c:dPt>
          <c:dPt>
            <c:idx val="11"/>
            <c:invertIfNegative val="0"/>
            <c:bubble3D val="0"/>
            <c:spPr>
              <a:solidFill>
                <a:srgbClr val="8FA3C4"/>
              </a:solidFill>
              <a:effectLst/>
            </c:spPr>
          </c:dPt>
          <c:dPt>
            <c:idx val="12"/>
            <c:invertIfNegative val="0"/>
            <c:bubble3D val="0"/>
            <c:spPr>
              <a:solidFill>
                <a:srgbClr val="8FA3C4"/>
              </a:solidFill>
              <a:effectLst/>
            </c:spPr>
          </c:dPt>
          <c:dPt>
            <c:idx val="13"/>
            <c:invertIfNegative val="0"/>
            <c:bubble3D val="0"/>
            <c:spPr>
              <a:solidFill>
                <a:srgbClr val="8FA3C4"/>
              </a:solidFill>
              <a:effectLst/>
            </c:spPr>
          </c:dPt>
          <c:dPt>
            <c:idx val="14"/>
            <c:invertIfNegative val="0"/>
            <c:bubble3D val="0"/>
            <c:spPr>
              <a:solidFill>
                <a:srgbClr val="002677"/>
              </a:solidFill>
              <a:effectLst/>
            </c:spPr>
          </c:dPt>
          <c:cat>
            <c:multiLvlStrRef>
              <c:f>Sheet1!$A$2:$A$16</c:f>
              <c:multiLvlStrCache>
                <c:ptCount val="15"/>
                <c:lvl>
                  <c:pt idx="0">
                    <c:v>Japan</c:v>
                  </c:pt>
                  <c:pt idx="1">
                    <c:v>Germany</c:v>
                  </c:pt>
                  <c:pt idx="2">
                    <c:v>Canada</c:v>
                  </c:pt>
                  <c:pt idx="3">
                    <c:v>United Kingdom</c:v>
                  </c:pt>
                  <c:pt idx="4">
                    <c:v>Belgium</c:v>
                  </c:pt>
                  <c:pt idx="5">
                    <c:v>South Korea</c:v>
                  </c:pt>
                  <c:pt idx="6">
                    <c:v>Australia</c:v>
                  </c:pt>
                  <c:pt idx="7">
                    <c:v>Netherlands</c:v>
                  </c:pt>
                  <c:pt idx="8">
                    <c:v>India</c:v>
                  </c:pt>
                  <c:pt idx="9">
                    <c:v>Nordics</c:v>
                  </c:pt>
                  <c:pt idx="10">
                    <c:v>France</c:v>
                  </c:pt>
                  <c:pt idx="11">
                    <c:v>Israel</c:v>
                  </c:pt>
                  <c:pt idx="12">
                    <c:v>Spain</c:v>
                  </c:pt>
                  <c:pt idx="13">
                    <c:v>China</c:v>
                  </c:pt>
                  <c:pt idx="14">
                    <c:v>United States</c:v>
                  </c:pt>
                </c:lvl>
              </c:multiLvlStrCache>
            </c:multiLvlStrRef>
          </c:cat>
          <c:val>
            <c:numRef>
              <c:f>Sheet1!$B$2:$B$16</c:f>
              <c:numCache>
                <c:formatCode>General</c:formatCode>
                <c:ptCount val="15"/>
                <c:pt idx="0">
                  <c:v>0</c:v>
                </c:pt>
                <c:pt idx="1">
                  <c:v>0</c:v>
                </c:pt>
                <c:pt idx="2">
                  <c:v>0</c:v>
                </c:pt>
                <c:pt idx="3">
                  <c:v>0.05555555555555555</c:v>
                </c:pt>
                <c:pt idx="4">
                  <c:v>0.05555555555555555</c:v>
                </c:pt>
                <c:pt idx="5">
                  <c:v>0.058823529411764705</c:v>
                </c:pt>
                <c:pt idx="6">
                  <c:v>0.07142857142857142</c:v>
                </c:pt>
                <c:pt idx="7">
                  <c:v>0.09090909090909091</c:v>
                </c:pt>
                <c:pt idx="8">
                  <c:v>0.09375</c:v>
                </c:pt>
                <c:pt idx="9">
                  <c:v>0.11764705882352941</c:v>
                </c:pt>
                <c:pt idx="10">
                  <c:v>0.11764705882352941</c:v>
                </c:pt>
                <c:pt idx="11">
                  <c:v>0.13333333333333333</c:v>
                </c:pt>
                <c:pt idx="12">
                  <c:v>0.17647058823529413</c:v>
                </c:pt>
                <c:pt idx="13">
                  <c:v>0.25</c:v>
                </c:pt>
                <c:pt idx="14">
                  <c:v>0.3488372093023256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
          <c:min val="0"/>
        </c:scaling>
        <c:delete val="0"/>
        <c:axPos val="b"/>
        <c:majorGridlines>
          <c:spPr>
            <a:ln w="6350" cap="flat">
              <a:solidFill>
                <a:srgbClr val="E3DED3"/>
              </a:solidFill>
              <a:prstDash val="solid"/>
              <a:round/>
            </a:ln>
          </c:spPr>
        </c:majorGridlines>
        <c:numFmt formatCode="0%" sourceLinked="0"/>
        <c:majorTickMark val="out"/>
        <c:minorTickMark val="none"/>
        <c:tickLblPos val="low"/>
        <c:spPr>
          <a:ln w="12700" cap="flat">
            <a:noFill/>
            <a:prstDash val="solid"/>
            <a:round/>
          </a:ln>
        </c:spPr>
        <c:txPr>
          <a:bodyPr/>
          <a:lstStyle/>
          <a:p>
            <a:pPr>
              <a:defRPr sz="800" b="0" i="0" u="none" strike="noStrike">
                <a:solidFill>
                  <a:srgbClr val="7A7C7E"/>
                </a:solidFill>
                <a:latin typeface="+mn-lt"/>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Shape 0"/>
          <p:cNvSpPr/>
          <p:nvPr/>
        </p:nvSpPr>
        <p:spPr>
          <a:xfrm>
            <a:off x="548640" y="6236208"/>
            <a:ext cx="11091672" cy="0"/>
          </a:xfrm>
          <a:prstGeom prst="line">
            <a:avLst/>
          </a:prstGeom>
          <a:noFill/>
          <a:ln w="9525">
            <a:solidFill>
              <a:schemeClr val="accent3"/>
            </a:solidFill>
            <a:prstDash val="solid"/>
          </a:ln>
        </p:spPr>
      </p:sp>
      <p:sp>
        <p:nvSpPr>
          <p:cNvPr id="3" name="Text 1"/>
          <p:cNvSpPr/>
          <p:nvPr/>
        </p:nvSpPr>
        <p:spPr>
          <a:xfrm>
            <a:off x="548640" y="6309360"/>
            <a:ext cx="7315200" cy="201168"/>
          </a:xfrm>
          <a:prstGeom prst="rect">
            <a:avLst/>
          </a:prstGeom>
          <a:noFill/>
          <a:ln/>
        </p:spPr>
        <p:txBody>
          <a:bodyPr wrap="square" lIns="0" tIns="0" rIns="0" bIns="0" rtlCol="0" anchor="ctr"/>
          <a:lstStyle/>
          <a:p>
            <a:pPr indent="0" marL="0">
              <a:buNone/>
            </a:pPr>
            <a:r>
              <a:rPr lang="en-US" sz="900" dirty="0">
                <a:solidFill>
                  <a:schemeClr val="accent4"/>
                </a:solidFill>
              </a:rPr>
              <a:t>Candidate work sample — outside-in research</a:t>
            </a:r>
            <a:endParaRPr lang="en-US" sz="900" dirty="0"/>
          </a:p>
        </p:txBody>
      </p:sp>
      <p:sp>
        <p:nvSpPr>
          <p:cNvPr id="4" name="Text 2"/>
          <p:cNvSpPr/>
          <p:nvPr>
            <p:ph idx="102" type="body" hasCustomPrompt="1"/>
          </p:nvPr>
        </p:nvSpPr>
        <p:spPr>
          <a:xfrm>
            <a:off x="548640" y="384048"/>
            <a:ext cx="8229600" cy="219456"/>
          </a:xfrm>
          <a:prstGeom prst="rect">
            <a:avLst/>
          </a:prstGeom>
          <a:noFill/>
          <a:ln/>
        </p:spPr>
        <p:txBody>
          <a:bodyPr wrap="square" rtlCol="0"/>
          <a:lstStyle>
            <a:lvl1pPr indent="0" marL="0">
              <a:buNone/>
              <a:defRPr lang="en-US" sz="1000" b="1" spc="100" kern="0" dirty="0">
                <a:solidFill>
                  <a:schemeClr val="accent2"/>
                </a:solidFill>
              </a:defRPr>
            </a:lvl1pPr>
          </a:lstStyle>
          <a:p>
            <a:pPr indent="0" marL="0">
              <a:buNone/>
            </a:pPr>
            <a:endParaRPr lang="en-US" sz="1000" dirty="0"/>
          </a:p>
        </p:txBody>
      </p:sp>
      <p:sp>
        <p:nvSpPr>
          <p:cNvPr id="5" name="Text 2"/>
          <p:cNvSpPr/>
          <p:nvPr>
            <p:ph idx="103" type="title" hasCustomPrompt="1"/>
          </p:nvPr>
        </p:nvSpPr>
        <p:spPr>
          <a:xfrm>
            <a:off x="548640" y="640080"/>
            <a:ext cx="11091672" cy="749808"/>
          </a:xfrm>
          <a:prstGeom prst="rect">
            <a:avLst/>
          </a:prstGeom>
          <a:noFill/>
          <a:ln/>
        </p:spPr>
        <p:txBody>
          <a:bodyPr wrap="square" rtlCol="0"/>
          <a:lstStyle>
            <a:lvl1pPr algn="l" indent="0" marL="0">
              <a:buNone/>
              <a:defRPr lang="en-US" sz="2200" b="1" dirty="0">
                <a:solidFill>
                  <a:schemeClr val="accent1"/>
                </a:solidFill>
              </a:defRPr>
            </a:lvl1pPr>
          </a:lstStyle>
          <a:p>
            <a:pPr algn="l" indent="0" marL="0">
              <a:buNone/>
            </a:pPr>
            <a:endParaRPr lang="en-US" sz="2200" dirty="0"/>
          </a:p>
        </p:txBody>
      </p:sp>
      <p:sp>
        <p:nvSpPr>
          <p:cNvPr id="25" name="Slide Number Placeholder 0"/>
          <p:cNvSpPr>
            <a:spLocks noGrp="1"/>
          </p:cNvSpPr>
          <p:nvPr>
            <p:ph type="sldNum" sz="quarter" idx="4294967295"/>
          </p:nvPr>
        </p:nvSpPr>
        <p:spPr>
          <a:xfrm>
            <a:off x="10725912" y="6309360"/>
            <a:ext cx="9144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5912" y="6309360"/>
            <a:ext cx="9144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idx="102" type="body" hasCustomPrompt="1"/>
          </p:nvPr>
        </p:nvSpPr>
        <p:spPr>
          <a:xfrm>
            <a:off x="548640" y="384048"/>
            <a:ext cx="8229600"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EXECUTIVE SUMMARY</a:t>
            </a:r>
            <a:endParaRPr lang="en-US" sz="1000" dirty="0"/>
          </a:p>
        </p:txBody>
      </p:sp>
      <p:sp>
        <p:nvSpPr>
          <p:cNvPr id="3" name="Text 2"/>
          <p:cNvSpPr/>
          <p:nvPr>
            <p:ph idx="103" type="title" hasCustomPrompt="1"/>
          </p:nvPr>
        </p:nvSpPr>
        <p:spPr>
          <a:xfrm>
            <a:off x="548640" y="640080"/>
            <a:ext cx="11091672" cy="749808"/>
          </a:xfrm>
          <a:prstGeom prst="rect">
            <a:avLst/>
          </a:prstGeom>
          <a:noFill/>
          <a:ln/>
        </p:spPr>
        <p:txBody>
          <a:bodyPr wrap="square" lIns="0" tIns="0" rIns="0" bIns="0" rtlCol="0" anchor="t"/>
          <a:lstStyle/>
          <a:p>
            <a:pPr algn="l" indent="0" marL="0">
              <a:buNone/>
            </a:pPr>
            <a:r>
              <a:rPr lang="en-US" sz="2200" b="1" dirty="0">
                <a:solidFill>
                  <a:schemeClr val="accent1"/>
                </a:solidFill>
              </a:rPr>
              <a:t>Conversational AI is being marketed across life sciences workflows, creating</a:t>
            </a:r>
            <a:br/>
            <a:pPr algn="l" indent="0" marL="0">
              <a:buNone/>
            </a:pPr>
            <a:r>
              <a:rPr lang="en-US" sz="2200" b="1" dirty="0">
                <a:solidFill>
                  <a:schemeClr val="accent1"/>
                </a:solidFill>
              </a:rPr>
              <a:t>new ways to access information, analytics and decision support</a:t>
            </a:r>
            <a:endParaRPr lang="en-US" sz="2200" dirty="0"/>
          </a:p>
        </p:txBody>
      </p:sp>
      <p:sp>
        <p:nvSpPr>
          <p:cNvPr id="4" name="lens card"/>
          <p:cNvSpPr/>
          <p:nvPr/>
        </p:nvSpPr>
        <p:spPr>
          <a:xfrm>
            <a:off x="548640" y="1536192"/>
            <a:ext cx="11091672" cy="1536192"/>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5" name="icon circle"/>
          <p:cNvSpPr/>
          <p:nvPr/>
        </p:nvSpPr>
        <p:spPr>
          <a:xfrm>
            <a:off x="777240" y="1737360"/>
            <a:ext cx="475488" cy="475488"/>
          </a:xfrm>
          <a:prstGeom prst="ellipse">
            <a:avLst/>
          </a:prstGeom>
          <a:solidFill>
            <a:schemeClr val="accent5"/>
          </a:solidFill>
          <a:ln/>
        </p:spPr>
      </p:sp>
      <p:pic>
        <p:nvPicPr>
          <p:cNvPr id="6" name="icon MdTravelExplore" descr="preencoded.png">    </p:cNvPr>
          <p:cNvPicPr>
            <a:picLocks noChangeAspect="1"/>
          </p:cNvPicPr>
          <p:nvPr/>
        </p:nvPicPr>
        <p:blipFill>
          <a:blip r:embed="rId1"/>
          <a:stretch>
            <a:fillRect/>
          </a:stretch>
        </p:blipFill>
        <p:spPr>
          <a:xfrm>
            <a:off x="881847" y="1841967"/>
            <a:ext cx="266273" cy="266273"/>
          </a:xfrm>
          <a:prstGeom prst="rect">
            <a:avLst/>
          </a:prstGeom>
        </p:spPr>
      </p:pic>
      <p:sp>
        <p:nvSpPr>
          <p:cNvPr id="7" name="card label"/>
          <p:cNvSpPr txBox="1"/>
          <p:nvPr/>
        </p:nvSpPr>
        <p:spPr>
          <a:xfrm>
            <a:off x="1417320" y="1719072"/>
            <a:ext cx="5486400" cy="237744"/>
          </a:xfrm>
          <a:prstGeom prst="rect">
            <a:avLst/>
          </a:prstGeom>
          <a:noFill/>
          <a:ln/>
        </p:spPr>
        <p:txBody>
          <a:bodyPr wrap="square" lIns="0" tIns="0" rIns="0" bIns="0" rtlCol="0" anchor="ctr"/>
          <a:lstStyle/>
          <a:p>
            <a:pPr indent="0" marL="0">
              <a:buNone/>
            </a:pPr>
            <a:r>
              <a:rPr lang="en-US" sz="1300" b="1" spc="150" kern="0" dirty="0">
                <a:solidFill>
                  <a:schemeClr val="accent2"/>
                </a:solidFill>
              </a:rPr>
              <a:t>OUTSIDE-IN RESEARCH LENS</a:t>
            </a:r>
            <a:endParaRPr lang="en-US" sz="1300" dirty="0"/>
          </a:p>
        </p:txBody>
      </p:sp>
      <p:sp>
        <p:nvSpPr>
          <p:cNvPr id="8" name="Text 5"/>
          <p:cNvSpPr txBox="1"/>
          <p:nvPr/>
        </p:nvSpPr>
        <p:spPr>
          <a:xfrm>
            <a:off x="1417320" y="2048256"/>
            <a:ext cx="9966960" cy="201168"/>
          </a:xfrm>
          <a:prstGeom prst="rect">
            <a:avLst/>
          </a:prstGeom>
          <a:noFill/>
          <a:ln/>
        </p:spPr>
        <p:txBody>
          <a:bodyPr wrap="square" lIns="0" tIns="0" rIns="0" bIns="0" rtlCol="0" anchor="t"/>
          <a:lstStyle/>
          <a:p>
            <a:pPr indent="0" marL="0">
              <a:buNone/>
            </a:pPr>
            <a:r>
              <a:rPr lang="en-US" sz="1100" b="1" dirty="0">
                <a:solidFill>
                  <a:schemeClr val="tx1"/>
                </a:solidFill>
              </a:rPr>
              <a:t>This study is an assessment of </a:t>
            </a:r>
            <a:pPr indent="0" marL="0">
              <a:buNone/>
            </a:pPr>
            <a:r>
              <a:rPr lang="en-US" sz="1100" b="1" i="1" dirty="0">
                <a:solidFill>
                  <a:schemeClr val="tx1"/>
                </a:solidFill>
              </a:rPr>
              <a:t>publicly-marketed</a:t>
            </a:r>
            <a:pPr indent="0" marL="0">
              <a:buNone/>
            </a:pPr>
            <a:r>
              <a:rPr lang="en-US" sz="1100" b="1" dirty="0">
                <a:solidFill>
                  <a:schemeClr val="tx1"/>
                </a:solidFill>
              </a:rPr>
              <a:t> conversational AI products across five Optum Life Sciences-relevant business domains:</a:t>
            </a:r>
            <a:endParaRPr lang="en-US" sz="1100" dirty="0"/>
          </a:p>
        </p:txBody>
      </p:sp>
      <p:sp>
        <p:nvSpPr>
          <p:cNvPr id="9" name="workflow chip RWE"/>
          <p:cNvSpPr/>
          <p:nvPr/>
        </p:nvSpPr>
        <p:spPr>
          <a:xfrm>
            <a:off x="1417320" y="2322576"/>
            <a:ext cx="422727" cy="246888"/>
          </a:xfrm>
          <a:prstGeom prst="roundRect">
            <a:avLst>
              <a:gd name="adj" fmla="val 50000"/>
            </a:avLst>
          </a:prstGeom>
          <a:solidFill>
            <a:schemeClr val="accent5"/>
          </a:solidFill>
          <a:ln w="9525">
            <a:solidFill>
              <a:schemeClr val="accent1"/>
            </a:solidFill>
            <a:prstDash val="solid"/>
          </a:ln>
        </p:spPr>
      </p:sp>
      <p:sp>
        <p:nvSpPr>
          <p:cNvPr id="10" name="Text 7"/>
          <p:cNvSpPr txBox="1"/>
          <p:nvPr/>
        </p:nvSpPr>
        <p:spPr>
          <a:xfrm>
            <a:off x="1417320" y="2322576"/>
            <a:ext cx="422727" cy="246888"/>
          </a:xfrm>
          <a:prstGeom prst="rect">
            <a:avLst/>
          </a:prstGeom>
          <a:noFill/>
          <a:ln/>
        </p:spPr>
        <p:txBody>
          <a:bodyPr wrap="square" lIns="0" tIns="0" rIns="0" bIns="0" rtlCol="0" anchor="ctr"/>
          <a:lstStyle/>
          <a:p>
            <a:pPr algn="ctr" indent="0" marL="0">
              <a:buNone/>
            </a:pPr>
            <a:r>
              <a:rPr lang="en-US" sz="950" dirty="0">
                <a:solidFill>
                  <a:schemeClr val="accent1"/>
                </a:solidFill>
              </a:rPr>
              <a:t>RWE</a:t>
            </a:r>
            <a:endParaRPr lang="en-US" sz="950" dirty="0"/>
          </a:p>
        </p:txBody>
      </p:sp>
      <p:sp>
        <p:nvSpPr>
          <p:cNvPr id="11" name="workflow chip Commercial Intelligence"/>
          <p:cNvSpPr/>
          <p:nvPr/>
        </p:nvSpPr>
        <p:spPr>
          <a:xfrm>
            <a:off x="1931487" y="2322576"/>
            <a:ext cx="1777868" cy="246888"/>
          </a:xfrm>
          <a:prstGeom prst="roundRect">
            <a:avLst>
              <a:gd name="adj" fmla="val 50000"/>
            </a:avLst>
          </a:prstGeom>
          <a:solidFill>
            <a:schemeClr val="accent5"/>
          </a:solidFill>
          <a:ln w="9525">
            <a:solidFill>
              <a:schemeClr val="accent1"/>
            </a:solidFill>
            <a:prstDash val="solid"/>
          </a:ln>
        </p:spPr>
      </p:sp>
      <p:sp>
        <p:nvSpPr>
          <p:cNvPr id="12" name="Text 9"/>
          <p:cNvSpPr txBox="1"/>
          <p:nvPr/>
        </p:nvSpPr>
        <p:spPr>
          <a:xfrm>
            <a:off x="1931487" y="2322576"/>
            <a:ext cx="1777868" cy="246888"/>
          </a:xfrm>
          <a:prstGeom prst="rect">
            <a:avLst/>
          </a:prstGeom>
          <a:noFill/>
          <a:ln/>
        </p:spPr>
        <p:txBody>
          <a:bodyPr wrap="square" lIns="0" tIns="0" rIns="0" bIns="0" rtlCol="0" anchor="ctr"/>
          <a:lstStyle/>
          <a:p>
            <a:pPr algn="ctr" indent="0" marL="0">
              <a:buNone/>
            </a:pPr>
            <a:r>
              <a:rPr lang="en-US" sz="950" dirty="0">
                <a:solidFill>
                  <a:schemeClr val="accent1"/>
                </a:solidFill>
              </a:rPr>
              <a:t>Commercial Intelligence</a:t>
            </a:r>
            <a:endParaRPr lang="en-US" sz="950" dirty="0"/>
          </a:p>
        </p:txBody>
      </p:sp>
      <p:sp>
        <p:nvSpPr>
          <p:cNvPr id="13" name="workflow chip Medical / Regulatory Research"/>
          <p:cNvSpPr/>
          <p:nvPr/>
        </p:nvSpPr>
        <p:spPr>
          <a:xfrm>
            <a:off x="3800795" y="2322576"/>
            <a:ext cx="2184410" cy="246888"/>
          </a:xfrm>
          <a:prstGeom prst="roundRect">
            <a:avLst>
              <a:gd name="adj" fmla="val 50000"/>
            </a:avLst>
          </a:prstGeom>
          <a:solidFill>
            <a:schemeClr val="accent5"/>
          </a:solidFill>
          <a:ln w="9525">
            <a:solidFill>
              <a:schemeClr val="accent1"/>
            </a:solidFill>
            <a:prstDash val="solid"/>
          </a:ln>
        </p:spPr>
      </p:sp>
      <p:sp>
        <p:nvSpPr>
          <p:cNvPr id="14" name="Text 11"/>
          <p:cNvSpPr txBox="1"/>
          <p:nvPr/>
        </p:nvSpPr>
        <p:spPr>
          <a:xfrm>
            <a:off x="3800795" y="2322576"/>
            <a:ext cx="2184410" cy="246888"/>
          </a:xfrm>
          <a:prstGeom prst="rect">
            <a:avLst/>
          </a:prstGeom>
          <a:noFill/>
          <a:ln/>
        </p:spPr>
        <p:txBody>
          <a:bodyPr wrap="square" lIns="0" tIns="0" rIns="0" bIns="0" rtlCol="0" anchor="ctr"/>
          <a:lstStyle/>
          <a:p>
            <a:pPr algn="ctr" indent="0" marL="0">
              <a:buNone/>
            </a:pPr>
            <a:r>
              <a:rPr lang="en-US" sz="950" dirty="0">
                <a:solidFill>
                  <a:schemeClr val="accent1"/>
                </a:solidFill>
              </a:rPr>
              <a:t>Medical / Regulatory Research</a:t>
            </a:r>
            <a:endParaRPr lang="en-US" sz="950" dirty="0"/>
          </a:p>
        </p:txBody>
      </p:sp>
      <p:sp>
        <p:nvSpPr>
          <p:cNvPr id="15" name="workflow chip Clinical Trials"/>
          <p:cNvSpPr/>
          <p:nvPr/>
        </p:nvSpPr>
        <p:spPr>
          <a:xfrm>
            <a:off x="6076645" y="2322576"/>
            <a:ext cx="1235812" cy="246888"/>
          </a:xfrm>
          <a:prstGeom prst="roundRect">
            <a:avLst>
              <a:gd name="adj" fmla="val 50000"/>
            </a:avLst>
          </a:prstGeom>
          <a:solidFill>
            <a:schemeClr val="accent5"/>
          </a:solidFill>
          <a:ln w="9525">
            <a:solidFill>
              <a:schemeClr val="accent1"/>
            </a:solidFill>
            <a:prstDash val="solid"/>
          </a:ln>
        </p:spPr>
      </p:sp>
      <p:sp>
        <p:nvSpPr>
          <p:cNvPr id="16" name="Text 13"/>
          <p:cNvSpPr txBox="1"/>
          <p:nvPr/>
        </p:nvSpPr>
        <p:spPr>
          <a:xfrm>
            <a:off x="6076645" y="2322576"/>
            <a:ext cx="1235812" cy="246888"/>
          </a:xfrm>
          <a:prstGeom prst="rect">
            <a:avLst/>
          </a:prstGeom>
          <a:noFill/>
          <a:ln/>
        </p:spPr>
        <p:txBody>
          <a:bodyPr wrap="square" lIns="0" tIns="0" rIns="0" bIns="0" rtlCol="0" anchor="ctr"/>
          <a:lstStyle/>
          <a:p>
            <a:pPr algn="ctr" indent="0" marL="0">
              <a:buNone/>
            </a:pPr>
            <a:r>
              <a:rPr lang="en-US" sz="950" dirty="0">
                <a:solidFill>
                  <a:schemeClr val="accent1"/>
                </a:solidFill>
              </a:rPr>
              <a:t>Clinical Trials</a:t>
            </a:r>
            <a:endParaRPr lang="en-US" sz="950" dirty="0"/>
          </a:p>
        </p:txBody>
      </p:sp>
      <p:sp>
        <p:nvSpPr>
          <p:cNvPr id="17" name="Text 14"/>
          <p:cNvSpPr txBox="1"/>
          <p:nvPr/>
        </p:nvSpPr>
        <p:spPr>
          <a:xfrm>
            <a:off x="7403897" y="2322576"/>
            <a:ext cx="310896" cy="246888"/>
          </a:xfrm>
          <a:prstGeom prst="rect">
            <a:avLst/>
          </a:prstGeom>
          <a:noFill/>
          <a:ln/>
        </p:spPr>
        <p:txBody>
          <a:bodyPr wrap="square" lIns="0" tIns="0" rIns="0" bIns="0" rtlCol="0" anchor="ctr"/>
          <a:lstStyle/>
          <a:p>
            <a:pPr algn="ctr" indent="0" marL="0">
              <a:buNone/>
            </a:pPr>
            <a:r>
              <a:rPr lang="en-US" sz="1000" dirty="0">
                <a:solidFill>
                  <a:schemeClr val="accent4"/>
                </a:solidFill>
              </a:rPr>
              <a:t>and</a:t>
            </a:r>
            <a:endParaRPr lang="en-US" sz="1000" dirty="0"/>
          </a:p>
        </p:txBody>
      </p:sp>
      <p:sp>
        <p:nvSpPr>
          <p:cNvPr id="18" name="workflow chip Market Access"/>
          <p:cNvSpPr/>
          <p:nvPr/>
        </p:nvSpPr>
        <p:spPr>
          <a:xfrm>
            <a:off x="7769657" y="2322576"/>
            <a:ext cx="1100298" cy="246888"/>
          </a:xfrm>
          <a:prstGeom prst="roundRect">
            <a:avLst>
              <a:gd name="adj" fmla="val 50000"/>
            </a:avLst>
          </a:prstGeom>
          <a:solidFill>
            <a:schemeClr val="accent5"/>
          </a:solidFill>
          <a:ln w="9525">
            <a:solidFill>
              <a:schemeClr val="accent1"/>
            </a:solidFill>
            <a:prstDash val="solid"/>
          </a:ln>
        </p:spPr>
      </p:sp>
      <p:sp>
        <p:nvSpPr>
          <p:cNvPr id="19" name="Text 16"/>
          <p:cNvSpPr txBox="1"/>
          <p:nvPr/>
        </p:nvSpPr>
        <p:spPr>
          <a:xfrm>
            <a:off x="7769657" y="2322576"/>
            <a:ext cx="1100298" cy="246888"/>
          </a:xfrm>
          <a:prstGeom prst="rect">
            <a:avLst/>
          </a:prstGeom>
          <a:noFill/>
          <a:ln/>
        </p:spPr>
        <p:txBody>
          <a:bodyPr wrap="square" lIns="0" tIns="0" rIns="0" bIns="0" rtlCol="0" anchor="ctr"/>
          <a:lstStyle/>
          <a:p>
            <a:pPr algn="ctr" indent="0" marL="0">
              <a:buNone/>
            </a:pPr>
            <a:r>
              <a:rPr lang="en-US" sz="950" dirty="0">
                <a:solidFill>
                  <a:schemeClr val="accent1"/>
                </a:solidFill>
              </a:rPr>
              <a:t>Market Access</a:t>
            </a:r>
            <a:endParaRPr lang="en-US" sz="950" dirty="0"/>
          </a:p>
        </p:txBody>
      </p:sp>
      <p:sp>
        <p:nvSpPr>
          <p:cNvPr id="20" name="Text 17"/>
          <p:cNvSpPr txBox="1"/>
          <p:nvPr/>
        </p:nvSpPr>
        <p:spPr>
          <a:xfrm>
            <a:off x="1417320" y="2651760"/>
            <a:ext cx="9966960" cy="201168"/>
          </a:xfrm>
          <a:prstGeom prst="rect">
            <a:avLst/>
          </a:prstGeom>
          <a:noFill/>
          <a:ln/>
        </p:spPr>
        <p:txBody>
          <a:bodyPr wrap="square" lIns="0" tIns="0" rIns="0" bIns="0" rtlCol="0" anchor="t"/>
          <a:lstStyle/>
          <a:p>
            <a:pPr indent="0" marL="0">
              <a:buNone/>
            </a:pPr>
            <a:r>
              <a:rPr lang="en-US" sz="1100" b="1" dirty="0">
                <a:solidFill>
                  <a:schemeClr val="tx1"/>
                </a:solidFill>
              </a:rPr>
              <a:t>The U.S. competitive landscape is the primary focus; selected international offerings provide context; and Optum LS is the strategic reference point.</a:t>
            </a:r>
            <a:endParaRPr lang="en-US" sz="1100" dirty="0"/>
          </a:p>
        </p:txBody>
      </p:sp>
      <p:sp>
        <p:nvSpPr>
          <p:cNvPr id="21" name="key findings card"/>
          <p:cNvSpPr/>
          <p:nvPr/>
        </p:nvSpPr>
        <p:spPr>
          <a:xfrm>
            <a:off x="548640" y="3218688"/>
            <a:ext cx="3575304" cy="2834640"/>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22" name="icon circle"/>
          <p:cNvSpPr/>
          <p:nvPr/>
        </p:nvSpPr>
        <p:spPr>
          <a:xfrm>
            <a:off x="777240" y="3419856"/>
            <a:ext cx="457200" cy="457200"/>
          </a:xfrm>
          <a:prstGeom prst="ellipse">
            <a:avLst/>
          </a:prstGeom>
          <a:solidFill>
            <a:schemeClr val="accent5"/>
          </a:solidFill>
          <a:ln/>
        </p:spPr>
      </p:sp>
      <p:pic>
        <p:nvPicPr>
          <p:cNvPr id="23" name="icon MdInsights" descr="preencoded.png">    </p:cNvPr>
          <p:cNvPicPr>
            <a:picLocks noChangeAspect="1"/>
          </p:cNvPicPr>
          <p:nvPr/>
        </p:nvPicPr>
        <p:blipFill>
          <a:blip r:embed="rId2"/>
          <a:stretch>
            <a:fillRect/>
          </a:stretch>
        </p:blipFill>
        <p:spPr>
          <a:xfrm>
            <a:off x="877824" y="3520440"/>
            <a:ext cx="256032" cy="256032"/>
          </a:xfrm>
          <a:prstGeom prst="rect">
            <a:avLst/>
          </a:prstGeom>
        </p:spPr>
      </p:pic>
      <p:sp>
        <p:nvSpPr>
          <p:cNvPr id="24" name="card label"/>
          <p:cNvSpPr txBox="1"/>
          <p:nvPr/>
        </p:nvSpPr>
        <p:spPr>
          <a:xfrm>
            <a:off x="1353312" y="3511296"/>
            <a:ext cx="2660904" cy="237744"/>
          </a:xfrm>
          <a:prstGeom prst="rect">
            <a:avLst/>
          </a:prstGeom>
          <a:noFill/>
          <a:ln/>
        </p:spPr>
        <p:txBody>
          <a:bodyPr wrap="square" lIns="0" tIns="0" rIns="0" bIns="0" rtlCol="0" anchor="ctr"/>
          <a:lstStyle/>
          <a:p>
            <a:pPr indent="0" marL="0">
              <a:buNone/>
            </a:pPr>
            <a:r>
              <a:rPr lang="en-US" sz="1300" b="1" spc="150" kern="0" dirty="0">
                <a:solidFill>
                  <a:schemeClr val="accent2"/>
                </a:solidFill>
              </a:rPr>
              <a:t>KEY FINDINGS</a:t>
            </a:r>
            <a:endParaRPr lang="en-US" sz="1300" dirty="0"/>
          </a:p>
        </p:txBody>
      </p:sp>
      <p:sp>
        <p:nvSpPr>
          <p:cNvPr id="25" name="hero 19"/>
          <p:cNvSpPr txBox="1"/>
          <p:nvPr/>
        </p:nvSpPr>
        <p:spPr>
          <a:xfrm>
            <a:off x="777240" y="4069080"/>
            <a:ext cx="621792" cy="502920"/>
          </a:xfrm>
          <a:prstGeom prst="rect">
            <a:avLst/>
          </a:prstGeom>
          <a:noFill/>
          <a:ln/>
        </p:spPr>
        <p:txBody>
          <a:bodyPr wrap="square" lIns="0" tIns="0" rIns="0" bIns="0" rtlCol="0" anchor="t"/>
          <a:lstStyle/>
          <a:p>
            <a:pPr indent="0" marL="0">
              <a:buNone/>
            </a:pPr>
            <a:r>
              <a:rPr lang="en-US" sz="3400" b="1" dirty="0">
                <a:solidFill>
                  <a:schemeClr val="accent2"/>
                </a:solidFill>
              </a:rPr>
              <a:t>19</a:t>
            </a:r>
            <a:endParaRPr lang="en-US" sz="3400" dirty="0"/>
          </a:p>
        </p:txBody>
      </p:sp>
      <p:sp>
        <p:nvSpPr>
          <p:cNvPr id="26" name="Text 22"/>
          <p:cNvSpPr txBox="1"/>
          <p:nvPr/>
        </p:nvSpPr>
        <p:spPr>
          <a:xfrm>
            <a:off x="1444752" y="4133088"/>
            <a:ext cx="2478024" cy="749808"/>
          </a:xfrm>
          <a:prstGeom prst="rect">
            <a:avLst/>
          </a:prstGeom>
          <a:noFill/>
          <a:ln/>
        </p:spPr>
        <p:txBody>
          <a:bodyPr wrap="square" lIns="0" tIns="0" rIns="0" bIns="0" rtlCol="0" anchor="t"/>
          <a:lstStyle/>
          <a:p>
            <a:pPr indent="0" marL="0">
              <a:buNone/>
            </a:pPr>
            <a:r>
              <a:rPr lang="en-US" sz="1050" dirty="0">
                <a:solidFill>
                  <a:schemeClr val="tx1"/>
                </a:solidFill>
              </a:rPr>
              <a:t>The U.S. screen identified </a:t>
            </a:r>
            <a:pPr indent="0" marL="0">
              <a:buNone/>
            </a:pPr>
            <a:r>
              <a:rPr lang="en-US" sz="1050" b="1" dirty="0">
                <a:solidFill>
                  <a:schemeClr val="tx1"/>
                </a:solidFill>
              </a:rPr>
              <a:t>19 conversational AI offerings</a:t>
            </a:r>
            <a:pPr indent="0" marL="0">
              <a:buNone/>
            </a:pPr>
            <a:r>
              <a:rPr lang="en-US" sz="1050" dirty="0">
                <a:solidFill>
                  <a:schemeClr val="tx1"/>
                </a:solidFill>
              </a:rPr>
              <a:t> across five business domains, </a:t>
            </a:r>
            <a:pPr indent="0" marL="0">
              <a:buNone/>
            </a:pPr>
            <a:r>
              <a:rPr lang="en-US" sz="1050" b="1" dirty="0">
                <a:solidFill>
                  <a:schemeClr val="tx1"/>
                </a:solidFill>
              </a:rPr>
              <a:t>concentrated in RWE and Commercial Intelligence</a:t>
            </a:r>
            <a:pPr indent="0" marL="0">
              <a:buNone/>
            </a:pPr>
            <a:r>
              <a:rPr lang="en-US" sz="1050" dirty="0">
                <a:solidFill>
                  <a:schemeClr val="tx1"/>
                </a:solidFill>
              </a:rPr>
              <a:t>.</a:t>
            </a:r>
            <a:endParaRPr lang="en-US" sz="1050" dirty="0"/>
          </a:p>
        </p:txBody>
      </p:sp>
      <p:sp>
        <p:nvSpPr>
          <p:cNvPr id="27" name="Shape 23"/>
          <p:cNvSpPr/>
          <p:nvPr/>
        </p:nvSpPr>
        <p:spPr>
          <a:xfrm>
            <a:off x="777240" y="5010912"/>
            <a:ext cx="3118104" cy="0"/>
          </a:xfrm>
          <a:prstGeom prst="line">
            <a:avLst/>
          </a:prstGeom>
          <a:noFill/>
          <a:ln w="9525">
            <a:solidFill>
              <a:schemeClr val="accent3"/>
            </a:solidFill>
            <a:prstDash val="solid"/>
          </a:ln>
        </p:spPr>
      </p:sp>
      <p:sp>
        <p:nvSpPr>
          <p:cNvPr id="28" name="hero 10"/>
          <p:cNvSpPr txBox="1"/>
          <p:nvPr/>
        </p:nvSpPr>
        <p:spPr>
          <a:xfrm>
            <a:off x="777240" y="5056632"/>
            <a:ext cx="621792" cy="502920"/>
          </a:xfrm>
          <a:prstGeom prst="rect">
            <a:avLst/>
          </a:prstGeom>
          <a:noFill/>
          <a:ln/>
        </p:spPr>
        <p:txBody>
          <a:bodyPr wrap="square" lIns="0" tIns="0" rIns="0" bIns="0" rtlCol="0" anchor="t"/>
          <a:lstStyle/>
          <a:p>
            <a:pPr indent="0" marL="0">
              <a:buNone/>
            </a:pPr>
            <a:r>
              <a:rPr lang="en-US" sz="3400" b="1" dirty="0">
                <a:solidFill>
                  <a:schemeClr val="accent2"/>
                </a:solidFill>
              </a:rPr>
              <a:t>10</a:t>
            </a:r>
            <a:endParaRPr lang="en-US" sz="3400" dirty="0"/>
          </a:p>
        </p:txBody>
      </p:sp>
      <p:sp>
        <p:nvSpPr>
          <p:cNvPr id="29" name="Text 25"/>
          <p:cNvSpPr txBox="1"/>
          <p:nvPr/>
        </p:nvSpPr>
        <p:spPr>
          <a:xfrm>
            <a:off x="1444752" y="5120640"/>
            <a:ext cx="2478024" cy="749808"/>
          </a:xfrm>
          <a:prstGeom prst="rect">
            <a:avLst/>
          </a:prstGeom>
          <a:noFill/>
          <a:ln/>
        </p:spPr>
        <p:txBody>
          <a:bodyPr wrap="square" lIns="0" tIns="0" rIns="0" bIns="0" rtlCol="0" anchor="t"/>
          <a:lstStyle/>
          <a:p>
            <a:pPr indent="0" marL="0">
              <a:buNone/>
            </a:pPr>
            <a:r>
              <a:rPr lang="en-US" sz="1050" dirty="0">
                <a:solidFill>
                  <a:schemeClr val="tx1"/>
                </a:solidFill>
              </a:rPr>
              <a:t>The selected international comparison identified </a:t>
            </a:r>
            <a:pPr indent="0" marL="0">
              <a:buNone/>
            </a:pPr>
            <a:r>
              <a:rPr lang="en-US" sz="1050" b="1" dirty="0">
                <a:solidFill>
                  <a:schemeClr val="tx1"/>
                </a:solidFill>
              </a:rPr>
              <a:t>10 conversational AI offerings,</a:t>
            </a:r>
            <a:pPr indent="0" marL="0">
              <a:buNone/>
            </a:pPr>
            <a:r>
              <a:rPr lang="en-US" sz="1050" dirty="0">
                <a:solidFill>
                  <a:schemeClr val="tx1"/>
                </a:solidFill>
              </a:rPr>
              <a:t> providing additional examples of how vendors position conversational interaction.</a:t>
            </a:r>
            <a:endParaRPr lang="en-US" sz="1050" dirty="0"/>
          </a:p>
        </p:txBody>
      </p:sp>
      <p:sp>
        <p:nvSpPr>
          <p:cNvPr id="30" name="optum ls positioning card"/>
          <p:cNvSpPr/>
          <p:nvPr/>
        </p:nvSpPr>
        <p:spPr>
          <a:xfrm>
            <a:off x="4306824" y="3218688"/>
            <a:ext cx="3575304" cy="2834640"/>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31" name="icon circle"/>
          <p:cNvSpPr/>
          <p:nvPr/>
        </p:nvSpPr>
        <p:spPr>
          <a:xfrm>
            <a:off x="4535424" y="3419856"/>
            <a:ext cx="457200" cy="457200"/>
          </a:xfrm>
          <a:prstGeom prst="ellipse">
            <a:avLst/>
          </a:prstGeom>
          <a:solidFill>
            <a:schemeClr val="accent5"/>
          </a:solidFill>
          <a:ln/>
        </p:spPr>
      </p:sp>
      <p:pic>
        <p:nvPicPr>
          <p:cNvPr id="32" name="icon MdOutlineLayers" descr="preencoded.png">    </p:cNvPr>
          <p:cNvPicPr>
            <a:picLocks noChangeAspect="1"/>
          </p:cNvPicPr>
          <p:nvPr/>
        </p:nvPicPr>
        <p:blipFill>
          <a:blip r:embed="rId3"/>
          <a:stretch>
            <a:fillRect/>
          </a:stretch>
        </p:blipFill>
        <p:spPr>
          <a:xfrm>
            <a:off x="4636008" y="3520440"/>
            <a:ext cx="256032" cy="256032"/>
          </a:xfrm>
          <a:prstGeom prst="rect">
            <a:avLst/>
          </a:prstGeom>
        </p:spPr>
      </p:pic>
      <p:sp>
        <p:nvSpPr>
          <p:cNvPr id="33" name="card label"/>
          <p:cNvSpPr txBox="1"/>
          <p:nvPr/>
        </p:nvSpPr>
        <p:spPr>
          <a:xfrm>
            <a:off x="5111496" y="3511296"/>
            <a:ext cx="2660904" cy="237744"/>
          </a:xfrm>
          <a:prstGeom prst="rect">
            <a:avLst/>
          </a:prstGeom>
          <a:noFill/>
          <a:ln/>
        </p:spPr>
        <p:txBody>
          <a:bodyPr wrap="square" lIns="0" tIns="0" rIns="0" bIns="0" rtlCol="0" anchor="ctr"/>
          <a:lstStyle/>
          <a:p>
            <a:pPr indent="0" marL="0">
              <a:buNone/>
            </a:pPr>
            <a:r>
              <a:rPr lang="en-US" sz="1300" b="1" spc="150" kern="0" dirty="0">
                <a:solidFill>
                  <a:schemeClr val="accent2"/>
                </a:solidFill>
              </a:rPr>
              <a:t>OPTUM LS POSITIONING</a:t>
            </a:r>
            <a:endParaRPr lang="en-US" sz="1300" dirty="0"/>
          </a:p>
        </p:txBody>
      </p:sp>
      <p:sp>
        <p:nvSpPr>
          <p:cNvPr id="34" name="Text 29"/>
          <p:cNvSpPr txBox="1"/>
          <p:nvPr/>
        </p:nvSpPr>
        <p:spPr>
          <a:xfrm>
            <a:off x="4535424" y="4087368"/>
            <a:ext cx="3118104" cy="1645920"/>
          </a:xfrm>
          <a:prstGeom prst="rect">
            <a:avLst/>
          </a:prstGeom>
          <a:noFill/>
          <a:ln/>
        </p:spPr>
        <p:txBody>
          <a:bodyPr wrap="square" lIns="0" tIns="0" rIns="0" bIns="0" rtlCol="0" anchor="t"/>
          <a:lstStyle/>
          <a:p>
            <a:pPr indent="0" marL="0">
              <a:spcAft>
                <a:spcPts val="900"/>
              </a:spcAft>
              <a:buNone/>
            </a:pPr>
            <a:r>
              <a:rPr lang="en-US" sz="1100" dirty="0">
                <a:solidFill>
                  <a:schemeClr val="tx1"/>
                </a:solidFill>
              </a:rPr>
              <a:t>Optum LS publicly emphasizes linked healthcare data, AI-enabled research tools and scientific expertise.</a:t>
            </a:r>
            <a:endParaRPr lang="en-US" sz="1100" dirty="0"/>
          </a:p>
          <a:p>
            <a:pPr indent="0" marL="0">
              <a:spcAft>
                <a:spcPts val="900"/>
              </a:spcAft>
              <a:buNone/>
            </a:pPr>
            <a:r>
              <a:rPr lang="en-US" sz="1100" dirty="0">
                <a:solidFill>
                  <a:schemeClr val="tx1"/>
                </a:solidFill>
              </a:rPr>
              <a:t>Several competitors prominently market conversational interfaces as the entry point to comparable customer tasks.</a:t>
            </a:r>
            <a:endParaRPr lang="en-US" sz="1100" dirty="0"/>
          </a:p>
          <a:p>
            <a:pPr indent="0" marL="0">
              <a:spcAft>
                <a:spcPts val="900"/>
              </a:spcAft>
              <a:buNone/>
            </a:pPr>
            <a:r>
              <a:rPr lang="en-US" sz="1100" b="1" dirty="0">
                <a:solidFill>
                  <a:schemeClr val="accent1"/>
                </a:solidFill>
              </a:rPr>
              <a:t>This reflects differences in public positioning, not necessarily in underlying functionality.</a:t>
            </a:r>
            <a:endParaRPr lang="en-US" sz="1100" dirty="0"/>
          </a:p>
        </p:txBody>
      </p:sp>
      <p:sp>
        <p:nvSpPr>
          <p:cNvPr id="35" name="strategic implication card"/>
          <p:cNvSpPr/>
          <p:nvPr/>
        </p:nvSpPr>
        <p:spPr>
          <a:xfrm>
            <a:off x="8065008" y="3218688"/>
            <a:ext cx="3575304" cy="2834640"/>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36" name="icon circle"/>
          <p:cNvSpPr/>
          <p:nvPr/>
        </p:nvSpPr>
        <p:spPr>
          <a:xfrm>
            <a:off x="8293608" y="3419856"/>
            <a:ext cx="457200" cy="457200"/>
          </a:xfrm>
          <a:prstGeom prst="ellipse">
            <a:avLst/>
          </a:prstGeom>
          <a:solidFill>
            <a:schemeClr val="accent5"/>
          </a:solidFill>
          <a:ln/>
        </p:spPr>
      </p:sp>
      <p:pic>
        <p:nvPicPr>
          <p:cNvPr id="37" name="icon MdOutlineLightbulb" descr="preencoded.png">    </p:cNvPr>
          <p:cNvPicPr>
            <a:picLocks noChangeAspect="1"/>
          </p:cNvPicPr>
          <p:nvPr/>
        </p:nvPicPr>
        <p:blipFill>
          <a:blip r:embed="rId4"/>
          <a:stretch>
            <a:fillRect/>
          </a:stretch>
        </p:blipFill>
        <p:spPr>
          <a:xfrm>
            <a:off x="8394192" y="3520440"/>
            <a:ext cx="256032" cy="256032"/>
          </a:xfrm>
          <a:prstGeom prst="rect">
            <a:avLst/>
          </a:prstGeom>
        </p:spPr>
      </p:pic>
      <p:sp>
        <p:nvSpPr>
          <p:cNvPr id="38" name="card label"/>
          <p:cNvSpPr txBox="1"/>
          <p:nvPr/>
        </p:nvSpPr>
        <p:spPr>
          <a:xfrm>
            <a:off x="8869680" y="3511296"/>
            <a:ext cx="2660904" cy="237744"/>
          </a:xfrm>
          <a:prstGeom prst="rect">
            <a:avLst/>
          </a:prstGeom>
          <a:noFill/>
          <a:ln/>
        </p:spPr>
        <p:txBody>
          <a:bodyPr wrap="square" lIns="0" tIns="0" rIns="0" bIns="0" rtlCol="0" anchor="ctr"/>
          <a:lstStyle/>
          <a:p>
            <a:pPr indent="0" marL="0">
              <a:buNone/>
            </a:pPr>
            <a:r>
              <a:rPr lang="en-US" sz="1300" b="1" spc="150" kern="0" dirty="0">
                <a:solidFill>
                  <a:schemeClr val="accent2"/>
                </a:solidFill>
              </a:rPr>
              <a:t>STRATEGIC IMPLICATION</a:t>
            </a:r>
            <a:endParaRPr lang="en-US" sz="1300" dirty="0"/>
          </a:p>
        </p:txBody>
      </p:sp>
      <p:sp>
        <p:nvSpPr>
          <p:cNvPr id="39" name="Text 33"/>
          <p:cNvSpPr txBox="1"/>
          <p:nvPr/>
        </p:nvSpPr>
        <p:spPr>
          <a:xfrm>
            <a:off x="8293608" y="4087368"/>
            <a:ext cx="3118104" cy="685800"/>
          </a:xfrm>
          <a:prstGeom prst="rect">
            <a:avLst/>
          </a:prstGeom>
          <a:noFill/>
          <a:ln/>
        </p:spPr>
        <p:txBody>
          <a:bodyPr wrap="square" lIns="0" tIns="0" rIns="0" bIns="0" rtlCol="0" anchor="t"/>
          <a:lstStyle/>
          <a:p>
            <a:pPr indent="0" marL="0">
              <a:buNone/>
            </a:pPr>
            <a:r>
              <a:rPr lang="en-US" sz="1100" dirty="0">
                <a:solidFill>
                  <a:schemeClr val="tx1"/>
                </a:solidFill>
              </a:rPr>
              <a:t>The competitive significance of conversational AI depends on the customer task, underlying data and reliability of the results.</a:t>
            </a:r>
            <a:endParaRPr lang="en-US" sz="1100" dirty="0"/>
          </a:p>
        </p:txBody>
      </p:sp>
      <p:sp>
        <p:nvSpPr>
          <p:cNvPr id="40" name="strategic question"/>
          <p:cNvSpPr txBox="1"/>
          <p:nvPr/>
        </p:nvSpPr>
        <p:spPr>
          <a:xfrm>
            <a:off x="8293608" y="4818888"/>
            <a:ext cx="3118104" cy="868680"/>
          </a:xfrm>
          <a:prstGeom prst="rect">
            <a:avLst/>
          </a:prstGeom>
          <a:noFill/>
          <a:ln/>
        </p:spPr>
        <p:txBody>
          <a:bodyPr wrap="square" lIns="0" tIns="0" rIns="0" bIns="0" rtlCol="0" anchor="t"/>
          <a:lstStyle/>
          <a:p>
            <a:pPr indent="0" marL="0">
              <a:buNone/>
            </a:pPr>
            <a:r>
              <a:rPr lang="en-US" sz="1400" b="1" dirty="0">
                <a:solidFill>
                  <a:schemeClr val="accent1"/>
                </a:solidFill>
              </a:rPr>
              <a:t>Where could conversational interaction add value to Optum LS's existing offerings?</a:t>
            </a:r>
            <a:endParaRPr lang="en-US" sz="1400" dirty="0"/>
          </a:p>
        </p:txBody>
      </p:sp>
      <p:sp>
        <p:nvSpPr>
          <p:cNvPr id="25" name="Slide Number Placeholder 0"/>
          <p:cNvSpPr>
            <a:spLocks noGrp="1"/>
          </p:cNvSpPr>
          <p:nvPr>
            <p:ph type="sldNum" sz="quarter" idx="4294967295"/>
          </p:nvPr>
        </p:nvSpPr>
        <p:spPr>
          <a:xfrm>
            <a:off x="10725912" y="6309360"/>
            <a:ext cx="9144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body" hasCustomPrompt="1"/>
          </p:nvPr>
        </p:nvSpPr>
        <p:spPr>
          <a:xfrm>
            <a:off x="548640" y="384048"/>
            <a:ext cx="8229600"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RESEARCH CATALYST</a:t>
            </a:r>
            <a:endParaRPr lang="en-US" sz="1000" dirty="0"/>
          </a:p>
        </p:txBody>
      </p:sp>
      <p:sp>
        <p:nvSpPr>
          <p:cNvPr id="3" name="Text 2"/>
          <p:cNvSpPr/>
          <p:nvPr>
            <p:ph idx="103" type="title" hasCustomPrompt="1"/>
          </p:nvPr>
        </p:nvSpPr>
        <p:spPr>
          <a:xfrm>
            <a:off x="548640" y="640080"/>
            <a:ext cx="11091672" cy="749808"/>
          </a:xfrm>
          <a:prstGeom prst="rect">
            <a:avLst/>
          </a:prstGeom>
          <a:noFill/>
          <a:ln/>
        </p:spPr>
        <p:txBody>
          <a:bodyPr wrap="square" lIns="0" tIns="0" rIns="0" bIns="0" rtlCol="0" anchor="t"/>
          <a:lstStyle/>
          <a:p>
            <a:pPr algn="l" indent="0" marL="0">
              <a:buNone/>
            </a:pPr>
            <a:r>
              <a:rPr lang="en-US" sz="2200" b="1" dirty="0">
                <a:solidFill>
                  <a:schemeClr val="accent1"/>
                </a:solidFill>
              </a:rPr>
              <a:t>Recent product launches in RWE prompted a broader examination</a:t>
            </a:r>
            <a:br/>
            <a:pPr algn="l" indent="0" marL="0">
              <a:buNone/>
            </a:pPr>
            <a:r>
              <a:rPr lang="en-US" sz="2200" b="1" dirty="0">
                <a:solidFill>
                  <a:schemeClr val="accent1"/>
                </a:solidFill>
              </a:rPr>
              <a:t>of conversational AI across life sciences</a:t>
            </a:r>
            <a:endParaRPr lang="en-US" sz="2200" dirty="0"/>
          </a:p>
        </p:txBody>
      </p:sp>
      <p:sp>
        <p:nvSpPr>
          <p:cNvPr id="4" name="label"/>
          <p:cNvSpPr txBox="1"/>
          <p:nvPr/>
        </p:nvSpPr>
        <p:spPr>
          <a:xfrm>
            <a:off x="548640" y="1536192"/>
            <a:ext cx="7315200" cy="201168"/>
          </a:xfrm>
          <a:prstGeom prst="rect">
            <a:avLst/>
          </a:prstGeom>
          <a:noFill/>
          <a:ln/>
        </p:spPr>
        <p:txBody>
          <a:bodyPr wrap="square" lIns="0" tIns="0" rIns="0" bIns="0" rtlCol="0" anchor="t"/>
          <a:lstStyle/>
          <a:p>
            <a:pPr indent="0" marL="0">
              <a:buNone/>
            </a:pPr>
            <a:r>
              <a:rPr lang="en-US" sz="1000" b="1" spc="100" kern="0" dirty="0">
                <a:solidFill>
                  <a:schemeClr val="accent2"/>
                </a:solidFill>
              </a:rPr>
              <a:t>SELECTED PUBLIC PRODUCT ANNOUNCEMENTS</a:t>
            </a:r>
            <a:endParaRPr lang="en-US" sz="1000" dirty="0"/>
          </a:p>
        </p:txBody>
      </p:sp>
      <p:sp>
        <p:nvSpPr>
          <p:cNvPr id="5" name="timeline"/>
          <p:cNvSpPr/>
          <p:nvPr/>
        </p:nvSpPr>
        <p:spPr>
          <a:xfrm>
            <a:off x="548640" y="2450592"/>
            <a:ext cx="11091672" cy="0"/>
          </a:xfrm>
          <a:prstGeom prst="line">
            <a:avLst/>
          </a:prstGeom>
          <a:noFill/>
          <a:ln w="19050">
            <a:solidFill>
              <a:schemeClr val="accent1"/>
            </a:solidFill>
            <a:prstDash val="solid"/>
          </a:ln>
        </p:spPr>
      </p:sp>
      <p:sp>
        <p:nvSpPr>
          <p:cNvPr id="6" name="Text 4"/>
          <p:cNvSpPr txBox="1"/>
          <p:nvPr/>
        </p:nvSpPr>
        <p:spPr>
          <a:xfrm>
            <a:off x="548640" y="1828800"/>
            <a:ext cx="2590038" cy="274320"/>
          </a:xfrm>
          <a:prstGeom prst="rect">
            <a:avLst/>
          </a:prstGeom>
          <a:noFill/>
          <a:ln/>
        </p:spPr>
        <p:txBody>
          <a:bodyPr wrap="square" lIns="0" tIns="0" rIns="0" bIns="0" rtlCol="0" anchor="t"/>
          <a:lstStyle/>
          <a:p>
            <a:pPr indent="0" marL="0">
              <a:buNone/>
            </a:pPr>
            <a:r>
              <a:rPr lang="en-US" sz="1500" b="1" dirty="0">
                <a:solidFill>
                  <a:schemeClr val="accent1"/>
                </a:solidFill>
              </a:rPr>
              <a:t>2024</a:t>
            </a:r>
            <a:endParaRPr lang="en-US" sz="1500" dirty="0"/>
          </a:p>
        </p:txBody>
      </p:sp>
      <p:sp>
        <p:nvSpPr>
          <p:cNvPr id="7" name="Text 5"/>
          <p:cNvSpPr txBox="1"/>
          <p:nvPr/>
        </p:nvSpPr>
        <p:spPr>
          <a:xfrm>
            <a:off x="548640" y="2103120"/>
            <a:ext cx="2590038" cy="201168"/>
          </a:xfrm>
          <a:prstGeom prst="rect">
            <a:avLst/>
          </a:prstGeom>
          <a:noFill/>
          <a:ln/>
        </p:spPr>
        <p:txBody>
          <a:bodyPr wrap="square" lIns="0" tIns="0" rIns="0" bIns="0" rtlCol="0" anchor="t"/>
          <a:lstStyle/>
          <a:p>
            <a:pPr indent="0" marL="0">
              <a:buNone/>
            </a:pPr>
            <a:r>
              <a:rPr lang="en-US" sz="1000" i="1" dirty="0">
                <a:solidFill>
                  <a:schemeClr val="accent4"/>
                </a:solidFill>
              </a:rPr>
              <a:t>Earlier precedents</a:t>
            </a:r>
            <a:endParaRPr lang="en-US" sz="1000" dirty="0"/>
          </a:p>
        </p:txBody>
      </p:sp>
      <p:sp>
        <p:nvSpPr>
          <p:cNvPr id="8" name="milestone"/>
          <p:cNvSpPr/>
          <p:nvPr/>
        </p:nvSpPr>
        <p:spPr>
          <a:xfrm>
            <a:off x="548640" y="2368296"/>
            <a:ext cx="164592" cy="164592"/>
          </a:xfrm>
          <a:prstGeom prst="ellipse">
            <a:avLst/>
          </a:prstGeom>
          <a:solidFill>
            <a:schemeClr val="accent1"/>
          </a:solidFill>
          <a:ln w="19050">
            <a:solidFill>
              <a:schemeClr val="bg2"/>
            </a:solidFill>
            <a:prstDash val="solid"/>
          </a:ln>
        </p:spPr>
      </p:sp>
      <p:sp>
        <p:nvSpPr>
          <p:cNvPr id="9" name="Text 7"/>
          <p:cNvSpPr txBox="1"/>
          <p:nvPr/>
        </p:nvSpPr>
        <p:spPr>
          <a:xfrm>
            <a:off x="548640" y="2615184"/>
            <a:ext cx="2544318" cy="1371600"/>
          </a:xfrm>
          <a:prstGeom prst="rect">
            <a:avLst/>
          </a:prstGeom>
          <a:noFill/>
          <a:ln/>
        </p:spPr>
        <p:txBody>
          <a:bodyPr wrap="square" lIns="0" tIns="0" rIns="0" bIns="0" rtlCol="0" anchor="t"/>
          <a:lstStyle/>
          <a:p>
            <a:pPr indent="0" marL="0">
              <a:buNone/>
            </a:pPr>
            <a:r>
              <a:rPr lang="en-US" sz="1050" dirty="0">
                <a:solidFill>
                  <a:schemeClr val="tx1"/>
                </a:solidFill>
              </a:rPr>
              <a:t>Tempus’s </a:t>
            </a:r>
            <a:pPr indent="0" marL="0">
              <a:buNone/>
            </a:pPr>
            <a:r>
              <a:rPr lang="en-US" sz="1050" b="1" dirty="0">
                <a:solidFill>
                  <a:schemeClr val="tx1"/>
                </a:solidFill>
              </a:rPr>
              <a:t>Tempus One / Lens</a:t>
            </a:r>
            <a:pPr indent="0" marL="0">
              <a:buNone/>
            </a:pPr>
            <a:r>
              <a:rPr lang="en-US" sz="1050" dirty="0">
                <a:solidFill>
                  <a:schemeClr val="tx1"/>
                </a:solidFill>
              </a:rPr>
              <a:t> — AI-assisted research and cohort exploration (February)</a:t>
            </a:r>
            <a:endParaRPr lang="en-US" sz="1050" dirty="0"/>
          </a:p>
          <a:p>
            <a:pPr indent="0" marL="0">
              <a:spcBef>
                <a:spcPts val="800"/>
              </a:spcBef>
              <a:buNone/>
            </a:pPr>
            <a:r>
              <a:rPr lang="en-US" sz="1050" dirty="0">
                <a:solidFill>
                  <a:schemeClr val="tx1"/>
                </a:solidFill>
              </a:rPr>
              <a:t>Komodo Health’s </a:t>
            </a:r>
            <a:pPr indent="0" marL="0">
              <a:buNone/>
            </a:pPr>
            <a:r>
              <a:rPr lang="en-US" sz="1050" b="1" dirty="0">
                <a:solidFill>
                  <a:schemeClr val="tx1"/>
                </a:solidFill>
              </a:rPr>
              <a:t>MapAI</a:t>
            </a:r>
            <a:pPr indent="0" marL="0">
              <a:buNone/>
            </a:pPr>
            <a:r>
              <a:rPr lang="en-US" sz="1050" dirty="0">
                <a:solidFill>
                  <a:schemeClr val="tx1"/>
                </a:solidFill>
              </a:rPr>
              <a:t> — conversational healthcare analytics (September)</a:t>
            </a:r>
            <a:endParaRPr lang="en-US" sz="1050" dirty="0"/>
          </a:p>
        </p:txBody>
      </p:sp>
      <p:sp>
        <p:nvSpPr>
          <p:cNvPr id="10" name="Text 8"/>
          <p:cNvSpPr txBox="1"/>
          <p:nvPr/>
        </p:nvSpPr>
        <p:spPr>
          <a:xfrm>
            <a:off x="3321558" y="1828800"/>
            <a:ext cx="2590038" cy="274320"/>
          </a:xfrm>
          <a:prstGeom prst="rect">
            <a:avLst/>
          </a:prstGeom>
          <a:noFill/>
          <a:ln/>
        </p:spPr>
        <p:txBody>
          <a:bodyPr wrap="square" lIns="0" tIns="0" rIns="0" bIns="0" rtlCol="0" anchor="t"/>
          <a:lstStyle/>
          <a:p>
            <a:pPr indent="0" marL="0">
              <a:buNone/>
            </a:pPr>
            <a:r>
              <a:rPr lang="en-US" sz="1500" b="1" dirty="0">
                <a:solidFill>
                  <a:schemeClr val="accent1"/>
                </a:solidFill>
              </a:rPr>
              <a:t>August 2025</a:t>
            </a:r>
            <a:endParaRPr lang="en-US" sz="1500" dirty="0"/>
          </a:p>
        </p:txBody>
      </p:sp>
      <p:sp>
        <p:nvSpPr>
          <p:cNvPr id="11" name="Text 9"/>
          <p:cNvSpPr txBox="1"/>
          <p:nvPr/>
        </p:nvSpPr>
        <p:spPr>
          <a:xfrm>
            <a:off x="3321558" y="2103120"/>
            <a:ext cx="2590038" cy="201168"/>
          </a:xfrm>
          <a:prstGeom prst="rect">
            <a:avLst/>
          </a:prstGeom>
          <a:noFill/>
          <a:ln/>
        </p:spPr>
        <p:txBody>
          <a:bodyPr wrap="square" lIns="0" tIns="0" rIns="0" bIns="0" rtlCol="0" anchor="t"/>
          <a:lstStyle/>
          <a:p>
            <a:pPr indent="0" marL="0">
              <a:buNone/>
            </a:pPr>
            <a:r>
              <a:rPr lang="en-US" sz="1000" i="1" dirty="0">
                <a:solidFill>
                  <a:schemeClr val="accent4"/>
                </a:solidFill>
              </a:rPr>
              <a:t>Platform expansion</a:t>
            </a:r>
            <a:endParaRPr lang="en-US" sz="1000" dirty="0"/>
          </a:p>
        </p:txBody>
      </p:sp>
      <p:sp>
        <p:nvSpPr>
          <p:cNvPr id="12" name="milestone"/>
          <p:cNvSpPr/>
          <p:nvPr/>
        </p:nvSpPr>
        <p:spPr>
          <a:xfrm>
            <a:off x="3321558" y="2368296"/>
            <a:ext cx="164592" cy="164592"/>
          </a:xfrm>
          <a:prstGeom prst="ellipse">
            <a:avLst/>
          </a:prstGeom>
          <a:solidFill>
            <a:schemeClr val="accent1"/>
          </a:solidFill>
          <a:ln w="19050">
            <a:solidFill>
              <a:schemeClr val="bg2"/>
            </a:solidFill>
            <a:prstDash val="solid"/>
          </a:ln>
        </p:spPr>
      </p:sp>
      <p:sp>
        <p:nvSpPr>
          <p:cNvPr id="13" name="Text 11"/>
          <p:cNvSpPr txBox="1"/>
          <p:nvPr/>
        </p:nvSpPr>
        <p:spPr>
          <a:xfrm>
            <a:off x="3321558" y="2615184"/>
            <a:ext cx="2544318" cy="1371600"/>
          </a:xfrm>
          <a:prstGeom prst="rect">
            <a:avLst/>
          </a:prstGeom>
          <a:noFill/>
          <a:ln/>
        </p:spPr>
        <p:txBody>
          <a:bodyPr wrap="square" lIns="0" tIns="0" rIns="0" bIns="0" rtlCol="0" anchor="t"/>
          <a:lstStyle/>
          <a:p>
            <a:pPr indent="0" marL="0">
              <a:buNone/>
            </a:pPr>
            <a:r>
              <a:rPr lang="en-US" sz="1050" dirty="0">
                <a:solidFill>
                  <a:schemeClr val="tx1"/>
                </a:solidFill>
              </a:rPr>
              <a:t>Komodo Health’s </a:t>
            </a:r>
            <a:pPr indent="0" marL="0">
              <a:buNone/>
            </a:pPr>
            <a:r>
              <a:rPr lang="en-US" sz="1050" b="1" dirty="0">
                <a:solidFill>
                  <a:schemeClr val="tx1"/>
                </a:solidFill>
              </a:rPr>
              <a:t>Marmot</a:t>
            </a:r>
            <a:pPr indent="0" marL="0">
              <a:buNone/>
            </a:pPr>
            <a:r>
              <a:rPr lang="en-US" sz="1050" dirty="0">
                <a:solidFill>
                  <a:schemeClr val="tx1"/>
                </a:solidFill>
              </a:rPr>
              <a:t> — AI-powered healthcare analytics and research workflows</a:t>
            </a:r>
            <a:endParaRPr lang="en-US" sz="1050" dirty="0"/>
          </a:p>
        </p:txBody>
      </p:sp>
      <p:sp>
        <p:nvSpPr>
          <p:cNvPr id="14" name="Text 12"/>
          <p:cNvSpPr txBox="1"/>
          <p:nvPr/>
        </p:nvSpPr>
        <p:spPr>
          <a:xfrm>
            <a:off x="6094476" y="1828800"/>
            <a:ext cx="2590038" cy="274320"/>
          </a:xfrm>
          <a:prstGeom prst="rect">
            <a:avLst/>
          </a:prstGeom>
          <a:noFill/>
          <a:ln/>
        </p:spPr>
        <p:txBody>
          <a:bodyPr wrap="square" lIns="0" tIns="0" rIns="0" bIns="0" rtlCol="0" anchor="t"/>
          <a:lstStyle/>
          <a:p>
            <a:pPr indent="0" marL="0">
              <a:buNone/>
            </a:pPr>
            <a:r>
              <a:rPr lang="en-US" sz="1500" b="1" dirty="0">
                <a:solidFill>
                  <a:schemeClr val="accent1"/>
                </a:solidFill>
              </a:rPr>
              <a:t>April–May 2026</a:t>
            </a:r>
            <a:endParaRPr lang="en-US" sz="1500" dirty="0"/>
          </a:p>
        </p:txBody>
      </p:sp>
      <p:sp>
        <p:nvSpPr>
          <p:cNvPr id="15" name="Text 13"/>
          <p:cNvSpPr txBox="1"/>
          <p:nvPr/>
        </p:nvSpPr>
        <p:spPr>
          <a:xfrm>
            <a:off x="6094476" y="2103120"/>
            <a:ext cx="2590038" cy="201168"/>
          </a:xfrm>
          <a:prstGeom prst="rect">
            <a:avLst/>
          </a:prstGeom>
          <a:noFill/>
          <a:ln/>
        </p:spPr>
        <p:txBody>
          <a:bodyPr wrap="square" lIns="0" tIns="0" rIns="0" bIns="0" rtlCol="0" anchor="t"/>
          <a:lstStyle/>
          <a:p>
            <a:pPr indent="0" marL="0">
              <a:buNone/>
            </a:pPr>
            <a:r>
              <a:rPr lang="en-US" sz="1000" i="1" dirty="0">
                <a:solidFill>
                  <a:schemeClr val="accent4"/>
                </a:solidFill>
              </a:rPr>
              <a:t>Research-interface launches</a:t>
            </a:r>
            <a:endParaRPr lang="en-US" sz="1000" dirty="0"/>
          </a:p>
        </p:txBody>
      </p:sp>
      <p:sp>
        <p:nvSpPr>
          <p:cNvPr id="16" name="milestone"/>
          <p:cNvSpPr/>
          <p:nvPr/>
        </p:nvSpPr>
        <p:spPr>
          <a:xfrm>
            <a:off x="6094476" y="2368296"/>
            <a:ext cx="164592" cy="164592"/>
          </a:xfrm>
          <a:prstGeom prst="ellipse">
            <a:avLst/>
          </a:prstGeom>
          <a:solidFill>
            <a:schemeClr val="accent1"/>
          </a:solidFill>
          <a:ln w="19050">
            <a:solidFill>
              <a:schemeClr val="bg2"/>
            </a:solidFill>
            <a:prstDash val="solid"/>
          </a:ln>
        </p:spPr>
      </p:sp>
      <p:sp>
        <p:nvSpPr>
          <p:cNvPr id="17" name="Text 15"/>
          <p:cNvSpPr txBox="1"/>
          <p:nvPr/>
        </p:nvSpPr>
        <p:spPr>
          <a:xfrm>
            <a:off x="6094476" y="2615184"/>
            <a:ext cx="2544318" cy="1371600"/>
          </a:xfrm>
          <a:prstGeom prst="rect">
            <a:avLst/>
          </a:prstGeom>
          <a:noFill/>
          <a:ln/>
        </p:spPr>
        <p:txBody>
          <a:bodyPr wrap="square" lIns="0" tIns="0" rIns="0" bIns="0" rtlCol="0" anchor="t"/>
          <a:lstStyle/>
          <a:p>
            <a:pPr indent="0" marL="0">
              <a:buNone/>
            </a:pPr>
            <a:r>
              <a:rPr lang="en-US" sz="1050" dirty="0">
                <a:solidFill>
                  <a:schemeClr val="tx1"/>
                </a:solidFill>
              </a:rPr>
              <a:t>Truveta’s </a:t>
            </a:r>
            <a:pPr indent="0" marL="0">
              <a:buNone/>
            </a:pPr>
            <a:r>
              <a:rPr lang="en-US" sz="1050" b="1" dirty="0">
                <a:solidFill>
                  <a:schemeClr val="tx1"/>
                </a:solidFill>
              </a:rPr>
              <a:t>Truveta Intelligence</a:t>
            </a:r>
            <a:pPr indent="0" marL="0">
              <a:buNone/>
            </a:pPr>
            <a:r>
              <a:rPr lang="en-US" sz="1050" dirty="0">
                <a:solidFill>
                  <a:schemeClr val="tx1"/>
                </a:solidFill>
              </a:rPr>
              <a:t> — natural-language RWE research questions</a:t>
            </a:r>
            <a:endParaRPr lang="en-US" sz="1050" dirty="0"/>
          </a:p>
          <a:p>
            <a:pPr indent="0" marL="0">
              <a:spcBef>
                <a:spcPts val="800"/>
              </a:spcBef>
              <a:buNone/>
            </a:pPr>
            <a:r>
              <a:rPr lang="en-US" sz="1050" dirty="0">
                <a:solidFill>
                  <a:schemeClr val="tx1"/>
                </a:solidFill>
              </a:rPr>
              <a:t>Flatiron Health’s </a:t>
            </a:r>
            <a:pPr indent="0" marL="0">
              <a:buNone/>
            </a:pPr>
            <a:r>
              <a:rPr lang="en-US" sz="1050" b="1" dirty="0">
                <a:solidFill>
                  <a:schemeClr val="tx1"/>
                </a:solidFill>
              </a:rPr>
              <a:t>Telescope</a:t>
            </a:r>
            <a:pPr indent="0" marL="0">
              <a:buNone/>
            </a:pPr>
            <a:r>
              <a:rPr lang="en-US" sz="1050" dirty="0">
                <a:solidFill>
                  <a:schemeClr val="tx1"/>
                </a:solidFill>
              </a:rPr>
              <a:t> — conversational oncology cohort exploration</a:t>
            </a:r>
            <a:endParaRPr lang="en-US" sz="1050" dirty="0"/>
          </a:p>
        </p:txBody>
      </p:sp>
      <p:sp>
        <p:nvSpPr>
          <p:cNvPr id="18" name="Text 16"/>
          <p:cNvSpPr txBox="1"/>
          <p:nvPr/>
        </p:nvSpPr>
        <p:spPr>
          <a:xfrm>
            <a:off x="8867394" y="1828800"/>
            <a:ext cx="2590038" cy="274320"/>
          </a:xfrm>
          <a:prstGeom prst="rect">
            <a:avLst/>
          </a:prstGeom>
          <a:noFill/>
          <a:ln/>
        </p:spPr>
        <p:txBody>
          <a:bodyPr wrap="square" lIns="0" tIns="0" rIns="0" bIns="0" rtlCol="0" anchor="t"/>
          <a:lstStyle/>
          <a:p>
            <a:pPr indent="0" marL="0">
              <a:buNone/>
            </a:pPr>
            <a:r>
              <a:rPr lang="en-US" sz="1500" b="1" dirty="0">
                <a:solidFill>
                  <a:schemeClr val="accent1"/>
                </a:solidFill>
              </a:rPr>
              <a:t>September 2026</a:t>
            </a:r>
            <a:endParaRPr lang="en-US" sz="1500" dirty="0"/>
          </a:p>
        </p:txBody>
      </p:sp>
      <p:sp>
        <p:nvSpPr>
          <p:cNvPr id="19" name="Text 17"/>
          <p:cNvSpPr txBox="1"/>
          <p:nvPr/>
        </p:nvSpPr>
        <p:spPr>
          <a:xfrm>
            <a:off x="8867394" y="2103120"/>
            <a:ext cx="2590038" cy="201168"/>
          </a:xfrm>
          <a:prstGeom prst="rect">
            <a:avLst/>
          </a:prstGeom>
          <a:noFill/>
          <a:ln/>
        </p:spPr>
        <p:txBody>
          <a:bodyPr wrap="square" lIns="0" tIns="0" rIns="0" bIns="0" rtlCol="0" anchor="t"/>
          <a:lstStyle/>
          <a:p>
            <a:pPr indent="0" marL="0">
              <a:buNone/>
            </a:pPr>
            <a:r>
              <a:rPr lang="en-US" sz="1000" i="1" dirty="0">
                <a:solidFill>
                  <a:schemeClr val="accent4"/>
                </a:solidFill>
              </a:rPr>
              <a:t>New releases</a:t>
            </a:r>
            <a:endParaRPr lang="en-US" sz="1000" dirty="0"/>
          </a:p>
        </p:txBody>
      </p:sp>
      <p:sp>
        <p:nvSpPr>
          <p:cNvPr id="20" name="milestone"/>
          <p:cNvSpPr/>
          <p:nvPr/>
        </p:nvSpPr>
        <p:spPr>
          <a:xfrm>
            <a:off x="8867394" y="2368296"/>
            <a:ext cx="164592" cy="164592"/>
          </a:xfrm>
          <a:prstGeom prst="ellipse">
            <a:avLst/>
          </a:prstGeom>
          <a:solidFill>
            <a:schemeClr val="accent2"/>
          </a:solidFill>
          <a:ln w="19050">
            <a:solidFill>
              <a:schemeClr val="bg2"/>
            </a:solidFill>
            <a:prstDash val="solid"/>
          </a:ln>
        </p:spPr>
      </p:sp>
      <p:sp>
        <p:nvSpPr>
          <p:cNvPr id="21" name="Text 19"/>
          <p:cNvSpPr txBox="1"/>
          <p:nvPr/>
        </p:nvSpPr>
        <p:spPr>
          <a:xfrm>
            <a:off x="8867394" y="2615184"/>
            <a:ext cx="2544318" cy="1371600"/>
          </a:xfrm>
          <a:prstGeom prst="rect">
            <a:avLst/>
          </a:prstGeom>
          <a:noFill/>
          <a:ln/>
        </p:spPr>
        <p:txBody>
          <a:bodyPr wrap="square" lIns="0" tIns="0" rIns="0" bIns="0" rtlCol="0" anchor="t"/>
          <a:lstStyle/>
          <a:p>
            <a:pPr indent="0" marL="0">
              <a:buNone/>
            </a:pPr>
            <a:r>
              <a:rPr lang="en-US" sz="1050" dirty="0">
                <a:solidFill>
                  <a:schemeClr val="tx1"/>
                </a:solidFill>
              </a:rPr>
              <a:t>Verana Health’s </a:t>
            </a:r>
            <a:pPr indent="0" marL="0">
              <a:buNone/>
            </a:pPr>
            <a:r>
              <a:rPr lang="en-US" sz="1050" b="1" dirty="0">
                <a:solidFill>
                  <a:schemeClr val="tx1"/>
                </a:solidFill>
              </a:rPr>
              <a:t>Agent Claire</a:t>
            </a:r>
            <a:pPr indent="0" marL="0">
              <a:buNone/>
            </a:pPr>
            <a:r>
              <a:rPr lang="en-US" sz="1050" dirty="0">
                <a:solidFill>
                  <a:schemeClr val="tx1"/>
                </a:solidFill>
              </a:rPr>
              <a:t> — conversational specialty-data research</a:t>
            </a:r>
            <a:endParaRPr lang="en-US" sz="1050" dirty="0"/>
          </a:p>
          <a:p>
            <a:pPr indent="0" marL="0">
              <a:spcBef>
                <a:spcPts val="800"/>
              </a:spcBef>
              <a:buNone/>
            </a:pPr>
            <a:r>
              <a:rPr lang="en-US" sz="1050" dirty="0">
                <a:solidFill>
                  <a:schemeClr val="tx1"/>
                </a:solidFill>
              </a:rPr>
              <a:t>Norstella’s </a:t>
            </a:r>
            <a:pPr indent="0" marL="0">
              <a:buNone/>
            </a:pPr>
            <a:r>
              <a:rPr lang="en-US" sz="1050" b="1" dirty="0">
                <a:solidFill>
                  <a:schemeClr val="tx1"/>
                </a:solidFill>
              </a:rPr>
              <a:t>Atlas Patient Analytics</a:t>
            </a:r>
            <a:pPr indent="0" marL="0">
              <a:buNone/>
            </a:pPr>
            <a:r>
              <a:rPr lang="en-US" sz="1050" dirty="0">
                <a:solidFill>
                  <a:schemeClr val="tx1"/>
                </a:solidFill>
              </a:rPr>
              <a:t> — agentic, managed cohort analytics</a:t>
            </a:r>
            <a:endParaRPr lang="en-US" sz="1050" dirty="0"/>
          </a:p>
        </p:txBody>
      </p:sp>
      <p:sp>
        <p:nvSpPr>
          <p:cNvPr id="22" name="the broader competitive question card"/>
          <p:cNvSpPr/>
          <p:nvPr/>
        </p:nvSpPr>
        <p:spPr>
          <a:xfrm>
            <a:off x="548640" y="4114800"/>
            <a:ext cx="5454396" cy="1920240"/>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23" name="label"/>
          <p:cNvSpPr txBox="1"/>
          <p:nvPr/>
        </p:nvSpPr>
        <p:spPr>
          <a:xfrm>
            <a:off x="749808" y="4538472"/>
            <a:ext cx="5052060" cy="256032"/>
          </a:xfrm>
          <a:prstGeom prst="rect">
            <a:avLst/>
          </a:prstGeom>
          <a:noFill/>
          <a:ln/>
        </p:spPr>
        <p:txBody>
          <a:bodyPr wrap="square" lIns="0" tIns="0" rIns="0" bIns="0" rtlCol="0" anchor="t"/>
          <a:lstStyle/>
          <a:p>
            <a:pPr indent="0" marL="0">
              <a:buNone/>
            </a:pPr>
            <a:r>
              <a:rPr lang="en-US" sz="1300" b="1" spc="150" kern="0" dirty="0">
                <a:solidFill>
                  <a:schemeClr val="accent2"/>
                </a:solidFill>
              </a:rPr>
              <a:t>THE BROADER COMPETITIVE QUESTION</a:t>
            </a:r>
            <a:endParaRPr lang="en-US" sz="1300" dirty="0"/>
          </a:p>
        </p:txBody>
      </p:sp>
      <p:sp>
        <p:nvSpPr>
          <p:cNvPr id="24" name="Text 22"/>
          <p:cNvSpPr txBox="1"/>
          <p:nvPr/>
        </p:nvSpPr>
        <p:spPr>
          <a:xfrm>
            <a:off x="749808" y="4867656"/>
            <a:ext cx="5052060" cy="612648"/>
          </a:xfrm>
          <a:prstGeom prst="rect">
            <a:avLst/>
          </a:prstGeom>
          <a:noFill/>
          <a:ln/>
        </p:spPr>
        <p:txBody>
          <a:bodyPr wrap="square" lIns="0" tIns="0" rIns="0" bIns="0" rtlCol="0" anchor="t"/>
          <a:lstStyle/>
          <a:p>
            <a:pPr indent="0" marL="0">
              <a:buNone/>
            </a:pPr>
            <a:r>
              <a:rPr lang="en-US" sz="1200" b="1" dirty="0">
                <a:solidFill>
                  <a:schemeClr val="accent1"/>
                </a:solidFill>
              </a:rPr>
              <a:t>Where else are life sciences vendors marketing conversational AI, what tasks does it serve, and how does that positioning compare with Optum LS?</a:t>
            </a:r>
            <a:endParaRPr lang="en-US" sz="1200" dirty="0"/>
          </a:p>
        </p:txBody>
      </p:sp>
      <p:sp>
        <p:nvSpPr>
          <p:cNvPr id="25" name="our research response card"/>
          <p:cNvSpPr/>
          <p:nvPr/>
        </p:nvSpPr>
        <p:spPr>
          <a:xfrm>
            <a:off x="6185916" y="4114800"/>
            <a:ext cx="5454396" cy="1920240"/>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26" name="label"/>
          <p:cNvSpPr txBox="1"/>
          <p:nvPr/>
        </p:nvSpPr>
        <p:spPr>
          <a:xfrm>
            <a:off x="6387084" y="4538472"/>
            <a:ext cx="5052060" cy="256032"/>
          </a:xfrm>
          <a:prstGeom prst="rect">
            <a:avLst/>
          </a:prstGeom>
          <a:noFill/>
          <a:ln/>
        </p:spPr>
        <p:txBody>
          <a:bodyPr wrap="square" lIns="0" tIns="0" rIns="0" bIns="0" rtlCol="0" anchor="t"/>
          <a:lstStyle/>
          <a:p>
            <a:pPr indent="0" marL="0">
              <a:buNone/>
            </a:pPr>
            <a:r>
              <a:rPr lang="en-US" sz="1300" b="1" spc="150" kern="0" dirty="0">
                <a:solidFill>
                  <a:schemeClr val="accent2"/>
                </a:solidFill>
              </a:rPr>
              <a:t>OUR RESEARCH RESPONSE</a:t>
            </a:r>
            <a:endParaRPr lang="en-US" sz="1300" dirty="0"/>
          </a:p>
        </p:txBody>
      </p:sp>
      <p:sp>
        <p:nvSpPr>
          <p:cNvPr id="27" name="Text 25"/>
          <p:cNvSpPr txBox="1"/>
          <p:nvPr/>
        </p:nvSpPr>
        <p:spPr>
          <a:xfrm>
            <a:off x="6387084" y="4867656"/>
            <a:ext cx="5052060" cy="798576"/>
          </a:xfrm>
          <a:prstGeom prst="rect">
            <a:avLst/>
          </a:prstGeom>
          <a:noFill/>
          <a:ln/>
        </p:spPr>
        <p:txBody>
          <a:bodyPr wrap="square" lIns="0" tIns="0" rIns="0" bIns="0" rtlCol="0" anchor="t"/>
          <a:lstStyle/>
          <a:p>
            <a:pPr indent="0" marL="0">
              <a:buNone/>
            </a:pPr>
            <a:r>
              <a:rPr lang="en-US" sz="1200" b="1" dirty="0">
                <a:solidFill>
                  <a:schemeClr val="tx1"/>
                </a:solidFill>
              </a:rPr>
              <a:t>We look beyond RWE to assess publicly-marketed conversational AI across five Optum LS-aligned domains, prioritizing the U.S. competitive landscape and using selected international offerings for context.</a:t>
            </a:r>
            <a:endParaRPr lang="en-US" sz="1200" dirty="0"/>
          </a:p>
        </p:txBody>
      </p:sp>
      <p:sp>
        <p:nvSpPr>
          <p:cNvPr id="25" name="Slide Number Placeholder 0"/>
          <p:cNvSpPr>
            <a:spLocks noGrp="1"/>
          </p:cNvSpPr>
          <p:nvPr>
            <p:ph type="sldNum" sz="quarter" idx="4294967295"/>
          </p:nvPr>
        </p:nvSpPr>
        <p:spPr>
          <a:xfrm>
            <a:off x="10725912" y="6309360"/>
            <a:ext cx="9144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body" hasCustomPrompt="1"/>
          </p:nvPr>
        </p:nvSpPr>
        <p:spPr>
          <a:xfrm>
            <a:off x="548640" y="384048"/>
            <a:ext cx="8229600"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U.S. COMPETITIVE LANDSCAPE</a:t>
            </a:r>
            <a:endParaRPr lang="en-US" sz="1000" dirty="0"/>
          </a:p>
        </p:txBody>
      </p:sp>
      <p:sp>
        <p:nvSpPr>
          <p:cNvPr id="3" name="Text 2"/>
          <p:cNvSpPr/>
          <p:nvPr>
            <p:ph idx="103" type="title" hasCustomPrompt="1"/>
          </p:nvPr>
        </p:nvSpPr>
        <p:spPr>
          <a:xfrm>
            <a:off x="548640" y="640080"/>
            <a:ext cx="11091672" cy="749808"/>
          </a:xfrm>
          <a:prstGeom prst="rect">
            <a:avLst/>
          </a:prstGeom>
          <a:noFill/>
          <a:ln/>
        </p:spPr>
        <p:txBody>
          <a:bodyPr wrap="square" lIns="0" tIns="0" rIns="0" bIns="0" rtlCol="0" anchor="t"/>
          <a:lstStyle/>
          <a:p>
            <a:pPr algn="l" indent="0" marL="0">
              <a:buNone/>
            </a:pPr>
            <a:r>
              <a:rPr lang="en-US" sz="2200" b="1" dirty="0">
                <a:solidFill>
                  <a:schemeClr val="accent1"/>
                </a:solidFill>
              </a:rPr>
              <a:t>Among U.S. competitors, conversational AI is most prominent in RWE;</a:t>
            </a:r>
            <a:br/>
            <a:pPr algn="l" indent="0" marL="0">
              <a:buNone/>
            </a:pPr>
            <a:r>
              <a:rPr lang="en-US" sz="2200" b="1" dirty="0">
                <a:solidFill>
                  <a:schemeClr val="accent1"/>
                </a:solidFill>
              </a:rPr>
              <a:t>Optum LS has relevant offerings in all five domains</a:t>
            </a:r>
            <a:endParaRPr lang="en-US" sz="2200" dirty="0"/>
          </a:p>
        </p:txBody>
      </p:sp>
      <p:sp>
        <p:nvSpPr>
          <p:cNvPr id="4" name="kpi tile 45"/>
          <p:cNvSpPr/>
          <p:nvPr/>
        </p:nvSpPr>
        <p:spPr>
          <a:xfrm>
            <a:off x="2173986" y="1517904"/>
            <a:ext cx="2939796" cy="548640"/>
          </a:xfrm>
          <a:prstGeom prst="rect">
            <a:avLst/>
          </a:prstGeom>
          <a:solidFill>
            <a:schemeClr val="accent5"/>
          </a:solidFill>
          <a:ln/>
        </p:spPr>
      </p:sp>
      <p:sp>
        <p:nvSpPr>
          <p:cNvPr id="5" name="Text 3"/>
          <p:cNvSpPr txBox="1"/>
          <p:nvPr/>
        </p:nvSpPr>
        <p:spPr>
          <a:xfrm>
            <a:off x="2430018" y="1517904"/>
            <a:ext cx="420624" cy="548640"/>
          </a:xfrm>
          <a:prstGeom prst="rect">
            <a:avLst/>
          </a:prstGeom>
          <a:noFill/>
          <a:ln/>
        </p:spPr>
        <p:txBody>
          <a:bodyPr wrap="square" lIns="0" tIns="0" rIns="0" bIns="0" rtlCol="0" anchor="ctr"/>
          <a:lstStyle/>
          <a:p>
            <a:pPr algn="r" indent="0" marL="0">
              <a:buNone/>
            </a:pPr>
            <a:r>
              <a:rPr lang="en-US" sz="2600" b="1" dirty="0">
                <a:solidFill>
                  <a:schemeClr val="accent1"/>
                </a:solidFill>
              </a:rPr>
              <a:t>45</a:t>
            </a:r>
            <a:endParaRPr lang="en-US" sz="2600" dirty="0"/>
          </a:p>
        </p:txBody>
      </p:sp>
      <p:sp>
        <p:nvSpPr>
          <p:cNvPr id="6" name="Text 4"/>
          <p:cNvSpPr txBox="1"/>
          <p:nvPr/>
        </p:nvSpPr>
        <p:spPr>
          <a:xfrm>
            <a:off x="2960370" y="1517904"/>
            <a:ext cx="1988820" cy="548640"/>
          </a:xfrm>
          <a:prstGeom prst="rect">
            <a:avLst/>
          </a:prstGeom>
          <a:noFill/>
          <a:ln/>
        </p:spPr>
        <p:txBody>
          <a:bodyPr wrap="square" lIns="0" tIns="0" rIns="0" bIns="0" rtlCol="0" anchor="ctr"/>
          <a:lstStyle/>
          <a:p>
            <a:pPr indent="0" marL="0">
              <a:buNone/>
            </a:pPr>
            <a:r>
              <a:rPr lang="en-US" sz="1100" b="1" dirty="0">
                <a:solidFill>
                  <a:schemeClr val="accent1"/>
                </a:solidFill>
              </a:rPr>
              <a:t>U.S. competitors screened</a:t>
            </a:r>
            <a:endParaRPr lang="en-US" sz="1100" dirty="0"/>
          </a:p>
        </p:txBody>
      </p:sp>
      <p:sp>
        <p:nvSpPr>
          <p:cNvPr id="7" name="flow arrow"/>
          <p:cNvSpPr/>
          <p:nvPr/>
        </p:nvSpPr>
        <p:spPr>
          <a:xfrm>
            <a:off x="5314950" y="1673352"/>
            <a:ext cx="420624" cy="237744"/>
          </a:xfrm>
          <a:prstGeom prst="rightArrow">
            <a:avLst/>
          </a:prstGeom>
          <a:solidFill>
            <a:schemeClr val="accent4"/>
          </a:solidFill>
          <a:ln/>
        </p:spPr>
      </p:sp>
      <p:sp>
        <p:nvSpPr>
          <p:cNvPr id="8" name="kpi tile 17"/>
          <p:cNvSpPr/>
          <p:nvPr/>
        </p:nvSpPr>
        <p:spPr>
          <a:xfrm>
            <a:off x="5936742" y="1517904"/>
            <a:ext cx="4078224" cy="548640"/>
          </a:xfrm>
          <a:prstGeom prst="rect">
            <a:avLst/>
          </a:prstGeom>
          <a:solidFill>
            <a:schemeClr val="accent5"/>
          </a:solidFill>
          <a:ln/>
        </p:spPr>
      </p:sp>
      <p:sp>
        <p:nvSpPr>
          <p:cNvPr id="9" name="Text 7"/>
          <p:cNvSpPr txBox="1"/>
          <p:nvPr/>
        </p:nvSpPr>
        <p:spPr>
          <a:xfrm>
            <a:off x="6192774" y="1517904"/>
            <a:ext cx="420624" cy="548640"/>
          </a:xfrm>
          <a:prstGeom prst="rect">
            <a:avLst/>
          </a:prstGeom>
          <a:noFill/>
          <a:ln/>
        </p:spPr>
        <p:txBody>
          <a:bodyPr wrap="square" lIns="0" tIns="0" rIns="0" bIns="0" rtlCol="0" anchor="ctr"/>
          <a:lstStyle/>
          <a:p>
            <a:pPr algn="r" indent="0" marL="0">
              <a:buNone/>
            </a:pPr>
            <a:r>
              <a:rPr lang="en-US" sz="2600" b="1" dirty="0">
                <a:solidFill>
                  <a:schemeClr val="accent2"/>
                </a:solidFill>
              </a:rPr>
              <a:t>17</a:t>
            </a:r>
            <a:endParaRPr lang="en-US" sz="2600" dirty="0"/>
          </a:p>
        </p:txBody>
      </p:sp>
      <p:sp>
        <p:nvSpPr>
          <p:cNvPr id="10" name="Text 8"/>
          <p:cNvSpPr txBox="1"/>
          <p:nvPr/>
        </p:nvSpPr>
        <p:spPr>
          <a:xfrm>
            <a:off x="6723126" y="1517904"/>
            <a:ext cx="3127248" cy="548640"/>
          </a:xfrm>
          <a:prstGeom prst="rect">
            <a:avLst/>
          </a:prstGeom>
          <a:noFill/>
          <a:ln/>
        </p:spPr>
        <p:txBody>
          <a:bodyPr wrap="square" lIns="0" tIns="0" rIns="0" bIns="0" rtlCol="0" anchor="ctr"/>
          <a:lstStyle/>
          <a:p>
            <a:pPr indent="0" marL="0">
              <a:buNone/>
            </a:pPr>
            <a:r>
              <a:rPr lang="en-US" sz="1100" b="1" dirty="0">
                <a:solidFill>
                  <a:schemeClr val="accent1"/>
                </a:solidFill>
              </a:rPr>
              <a:t>competitors who market conversational AI</a:t>
            </a:r>
            <a:endParaRPr lang="en-US" sz="1100" dirty="0"/>
          </a:p>
        </p:txBody>
      </p:sp>
      <p:sp>
        <p:nvSpPr>
          <p:cNvPr id="11" name="table header"/>
          <p:cNvSpPr/>
          <p:nvPr/>
        </p:nvSpPr>
        <p:spPr>
          <a:xfrm>
            <a:off x="548640" y="2286000"/>
            <a:ext cx="11091672" cy="457200"/>
          </a:xfrm>
          <a:prstGeom prst="rect">
            <a:avLst/>
          </a:prstGeom>
          <a:solidFill>
            <a:schemeClr val="accent1"/>
          </a:solidFill>
          <a:ln/>
        </p:spPr>
      </p:sp>
      <p:sp>
        <p:nvSpPr>
          <p:cNvPr id="12" name="Text 10"/>
          <p:cNvSpPr txBox="1"/>
          <p:nvPr/>
        </p:nvSpPr>
        <p:spPr>
          <a:xfrm>
            <a:off x="960120" y="2286000"/>
            <a:ext cx="2423160" cy="457200"/>
          </a:xfrm>
          <a:prstGeom prst="rect">
            <a:avLst/>
          </a:prstGeom>
          <a:noFill/>
          <a:ln/>
        </p:spPr>
        <p:txBody>
          <a:bodyPr wrap="square" lIns="0" tIns="0" rIns="0" bIns="0" rtlCol="0" anchor="ctr"/>
          <a:lstStyle/>
          <a:p>
            <a:pPr algn="ctr" indent="0" marL="0">
              <a:buNone/>
            </a:pPr>
            <a:r>
              <a:rPr lang="en-US" sz="900" b="1" dirty="0">
                <a:solidFill>
                  <a:schemeClr val="bg1"/>
                </a:solidFill>
              </a:rPr>
              <a:t>Competitors marketing conversational AI /</a:t>
            </a:r>
            <a:endParaRPr lang="en-US" sz="900" dirty="0"/>
          </a:p>
          <a:p>
            <a:pPr algn="ctr" indent="0" marL="0">
              <a:buNone/>
            </a:pPr>
            <a:r>
              <a:rPr lang="en-US" sz="900" b="1" dirty="0">
                <a:solidFill>
                  <a:schemeClr val="bg1"/>
                </a:solidFill>
              </a:rPr>
              <a:t>Total comparable competitors</a:t>
            </a:r>
            <a:endParaRPr lang="en-US" sz="900" dirty="0"/>
          </a:p>
        </p:txBody>
      </p:sp>
      <p:sp>
        <p:nvSpPr>
          <p:cNvPr id="13" name="Text 11"/>
          <p:cNvSpPr txBox="1"/>
          <p:nvPr/>
        </p:nvSpPr>
        <p:spPr>
          <a:xfrm>
            <a:off x="3474720" y="2286000"/>
            <a:ext cx="1965960" cy="457200"/>
          </a:xfrm>
          <a:prstGeom prst="rect">
            <a:avLst/>
          </a:prstGeom>
          <a:noFill/>
          <a:ln/>
        </p:spPr>
        <p:txBody>
          <a:bodyPr wrap="square" lIns="0" tIns="0" rIns="0" bIns="0" rtlCol="0" anchor="ctr"/>
          <a:lstStyle/>
          <a:p>
            <a:pPr algn="ctr" indent="0" marL="0">
              <a:buNone/>
            </a:pPr>
            <a:r>
              <a:rPr lang="en-US" sz="900" b="1" dirty="0">
                <a:solidFill>
                  <a:schemeClr val="bg1"/>
                </a:solidFill>
              </a:rPr>
              <a:t>Domain</a:t>
            </a:r>
            <a:endParaRPr lang="en-US" sz="900" dirty="0"/>
          </a:p>
        </p:txBody>
      </p:sp>
      <p:sp>
        <p:nvSpPr>
          <p:cNvPr id="14" name="Text 12"/>
          <p:cNvSpPr txBox="1"/>
          <p:nvPr/>
        </p:nvSpPr>
        <p:spPr>
          <a:xfrm>
            <a:off x="5486400" y="2286000"/>
            <a:ext cx="2880360" cy="457200"/>
          </a:xfrm>
          <a:prstGeom prst="rect">
            <a:avLst/>
          </a:prstGeom>
          <a:noFill/>
          <a:ln/>
        </p:spPr>
        <p:txBody>
          <a:bodyPr wrap="square" lIns="0" tIns="0" rIns="0" bIns="0" rtlCol="0" anchor="ctr"/>
          <a:lstStyle/>
          <a:p>
            <a:pPr algn="ctr" indent="0" marL="0">
              <a:buNone/>
            </a:pPr>
            <a:r>
              <a:rPr lang="en-US" sz="900" b="1" dirty="0">
                <a:solidFill>
                  <a:schemeClr val="bg1"/>
                </a:solidFill>
              </a:rPr>
              <a:t>Conversational AI offerings</a:t>
            </a:r>
            <a:endParaRPr lang="en-US" sz="900" dirty="0"/>
          </a:p>
        </p:txBody>
      </p:sp>
      <p:sp>
        <p:nvSpPr>
          <p:cNvPr id="15" name="Text 13"/>
          <p:cNvSpPr txBox="1"/>
          <p:nvPr/>
        </p:nvSpPr>
        <p:spPr>
          <a:xfrm>
            <a:off x="8503920" y="2286000"/>
            <a:ext cx="2103120" cy="457200"/>
          </a:xfrm>
          <a:prstGeom prst="rect">
            <a:avLst/>
          </a:prstGeom>
          <a:noFill/>
          <a:ln/>
        </p:spPr>
        <p:txBody>
          <a:bodyPr wrap="square" lIns="0" tIns="0" rIns="0" bIns="0" rtlCol="0" anchor="ctr"/>
          <a:lstStyle/>
          <a:p>
            <a:pPr algn="ctr" indent="0" marL="0">
              <a:buNone/>
            </a:pPr>
            <a:r>
              <a:rPr lang="en-US" sz="900" b="1" dirty="0">
                <a:solidFill>
                  <a:schemeClr val="bg1"/>
                </a:solidFill>
              </a:rPr>
              <a:t>Relevant Optum LS</a:t>
            </a:r>
            <a:endParaRPr lang="en-US" sz="900" dirty="0"/>
          </a:p>
          <a:p>
            <a:pPr algn="ctr" indent="0" marL="0">
              <a:buNone/>
            </a:pPr>
            <a:r>
              <a:rPr lang="en-US" sz="900" b="1" dirty="0">
                <a:solidFill>
                  <a:schemeClr val="bg1"/>
                </a:solidFill>
              </a:rPr>
              <a:t>offerings</a:t>
            </a:r>
            <a:endParaRPr lang="en-US" sz="900" dirty="0"/>
          </a:p>
        </p:txBody>
      </p:sp>
      <p:sp>
        <p:nvSpPr>
          <p:cNvPr id="16" name="Text 14"/>
          <p:cNvSpPr txBox="1"/>
          <p:nvPr/>
        </p:nvSpPr>
        <p:spPr>
          <a:xfrm>
            <a:off x="10652760" y="2286000"/>
            <a:ext cx="987552" cy="457200"/>
          </a:xfrm>
          <a:prstGeom prst="rect">
            <a:avLst/>
          </a:prstGeom>
          <a:noFill/>
          <a:ln/>
        </p:spPr>
        <p:txBody>
          <a:bodyPr wrap="square" lIns="0" tIns="0" rIns="0" bIns="0" rtlCol="0" anchor="ctr"/>
          <a:lstStyle/>
          <a:p>
            <a:pPr algn="ctr" indent="0" marL="0">
              <a:buNone/>
            </a:pPr>
            <a:r>
              <a:rPr lang="en-US" sz="900" b="1" dirty="0">
                <a:solidFill>
                  <a:schemeClr val="bg1"/>
                </a:solidFill>
              </a:rPr>
              <a:t>Optum LS</a:t>
            </a:r>
            <a:endParaRPr lang="en-US" sz="900" dirty="0"/>
          </a:p>
          <a:p>
            <a:pPr algn="ctr" indent="0" marL="0">
              <a:buNone/>
            </a:pPr>
            <a:r>
              <a:rPr lang="en-US" sz="900" b="1" dirty="0">
                <a:solidFill>
                  <a:schemeClr val="bg1"/>
                </a:solidFill>
              </a:rPr>
              <a:t>chat claim</a:t>
            </a:r>
            <a:endParaRPr lang="en-US" sz="900" dirty="0"/>
          </a:p>
        </p:txBody>
      </p:sp>
      <p:graphicFrame>
        <p:nvGraphicFramePr>
          <p:cNvPr id="17" name="competitor coverage chart" descr=""/>
          <p:cNvGraphicFramePr/>
          <p:nvPr/>
        </p:nvGraphicFramePr>
        <p:xfrm>
          <a:off x="1170432" y="2743200"/>
          <a:ext cx="2212848" cy="2514600"/>
        </p:xfrm>
        <a:graphic xmlns:a="http://schemas.openxmlformats.org/drawingml/2006/main">
          <a:graphicData uri="http://schemas.openxmlformats.org/drawingml/2006/chart">
            <c:chart xmlns:c="http://schemas.openxmlformats.org/drawingml/2006/chart" r:id="rId1"/>
          </a:graphicData>
        </a:graphic>
      </p:graphicFrame>
      <p:sp>
        <p:nvSpPr>
          <p:cNvPr id="18" name="fraction RWE"/>
          <p:cNvSpPr txBox="1"/>
          <p:nvPr/>
        </p:nvSpPr>
        <p:spPr>
          <a:xfrm>
            <a:off x="566928" y="2743200"/>
            <a:ext cx="548640" cy="502920"/>
          </a:xfrm>
          <a:prstGeom prst="rect">
            <a:avLst/>
          </a:prstGeom>
          <a:noFill/>
          <a:ln/>
        </p:spPr>
        <p:txBody>
          <a:bodyPr wrap="square" lIns="0" tIns="0" rIns="0" bIns="0" rtlCol="0" anchor="ctr"/>
          <a:lstStyle/>
          <a:p>
            <a:pPr algn="r" indent="0" marL="0">
              <a:buNone/>
            </a:pPr>
            <a:r>
              <a:rPr lang="en-US" sz="1000" b="1" dirty="0">
                <a:solidFill>
                  <a:schemeClr val="accent1"/>
                </a:solidFill>
              </a:rPr>
              <a:t>9</a:t>
            </a:r>
            <a:pPr algn="r" indent="0" marL="0">
              <a:buNone/>
            </a:pPr>
            <a:r>
              <a:rPr lang="en-US" sz="1000" dirty="0">
                <a:solidFill>
                  <a:schemeClr val="tx1"/>
                </a:solidFill>
              </a:rPr>
              <a:t> / 34</a:t>
            </a:r>
            <a:endParaRPr lang="en-US" sz="1000" dirty="0"/>
          </a:p>
        </p:txBody>
      </p:sp>
      <p:sp>
        <p:nvSpPr>
          <p:cNvPr id="19" name="workflow chip RWE"/>
          <p:cNvSpPr/>
          <p:nvPr/>
        </p:nvSpPr>
        <p:spPr>
          <a:xfrm>
            <a:off x="3547872" y="2839212"/>
            <a:ext cx="1819656" cy="310896"/>
          </a:xfrm>
          <a:prstGeom prst="roundRect">
            <a:avLst>
              <a:gd name="adj" fmla="val 50000"/>
            </a:avLst>
          </a:prstGeom>
          <a:solidFill>
            <a:schemeClr val="accent5"/>
          </a:solidFill>
          <a:ln w="9525">
            <a:solidFill>
              <a:schemeClr val="accent1"/>
            </a:solidFill>
            <a:prstDash val="solid"/>
          </a:ln>
        </p:spPr>
      </p:sp>
      <p:sp>
        <p:nvSpPr>
          <p:cNvPr id="20" name="Text 17"/>
          <p:cNvSpPr txBox="1"/>
          <p:nvPr/>
        </p:nvSpPr>
        <p:spPr>
          <a:xfrm>
            <a:off x="3547872" y="2839212"/>
            <a:ext cx="1819656" cy="310896"/>
          </a:xfrm>
          <a:prstGeom prst="rect">
            <a:avLst/>
          </a:prstGeom>
          <a:noFill/>
          <a:ln/>
        </p:spPr>
        <p:txBody>
          <a:bodyPr wrap="square" lIns="0" tIns="0" rIns="0" bIns="0" rtlCol="0" anchor="ctr"/>
          <a:lstStyle/>
          <a:p>
            <a:pPr algn="ctr" indent="0" marL="0">
              <a:buNone/>
            </a:pPr>
            <a:r>
              <a:rPr lang="en-US" sz="900" b="1" dirty="0">
                <a:solidFill>
                  <a:schemeClr val="accent1"/>
                </a:solidFill>
              </a:rPr>
              <a:t>RWE</a:t>
            </a:r>
            <a:endParaRPr lang="en-US" sz="900" dirty="0"/>
          </a:p>
        </p:txBody>
      </p:sp>
      <p:sp>
        <p:nvSpPr>
          <p:cNvPr id="21" name="Text 18"/>
          <p:cNvSpPr txBox="1"/>
          <p:nvPr/>
        </p:nvSpPr>
        <p:spPr>
          <a:xfrm>
            <a:off x="5577840" y="2743200"/>
            <a:ext cx="2697480" cy="502920"/>
          </a:xfrm>
          <a:prstGeom prst="rect">
            <a:avLst/>
          </a:prstGeom>
          <a:noFill/>
          <a:ln/>
        </p:spPr>
        <p:txBody>
          <a:bodyPr wrap="square" lIns="0" tIns="0" rIns="0" bIns="0" rtlCol="0" anchor="ctr"/>
          <a:lstStyle/>
          <a:p>
            <a:pPr indent="0" marL="0">
              <a:buNone/>
            </a:pPr>
            <a:r>
              <a:rPr lang="en-US" sz="900" dirty="0">
                <a:solidFill>
                  <a:schemeClr val="tx1"/>
                </a:solidFill>
              </a:rPr>
              <a:t>Komodo Marmot and MapAI; Truveta Intelligence; Flatiron Telescope; Tempus Lens; and more</a:t>
            </a:r>
            <a:endParaRPr lang="en-US" sz="900" dirty="0"/>
          </a:p>
        </p:txBody>
      </p:sp>
      <p:sp>
        <p:nvSpPr>
          <p:cNvPr id="22" name="Text 19"/>
          <p:cNvSpPr txBox="1"/>
          <p:nvPr/>
        </p:nvSpPr>
        <p:spPr>
          <a:xfrm>
            <a:off x="8595360" y="2743200"/>
            <a:ext cx="1920240" cy="502920"/>
          </a:xfrm>
          <a:prstGeom prst="rect">
            <a:avLst/>
          </a:prstGeom>
          <a:noFill/>
          <a:ln/>
        </p:spPr>
        <p:txBody>
          <a:bodyPr wrap="square" lIns="0" tIns="0" rIns="0" bIns="0" rtlCol="0" anchor="ctr"/>
          <a:lstStyle/>
          <a:p>
            <a:pPr indent="0" marL="0">
              <a:buNone/>
            </a:pPr>
            <a:r>
              <a:rPr lang="en-US" sz="900" dirty="0">
                <a:solidFill>
                  <a:schemeClr val="tx1"/>
                </a:solidFill>
              </a:rPr>
              <a:t>Analytics on Demand; epidemiology research</a:t>
            </a:r>
            <a:endParaRPr lang="en-US" sz="900" dirty="0"/>
          </a:p>
        </p:txBody>
      </p:sp>
      <p:sp>
        <p:nvSpPr>
          <p:cNvPr id="23" name="chat status RWE"/>
          <p:cNvSpPr/>
          <p:nvPr/>
        </p:nvSpPr>
        <p:spPr>
          <a:xfrm>
            <a:off x="11109960" y="2912364"/>
            <a:ext cx="164592" cy="164592"/>
          </a:xfrm>
          <a:prstGeom prst="ellipse">
            <a:avLst/>
          </a:prstGeom>
          <a:ln w="15875">
            <a:solidFill>
              <a:schemeClr val="accent4"/>
            </a:solidFill>
            <a:prstDash val="solid"/>
          </a:ln>
        </p:spPr>
      </p:sp>
      <p:sp>
        <p:nvSpPr>
          <p:cNvPr id="24" name="Shape 21"/>
          <p:cNvSpPr/>
          <p:nvPr/>
        </p:nvSpPr>
        <p:spPr>
          <a:xfrm>
            <a:off x="548640" y="3246120"/>
            <a:ext cx="11091672" cy="0"/>
          </a:xfrm>
          <a:prstGeom prst="line">
            <a:avLst/>
          </a:prstGeom>
          <a:noFill/>
          <a:ln w="9525">
            <a:solidFill>
              <a:schemeClr val="accent3"/>
            </a:solidFill>
            <a:prstDash val="solid"/>
          </a:ln>
        </p:spPr>
      </p:sp>
      <p:sp>
        <p:nvSpPr>
          <p:cNvPr id="25" name="fraction Commercial Intelligence"/>
          <p:cNvSpPr txBox="1"/>
          <p:nvPr/>
        </p:nvSpPr>
        <p:spPr>
          <a:xfrm>
            <a:off x="1282849" y="3246120"/>
            <a:ext cx="548640" cy="502920"/>
          </a:xfrm>
          <a:prstGeom prst="rect">
            <a:avLst/>
          </a:prstGeom>
          <a:noFill/>
          <a:ln/>
        </p:spPr>
        <p:txBody>
          <a:bodyPr wrap="square" lIns="0" tIns="0" rIns="0" bIns="0" rtlCol="0" anchor="ctr"/>
          <a:lstStyle/>
          <a:p>
            <a:pPr algn="r" indent="0" marL="0">
              <a:buNone/>
            </a:pPr>
            <a:r>
              <a:rPr lang="en-US" sz="1000" b="1" dirty="0">
                <a:solidFill>
                  <a:schemeClr val="accent1"/>
                </a:solidFill>
              </a:rPr>
              <a:t>3</a:t>
            </a:r>
            <a:pPr algn="r" indent="0" marL="0">
              <a:buNone/>
            </a:pPr>
            <a:r>
              <a:rPr lang="en-US" sz="1000" dirty="0">
                <a:solidFill>
                  <a:schemeClr val="tx1"/>
                </a:solidFill>
              </a:rPr>
              <a:t> / 23</a:t>
            </a:r>
            <a:endParaRPr lang="en-US" sz="1000" dirty="0"/>
          </a:p>
        </p:txBody>
      </p:sp>
      <p:sp>
        <p:nvSpPr>
          <p:cNvPr id="26" name="workflow chip Commercial Intelligence"/>
          <p:cNvSpPr/>
          <p:nvPr/>
        </p:nvSpPr>
        <p:spPr>
          <a:xfrm>
            <a:off x="3547872" y="3342132"/>
            <a:ext cx="1819656" cy="310896"/>
          </a:xfrm>
          <a:prstGeom prst="roundRect">
            <a:avLst>
              <a:gd name="adj" fmla="val 50000"/>
            </a:avLst>
          </a:prstGeom>
          <a:solidFill>
            <a:schemeClr val="accent5"/>
          </a:solidFill>
          <a:ln w="9525">
            <a:solidFill>
              <a:schemeClr val="accent1"/>
            </a:solidFill>
            <a:prstDash val="solid"/>
          </a:ln>
        </p:spPr>
      </p:sp>
      <p:sp>
        <p:nvSpPr>
          <p:cNvPr id="27" name="Text 24"/>
          <p:cNvSpPr txBox="1"/>
          <p:nvPr/>
        </p:nvSpPr>
        <p:spPr>
          <a:xfrm>
            <a:off x="3547872" y="3342132"/>
            <a:ext cx="1819656" cy="310896"/>
          </a:xfrm>
          <a:prstGeom prst="rect">
            <a:avLst/>
          </a:prstGeom>
          <a:noFill/>
          <a:ln/>
        </p:spPr>
        <p:txBody>
          <a:bodyPr wrap="square" lIns="0" tIns="0" rIns="0" bIns="0" rtlCol="0" anchor="ctr"/>
          <a:lstStyle/>
          <a:p>
            <a:pPr algn="ctr" indent="0" marL="0">
              <a:buNone/>
            </a:pPr>
            <a:r>
              <a:rPr lang="en-US" sz="900" b="1" dirty="0">
                <a:solidFill>
                  <a:schemeClr val="accent1"/>
                </a:solidFill>
              </a:rPr>
              <a:t>Commercial Intelligence</a:t>
            </a:r>
            <a:endParaRPr lang="en-US" sz="900" dirty="0"/>
          </a:p>
        </p:txBody>
      </p:sp>
      <p:sp>
        <p:nvSpPr>
          <p:cNvPr id="28" name="Text 25"/>
          <p:cNvSpPr txBox="1"/>
          <p:nvPr/>
        </p:nvSpPr>
        <p:spPr>
          <a:xfrm>
            <a:off x="5577840" y="3246120"/>
            <a:ext cx="2697480" cy="502920"/>
          </a:xfrm>
          <a:prstGeom prst="rect">
            <a:avLst/>
          </a:prstGeom>
          <a:noFill/>
          <a:ln/>
        </p:spPr>
        <p:txBody>
          <a:bodyPr wrap="square" lIns="0" tIns="0" rIns="0" bIns="0" rtlCol="0" anchor="ctr"/>
          <a:lstStyle/>
          <a:p>
            <a:pPr indent="0" marL="0">
              <a:buNone/>
            </a:pPr>
            <a:r>
              <a:rPr lang="en-US" sz="900" dirty="0">
                <a:solidFill>
                  <a:schemeClr val="tx1"/>
                </a:solidFill>
              </a:rPr>
              <a:t>IQVIA Field Force Agent and GMI Agent; ZS Conversational AI for Commercial; Trinity InsightsEDGE Digital Twins</a:t>
            </a:r>
            <a:endParaRPr lang="en-US" sz="900" dirty="0"/>
          </a:p>
        </p:txBody>
      </p:sp>
      <p:sp>
        <p:nvSpPr>
          <p:cNvPr id="29" name="Text 26"/>
          <p:cNvSpPr txBox="1"/>
          <p:nvPr/>
        </p:nvSpPr>
        <p:spPr>
          <a:xfrm>
            <a:off x="8595360" y="3246120"/>
            <a:ext cx="1920240" cy="502920"/>
          </a:xfrm>
          <a:prstGeom prst="rect">
            <a:avLst/>
          </a:prstGeom>
          <a:noFill/>
          <a:ln/>
        </p:spPr>
        <p:txBody>
          <a:bodyPr wrap="square" lIns="0" tIns="0" rIns="0" bIns="0" rtlCol="0" anchor="ctr"/>
          <a:lstStyle/>
          <a:p>
            <a:pPr indent="0" marL="0">
              <a:buNone/>
            </a:pPr>
            <a:r>
              <a:rPr lang="en-US" sz="900" dirty="0">
                <a:solidFill>
                  <a:schemeClr val="tx1"/>
                </a:solidFill>
              </a:rPr>
              <a:t>Market Clarity: portfolio and patient/prescriber analytics</a:t>
            </a:r>
            <a:endParaRPr lang="en-US" sz="900" dirty="0"/>
          </a:p>
        </p:txBody>
      </p:sp>
      <p:sp>
        <p:nvSpPr>
          <p:cNvPr id="30" name="chat status Commercial Intelligence"/>
          <p:cNvSpPr/>
          <p:nvPr/>
        </p:nvSpPr>
        <p:spPr>
          <a:xfrm>
            <a:off x="11109960" y="3415284"/>
            <a:ext cx="164592" cy="164592"/>
          </a:xfrm>
          <a:prstGeom prst="ellipse">
            <a:avLst/>
          </a:prstGeom>
          <a:ln w="15875">
            <a:solidFill>
              <a:schemeClr val="accent4"/>
            </a:solidFill>
            <a:prstDash val="solid"/>
          </a:ln>
        </p:spPr>
      </p:sp>
      <p:sp>
        <p:nvSpPr>
          <p:cNvPr id="31" name="Shape 28"/>
          <p:cNvSpPr/>
          <p:nvPr/>
        </p:nvSpPr>
        <p:spPr>
          <a:xfrm>
            <a:off x="548640" y="3749040"/>
            <a:ext cx="11091672" cy="0"/>
          </a:xfrm>
          <a:prstGeom prst="line">
            <a:avLst/>
          </a:prstGeom>
          <a:noFill/>
          <a:ln w="9525">
            <a:solidFill>
              <a:schemeClr val="accent3"/>
            </a:solidFill>
            <a:prstDash val="solid"/>
          </a:ln>
        </p:spPr>
      </p:sp>
      <p:sp>
        <p:nvSpPr>
          <p:cNvPr id="32" name="fraction Medical / Regulatory Research"/>
          <p:cNvSpPr txBox="1"/>
          <p:nvPr/>
        </p:nvSpPr>
        <p:spPr>
          <a:xfrm>
            <a:off x="1608268" y="3749040"/>
            <a:ext cx="548640" cy="502920"/>
          </a:xfrm>
          <a:prstGeom prst="rect">
            <a:avLst/>
          </a:prstGeom>
          <a:noFill/>
          <a:ln/>
        </p:spPr>
        <p:txBody>
          <a:bodyPr wrap="square" lIns="0" tIns="0" rIns="0" bIns="0" rtlCol="0" anchor="ctr"/>
          <a:lstStyle/>
          <a:p>
            <a:pPr algn="r" indent="0" marL="0">
              <a:buNone/>
            </a:pPr>
            <a:r>
              <a:rPr lang="en-US" sz="1000" b="1" dirty="0">
                <a:solidFill>
                  <a:schemeClr val="accent1"/>
                </a:solidFill>
              </a:rPr>
              <a:t>3</a:t>
            </a:r>
            <a:pPr algn="r" indent="0" marL="0">
              <a:buNone/>
            </a:pPr>
            <a:r>
              <a:rPr lang="en-US" sz="1000" dirty="0">
                <a:solidFill>
                  <a:schemeClr val="tx1"/>
                </a:solidFill>
              </a:rPr>
              <a:t> / 18</a:t>
            </a:r>
            <a:endParaRPr lang="en-US" sz="1000" dirty="0"/>
          </a:p>
        </p:txBody>
      </p:sp>
      <p:sp>
        <p:nvSpPr>
          <p:cNvPr id="33" name="workflow chip Medical / Regulatory Research"/>
          <p:cNvSpPr/>
          <p:nvPr/>
        </p:nvSpPr>
        <p:spPr>
          <a:xfrm>
            <a:off x="3547872" y="3845052"/>
            <a:ext cx="1819656" cy="310896"/>
          </a:xfrm>
          <a:prstGeom prst="roundRect">
            <a:avLst>
              <a:gd name="adj" fmla="val 50000"/>
            </a:avLst>
          </a:prstGeom>
          <a:solidFill>
            <a:schemeClr val="accent5"/>
          </a:solidFill>
          <a:ln w="9525">
            <a:solidFill>
              <a:schemeClr val="accent1"/>
            </a:solidFill>
            <a:prstDash val="solid"/>
          </a:ln>
        </p:spPr>
      </p:sp>
      <p:sp>
        <p:nvSpPr>
          <p:cNvPr id="34" name="Text 31"/>
          <p:cNvSpPr txBox="1"/>
          <p:nvPr/>
        </p:nvSpPr>
        <p:spPr>
          <a:xfrm>
            <a:off x="3547872" y="3845052"/>
            <a:ext cx="1819656" cy="310896"/>
          </a:xfrm>
          <a:prstGeom prst="rect">
            <a:avLst/>
          </a:prstGeom>
          <a:noFill/>
          <a:ln/>
        </p:spPr>
        <p:txBody>
          <a:bodyPr wrap="square" lIns="0" tIns="0" rIns="0" bIns="0" rtlCol="0" anchor="ctr"/>
          <a:lstStyle/>
          <a:p>
            <a:pPr algn="ctr" indent="0" marL="0">
              <a:buNone/>
            </a:pPr>
            <a:r>
              <a:rPr lang="en-US" sz="900" b="1" dirty="0">
                <a:solidFill>
                  <a:schemeClr val="accent1"/>
                </a:solidFill>
              </a:rPr>
              <a:t>Medical / Regulatory Research</a:t>
            </a:r>
            <a:endParaRPr lang="en-US" sz="900" dirty="0"/>
          </a:p>
        </p:txBody>
      </p:sp>
      <p:sp>
        <p:nvSpPr>
          <p:cNvPr id="35" name="Text 32"/>
          <p:cNvSpPr txBox="1"/>
          <p:nvPr/>
        </p:nvSpPr>
        <p:spPr>
          <a:xfrm>
            <a:off x="5577840" y="3749040"/>
            <a:ext cx="2697480" cy="502920"/>
          </a:xfrm>
          <a:prstGeom prst="rect">
            <a:avLst/>
          </a:prstGeom>
          <a:noFill/>
          <a:ln/>
        </p:spPr>
        <p:txBody>
          <a:bodyPr wrap="square" lIns="0" tIns="0" rIns="0" bIns="0" rtlCol="0" anchor="ctr"/>
          <a:lstStyle/>
          <a:p>
            <a:pPr indent="0" marL="0">
              <a:buNone/>
            </a:pPr>
            <a:r>
              <a:rPr lang="en-US" sz="900" dirty="0">
                <a:solidFill>
                  <a:schemeClr val="tx1"/>
                </a:solidFill>
              </a:rPr>
              <a:t>IQVIA Med-R1; ZS Conversational AI for Medical; Veeva Vault AI Chat</a:t>
            </a:r>
            <a:endParaRPr lang="en-US" sz="900" dirty="0"/>
          </a:p>
        </p:txBody>
      </p:sp>
      <p:sp>
        <p:nvSpPr>
          <p:cNvPr id="36" name="Text 33"/>
          <p:cNvSpPr txBox="1"/>
          <p:nvPr/>
        </p:nvSpPr>
        <p:spPr>
          <a:xfrm>
            <a:off x="8595360" y="3749040"/>
            <a:ext cx="1920240" cy="502920"/>
          </a:xfrm>
          <a:prstGeom prst="rect">
            <a:avLst/>
          </a:prstGeom>
          <a:noFill/>
          <a:ln/>
        </p:spPr>
        <p:txBody>
          <a:bodyPr wrap="square" lIns="0" tIns="0" rIns="0" bIns="0" rtlCol="0" anchor="ctr"/>
          <a:lstStyle/>
          <a:p>
            <a:pPr indent="0" marL="0">
              <a:buNone/>
            </a:pPr>
            <a:r>
              <a:rPr lang="en-US" sz="900" dirty="0">
                <a:solidFill>
                  <a:schemeClr val="tx1"/>
                </a:solidFill>
              </a:rPr>
              <a:t>Postapproval safety studies; Market Clarity medical affairs insights</a:t>
            </a:r>
            <a:endParaRPr lang="en-US" sz="900" dirty="0"/>
          </a:p>
        </p:txBody>
      </p:sp>
      <p:sp>
        <p:nvSpPr>
          <p:cNvPr id="37" name="chat status Medical / Regulatory Research"/>
          <p:cNvSpPr/>
          <p:nvPr/>
        </p:nvSpPr>
        <p:spPr>
          <a:xfrm>
            <a:off x="11109960" y="3918204"/>
            <a:ext cx="164592" cy="164592"/>
          </a:xfrm>
          <a:prstGeom prst="ellipse">
            <a:avLst/>
          </a:prstGeom>
          <a:ln w="15875">
            <a:solidFill>
              <a:schemeClr val="accent4"/>
            </a:solidFill>
            <a:prstDash val="solid"/>
          </a:ln>
        </p:spPr>
      </p:sp>
      <p:sp>
        <p:nvSpPr>
          <p:cNvPr id="38" name="Shape 35"/>
          <p:cNvSpPr/>
          <p:nvPr/>
        </p:nvSpPr>
        <p:spPr>
          <a:xfrm>
            <a:off x="548640" y="4251960"/>
            <a:ext cx="11091672" cy="0"/>
          </a:xfrm>
          <a:prstGeom prst="line">
            <a:avLst/>
          </a:prstGeom>
          <a:noFill/>
          <a:ln w="9525">
            <a:solidFill>
              <a:schemeClr val="accent3"/>
            </a:solidFill>
            <a:prstDash val="solid"/>
          </a:ln>
        </p:spPr>
      </p:sp>
      <p:sp>
        <p:nvSpPr>
          <p:cNvPr id="39" name="fraction Clinical Trials"/>
          <p:cNvSpPr txBox="1"/>
          <p:nvPr/>
        </p:nvSpPr>
        <p:spPr>
          <a:xfrm>
            <a:off x="1152682" y="4251960"/>
            <a:ext cx="548640" cy="502920"/>
          </a:xfrm>
          <a:prstGeom prst="rect">
            <a:avLst/>
          </a:prstGeom>
          <a:noFill/>
          <a:ln/>
        </p:spPr>
        <p:txBody>
          <a:bodyPr wrap="square" lIns="0" tIns="0" rIns="0" bIns="0" rtlCol="0" anchor="ctr"/>
          <a:lstStyle/>
          <a:p>
            <a:pPr algn="r" indent="0" marL="0">
              <a:buNone/>
            </a:pPr>
            <a:r>
              <a:rPr lang="en-US" sz="1000" b="1" dirty="0">
                <a:solidFill>
                  <a:schemeClr val="accent1"/>
                </a:solidFill>
              </a:rPr>
              <a:t>1</a:t>
            </a:r>
            <a:pPr algn="r" indent="0" marL="0">
              <a:buNone/>
            </a:pPr>
            <a:r>
              <a:rPr lang="en-US" sz="1000" dirty="0">
                <a:solidFill>
                  <a:schemeClr val="tx1"/>
                </a:solidFill>
              </a:rPr>
              <a:t> / 25</a:t>
            </a:r>
            <a:endParaRPr lang="en-US" sz="1000" dirty="0"/>
          </a:p>
        </p:txBody>
      </p:sp>
      <p:sp>
        <p:nvSpPr>
          <p:cNvPr id="40" name="workflow chip Clinical Trials"/>
          <p:cNvSpPr/>
          <p:nvPr/>
        </p:nvSpPr>
        <p:spPr>
          <a:xfrm>
            <a:off x="3547872" y="4347972"/>
            <a:ext cx="1819656" cy="310896"/>
          </a:xfrm>
          <a:prstGeom prst="roundRect">
            <a:avLst>
              <a:gd name="adj" fmla="val 50000"/>
            </a:avLst>
          </a:prstGeom>
          <a:solidFill>
            <a:schemeClr val="accent5"/>
          </a:solidFill>
          <a:ln w="9525">
            <a:solidFill>
              <a:schemeClr val="accent1"/>
            </a:solidFill>
            <a:prstDash val="solid"/>
          </a:ln>
        </p:spPr>
      </p:sp>
      <p:sp>
        <p:nvSpPr>
          <p:cNvPr id="41" name="Text 38"/>
          <p:cNvSpPr txBox="1"/>
          <p:nvPr/>
        </p:nvSpPr>
        <p:spPr>
          <a:xfrm>
            <a:off x="3547872" y="4347972"/>
            <a:ext cx="1819656" cy="310896"/>
          </a:xfrm>
          <a:prstGeom prst="rect">
            <a:avLst/>
          </a:prstGeom>
          <a:noFill/>
          <a:ln/>
        </p:spPr>
        <p:txBody>
          <a:bodyPr wrap="square" lIns="0" tIns="0" rIns="0" bIns="0" rtlCol="0" anchor="ctr"/>
          <a:lstStyle/>
          <a:p>
            <a:pPr algn="ctr" indent="0" marL="0">
              <a:buNone/>
            </a:pPr>
            <a:r>
              <a:rPr lang="en-US" sz="900" b="1" dirty="0">
                <a:solidFill>
                  <a:schemeClr val="accent1"/>
                </a:solidFill>
              </a:rPr>
              <a:t>Clinical Trials</a:t>
            </a:r>
            <a:endParaRPr lang="en-US" sz="900" dirty="0"/>
          </a:p>
        </p:txBody>
      </p:sp>
      <p:sp>
        <p:nvSpPr>
          <p:cNvPr id="42" name="Text 39"/>
          <p:cNvSpPr txBox="1"/>
          <p:nvPr/>
        </p:nvSpPr>
        <p:spPr>
          <a:xfrm>
            <a:off x="5577840" y="4251960"/>
            <a:ext cx="2697480" cy="502920"/>
          </a:xfrm>
          <a:prstGeom prst="rect">
            <a:avLst/>
          </a:prstGeom>
          <a:noFill/>
          <a:ln/>
        </p:spPr>
        <p:txBody>
          <a:bodyPr wrap="square" lIns="0" tIns="0" rIns="0" bIns="0" rtlCol="0" anchor="ctr"/>
          <a:lstStyle/>
          <a:p>
            <a:pPr indent="0" marL="0">
              <a:buNone/>
            </a:pPr>
            <a:r>
              <a:rPr lang="en-US" sz="900" dirty="0">
                <a:solidFill>
                  <a:schemeClr val="tx1"/>
                </a:solidFill>
              </a:rPr>
              <a:t>TriNetX Terrain AI Assistant</a:t>
            </a:r>
            <a:endParaRPr lang="en-US" sz="900" dirty="0"/>
          </a:p>
        </p:txBody>
      </p:sp>
      <p:sp>
        <p:nvSpPr>
          <p:cNvPr id="43" name="Text 40"/>
          <p:cNvSpPr txBox="1"/>
          <p:nvPr/>
        </p:nvSpPr>
        <p:spPr>
          <a:xfrm>
            <a:off x="8595360" y="4251960"/>
            <a:ext cx="1920240" cy="502920"/>
          </a:xfrm>
          <a:prstGeom prst="rect">
            <a:avLst/>
          </a:prstGeom>
          <a:noFill/>
          <a:ln/>
        </p:spPr>
        <p:txBody>
          <a:bodyPr wrap="square" lIns="0" tIns="0" rIns="0" bIns="0" rtlCol="0" anchor="ctr"/>
          <a:lstStyle/>
          <a:p>
            <a:pPr indent="0" marL="0">
              <a:buNone/>
            </a:pPr>
            <a:r>
              <a:rPr lang="en-US" sz="900" dirty="0">
                <a:solidFill>
                  <a:schemeClr val="tx1"/>
                </a:solidFill>
              </a:rPr>
              <a:t>Prospector; Digital Research Network; True Source</a:t>
            </a:r>
            <a:endParaRPr lang="en-US" sz="900" dirty="0"/>
          </a:p>
        </p:txBody>
      </p:sp>
      <p:sp>
        <p:nvSpPr>
          <p:cNvPr id="44" name="chat status Clinical Trials"/>
          <p:cNvSpPr/>
          <p:nvPr/>
        </p:nvSpPr>
        <p:spPr>
          <a:xfrm>
            <a:off x="11109960" y="4421124"/>
            <a:ext cx="164592" cy="164592"/>
          </a:xfrm>
          <a:prstGeom prst="ellipse">
            <a:avLst/>
          </a:prstGeom>
          <a:ln w="15875">
            <a:solidFill>
              <a:schemeClr val="accent4"/>
            </a:solidFill>
            <a:prstDash val="solid"/>
          </a:ln>
        </p:spPr>
      </p:sp>
      <p:sp>
        <p:nvSpPr>
          <p:cNvPr id="45" name="Shape 42"/>
          <p:cNvSpPr/>
          <p:nvPr/>
        </p:nvSpPr>
        <p:spPr>
          <a:xfrm>
            <a:off x="548640" y="4754880"/>
            <a:ext cx="11091672" cy="0"/>
          </a:xfrm>
          <a:prstGeom prst="line">
            <a:avLst/>
          </a:prstGeom>
          <a:noFill/>
          <a:ln w="9525">
            <a:solidFill>
              <a:schemeClr val="accent3"/>
            </a:solidFill>
            <a:prstDash val="solid"/>
          </a:ln>
        </p:spPr>
      </p:sp>
      <p:sp>
        <p:nvSpPr>
          <p:cNvPr id="46" name="fraction Market Access"/>
          <p:cNvSpPr txBox="1"/>
          <p:nvPr/>
        </p:nvSpPr>
        <p:spPr>
          <a:xfrm>
            <a:off x="1217766" y="4754880"/>
            <a:ext cx="548640" cy="502920"/>
          </a:xfrm>
          <a:prstGeom prst="rect">
            <a:avLst/>
          </a:prstGeom>
          <a:noFill/>
          <a:ln/>
        </p:spPr>
        <p:txBody>
          <a:bodyPr wrap="square" lIns="0" tIns="0" rIns="0" bIns="0" rtlCol="0" anchor="ctr"/>
          <a:lstStyle/>
          <a:p>
            <a:pPr algn="r" indent="0" marL="0">
              <a:buNone/>
            </a:pPr>
            <a:r>
              <a:rPr lang="en-US" sz="1000" b="1" dirty="0">
                <a:solidFill>
                  <a:schemeClr val="accent1"/>
                </a:solidFill>
              </a:rPr>
              <a:t>1</a:t>
            </a:r>
            <a:pPr algn="r" indent="0" marL="0">
              <a:buNone/>
            </a:pPr>
            <a:r>
              <a:rPr lang="en-US" sz="1000" dirty="0">
                <a:solidFill>
                  <a:schemeClr val="tx1"/>
                </a:solidFill>
              </a:rPr>
              <a:t> / 24</a:t>
            </a:r>
            <a:endParaRPr lang="en-US" sz="1000" dirty="0"/>
          </a:p>
        </p:txBody>
      </p:sp>
      <p:sp>
        <p:nvSpPr>
          <p:cNvPr id="47" name="workflow chip Market Access"/>
          <p:cNvSpPr/>
          <p:nvPr/>
        </p:nvSpPr>
        <p:spPr>
          <a:xfrm>
            <a:off x="3547872" y="4850892"/>
            <a:ext cx="1819656" cy="310896"/>
          </a:xfrm>
          <a:prstGeom prst="roundRect">
            <a:avLst>
              <a:gd name="adj" fmla="val 50000"/>
            </a:avLst>
          </a:prstGeom>
          <a:solidFill>
            <a:schemeClr val="accent5"/>
          </a:solidFill>
          <a:ln w="9525">
            <a:solidFill>
              <a:schemeClr val="accent1"/>
            </a:solidFill>
            <a:prstDash val="solid"/>
          </a:ln>
        </p:spPr>
      </p:sp>
      <p:sp>
        <p:nvSpPr>
          <p:cNvPr id="48" name="Text 45"/>
          <p:cNvSpPr txBox="1"/>
          <p:nvPr/>
        </p:nvSpPr>
        <p:spPr>
          <a:xfrm>
            <a:off x="3547872" y="4850892"/>
            <a:ext cx="1819656" cy="310896"/>
          </a:xfrm>
          <a:prstGeom prst="rect">
            <a:avLst/>
          </a:prstGeom>
          <a:noFill/>
          <a:ln/>
        </p:spPr>
        <p:txBody>
          <a:bodyPr wrap="square" lIns="0" tIns="0" rIns="0" bIns="0" rtlCol="0" anchor="ctr"/>
          <a:lstStyle/>
          <a:p>
            <a:pPr algn="ctr" indent="0" marL="0">
              <a:buNone/>
            </a:pPr>
            <a:r>
              <a:rPr lang="en-US" sz="900" b="1" dirty="0">
                <a:solidFill>
                  <a:schemeClr val="accent1"/>
                </a:solidFill>
              </a:rPr>
              <a:t>Market Access</a:t>
            </a:r>
            <a:endParaRPr lang="en-US" sz="900" dirty="0"/>
          </a:p>
        </p:txBody>
      </p:sp>
      <p:sp>
        <p:nvSpPr>
          <p:cNvPr id="49" name="Text 46"/>
          <p:cNvSpPr txBox="1"/>
          <p:nvPr/>
        </p:nvSpPr>
        <p:spPr>
          <a:xfrm>
            <a:off x="5577840" y="4754880"/>
            <a:ext cx="2697480" cy="502920"/>
          </a:xfrm>
          <a:prstGeom prst="rect">
            <a:avLst/>
          </a:prstGeom>
          <a:noFill/>
          <a:ln/>
        </p:spPr>
        <p:txBody>
          <a:bodyPr wrap="square" lIns="0" tIns="0" rIns="0" bIns="0" rtlCol="0" anchor="ctr"/>
          <a:lstStyle/>
          <a:p>
            <a:pPr indent="0" marL="0">
              <a:buNone/>
            </a:pPr>
            <a:r>
              <a:rPr lang="en-US" sz="900" dirty="0">
                <a:solidFill>
                  <a:schemeClr val="tx1"/>
                </a:solidFill>
              </a:rPr>
              <a:t>EVERSANA Ask NAVLIN</a:t>
            </a:r>
            <a:endParaRPr lang="en-US" sz="900" dirty="0"/>
          </a:p>
        </p:txBody>
      </p:sp>
      <p:sp>
        <p:nvSpPr>
          <p:cNvPr id="50" name="Text 47"/>
          <p:cNvSpPr txBox="1"/>
          <p:nvPr/>
        </p:nvSpPr>
        <p:spPr>
          <a:xfrm>
            <a:off x="8595360" y="4754880"/>
            <a:ext cx="1920240" cy="502920"/>
          </a:xfrm>
          <a:prstGeom prst="rect">
            <a:avLst/>
          </a:prstGeom>
          <a:noFill/>
          <a:ln/>
        </p:spPr>
        <p:txBody>
          <a:bodyPr wrap="square" lIns="0" tIns="0" rIns="0" bIns="0" rtlCol="0" anchor="ctr"/>
          <a:lstStyle/>
          <a:p>
            <a:pPr indent="0" marL="0">
              <a:buNone/>
            </a:pPr>
            <a:r>
              <a:rPr lang="en-US" sz="900" dirty="0">
                <a:solidFill>
                  <a:schemeClr val="tx1"/>
                </a:solidFill>
              </a:rPr>
              <a:t>HEOR/value evidence; Evidence Engine</a:t>
            </a:r>
            <a:endParaRPr lang="en-US" sz="900" dirty="0"/>
          </a:p>
        </p:txBody>
      </p:sp>
      <p:sp>
        <p:nvSpPr>
          <p:cNvPr id="51" name="chat status Market Access"/>
          <p:cNvSpPr/>
          <p:nvPr/>
        </p:nvSpPr>
        <p:spPr>
          <a:xfrm>
            <a:off x="11109960" y="4924044"/>
            <a:ext cx="164592" cy="164592"/>
          </a:xfrm>
          <a:prstGeom prst="ellipse">
            <a:avLst/>
          </a:prstGeom>
          <a:ln w="15875">
            <a:solidFill>
              <a:schemeClr val="accent4"/>
            </a:solidFill>
            <a:prstDash val="solid"/>
          </a:ln>
        </p:spPr>
      </p:sp>
      <p:sp>
        <p:nvSpPr>
          <p:cNvPr id="52" name="Shape 49"/>
          <p:cNvSpPr/>
          <p:nvPr/>
        </p:nvSpPr>
        <p:spPr>
          <a:xfrm>
            <a:off x="548640" y="5257800"/>
            <a:ext cx="11091672" cy="0"/>
          </a:xfrm>
          <a:prstGeom prst="line">
            <a:avLst/>
          </a:prstGeom>
          <a:noFill/>
          <a:ln w="9525">
            <a:solidFill>
              <a:schemeClr val="accent3"/>
            </a:solidFill>
            <a:prstDash val="solid"/>
          </a:ln>
        </p:spPr>
      </p:sp>
      <p:sp>
        <p:nvSpPr>
          <p:cNvPr id="53" name="scope note"/>
          <p:cNvSpPr txBox="1"/>
          <p:nvPr/>
        </p:nvSpPr>
        <p:spPr>
          <a:xfrm>
            <a:off x="548640" y="5321808"/>
            <a:ext cx="8778240" cy="182880"/>
          </a:xfrm>
          <a:prstGeom prst="rect">
            <a:avLst/>
          </a:prstGeom>
          <a:noFill/>
          <a:ln/>
        </p:spPr>
        <p:txBody>
          <a:bodyPr wrap="square" lIns="0" tIns="0" rIns="0" bIns="0" rtlCol="0" anchor="t"/>
          <a:lstStyle/>
          <a:p>
            <a:pPr indent="0" marL="0">
              <a:buNone/>
            </a:pPr>
            <a:r>
              <a:rPr lang="en-US" sz="800" b="1" dirty="0">
                <a:solidFill>
                  <a:schemeClr val="accent4"/>
                </a:solidFill>
              </a:rPr>
              <a:t>Scope note: Offerings are organized by their primary customer decision workflow; supporting data and analytics capabilities may serve more than one workflow.</a:t>
            </a:r>
            <a:endParaRPr lang="en-US" sz="800" dirty="0"/>
          </a:p>
        </p:txBody>
      </p:sp>
      <p:sp>
        <p:nvSpPr>
          <p:cNvPr id="54" name="chat claim legend"/>
          <p:cNvSpPr txBox="1"/>
          <p:nvPr/>
        </p:nvSpPr>
        <p:spPr>
          <a:xfrm>
            <a:off x="9418320" y="5321808"/>
            <a:ext cx="2221992" cy="182880"/>
          </a:xfrm>
          <a:prstGeom prst="rect">
            <a:avLst/>
          </a:prstGeom>
          <a:noFill/>
          <a:ln/>
        </p:spPr>
        <p:txBody>
          <a:bodyPr wrap="square" lIns="0" tIns="0" rIns="0" bIns="0" rtlCol="0" anchor="t"/>
          <a:lstStyle/>
          <a:p>
            <a:pPr algn="r" indent="0" marL="0">
              <a:buNone/>
            </a:pPr>
            <a:r>
              <a:rPr lang="en-US" sz="800" i="1" dirty="0">
                <a:solidFill>
                  <a:schemeClr val="accent4"/>
                </a:solidFill>
              </a:rPr>
              <a:t>○  Not publicly established in this review</a:t>
            </a:r>
            <a:endParaRPr lang="en-US" sz="800" dirty="0"/>
          </a:p>
        </p:txBody>
      </p:sp>
      <p:sp>
        <p:nvSpPr>
          <p:cNvPr id="55" name="key takeaway card"/>
          <p:cNvSpPr/>
          <p:nvPr/>
        </p:nvSpPr>
        <p:spPr>
          <a:xfrm>
            <a:off x="548640" y="5596128"/>
            <a:ext cx="11091672" cy="548640"/>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56" name="label"/>
          <p:cNvSpPr txBox="1"/>
          <p:nvPr/>
        </p:nvSpPr>
        <p:spPr>
          <a:xfrm>
            <a:off x="548640" y="5596128"/>
            <a:ext cx="2377440" cy="548640"/>
          </a:xfrm>
          <a:prstGeom prst="rect">
            <a:avLst/>
          </a:prstGeom>
          <a:noFill/>
          <a:ln/>
        </p:spPr>
        <p:txBody>
          <a:bodyPr wrap="square" lIns="0" tIns="0" rIns="0" bIns="0" rtlCol="0" anchor="ctr"/>
          <a:lstStyle/>
          <a:p>
            <a:pPr algn="ctr" indent="0" marL="0">
              <a:buNone/>
            </a:pPr>
            <a:r>
              <a:rPr lang="en-US" sz="1300" b="1" spc="150" kern="0" dirty="0">
                <a:solidFill>
                  <a:schemeClr val="accent2"/>
                </a:solidFill>
              </a:rPr>
              <a:t>KEY TAKEAWAY</a:t>
            </a:r>
            <a:endParaRPr lang="en-US" sz="1300" dirty="0"/>
          </a:p>
        </p:txBody>
      </p:sp>
      <p:sp>
        <p:nvSpPr>
          <p:cNvPr id="57" name="Text 54"/>
          <p:cNvSpPr txBox="1"/>
          <p:nvPr/>
        </p:nvSpPr>
        <p:spPr>
          <a:xfrm>
            <a:off x="2926080" y="5596128"/>
            <a:ext cx="8531352" cy="548640"/>
          </a:xfrm>
          <a:prstGeom prst="rect">
            <a:avLst/>
          </a:prstGeom>
          <a:noFill/>
          <a:ln/>
        </p:spPr>
        <p:txBody>
          <a:bodyPr wrap="square" lIns="0" tIns="0" rIns="0" bIns="0" rtlCol="0" anchor="ctr"/>
          <a:lstStyle/>
          <a:p>
            <a:pPr indent="0" marL="0">
              <a:buNone/>
            </a:pPr>
            <a:r>
              <a:rPr lang="en-US" sz="1050" b="1" dirty="0">
                <a:solidFill>
                  <a:schemeClr val="tx1"/>
                </a:solidFill>
              </a:rPr>
              <a:t>A publicly-marketed customer-facing conversational interface was not established in the reviewed materials for Optum LS</a:t>
            </a:r>
            <a:endParaRPr lang="en-US" sz="1050" dirty="0"/>
          </a:p>
          <a:p>
            <a:pPr indent="0" marL="0">
              <a:buNone/>
            </a:pPr>
            <a:r>
              <a:rPr lang="en-US" sz="1050" b="1" dirty="0">
                <a:solidFill>
                  <a:schemeClr val="tx1"/>
                </a:solidFill>
              </a:rPr>
              <a:t>across the five relevant business domains.</a:t>
            </a:r>
            <a:endParaRPr lang="en-US" sz="1050" dirty="0"/>
          </a:p>
        </p:txBody>
      </p:sp>
      <p:sp>
        <p:nvSpPr>
          <p:cNvPr id="25" name="Slide Number Placeholder 0"/>
          <p:cNvSpPr>
            <a:spLocks noGrp="1"/>
          </p:cNvSpPr>
          <p:nvPr>
            <p:ph type="sldNum" sz="quarter" idx="4294967295"/>
          </p:nvPr>
        </p:nvSpPr>
        <p:spPr>
          <a:xfrm>
            <a:off x="10725912" y="6309360"/>
            <a:ext cx="9144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body" hasCustomPrompt="1"/>
          </p:nvPr>
        </p:nvSpPr>
        <p:spPr>
          <a:xfrm>
            <a:off x="548640" y="384048"/>
            <a:ext cx="8229600"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U.S. BASELINE AND INTERNATIONAL COMPETITOR SCREENS</a:t>
            </a:r>
            <a:endParaRPr lang="en-US" sz="1000" dirty="0"/>
          </a:p>
        </p:txBody>
      </p:sp>
      <p:sp>
        <p:nvSpPr>
          <p:cNvPr id="3" name="Text 2"/>
          <p:cNvSpPr/>
          <p:nvPr>
            <p:ph idx="103" type="title" hasCustomPrompt="1"/>
          </p:nvPr>
        </p:nvSpPr>
        <p:spPr>
          <a:xfrm>
            <a:off x="548640" y="640080"/>
            <a:ext cx="11091672" cy="749808"/>
          </a:xfrm>
          <a:prstGeom prst="rect">
            <a:avLst/>
          </a:prstGeom>
          <a:noFill/>
          <a:ln/>
        </p:spPr>
        <p:txBody>
          <a:bodyPr wrap="square" lIns="0" tIns="0" rIns="0" bIns="0" rtlCol="0" anchor="t"/>
          <a:lstStyle/>
          <a:p>
            <a:pPr algn="l" indent="0" marL="0">
              <a:buNone/>
            </a:pPr>
            <a:r>
              <a:rPr lang="en-US" sz="2200" b="1" dirty="0">
                <a:solidFill>
                  <a:schemeClr val="accent1"/>
                </a:solidFill>
              </a:rPr>
              <a:t>Selected international screens identify additional companies marketing conversational AI across Optum LS-relevant domains</a:t>
            </a:r>
            <a:endParaRPr lang="en-US" sz="2200" dirty="0"/>
          </a:p>
        </p:txBody>
      </p:sp>
      <p:sp>
        <p:nvSpPr>
          <p:cNvPr id="4" name="label"/>
          <p:cNvSpPr txBox="1"/>
          <p:nvPr/>
        </p:nvSpPr>
        <p:spPr>
          <a:xfrm>
            <a:off x="548640" y="1481328"/>
            <a:ext cx="7680960" cy="201168"/>
          </a:xfrm>
          <a:prstGeom prst="rect">
            <a:avLst/>
          </a:prstGeom>
          <a:noFill/>
          <a:ln/>
        </p:spPr>
        <p:txBody>
          <a:bodyPr wrap="square" lIns="0" tIns="0" rIns="0" bIns="0" rtlCol="0" anchor="t"/>
          <a:lstStyle/>
          <a:p>
            <a:pPr indent="0" marL="0">
              <a:buNone/>
            </a:pPr>
            <a:r>
              <a:rPr lang="en-US" sz="1000" b="1" spc="100" kern="0" dirty="0">
                <a:solidFill>
                  <a:schemeClr val="accent2"/>
                </a:solidFill>
              </a:rPr>
              <a:t>COMPARABLE COMPANIES MARKETING CONVERSATIONAL AI</a:t>
            </a:r>
            <a:endParaRPr lang="en-US" sz="1000" dirty="0"/>
          </a:p>
        </p:txBody>
      </p:sp>
      <p:sp>
        <p:nvSpPr>
          <p:cNvPr id="5" name="table header"/>
          <p:cNvSpPr/>
          <p:nvPr/>
        </p:nvSpPr>
        <p:spPr>
          <a:xfrm>
            <a:off x="548640" y="1792224"/>
            <a:ext cx="7635240" cy="512064"/>
          </a:xfrm>
          <a:prstGeom prst="rect">
            <a:avLst/>
          </a:prstGeom>
          <a:solidFill>
            <a:schemeClr val="accent1"/>
          </a:solidFill>
          <a:ln/>
        </p:spPr>
      </p:sp>
      <p:sp>
        <p:nvSpPr>
          <p:cNvPr id="6" name="Text 4"/>
          <p:cNvSpPr txBox="1"/>
          <p:nvPr/>
        </p:nvSpPr>
        <p:spPr>
          <a:xfrm>
            <a:off x="548640" y="1792224"/>
            <a:ext cx="1188720" cy="512064"/>
          </a:xfrm>
          <a:prstGeom prst="rect">
            <a:avLst/>
          </a:prstGeom>
          <a:noFill/>
          <a:ln/>
        </p:spPr>
        <p:txBody>
          <a:bodyPr wrap="square" lIns="0" tIns="0" rIns="0" bIns="0" rtlCol="0" anchor="ctr"/>
          <a:lstStyle/>
          <a:p>
            <a:pPr algn="ctr" indent="0" marL="0">
              <a:buNone/>
            </a:pPr>
            <a:r>
              <a:rPr lang="en-US" sz="900" b="1" dirty="0">
                <a:solidFill>
                  <a:schemeClr val="bg1"/>
                </a:solidFill>
              </a:rPr>
              <a:t>International</a:t>
            </a:r>
            <a:endParaRPr lang="en-US" sz="900" dirty="0"/>
          </a:p>
          <a:p>
            <a:pPr algn="ctr" indent="0" marL="0">
              <a:buNone/>
            </a:pPr>
            <a:r>
              <a:rPr lang="en-US" sz="900" b="1" dirty="0">
                <a:solidFill>
                  <a:schemeClr val="bg1"/>
                </a:solidFill>
              </a:rPr>
              <a:t>Screen</a:t>
            </a:r>
            <a:endParaRPr lang="en-US" sz="900" dirty="0"/>
          </a:p>
        </p:txBody>
      </p:sp>
      <p:sp>
        <p:nvSpPr>
          <p:cNvPr id="7" name="Text 5"/>
          <p:cNvSpPr txBox="1"/>
          <p:nvPr/>
        </p:nvSpPr>
        <p:spPr>
          <a:xfrm>
            <a:off x="1847088" y="1792224"/>
            <a:ext cx="4618145" cy="512064"/>
          </a:xfrm>
          <a:prstGeom prst="rect">
            <a:avLst/>
          </a:prstGeom>
          <a:noFill/>
          <a:ln/>
        </p:spPr>
        <p:txBody>
          <a:bodyPr wrap="square" lIns="0" tIns="0" rIns="0" bIns="0" rtlCol="0" anchor="ctr"/>
          <a:lstStyle/>
          <a:p>
            <a:pPr algn="ctr" indent="0" marL="0">
              <a:buNone/>
            </a:pPr>
            <a:r>
              <a:rPr lang="en-US" sz="900" b="1" dirty="0">
                <a:solidFill>
                  <a:schemeClr val="bg1"/>
                </a:solidFill>
              </a:rPr>
              <a:t>Companies marketing conversational AI /</a:t>
            </a:r>
            <a:endParaRPr lang="en-US" sz="900" dirty="0"/>
          </a:p>
          <a:p>
            <a:pPr algn="ctr" indent="0" marL="0">
              <a:buNone/>
            </a:pPr>
            <a:r>
              <a:rPr lang="en-US" sz="900" b="1" dirty="0">
                <a:solidFill>
                  <a:schemeClr val="bg1"/>
                </a:solidFill>
              </a:rPr>
              <a:t>Total comparable companies</a:t>
            </a:r>
            <a:endParaRPr lang="en-US" sz="900" dirty="0"/>
          </a:p>
        </p:txBody>
      </p:sp>
      <p:sp>
        <p:nvSpPr>
          <p:cNvPr id="8" name="Text 6"/>
          <p:cNvSpPr txBox="1"/>
          <p:nvPr/>
        </p:nvSpPr>
        <p:spPr>
          <a:xfrm>
            <a:off x="6574961" y="1792224"/>
            <a:ext cx="1608919" cy="512064"/>
          </a:xfrm>
          <a:prstGeom prst="rect">
            <a:avLst/>
          </a:prstGeom>
          <a:noFill/>
          <a:ln/>
        </p:spPr>
        <p:txBody>
          <a:bodyPr wrap="square" lIns="0" tIns="0" rIns="0" bIns="0" rtlCol="0" anchor="ctr"/>
          <a:lstStyle/>
          <a:p>
            <a:pPr algn="ctr" indent="0" marL="0">
              <a:buNone/>
            </a:pPr>
            <a:r>
              <a:rPr lang="en-US" sz="900" b="1" dirty="0">
                <a:solidFill>
                  <a:schemeClr val="bg1"/>
                </a:solidFill>
              </a:rPr>
              <a:t>Screened-</a:t>
            </a:r>
            <a:endParaRPr lang="en-US" sz="900" dirty="0"/>
          </a:p>
          <a:p>
            <a:pPr algn="ctr" indent="0" marL="0">
              <a:buNone/>
            </a:pPr>
            <a:r>
              <a:rPr lang="en-US" sz="900" b="1" dirty="0">
                <a:solidFill>
                  <a:schemeClr val="bg1"/>
                </a:solidFill>
              </a:rPr>
              <a:t>company share</a:t>
            </a:r>
            <a:endParaRPr lang="en-US" sz="900" dirty="0"/>
          </a:p>
        </p:txBody>
      </p:sp>
      <p:graphicFrame>
        <p:nvGraphicFramePr>
          <p:cNvPr id="9" name="screened-company share chart" descr=""/>
          <p:cNvGraphicFramePr/>
          <p:nvPr/>
        </p:nvGraphicFramePr>
        <p:xfrm>
          <a:off x="1847088" y="2432304"/>
          <a:ext cx="4572000" cy="3685032"/>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548640" y="2432304"/>
            <a:ext cx="1143000" cy="228600"/>
          </a:xfrm>
          <a:prstGeom prst="rect">
            <a:avLst/>
          </a:prstGeom>
          <a:noFill/>
          <a:ln/>
        </p:spPr>
        <p:txBody>
          <a:bodyPr wrap="square" lIns="0" tIns="0" rIns="0" bIns="0" rtlCol="0" anchor="ctr"/>
          <a:lstStyle/>
          <a:p>
            <a:pPr algn="r" indent="0" marL="0">
              <a:buNone/>
            </a:pPr>
            <a:r>
              <a:rPr lang="en-US" sz="900" b="1" dirty="0">
                <a:solidFill>
                  <a:schemeClr val="accent1"/>
                </a:solidFill>
              </a:rPr>
              <a:t>United States</a:t>
            </a:r>
            <a:endParaRPr lang="en-US" sz="900" dirty="0"/>
          </a:p>
        </p:txBody>
      </p:sp>
      <p:sp>
        <p:nvSpPr>
          <p:cNvPr id="11" name="fraction United States"/>
          <p:cNvSpPr txBox="1"/>
          <p:nvPr/>
        </p:nvSpPr>
        <p:spPr>
          <a:xfrm>
            <a:off x="5898305" y="2432304"/>
            <a:ext cx="640080" cy="228600"/>
          </a:xfrm>
          <a:prstGeom prst="rect">
            <a:avLst/>
          </a:prstGeom>
          <a:noFill/>
          <a:ln/>
        </p:spPr>
        <p:txBody>
          <a:bodyPr wrap="square" lIns="0" tIns="0" rIns="0" bIns="0" rtlCol="0" anchor="ctr"/>
          <a:lstStyle/>
          <a:p>
            <a:pPr indent="0" marL="0">
              <a:buNone/>
            </a:pPr>
            <a:r>
              <a:rPr lang="en-US" sz="900" b="1" dirty="0">
                <a:solidFill>
                  <a:schemeClr val="accent1"/>
                </a:solidFill>
              </a:rPr>
              <a:t>15</a:t>
            </a:r>
            <a:pPr indent="0" marL="0">
              <a:buNone/>
            </a:pPr>
            <a:r>
              <a:rPr lang="en-US" sz="900" dirty="0">
                <a:solidFill>
                  <a:schemeClr val="tx1"/>
                </a:solidFill>
              </a:rPr>
              <a:t> / 43</a:t>
            </a:r>
            <a:endParaRPr lang="en-US" sz="900" dirty="0"/>
          </a:p>
        </p:txBody>
      </p:sp>
      <p:sp>
        <p:nvSpPr>
          <p:cNvPr id="12" name="Text 9"/>
          <p:cNvSpPr txBox="1"/>
          <p:nvPr/>
        </p:nvSpPr>
        <p:spPr>
          <a:xfrm>
            <a:off x="6574961" y="2432304"/>
            <a:ext cx="1608919" cy="228600"/>
          </a:xfrm>
          <a:prstGeom prst="rect">
            <a:avLst/>
          </a:prstGeom>
          <a:noFill/>
          <a:ln/>
        </p:spPr>
        <p:txBody>
          <a:bodyPr wrap="square" lIns="0" tIns="0" rIns="0" bIns="0" rtlCol="0" anchor="ctr"/>
          <a:lstStyle/>
          <a:p>
            <a:pPr algn="ctr" indent="0" marL="0">
              <a:buNone/>
            </a:pPr>
            <a:r>
              <a:rPr lang="en-US" sz="900" b="1" dirty="0">
                <a:solidFill>
                  <a:schemeClr val="accent1"/>
                </a:solidFill>
              </a:rPr>
              <a:t>34.9%</a:t>
            </a:r>
            <a:endParaRPr lang="en-US" sz="900" dirty="0"/>
          </a:p>
        </p:txBody>
      </p:sp>
      <p:sp>
        <p:nvSpPr>
          <p:cNvPr id="13" name="Text 10"/>
          <p:cNvSpPr txBox="1"/>
          <p:nvPr/>
        </p:nvSpPr>
        <p:spPr>
          <a:xfrm>
            <a:off x="548640" y="2660904"/>
            <a:ext cx="1143000" cy="228600"/>
          </a:xfrm>
          <a:prstGeom prst="rect">
            <a:avLst/>
          </a:prstGeom>
          <a:noFill/>
          <a:ln/>
        </p:spPr>
        <p:txBody>
          <a:bodyPr wrap="square" lIns="0" tIns="0" rIns="0" bIns="0" rtlCol="0" anchor="ctr"/>
          <a:lstStyle/>
          <a:p>
            <a:pPr algn="r" indent="0" marL="0">
              <a:buNone/>
            </a:pPr>
            <a:r>
              <a:rPr lang="en-US" sz="900" dirty="0">
                <a:solidFill>
                  <a:schemeClr val="tx1"/>
                </a:solidFill>
              </a:rPr>
              <a:t>China</a:t>
            </a:r>
            <a:endParaRPr lang="en-US" sz="900" dirty="0"/>
          </a:p>
        </p:txBody>
      </p:sp>
      <p:sp>
        <p:nvSpPr>
          <p:cNvPr id="14" name="fraction China"/>
          <p:cNvSpPr txBox="1"/>
          <p:nvPr/>
        </p:nvSpPr>
        <p:spPr>
          <a:xfrm>
            <a:off x="4768596" y="2660904"/>
            <a:ext cx="640080" cy="228600"/>
          </a:xfrm>
          <a:prstGeom prst="rect">
            <a:avLst/>
          </a:prstGeom>
          <a:noFill/>
          <a:ln/>
        </p:spPr>
        <p:txBody>
          <a:bodyPr wrap="square" lIns="0" tIns="0" rIns="0" bIns="0" rtlCol="0" anchor="ctr"/>
          <a:lstStyle/>
          <a:p>
            <a:pPr indent="0" marL="0">
              <a:buNone/>
            </a:pPr>
            <a:r>
              <a:rPr lang="en-US" sz="900" b="1" dirty="0">
                <a:solidFill>
                  <a:schemeClr val="accent1"/>
                </a:solidFill>
              </a:rPr>
              <a:t>5</a:t>
            </a:r>
            <a:pPr indent="0" marL="0">
              <a:buNone/>
            </a:pPr>
            <a:r>
              <a:rPr lang="en-US" sz="900" dirty="0">
                <a:solidFill>
                  <a:schemeClr val="tx1"/>
                </a:solidFill>
              </a:rPr>
              <a:t> / 20</a:t>
            </a:r>
            <a:endParaRPr lang="en-US" sz="900" dirty="0"/>
          </a:p>
        </p:txBody>
      </p:sp>
      <p:sp>
        <p:nvSpPr>
          <p:cNvPr id="15" name="Text 12"/>
          <p:cNvSpPr txBox="1"/>
          <p:nvPr/>
        </p:nvSpPr>
        <p:spPr>
          <a:xfrm>
            <a:off x="6574961" y="2660904"/>
            <a:ext cx="1608919" cy="228600"/>
          </a:xfrm>
          <a:prstGeom prst="rect">
            <a:avLst/>
          </a:prstGeom>
          <a:noFill/>
          <a:ln/>
        </p:spPr>
        <p:txBody>
          <a:bodyPr wrap="square" lIns="0" tIns="0" rIns="0" bIns="0" rtlCol="0" anchor="ctr"/>
          <a:lstStyle/>
          <a:p>
            <a:pPr algn="ctr" indent="0" marL="0">
              <a:buNone/>
            </a:pPr>
            <a:r>
              <a:rPr lang="en-US" sz="900" dirty="0">
                <a:solidFill>
                  <a:schemeClr val="accent4"/>
                </a:solidFill>
              </a:rPr>
              <a:t>25.0%</a:t>
            </a:r>
            <a:endParaRPr lang="en-US" sz="900" dirty="0"/>
          </a:p>
        </p:txBody>
      </p:sp>
      <p:sp>
        <p:nvSpPr>
          <p:cNvPr id="16" name="Text 13"/>
          <p:cNvSpPr txBox="1"/>
          <p:nvPr/>
        </p:nvSpPr>
        <p:spPr>
          <a:xfrm>
            <a:off x="548640" y="2889504"/>
            <a:ext cx="1143000" cy="228600"/>
          </a:xfrm>
          <a:prstGeom prst="rect">
            <a:avLst/>
          </a:prstGeom>
          <a:noFill/>
          <a:ln/>
        </p:spPr>
        <p:txBody>
          <a:bodyPr wrap="square" lIns="0" tIns="0" rIns="0" bIns="0" rtlCol="0" anchor="ctr"/>
          <a:lstStyle/>
          <a:p>
            <a:pPr algn="r" indent="0" marL="0">
              <a:buNone/>
            </a:pPr>
            <a:r>
              <a:rPr lang="en-US" sz="900" dirty="0">
                <a:solidFill>
                  <a:schemeClr val="tx1"/>
                </a:solidFill>
              </a:rPr>
              <a:t>Spain</a:t>
            </a:r>
            <a:endParaRPr lang="en-US" sz="900" dirty="0"/>
          </a:p>
        </p:txBody>
      </p:sp>
      <p:sp>
        <p:nvSpPr>
          <p:cNvPr id="17" name="fraction Spain"/>
          <p:cNvSpPr txBox="1"/>
          <p:nvPr/>
        </p:nvSpPr>
        <p:spPr>
          <a:xfrm>
            <a:off x="3928155" y="2889504"/>
            <a:ext cx="640080" cy="228600"/>
          </a:xfrm>
          <a:prstGeom prst="rect">
            <a:avLst/>
          </a:prstGeom>
          <a:noFill/>
          <a:ln/>
        </p:spPr>
        <p:txBody>
          <a:bodyPr wrap="square" lIns="0" tIns="0" rIns="0" bIns="0" rtlCol="0" anchor="ctr"/>
          <a:lstStyle/>
          <a:p>
            <a:pPr indent="0" marL="0">
              <a:buNone/>
            </a:pPr>
            <a:r>
              <a:rPr lang="en-US" sz="900" b="1" dirty="0">
                <a:solidFill>
                  <a:schemeClr val="accent1"/>
                </a:solidFill>
              </a:rPr>
              <a:t>3</a:t>
            </a:r>
            <a:pPr indent="0" marL="0">
              <a:buNone/>
            </a:pPr>
            <a:r>
              <a:rPr lang="en-US" sz="900" dirty="0">
                <a:solidFill>
                  <a:schemeClr val="tx1"/>
                </a:solidFill>
              </a:rPr>
              <a:t> / 17</a:t>
            </a:r>
            <a:endParaRPr lang="en-US" sz="900" dirty="0"/>
          </a:p>
        </p:txBody>
      </p:sp>
      <p:sp>
        <p:nvSpPr>
          <p:cNvPr id="18" name="Text 15"/>
          <p:cNvSpPr txBox="1"/>
          <p:nvPr/>
        </p:nvSpPr>
        <p:spPr>
          <a:xfrm>
            <a:off x="6574961" y="2889504"/>
            <a:ext cx="1608919" cy="228600"/>
          </a:xfrm>
          <a:prstGeom prst="rect">
            <a:avLst/>
          </a:prstGeom>
          <a:noFill/>
          <a:ln/>
        </p:spPr>
        <p:txBody>
          <a:bodyPr wrap="square" lIns="0" tIns="0" rIns="0" bIns="0" rtlCol="0" anchor="ctr"/>
          <a:lstStyle/>
          <a:p>
            <a:pPr algn="ctr" indent="0" marL="0">
              <a:buNone/>
            </a:pPr>
            <a:r>
              <a:rPr lang="en-US" sz="900" dirty="0">
                <a:solidFill>
                  <a:schemeClr val="accent4"/>
                </a:solidFill>
              </a:rPr>
              <a:t>17.6%</a:t>
            </a:r>
            <a:endParaRPr lang="en-US" sz="900" dirty="0"/>
          </a:p>
        </p:txBody>
      </p:sp>
      <p:sp>
        <p:nvSpPr>
          <p:cNvPr id="19" name="Text 16"/>
          <p:cNvSpPr txBox="1"/>
          <p:nvPr/>
        </p:nvSpPr>
        <p:spPr>
          <a:xfrm>
            <a:off x="548640" y="3118104"/>
            <a:ext cx="1143000" cy="228600"/>
          </a:xfrm>
          <a:prstGeom prst="rect">
            <a:avLst/>
          </a:prstGeom>
          <a:noFill/>
          <a:ln/>
        </p:spPr>
        <p:txBody>
          <a:bodyPr wrap="square" lIns="0" tIns="0" rIns="0" bIns="0" rtlCol="0" anchor="ctr"/>
          <a:lstStyle/>
          <a:p>
            <a:pPr algn="r" indent="0" marL="0">
              <a:buNone/>
            </a:pPr>
            <a:r>
              <a:rPr lang="en-US" sz="900" dirty="0">
                <a:solidFill>
                  <a:schemeClr val="tx1"/>
                </a:solidFill>
              </a:rPr>
              <a:t>Israel</a:t>
            </a:r>
            <a:endParaRPr lang="en-US" sz="900" dirty="0"/>
          </a:p>
        </p:txBody>
      </p:sp>
      <p:sp>
        <p:nvSpPr>
          <p:cNvPr id="20" name="fraction Israel"/>
          <p:cNvSpPr txBox="1"/>
          <p:nvPr/>
        </p:nvSpPr>
        <p:spPr>
          <a:xfrm>
            <a:off x="3435096" y="3118104"/>
            <a:ext cx="640080" cy="228600"/>
          </a:xfrm>
          <a:prstGeom prst="rect">
            <a:avLst/>
          </a:prstGeom>
          <a:noFill/>
          <a:ln/>
        </p:spPr>
        <p:txBody>
          <a:bodyPr wrap="square" lIns="0" tIns="0" rIns="0" bIns="0" rtlCol="0" anchor="ctr"/>
          <a:lstStyle/>
          <a:p>
            <a:pPr indent="0" marL="0">
              <a:buNone/>
            </a:pPr>
            <a:r>
              <a:rPr lang="en-US" sz="900" b="1" dirty="0">
                <a:solidFill>
                  <a:schemeClr val="accent1"/>
                </a:solidFill>
              </a:rPr>
              <a:t>2</a:t>
            </a:r>
            <a:pPr indent="0" marL="0">
              <a:buNone/>
            </a:pPr>
            <a:r>
              <a:rPr lang="en-US" sz="900" dirty="0">
                <a:solidFill>
                  <a:schemeClr val="tx1"/>
                </a:solidFill>
              </a:rPr>
              <a:t> / 15</a:t>
            </a:r>
            <a:endParaRPr lang="en-US" sz="900" dirty="0"/>
          </a:p>
        </p:txBody>
      </p:sp>
      <p:sp>
        <p:nvSpPr>
          <p:cNvPr id="21" name="Text 18"/>
          <p:cNvSpPr txBox="1"/>
          <p:nvPr/>
        </p:nvSpPr>
        <p:spPr>
          <a:xfrm>
            <a:off x="6574961" y="3118104"/>
            <a:ext cx="1608919" cy="228600"/>
          </a:xfrm>
          <a:prstGeom prst="rect">
            <a:avLst/>
          </a:prstGeom>
          <a:noFill/>
          <a:ln/>
        </p:spPr>
        <p:txBody>
          <a:bodyPr wrap="square" lIns="0" tIns="0" rIns="0" bIns="0" rtlCol="0" anchor="ctr"/>
          <a:lstStyle/>
          <a:p>
            <a:pPr algn="ctr" indent="0" marL="0">
              <a:buNone/>
            </a:pPr>
            <a:r>
              <a:rPr lang="en-US" sz="900" dirty="0">
                <a:solidFill>
                  <a:schemeClr val="accent4"/>
                </a:solidFill>
              </a:rPr>
              <a:t>13.3%</a:t>
            </a:r>
            <a:endParaRPr lang="en-US" sz="900" dirty="0"/>
          </a:p>
        </p:txBody>
      </p:sp>
      <p:sp>
        <p:nvSpPr>
          <p:cNvPr id="22" name="Text 19"/>
          <p:cNvSpPr txBox="1"/>
          <p:nvPr/>
        </p:nvSpPr>
        <p:spPr>
          <a:xfrm>
            <a:off x="548640" y="3346704"/>
            <a:ext cx="1143000" cy="228600"/>
          </a:xfrm>
          <a:prstGeom prst="rect">
            <a:avLst/>
          </a:prstGeom>
          <a:noFill/>
          <a:ln/>
        </p:spPr>
        <p:txBody>
          <a:bodyPr wrap="square" lIns="0" tIns="0" rIns="0" bIns="0" rtlCol="0" anchor="ctr"/>
          <a:lstStyle/>
          <a:p>
            <a:pPr algn="r" indent="0" marL="0">
              <a:buNone/>
            </a:pPr>
            <a:r>
              <a:rPr lang="en-US" sz="900" dirty="0">
                <a:solidFill>
                  <a:schemeClr val="tx1"/>
                </a:solidFill>
              </a:rPr>
              <a:t>France</a:t>
            </a:r>
            <a:endParaRPr lang="en-US" sz="900" dirty="0"/>
          </a:p>
        </p:txBody>
      </p:sp>
      <p:sp>
        <p:nvSpPr>
          <p:cNvPr id="23" name="fraction France"/>
          <p:cNvSpPr txBox="1"/>
          <p:nvPr/>
        </p:nvSpPr>
        <p:spPr>
          <a:xfrm>
            <a:off x="3255802" y="3346704"/>
            <a:ext cx="640080" cy="228600"/>
          </a:xfrm>
          <a:prstGeom prst="rect">
            <a:avLst/>
          </a:prstGeom>
          <a:noFill/>
          <a:ln/>
        </p:spPr>
        <p:txBody>
          <a:bodyPr wrap="square" lIns="0" tIns="0" rIns="0" bIns="0" rtlCol="0" anchor="ctr"/>
          <a:lstStyle/>
          <a:p>
            <a:pPr indent="0" marL="0">
              <a:buNone/>
            </a:pPr>
            <a:r>
              <a:rPr lang="en-US" sz="900" b="1" dirty="0">
                <a:solidFill>
                  <a:schemeClr val="accent1"/>
                </a:solidFill>
              </a:rPr>
              <a:t>2</a:t>
            </a:r>
            <a:pPr indent="0" marL="0">
              <a:buNone/>
            </a:pPr>
            <a:r>
              <a:rPr lang="en-US" sz="900" dirty="0">
                <a:solidFill>
                  <a:schemeClr val="tx1"/>
                </a:solidFill>
              </a:rPr>
              <a:t> / 17</a:t>
            </a:r>
            <a:endParaRPr lang="en-US" sz="900" dirty="0"/>
          </a:p>
        </p:txBody>
      </p:sp>
      <p:sp>
        <p:nvSpPr>
          <p:cNvPr id="24" name="Text 21"/>
          <p:cNvSpPr txBox="1"/>
          <p:nvPr/>
        </p:nvSpPr>
        <p:spPr>
          <a:xfrm>
            <a:off x="6574961" y="3346704"/>
            <a:ext cx="1608919" cy="228600"/>
          </a:xfrm>
          <a:prstGeom prst="rect">
            <a:avLst/>
          </a:prstGeom>
          <a:noFill/>
          <a:ln/>
        </p:spPr>
        <p:txBody>
          <a:bodyPr wrap="square" lIns="0" tIns="0" rIns="0" bIns="0" rtlCol="0" anchor="ctr"/>
          <a:lstStyle/>
          <a:p>
            <a:pPr algn="ctr" indent="0" marL="0">
              <a:buNone/>
            </a:pPr>
            <a:r>
              <a:rPr lang="en-US" sz="900" dirty="0">
                <a:solidFill>
                  <a:schemeClr val="accent4"/>
                </a:solidFill>
              </a:rPr>
              <a:t>11.8%</a:t>
            </a:r>
            <a:endParaRPr lang="en-US" sz="900" dirty="0"/>
          </a:p>
        </p:txBody>
      </p:sp>
      <p:sp>
        <p:nvSpPr>
          <p:cNvPr id="25" name="Text 22"/>
          <p:cNvSpPr txBox="1"/>
          <p:nvPr/>
        </p:nvSpPr>
        <p:spPr>
          <a:xfrm>
            <a:off x="548640" y="3575304"/>
            <a:ext cx="1143000" cy="228600"/>
          </a:xfrm>
          <a:prstGeom prst="rect">
            <a:avLst/>
          </a:prstGeom>
          <a:noFill/>
          <a:ln/>
        </p:spPr>
        <p:txBody>
          <a:bodyPr wrap="square" lIns="0" tIns="0" rIns="0" bIns="0" rtlCol="0" anchor="ctr"/>
          <a:lstStyle/>
          <a:p>
            <a:pPr algn="r" indent="0" marL="0">
              <a:buNone/>
            </a:pPr>
            <a:r>
              <a:rPr lang="en-US" sz="900" dirty="0">
                <a:solidFill>
                  <a:schemeClr val="tx1"/>
                </a:solidFill>
              </a:rPr>
              <a:t>Nordics</a:t>
            </a:r>
            <a:endParaRPr lang="en-US" sz="900" dirty="0"/>
          </a:p>
        </p:txBody>
      </p:sp>
      <p:sp>
        <p:nvSpPr>
          <p:cNvPr id="26" name="fraction Nordics"/>
          <p:cNvSpPr txBox="1"/>
          <p:nvPr/>
        </p:nvSpPr>
        <p:spPr>
          <a:xfrm>
            <a:off x="3255802" y="3575304"/>
            <a:ext cx="640080" cy="228600"/>
          </a:xfrm>
          <a:prstGeom prst="rect">
            <a:avLst/>
          </a:prstGeom>
          <a:noFill/>
          <a:ln/>
        </p:spPr>
        <p:txBody>
          <a:bodyPr wrap="square" lIns="0" tIns="0" rIns="0" bIns="0" rtlCol="0" anchor="ctr"/>
          <a:lstStyle/>
          <a:p>
            <a:pPr indent="0" marL="0">
              <a:buNone/>
            </a:pPr>
            <a:r>
              <a:rPr lang="en-US" sz="900" b="1" dirty="0">
                <a:solidFill>
                  <a:schemeClr val="accent1"/>
                </a:solidFill>
              </a:rPr>
              <a:t>2</a:t>
            </a:r>
            <a:pPr indent="0" marL="0">
              <a:buNone/>
            </a:pPr>
            <a:r>
              <a:rPr lang="en-US" sz="900" dirty="0">
                <a:solidFill>
                  <a:schemeClr val="tx1"/>
                </a:solidFill>
              </a:rPr>
              <a:t> / 17</a:t>
            </a:r>
            <a:endParaRPr lang="en-US" sz="900" dirty="0"/>
          </a:p>
        </p:txBody>
      </p:sp>
      <p:sp>
        <p:nvSpPr>
          <p:cNvPr id="27" name="Text 24"/>
          <p:cNvSpPr txBox="1"/>
          <p:nvPr/>
        </p:nvSpPr>
        <p:spPr>
          <a:xfrm>
            <a:off x="6574961" y="3575304"/>
            <a:ext cx="1608919" cy="228600"/>
          </a:xfrm>
          <a:prstGeom prst="rect">
            <a:avLst/>
          </a:prstGeom>
          <a:noFill/>
          <a:ln/>
        </p:spPr>
        <p:txBody>
          <a:bodyPr wrap="square" lIns="0" tIns="0" rIns="0" bIns="0" rtlCol="0" anchor="ctr"/>
          <a:lstStyle/>
          <a:p>
            <a:pPr algn="ctr" indent="0" marL="0">
              <a:buNone/>
            </a:pPr>
            <a:r>
              <a:rPr lang="en-US" sz="900" dirty="0">
                <a:solidFill>
                  <a:schemeClr val="accent4"/>
                </a:solidFill>
              </a:rPr>
              <a:t>11.8%</a:t>
            </a:r>
            <a:endParaRPr lang="en-US" sz="900" dirty="0"/>
          </a:p>
        </p:txBody>
      </p:sp>
      <p:sp>
        <p:nvSpPr>
          <p:cNvPr id="28" name="Text 25"/>
          <p:cNvSpPr txBox="1"/>
          <p:nvPr/>
        </p:nvSpPr>
        <p:spPr>
          <a:xfrm>
            <a:off x="548640" y="3803904"/>
            <a:ext cx="1143000" cy="228600"/>
          </a:xfrm>
          <a:prstGeom prst="rect">
            <a:avLst/>
          </a:prstGeom>
          <a:noFill/>
          <a:ln/>
        </p:spPr>
        <p:txBody>
          <a:bodyPr wrap="square" lIns="0" tIns="0" rIns="0" bIns="0" rtlCol="0" anchor="ctr"/>
          <a:lstStyle/>
          <a:p>
            <a:pPr algn="r" indent="0" marL="0">
              <a:buNone/>
            </a:pPr>
            <a:r>
              <a:rPr lang="en-US" sz="900" dirty="0">
                <a:solidFill>
                  <a:schemeClr val="tx1"/>
                </a:solidFill>
              </a:rPr>
              <a:t>India</a:t>
            </a:r>
            <a:endParaRPr lang="en-US" sz="900" dirty="0"/>
          </a:p>
        </p:txBody>
      </p:sp>
      <p:sp>
        <p:nvSpPr>
          <p:cNvPr id="29" name="fraction India"/>
          <p:cNvSpPr txBox="1"/>
          <p:nvPr/>
        </p:nvSpPr>
        <p:spPr>
          <a:xfrm>
            <a:off x="2982659" y="3803904"/>
            <a:ext cx="640080" cy="228600"/>
          </a:xfrm>
          <a:prstGeom prst="rect">
            <a:avLst/>
          </a:prstGeom>
          <a:noFill/>
          <a:ln/>
        </p:spPr>
        <p:txBody>
          <a:bodyPr wrap="square" lIns="0" tIns="0" rIns="0" bIns="0" rtlCol="0" anchor="ctr"/>
          <a:lstStyle/>
          <a:p>
            <a:pPr indent="0" marL="0">
              <a:buNone/>
            </a:pPr>
            <a:r>
              <a:rPr lang="en-US" sz="900" b="1" dirty="0">
                <a:solidFill>
                  <a:schemeClr val="accent1"/>
                </a:solidFill>
              </a:rPr>
              <a:t>3</a:t>
            </a:r>
            <a:pPr indent="0" marL="0">
              <a:buNone/>
            </a:pPr>
            <a:r>
              <a:rPr lang="en-US" sz="900" dirty="0">
                <a:solidFill>
                  <a:schemeClr val="tx1"/>
                </a:solidFill>
              </a:rPr>
              <a:t> / 32</a:t>
            </a:r>
            <a:endParaRPr lang="en-US" sz="900" dirty="0"/>
          </a:p>
        </p:txBody>
      </p:sp>
      <p:sp>
        <p:nvSpPr>
          <p:cNvPr id="30" name="Text 27"/>
          <p:cNvSpPr txBox="1"/>
          <p:nvPr/>
        </p:nvSpPr>
        <p:spPr>
          <a:xfrm>
            <a:off x="6574961" y="3803904"/>
            <a:ext cx="1608919" cy="228600"/>
          </a:xfrm>
          <a:prstGeom prst="rect">
            <a:avLst/>
          </a:prstGeom>
          <a:noFill/>
          <a:ln/>
        </p:spPr>
        <p:txBody>
          <a:bodyPr wrap="square" lIns="0" tIns="0" rIns="0" bIns="0" rtlCol="0" anchor="ctr"/>
          <a:lstStyle/>
          <a:p>
            <a:pPr algn="ctr" indent="0" marL="0">
              <a:buNone/>
            </a:pPr>
            <a:r>
              <a:rPr lang="en-US" sz="900" dirty="0">
                <a:solidFill>
                  <a:schemeClr val="accent4"/>
                </a:solidFill>
              </a:rPr>
              <a:t>9.4%</a:t>
            </a:r>
            <a:endParaRPr lang="en-US" sz="900" dirty="0"/>
          </a:p>
        </p:txBody>
      </p:sp>
      <p:sp>
        <p:nvSpPr>
          <p:cNvPr id="31" name="Text 28"/>
          <p:cNvSpPr txBox="1"/>
          <p:nvPr/>
        </p:nvSpPr>
        <p:spPr>
          <a:xfrm>
            <a:off x="548640" y="4032504"/>
            <a:ext cx="1143000" cy="228600"/>
          </a:xfrm>
          <a:prstGeom prst="rect">
            <a:avLst/>
          </a:prstGeom>
          <a:noFill/>
          <a:ln/>
        </p:spPr>
        <p:txBody>
          <a:bodyPr wrap="square" lIns="0" tIns="0" rIns="0" bIns="0" rtlCol="0" anchor="ctr"/>
          <a:lstStyle/>
          <a:p>
            <a:pPr algn="r" indent="0" marL="0">
              <a:buNone/>
            </a:pPr>
            <a:r>
              <a:rPr lang="en-US" sz="900" dirty="0">
                <a:solidFill>
                  <a:schemeClr val="tx1"/>
                </a:solidFill>
              </a:rPr>
              <a:t>Netherlands</a:t>
            </a:r>
            <a:endParaRPr lang="en-US" sz="900" dirty="0"/>
          </a:p>
        </p:txBody>
      </p:sp>
      <p:sp>
        <p:nvSpPr>
          <p:cNvPr id="32" name="fraction Netherlands"/>
          <p:cNvSpPr txBox="1"/>
          <p:nvPr/>
        </p:nvSpPr>
        <p:spPr>
          <a:xfrm>
            <a:off x="2950187" y="4032504"/>
            <a:ext cx="640080" cy="228600"/>
          </a:xfrm>
          <a:prstGeom prst="rect">
            <a:avLst/>
          </a:prstGeom>
          <a:noFill/>
          <a:ln/>
        </p:spPr>
        <p:txBody>
          <a:bodyPr wrap="square" lIns="0" tIns="0" rIns="0" bIns="0" rtlCol="0" anchor="ctr"/>
          <a:lstStyle/>
          <a:p>
            <a:pPr indent="0" marL="0">
              <a:buNone/>
            </a:pPr>
            <a:r>
              <a:rPr lang="en-US" sz="900" b="1" dirty="0">
                <a:solidFill>
                  <a:schemeClr val="accent1"/>
                </a:solidFill>
              </a:rPr>
              <a:t>1</a:t>
            </a:r>
            <a:pPr indent="0" marL="0">
              <a:buNone/>
            </a:pPr>
            <a:r>
              <a:rPr lang="en-US" sz="900" dirty="0">
                <a:solidFill>
                  <a:schemeClr val="tx1"/>
                </a:solidFill>
              </a:rPr>
              <a:t> / 11</a:t>
            </a:r>
            <a:endParaRPr lang="en-US" sz="900" dirty="0"/>
          </a:p>
        </p:txBody>
      </p:sp>
      <p:sp>
        <p:nvSpPr>
          <p:cNvPr id="33" name="Text 30"/>
          <p:cNvSpPr txBox="1"/>
          <p:nvPr/>
        </p:nvSpPr>
        <p:spPr>
          <a:xfrm>
            <a:off x="6574961" y="4032504"/>
            <a:ext cx="1608919" cy="228600"/>
          </a:xfrm>
          <a:prstGeom prst="rect">
            <a:avLst/>
          </a:prstGeom>
          <a:noFill/>
          <a:ln/>
        </p:spPr>
        <p:txBody>
          <a:bodyPr wrap="square" lIns="0" tIns="0" rIns="0" bIns="0" rtlCol="0" anchor="ctr"/>
          <a:lstStyle/>
          <a:p>
            <a:pPr algn="ctr" indent="0" marL="0">
              <a:buNone/>
            </a:pPr>
            <a:r>
              <a:rPr lang="en-US" sz="900" dirty="0">
                <a:solidFill>
                  <a:schemeClr val="accent4"/>
                </a:solidFill>
              </a:rPr>
              <a:t>9.1%</a:t>
            </a:r>
            <a:endParaRPr lang="en-US" sz="900" dirty="0"/>
          </a:p>
        </p:txBody>
      </p:sp>
      <p:sp>
        <p:nvSpPr>
          <p:cNvPr id="34" name="Text 31"/>
          <p:cNvSpPr txBox="1"/>
          <p:nvPr/>
        </p:nvSpPr>
        <p:spPr>
          <a:xfrm>
            <a:off x="548640" y="4261104"/>
            <a:ext cx="1143000" cy="228600"/>
          </a:xfrm>
          <a:prstGeom prst="rect">
            <a:avLst/>
          </a:prstGeom>
          <a:noFill/>
          <a:ln/>
        </p:spPr>
        <p:txBody>
          <a:bodyPr wrap="square" lIns="0" tIns="0" rIns="0" bIns="0" rtlCol="0" anchor="ctr"/>
          <a:lstStyle/>
          <a:p>
            <a:pPr algn="r" indent="0" marL="0">
              <a:buNone/>
            </a:pPr>
            <a:r>
              <a:rPr lang="en-US" sz="900" dirty="0">
                <a:solidFill>
                  <a:schemeClr val="tx1"/>
                </a:solidFill>
              </a:rPr>
              <a:t>Australia</a:t>
            </a:r>
            <a:endParaRPr lang="en-US" sz="900" dirty="0"/>
          </a:p>
        </p:txBody>
      </p:sp>
      <p:sp>
        <p:nvSpPr>
          <p:cNvPr id="35" name="fraction Australia"/>
          <p:cNvSpPr txBox="1"/>
          <p:nvPr/>
        </p:nvSpPr>
        <p:spPr>
          <a:xfrm>
            <a:off x="2727525" y="4261104"/>
            <a:ext cx="640080" cy="228600"/>
          </a:xfrm>
          <a:prstGeom prst="rect">
            <a:avLst/>
          </a:prstGeom>
          <a:noFill/>
          <a:ln/>
        </p:spPr>
        <p:txBody>
          <a:bodyPr wrap="square" lIns="0" tIns="0" rIns="0" bIns="0" rtlCol="0" anchor="ctr"/>
          <a:lstStyle/>
          <a:p>
            <a:pPr indent="0" marL="0">
              <a:buNone/>
            </a:pPr>
            <a:r>
              <a:rPr lang="en-US" sz="900" b="1" dirty="0">
                <a:solidFill>
                  <a:schemeClr val="accent1"/>
                </a:solidFill>
              </a:rPr>
              <a:t>1</a:t>
            </a:r>
            <a:pPr indent="0" marL="0">
              <a:buNone/>
            </a:pPr>
            <a:r>
              <a:rPr lang="en-US" sz="900" dirty="0">
                <a:solidFill>
                  <a:schemeClr val="tx1"/>
                </a:solidFill>
              </a:rPr>
              <a:t> / 14</a:t>
            </a:r>
            <a:endParaRPr lang="en-US" sz="900" dirty="0"/>
          </a:p>
        </p:txBody>
      </p:sp>
      <p:sp>
        <p:nvSpPr>
          <p:cNvPr id="36" name="Text 33"/>
          <p:cNvSpPr txBox="1"/>
          <p:nvPr/>
        </p:nvSpPr>
        <p:spPr>
          <a:xfrm>
            <a:off x="6574961" y="4261104"/>
            <a:ext cx="1608919" cy="228600"/>
          </a:xfrm>
          <a:prstGeom prst="rect">
            <a:avLst/>
          </a:prstGeom>
          <a:noFill/>
          <a:ln/>
        </p:spPr>
        <p:txBody>
          <a:bodyPr wrap="square" lIns="0" tIns="0" rIns="0" bIns="0" rtlCol="0" anchor="ctr"/>
          <a:lstStyle/>
          <a:p>
            <a:pPr algn="ctr" indent="0" marL="0">
              <a:buNone/>
            </a:pPr>
            <a:r>
              <a:rPr lang="en-US" sz="900" dirty="0">
                <a:solidFill>
                  <a:schemeClr val="accent4"/>
                </a:solidFill>
              </a:rPr>
              <a:t>7.1%</a:t>
            </a:r>
            <a:endParaRPr lang="en-US" sz="900" dirty="0"/>
          </a:p>
        </p:txBody>
      </p:sp>
      <p:sp>
        <p:nvSpPr>
          <p:cNvPr id="37" name="Text 34"/>
          <p:cNvSpPr txBox="1"/>
          <p:nvPr/>
        </p:nvSpPr>
        <p:spPr>
          <a:xfrm>
            <a:off x="548640" y="4489704"/>
            <a:ext cx="1143000" cy="228600"/>
          </a:xfrm>
          <a:prstGeom prst="rect">
            <a:avLst/>
          </a:prstGeom>
          <a:noFill/>
          <a:ln/>
        </p:spPr>
        <p:txBody>
          <a:bodyPr wrap="square" lIns="0" tIns="0" rIns="0" bIns="0" rtlCol="0" anchor="ctr"/>
          <a:lstStyle/>
          <a:p>
            <a:pPr algn="r" indent="0" marL="0">
              <a:buNone/>
            </a:pPr>
            <a:r>
              <a:rPr lang="en-US" sz="900" dirty="0">
                <a:solidFill>
                  <a:schemeClr val="tx1"/>
                </a:solidFill>
              </a:rPr>
              <a:t>South Korea</a:t>
            </a:r>
            <a:endParaRPr lang="en-US" sz="900" dirty="0"/>
          </a:p>
        </p:txBody>
      </p:sp>
      <p:sp>
        <p:nvSpPr>
          <p:cNvPr id="38" name="fraction South Korea"/>
          <p:cNvSpPr txBox="1"/>
          <p:nvPr/>
        </p:nvSpPr>
        <p:spPr>
          <a:xfrm>
            <a:off x="2583449" y="4489704"/>
            <a:ext cx="640080" cy="228600"/>
          </a:xfrm>
          <a:prstGeom prst="rect">
            <a:avLst/>
          </a:prstGeom>
          <a:noFill/>
          <a:ln/>
        </p:spPr>
        <p:txBody>
          <a:bodyPr wrap="square" lIns="0" tIns="0" rIns="0" bIns="0" rtlCol="0" anchor="ctr"/>
          <a:lstStyle/>
          <a:p>
            <a:pPr indent="0" marL="0">
              <a:buNone/>
            </a:pPr>
            <a:r>
              <a:rPr lang="en-US" sz="900" b="1" dirty="0">
                <a:solidFill>
                  <a:schemeClr val="accent1"/>
                </a:solidFill>
              </a:rPr>
              <a:t>1</a:t>
            </a:r>
            <a:pPr indent="0" marL="0">
              <a:buNone/>
            </a:pPr>
            <a:r>
              <a:rPr lang="en-US" sz="900" dirty="0">
                <a:solidFill>
                  <a:schemeClr val="tx1"/>
                </a:solidFill>
              </a:rPr>
              <a:t> / 17</a:t>
            </a:r>
            <a:endParaRPr lang="en-US" sz="900" dirty="0"/>
          </a:p>
        </p:txBody>
      </p:sp>
      <p:sp>
        <p:nvSpPr>
          <p:cNvPr id="39" name="Text 36"/>
          <p:cNvSpPr txBox="1"/>
          <p:nvPr/>
        </p:nvSpPr>
        <p:spPr>
          <a:xfrm>
            <a:off x="6574961" y="4489704"/>
            <a:ext cx="1608919" cy="228600"/>
          </a:xfrm>
          <a:prstGeom prst="rect">
            <a:avLst/>
          </a:prstGeom>
          <a:noFill/>
          <a:ln/>
        </p:spPr>
        <p:txBody>
          <a:bodyPr wrap="square" lIns="0" tIns="0" rIns="0" bIns="0" rtlCol="0" anchor="ctr"/>
          <a:lstStyle/>
          <a:p>
            <a:pPr algn="ctr" indent="0" marL="0">
              <a:buNone/>
            </a:pPr>
            <a:r>
              <a:rPr lang="en-US" sz="900" dirty="0">
                <a:solidFill>
                  <a:schemeClr val="accent4"/>
                </a:solidFill>
              </a:rPr>
              <a:t>5.9%</a:t>
            </a:r>
            <a:endParaRPr lang="en-US" sz="900" dirty="0"/>
          </a:p>
        </p:txBody>
      </p:sp>
      <p:sp>
        <p:nvSpPr>
          <p:cNvPr id="40" name="Text 37"/>
          <p:cNvSpPr txBox="1"/>
          <p:nvPr/>
        </p:nvSpPr>
        <p:spPr>
          <a:xfrm>
            <a:off x="548640" y="4718304"/>
            <a:ext cx="1143000" cy="228600"/>
          </a:xfrm>
          <a:prstGeom prst="rect">
            <a:avLst/>
          </a:prstGeom>
          <a:noFill/>
          <a:ln/>
        </p:spPr>
        <p:txBody>
          <a:bodyPr wrap="square" lIns="0" tIns="0" rIns="0" bIns="0" rtlCol="0" anchor="ctr"/>
          <a:lstStyle/>
          <a:p>
            <a:pPr algn="r" indent="0" marL="0">
              <a:buNone/>
            </a:pPr>
            <a:r>
              <a:rPr lang="en-US" sz="900" dirty="0">
                <a:solidFill>
                  <a:schemeClr val="tx1"/>
                </a:solidFill>
              </a:rPr>
              <a:t>Belgium</a:t>
            </a:r>
            <a:endParaRPr lang="en-US" sz="900" dirty="0"/>
          </a:p>
        </p:txBody>
      </p:sp>
      <p:sp>
        <p:nvSpPr>
          <p:cNvPr id="41" name="fraction Belgium"/>
          <p:cNvSpPr txBox="1"/>
          <p:nvPr/>
        </p:nvSpPr>
        <p:spPr>
          <a:xfrm>
            <a:off x="2546096" y="4718304"/>
            <a:ext cx="640080" cy="228600"/>
          </a:xfrm>
          <a:prstGeom prst="rect">
            <a:avLst/>
          </a:prstGeom>
          <a:noFill/>
          <a:ln/>
        </p:spPr>
        <p:txBody>
          <a:bodyPr wrap="square" lIns="0" tIns="0" rIns="0" bIns="0" rtlCol="0" anchor="ctr"/>
          <a:lstStyle/>
          <a:p>
            <a:pPr indent="0" marL="0">
              <a:buNone/>
            </a:pPr>
            <a:r>
              <a:rPr lang="en-US" sz="900" b="1" dirty="0">
                <a:solidFill>
                  <a:schemeClr val="accent1"/>
                </a:solidFill>
              </a:rPr>
              <a:t>1</a:t>
            </a:r>
            <a:pPr indent="0" marL="0">
              <a:buNone/>
            </a:pPr>
            <a:r>
              <a:rPr lang="en-US" sz="900" dirty="0">
                <a:solidFill>
                  <a:schemeClr val="tx1"/>
                </a:solidFill>
              </a:rPr>
              <a:t> / 18</a:t>
            </a:r>
            <a:endParaRPr lang="en-US" sz="900" dirty="0"/>
          </a:p>
        </p:txBody>
      </p:sp>
      <p:sp>
        <p:nvSpPr>
          <p:cNvPr id="42" name="Text 39"/>
          <p:cNvSpPr txBox="1"/>
          <p:nvPr/>
        </p:nvSpPr>
        <p:spPr>
          <a:xfrm>
            <a:off x="6574961" y="4718304"/>
            <a:ext cx="1608919" cy="228600"/>
          </a:xfrm>
          <a:prstGeom prst="rect">
            <a:avLst/>
          </a:prstGeom>
          <a:noFill/>
          <a:ln/>
        </p:spPr>
        <p:txBody>
          <a:bodyPr wrap="square" lIns="0" tIns="0" rIns="0" bIns="0" rtlCol="0" anchor="ctr"/>
          <a:lstStyle/>
          <a:p>
            <a:pPr algn="ctr" indent="0" marL="0">
              <a:buNone/>
            </a:pPr>
            <a:r>
              <a:rPr lang="en-US" sz="900" dirty="0">
                <a:solidFill>
                  <a:schemeClr val="accent4"/>
                </a:solidFill>
              </a:rPr>
              <a:t>5.6%</a:t>
            </a:r>
            <a:endParaRPr lang="en-US" sz="900" dirty="0"/>
          </a:p>
        </p:txBody>
      </p:sp>
      <p:sp>
        <p:nvSpPr>
          <p:cNvPr id="43" name="Text 40"/>
          <p:cNvSpPr txBox="1"/>
          <p:nvPr/>
        </p:nvSpPr>
        <p:spPr>
          <a:xfrm>
            <a:off x="548640" y="4946904"/>
            <a:ext cx="1143000" cy="228600"/>
          </a:xfrm>
          <a:prstGeom prst="rect">
            <a:avLst/>
          </a:prstGeom>
          <a:noFill/>
          <a:ln/>
        </p:spPr>
        <p:txBody>
          <a:bodyPr wrap="square" lIns="0" tIns="0" rIns="0" bIns="0" rtlCol="0" anchor="ctr"/>
          <a:lstStyle/>
          <a:p>
            <a:pPr algn="r" indent="0" marL="0">
              <a:buNone/>
            </a:pPr>
            <a:r>
              <a:rPr lang="en-US" sz="900" dirty="0">
                <a:solidFill>
                  <a:schemeClr val="tx1"/>
                </a:solidFill>
              </a:rPr>
              <a:t>United Kingdom</a:t>
            </a:r>
            <a:endParaRPr lang="en-US" sz="900" dirty="0"/>
          </a:p>
        </p:txBody>
      </p:sp>
      <p:sp>
        <p:nvSpPr>
          <p:cNvPr id="44" name="fraction United Kingdom"/>
          <p:cNvSpPr txBox="1"/>
          <p:nvPr/>
        </p:nvSpPr>
        <p:spPr>
          <a:xfrm>
            <a:off x="2546096" y="4946904"/>
            <a:ext cx="640080" cy="228600"/>
          </a:xfrm>
          <a:prstGeom prst="rect">
            <a:avLst/>
          </a:prstGeom>
          <a:noFill/>
          <a:ln/>
        </p:spPr>
        <p:txBody>
          <a:bodyPr wrap="square" lIns="0" tIns="0" rIns="0" bIns="0" rtlCol="0" anchor="ctr"/>
          <a:lstStyle/>
          <a:p>
            <a:pPr indent="0" marL="0">
              <a:buNone/>
            </a:pPr>
            <a:r>
              <a:rPr lang="en-US" sz="900" b="1" dirty="0">
                <a:solidFill>
                  <a:schemeClr val="accent1"/>
                </a:solidFill>
              </a:rPr>
              <a:t>1</a:t>
            </a:r>
            <a:pPr indent="0" marL="0">
              <a:buNone/>
            </a:pPr>
            <a:r>
              <a:rPr lang="en-US" sz="900" dirty="0">
                <a:solidFill>
                  <a:schemeClr val="tx1"/>
                </a:solidFill>
              </a:rPr>
              <a:t> / 18</a:t>
            </a:r>
            <a:endParaRPr lang="en-US" sz="900" dirty="0"/>
          </a:p>
        </p:txBody>
      </p:sp>
      <p:sp>
        <p:nvSpPr>
          <p:cNvPr id="45" name="Text 42"/>
          <p:cNvSpPr txBox="1"/>
          <p:nvPr/>
        </p:nvSpPr>
        <p:spPr>
          <a:xfrm>
            <a:off x="6574961" y="4946904"/>
            <a:ext cx="1608919" cy="228600"/>
          </a:xfrm>
          <a:prstGeom prst="rect">
            <a:avLst/>
          </a:prstGeom>
          <a:noFill/>
          <a:ln/>
        </p:spPr>
        <p:txBody>
          <a:bodyPr wrap="square" lIns="0" tIns="0" rIns="0" bIns="0" rtlCol="0" anchor="ctr"/>
          <a:lstStyle/>
          <a:p>
            <a:pPr algn="ctr" indent="0" marL="0">
              <a:buNone/>
            </a:pPr>
            <a:r>
              <a:rPr lang="en-US" sz="900" dirty="0">
                <a:solidFill>
                  <a:schemeClr val="accent4"/>
                </a:solidFill>
              </a:rPr>
              <a:t>5.6%</a:t>
            </a:r>
            <a:endParaRPr lang="en-US" sz="900" dirty="0"/>
          </a:p>
        </p:txBody>
      </p:sp>
      <p:sp>
        <p:nvSpPr>
          <p:cNvPr id="46" name="Text 43"/>
          <p:cNvSpPr txBox="1"/>
          <p:nvPr/>
        </p:nvSpPr>
        <p:spPr>
          <a:xfrm>
            <a:off x="548640" y="5175504"/>
            <a:ext cx="1143000" cy="228600"/>
          </a:xfrm>
          <a:prstGeom prst="rect">
            <a:avLst/>
          </a:prstGeom>
          <a:noFill/>
          <a:ln/>
        </p:spPr>
        <p:txBody>
          <a:bodyPr wrap="square" lIns="0" tIns="0" rIns="0" bIns="0" rtlCol="0" anchor="ctr"/>
          <a:lstStyle/>
          <a:p>
            <a:pPr algn="r" indent="0" marL="0">
              <a:buNone/>
            </a:pPr>
            <a:r>
              <a:rPr lang="en-US" sz="900" dirty="0">
                <a:solidFill>
                  <a:schemeClr val="tx1"/>
                </a:solidFill>
              </a:rPr>
              <a:t>Canada</a:t>
            </a:r>
            <a:endParaRPr lang="en-US" sz="900" dirty="0"/>
          </a:p>
        </p:txBody>
      </p:sp>
      <p:sp>
        <p:nvSpPr>
          <p:cNvPr id="47" name="fraction Canada"/>
          <p:cNvSpPr txBox="1"/>
          <p:nvPr/>
        </p:nvSpPr>
        <p:spPr>
          <a:xfrm>
            <a:off x="1911096" y="5175504"/>
            <a:ext cx="640080" cy="228600"/>
          </a:xfrm>
          <a:prstGeom prst="rect">
            <a:avLst/>
          </a:prstGeom>
          <a:noFill/>
          <a:ln/>
        </p:spPr>
        <p:txBody>
          <a:bodyPr wrap="square" lIns="0" tIns="0" rIns="0" bIns="0" rtlCol="0" anchor="ctr"/>
          <a:lstStyle/>
          <a:p>
            <a:pPr indent="0" marL="0">
              <a:buNone/>
            </a:pPr>
            <a:r>
              <a:rPr lang="en-US" sz="900" b="1" dirty="0">
                <a:solidFill>
                  <a:schemeClr val="accent1"/>
                </a:solidFill>
              </a:rPr>
              <a:t>0</a:t>
            </a:r>
            <a:pPr indent="0" marL="0">
              <a:buNone/>
            </a:pPr>
            <a:r>
              <a:rPr lang="en-US" sz="900" dirty="0">
                <a:solidFill>
                  <a:schemeClr val="tx1"/>
                </a:solidFill>
              </a:rPr>
              <a:t> / 11</a:t>
            </a:r>
            <a:endParaRPr lang="en-US" sz="900" dirty="0"/>
          </a:p>
        </p:txBody>
      </p:sp>
      <p:sp>
        <p:nvSpPr>
          <p:cNvPr id="48" name="Text 45"/>
          <p:cNvSpPr txBox="1"/>
          <p:nvPr/>
        </p:nvSpPr>
        <p:spPr>
          <a:xfrm>
            <a:off x="6574961" y="5175504"/>
            <a:ext cx="1608919" cy="228600"/>
          </a:xfrm>
          <a:prstGeom prst="rect">
            <a:avLst/>
          </a:prstGeom>
          <a:noFill/>
          <a:ln/>
        </p:spPr>
        <p:txBody>
          <a:bodyPr wrap="square" lIns="0" tIns="0" rIns="0" bIns="0" rtlCol="0" anchor="ctr"/>
          <a:lstStyle/>
          <a:p>
            <a:pPr algn="ctr" indent="0" marL="0">
              <a:buNone/>
            </a:pPr>
            <a:r>
              <a:rPr lang="en-US" sz="900" dirty="0">
                <a:solidFill>
                  <a:schemeClr val="accent4"/>
                </a:solidFill>
              </a:rPr>
              <a:t>0.0%</a:t>
            </a:r>
            <a:endParaRPr lang="en-US" sz="900" dirty="0"/>
          </a:p>
        </p:txBody>
      </p:sp>
      <p:sp>
        <p:nvSpPr>
          <p:cNvPr id="49" name="Text 46"/>
          <p:cNvSpPr txBox="1"/>
          <p:nvPr/>
        </p:nvSpPr>
        <p:spPr>
          <a:xfrm>
            <a:off x="548640" y="5404104"/>
            <a:ext cx="1143000" cy="228600"/>
          </a:xfrm>
          <a:prstGeom prst="rect">
            <a:avLst/>
          </a:prstGeom>
          <a:noFill/>
          <a:ln/>
        </p:spPr>
        <p:txBody>
          <a:bodyPr wrap="square" lIns="0" tIns="0" rIns="0" bIns="0" rtlCol="0" anchor="ctr"/>
          <a:lstStyle/>
          <a:p>
            <a:pPr algn="r" indent="0" marL="0">
              <a:buNone/>
            </a:pPr>
            <a:r>
              <a:rPr lang="en-US" sz="900" dirty="0">
                <a:solidFill>
                  <a:schemeClr val="tx1"/>
                </a:solidFill>
              </a:rPr>
              <a:t>Germany</a:t>
            </a:r>
            <a:endParaRPr lang="en-US" sz="900" dirty="0"/>
          </a:p>
        </p:txBody>
      </p:sp>
      <p:sp>
        <p:nvSpPr>
          <p:cNvPr id="50" name="fraction Germany"/>
          <p:cNvSpPr txBox="1"/>
          <p:nvPr/>
        </p:nvSpPr>
        <p:spPr>
          <a:xfrm>
            <a:off x="1911096" y="5404104"/>
            <a:ext cx="640080" cy="228600"/>
          </a:xfrm>
          <a:prstGeom prst="rect">
            <a:avLst/>
          </a:prstGeom>
          <a:noFill/>
          <a:ln/>
        </p:spPr>
        <p:txBody>
          <a:bodyPr wrap="square" lIns="0" tIns="0" rIns="0" bIns="0" rtlCol="0" anchor="ctr"/>
          <a:lstStyle/>
          <a:p>
            <a:pPr indent="0" marL="0">
              <a:buNone/>
            </a:pPr>
            <a:r>
              <a:rPr lang="en-US" sz="900" b="1" dirty="0">
                <a:solidFill>
                  <a:schemeClr val="accent1"/>
                </a:solidFill>
              </a:rPr>
              <a:t>0</a:t>
            </a:r>
            <a:pPr indent="0" marL="0">
              <a:buNone/>
            </a:pPr>
            <a:r>
              <a:rPr lang="en-US" sz="900" dirty="0">
                <a:solidFill>
                  <a:schemeClr val="tx1"/>
                </a:solidFill>
              </a:rPr>
              <a:t> / 13</a:t>
            </a:r>
            <a:endParaRPr lang="en-US" sz="900" dirty="0"/>
          </a:p>
        </p:txBody>
      </p:sp>
      <p:sp>
        <p:nvSpPr>
          <p:cNvPr id="51" name="Text 48"/>
          <p:cNvSpPr txBox="1"/>
          <p:nvPr/>
        </p:nvSpPr>
        <p:spPr>
          <a:xfrm>
            <a:off x="6574961" y="5404104"/>
            <a:ext cx="1608919" cy="228600"/>
          </a:xfrm>
          <a:prstGeom prst="rect">
            <a:avLst/>
          </a:prstGeom>
          <a:noFill/>
          <a:ln/>
        </p:spPr>
        <p:txBody>
          <a:bodyPr wrap="square" lIns="0" tIns="0" rIns="0" bIns="0" rtlCol="0" anchor="ctr"/>
          <a:lstStyle/>
          <a:p>
            <a:pPr algn="ctr" indent="0" marL="0">
              <a:buNone/>
            </a:pPr>
            <a:r>
              <a:rPr lang="en-US" sz="900" dirty="0">
                <a:solidFill>
                  <a:schemeClr val="accent4"/>
                </a:solidFill>
              </a:rPr>
              <a:t>0.0%</a:t>
            </a:r>
            <a:endParaRPr lang="en-US" sz="900" dirty="0"/>
          </a:p>
        </p:txBody>
      </p:sp>
      <p:sp>
        <p:nvSpPr>
          <p:cNvPr id="52" name="Text 49"/>
          <p:cNvSpPr txBox="1"/>
          <p:nvPr/>
        </p:nvSpPr>
        <p:spPr>
          <a:xfrm>
            <a:off x="548640" y="5632704"/>
            <a:ext cx="1143000" cy="228600"/>
          </a:xfrm>
          <a:prstGeom prst="rect">
            <a:avLst/>
          </a:prstGeom>
          <a:noFill/>
          <a:ln/>
        </p:spPr>
        <p:txBody>
          <a:bodyPr wrap="square" lIns="0" tIns="0" rIns="0" bIns="0" rtlCol="0" anchor="ctr"/>
          <a:lstStyle/>
          <a:p>
            <a:pPr algn="r" indent="0" marL="0">
              <a:buNone/>
            </a:pPr>
            <a:r>
              <a:rPr lang="en-US" sz="900" dirty="0">
                <a:solidFill>
                  <a:schemeClr val="tx1"/>
                </a:solidFill>
              </a:rPr>
              <a:t>Japan</a:t>
            </a:r>
            <a:endParaRPr lang="en-US" sz="900" dirty="0"/>
          </a:p>
        </p:txBody>
      </p:sp>
      <p:sp>
        <p:nvSpPr>
          <p:cNvPr id="53" name="fraction Japan"/>
          <p:cNvSpPr txBox="1"/>
          <p:nvPr/>
        </p:nvSpPr>
        <p:spPr>
          <a:xfrm>
            <a:off x="1911096" y="5632704"/>
            <a:ext cx="640080" cy="228600"/>
          </a:xfrm>
          <a:prstGeom prst="rect">
            <a:avLst/>
          </a:prstGeom>
          <a:noFill/>
          <a:ln/>
        </p:spPr>
        <p:txBody>
          <a:bodyPr wrap="square" lIns="0" tIns="0" rIns="0" bIns="0" rtlCol="0" anchor="ctr"/>
          <a:lstStyle/>
          <a:p>
            <a:pPr indent="0" marL="0">
              <a:buNone/>
            </a:pPr>
            <a:r>
              <a:rPr lang="en-US" sz="900" b="1" dirty="0">
                <a:solidFill>
                  <a:schemeClr val="accent1"/>
                </a:solidFill>
              </a:rPr>
              <a:t>0</a:t>
            </a:r>
            <a:pPr indent="0" marL="0">
              <a:buNone/>
            </a:pPr>
            <a:r>
              <a:rPr lang="en-US" sz="900" dirty="0">
                <a:solidFill>
                  <a:schemeClr val="tx1"/>
                </a:solidFill>
              </a:rPr>
              <a:t> / 15</a:t>
            </a:r>
            <a:endParaRPr lang="en-US" sz="900" dirty="0"/>
          </a:p>
        </p:txBody>
      </p:sp>
      <p:sp>
        <p:nvSpPr>
          <p:cNvPr id="54" name="Text 51"/>
          <p:cNvSpPr txBox="1"/>
          <p:nvPr/>
        </p:nvSpPr>
        <p:spPr>
          <a:xfrm>
            <a:off x="6574961" y="5632704"/>
            <a:ext cx="1608919" cy="228600"/>
          </a:xfrm>
          <a:prstGeom prst="rect">
            <a:avLst/>
          </a:prstGeom>
          <a:noFill/>
          <a:ln/>
        </p:spPr>
        <p:txBody>
          <a:bodyPr wrap="square" lIns="0" tIns="0" rIns="0" bIns="0" rtlCol="0" anchor="ctr"/>
          <a:lstStyle/>
          <a:p>
            <a:pPr algn="ctr" indent="0" marL="0">
              <a:buNone/>
            </a:pPr>
            <a:r>
              <a:rPr lang="en-US" sz="900" dirty="0">
                <a:solidFill>
                  <a:schemeClr val="accent4"/>
                </a:solidFill>
              </a:rPr>
              <a:t>0.0%</a:t>
            </a:r>
            <a:endParaRPr lang="en-US" sz="900" dirty="0"/>
          </a:p>
        </p:txBody>
      </p:sp>
      <p:sp>
        <p:nvSpPr>
          <p:cNvPr id="55" name="how to read card"/>
          <p:cNvSpPr/>
          <p:nvPr/>
        </p:nvSpPr>
        <p:spPr>
          <a:xfrm>
            <a:off x="8412480" y="1792224"/>
            <a:ext cx="3227832" cy="1783080"/>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56" name="label"/>
          <p:cNvSpPr txBox="1"/>
          <p:nvPr/>
        </p:nvSpPr>
        <p:spPr>
          <a:xfrm>
            <a:off x="8613648" y="1988820"/>
            <a:ext cx="2825496" cy="475488"/>
          </a:xfrm>
          <a:prstGeom prst="rect">
            <a:avLst/>
          </a:prstGeom>
          <a:noFill/>
          <a:ln/>
        </p:spPr>
        <p:txBody>
          <a:bodyPr wrap="square" lIns="0" tIns="0" rIns="0" bIns="0" rtlCol="0" anchor="t"/>
          <a:lstStyle/>
          <a:p>
            <a:pPr indent="0" marL="0">
              <a:buNone/>
            </a:pPr>
            <a:r>
              <a:rPr lang="en-US" sz="1300" b="1" spc="150" kern="0" dirty="0">
                <a:solidFill>
                  <a:schemeClr val="accent2"/>
                </a:solidFill>
              </a:rPr>
              <a:t>HOW TO READ THE COMPARISON</a:t>
            </a:r>
            <a:endParaRPr lang="en-US" sz="1300" dirty="0"/>
          </a:p>
        </p:txBody>
      </p:sp>
      <p:sp>
        <p:nvSpPr>
          <p:cNvPr id="57" name="Text 54"/>
          <p:cNvSpPr txBox="1"/>
          <p:nvPr/>
        </p:nvSpPr>
        <p:spPr>
          <a:xfrm>
            <a:off x="8613648" y="2555748"/>
            <a:ext cx="2825496" cy="822960"/>
          </a:xfrm>
          <a:prstGeom prst="rect">
            <a:avLst/>
          </a:prstGeom>
          <a:noFill/>
          <a:ln/>
        </p:spPr>
        <p:txBody>
          <a:bodyPr wrap="square" lIns="0" tIns="0" rIns="0" bIns="0" rtlCol="0" anchor="t"/>
          <a:lstStyle/>
          <a:p>
            <a:pPr indent="0" marL="0">
              <a:buNone/>
            </a:pPr>
            <a:r>
              <a:rPr lang="en-US" sz="1000" dirty="0">
                <a:solidFill>
                  <a:schemeClr val="tx1"/>
                </a:solidFill>
              </a:rPr>
              <a:t>Each bar shows the share of comparable companies we screened that market conversational AI. International counts exclude competitors already represented in the U.S. inventory.</a:t>
            </a:r>
            <a:endParaRPr lang="en-US" sz="1000" dirty="0"/>
          </a:p>
        </p:txBody>
      </p:sp>
      <p:sp>
        <p:nvSpPr>
          <p:cNvPr id="58" name="next card"/>
          <p:cNvSpPr/>
          <p:nvPr/>
        </p:nvSpPr>
        <p:spPr>
          <a:xfrm>
            <a:off x="8412480" y="3758184"/>
            <a:ext cx="3227832" cy="2350008"/>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59" name="icon circle"/>
          <p:cNvSpPr/>
          <p:nvPr/>
        </p:nvSpPr>
        <p:spPr>
          <a:xfrm>
            <a:off x="8613648" y="4247388"/>
            <a:ext cx="402336" cy="402336"/>
          </a:xfrm>
          <a:prstGeom prst="ellipse">
            <a:avLst/>
          </a:prstGeom>
          <a:solidFill>
            <a:schemeClr val="accent5"/>
          </a:solidFill>
          <a:ln/>
        </p:spPr>
      </p:sp>
      <p:pic>
        <p:nvPicPr>
          <p:cNvPr id="60" name="icon MdArrowForward" descr="preencoded.png">    </p:cNvPr>
          <p:cNvPicPr>
            <a:picLocks noChangeAspect="1"/>
          </p:cNvPicPr>
          <p:nvPr/>
        </p:nvPicPr>
        <p:blipFill>
          <a:blip r:embed="rId2"/>
          <a:stretch>
            <a:fillRect/>
          </a:stretch>
        </p:blipFill>
        <p:spPr>
          <a:xfrm>
            <a:off x="8702162" y="4335902"/>
            <a:ext cx="225308" cy="225308"/>
          </a:xfrm>
          <a:prstGeom prst="rect">
            <a:avLst/>
          </a:prstGeom>
        </p:spPr>
      </p:pic>
      <p:sp>
        <p:nvSpPr>
          <p:cNvPr id="61" name="label"/>
          <p:cNvSpPr txBox="1"/>
          <p:nvPr/>
        </p:nvSpPr>
        <p:spPr>
          <a:xfrm>
            <a:off x="9144000" y="4082796"/>
            <a:ext cx="2295144" cy="731520"/>
          </a:xfrm>
          <a:prstGeom prst="rect">
            <a:avLst/>
          </a:prstGeom>
          <a:noFill/>
          <a:ln/>
        </p:spPr>
        <p:txBody>
          <a:bodyPr wrap="square" lIns="0" tIns="0" rIns="0" bIns="0" rtlCol="0" anchor="ctr"/>
          <a:lstStyle/>
          <a:p>
            <a:pPr indent="0" marL="0">
              <a:buNone/>
            </a:pPr>
            <a:r>
              <a:rPr lang="en-US" sz="1300" b="1" spc="150" kern="0" dirty="0">
                <a:solidFill>
                  <a:schemeClr val="accent2"/>
                </a:solidFill>
              </a:rPr>
              <a:t>NEXT: FROM COMPANY SCREENS TO ACTUAL PRODUCTS</a:t>
            </a:r>
            <a:endParaRPr lang="en-US" sz="1300" dirty="0"/>
          </a:p>
        </p:txBody>
      </p:sp>
      <p:sp>
        <p:nvSpPr>
          <p:cNvPr id="62" name="Text 58"/>
          <p:cNvSpPr txBox="1"/>
          <p:nvPr/>
        </p:nvSpPr>
        <p:spPr>
          <a:xfrm>
            <a:off x="8613648" y="4960620"/>
            <a:ext cx="2825496" cy="822960"/>
          </a:xfrm>
          <a:prstGeom prst="rect">
            <a:avLst/>
          </a:prstGeom>
          <a:noFill/>
          <a:ln/>
        </p:spPr>
        <p:txBody>
          <a:bodyPr wrap="square" lIns="0" tIns="0" rIns="0" bIns="0" rtlCol="0" anchor="t"/>
          <a:lstStyle/>
          <a:p>
            <a:pPr indent="0" marL="0">
              <a:buNone/>
            </a:pPr>
            <a:r>
              <a:rPr lang="en-US" sz="1150" b="1" dirty="0">
                <a:solidFill>
                  <a:schemeClr val="accent1"/>
                </a:solidFill>
              </a:rPr>
              <a:t>The following slides examine the specific marketed conversational tools and corresponding Optum LS offerings – beginning with RWE.</a:t>
            </a:r>
            <a:endParaRPr lang="en-US" sz="1150" dirty="0"/>
          </a:p>
        </p:txBody>
      </p:sp>
      <p:sp>
        <p:nvSpPr>
          <p:cNvPr id="25" name="Slide Number Placeholder 0"/>
          <p:cNvSpPr>
            <a:spLocks noGrp="1"/>
          </p:cNvSpPr>
          <p:nvPr>
            <p:ph type="sldNum" sz="quarter" idx="4294967295"/>
          </p:nvPr>
        </p:nvSpPr>
        <p:spPr>
          <a:xfrm>
            <a:off x="10725912" y="6309360"/>
            <a:ext cx="9144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body" hasCustomPrompt="1"/>
          </p:nvPr>
        </p:nvSpPr>
        <p:spPr>
          <a:xfrm>
            <a:off x="548640" y="384048"/>
            <a:ext cx="8229600"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CONVERSATIONAL AI IN RWE</a:t>
            </a:r>
            <a:endParaRPr lang="en-US" sz="1000" dirty="0"/>
          </a:p>
        </p:txBody>
      </p:sp>
      <p:sp>
        <p:nvSpPr>
          <p:cNvPr id="3" name="tracker RWE"/>
          <p:cNvSpPr/>
          <p:nvPr/>
        </p:nvSpPr>
        <p:spPr>
          <a:xfrm>
            <a:off x="5657393" y="365760"/>
            <a:ext cx="386791" cy="237744"/>
          </a:xfrm>
          <a:prstGeom prst="roundRect">
            <a:avLst>
              <a:gd name="adj" fmla="val 50000"/>
            </a:avLst>
          </a:prstGeom>
          <a:solidFill>
            <a:schemeClr val="accent1"/>
          </a:solidFill>
          <a:ln/>
        </p:spPr>
      </p:sp>
      <p:sp>
        <p:nvSpPr>
          <p:cNvPr id="4" name="Text 2"/>
          <p:cNvSpPr txBox="1"/>
          <p:nvPr/>
        </p:nvSpPr>
        <p:spPr>
          <a:xfrm>
            <a:off x="5657393" y="365760"/>
            <a:ext cx="386791" cy="237744"/>
          </a:xfrm>
          <a:prstGeom prst="rect">
            <a:avLst/>
          </a:prstGeom>
          <a:noFill/>
          <a:ln/>
        </p:spPr>
        <p:txBody>
          <a:bodyPr wrap="square" lIns="0" tIns="0" rIns="0" bIns="0" rtlCol="0" anchor="ctr"/>
          <a:lstStyle/>
          <a:p>
            <a:pPr algn="ctr" indent="0" marL="0">
              <a:buNone/>
            </a:pPr>
            <a:r>
              <a:rPr lang="en-US" sz="750" b="1" dirty="0">
                <a:solidFill>
                  <a:schemeClr val="bg1"/>
                </a:solidFill>
              </a:rPr>
              <a:t>RWE</a:t>
            </a:r>
            <a:endParaRPr lang="en-US" sz="750" dirty="0"/>
          </a:p>
        </p:txBody>
      </p:sp>
      <p:sp>
        <p:nvSpPr>
          <p:cNvPr id="5" name="tracker Commercial Intelligence"/>
          <p:cNvSpPr/>
          <p:nvPr/>
        </p:nvSpPr>
        <p:spPr>
          <a:xfrm>
            <a:off x="6108192" y="365760"/>
            <a:ext cx="1502359" cy="237744"/>
          </a:xfrm>
          <a:prstGeom prst="roundRect">
            <a:avLst>
              <a:gd name="adj" fmla="val 50000"/>
            </a:avLst>
          </a:prstGeom>
          <a:solidFill>
            <a:schemeClr val="accent5"/>
          </a:solidFill>
          <a:ln/>
        </p:spPr>
      </p:sp>
      <p:sp>
        <p:nvSpPr>
          <p:cNvPr id="6" name="Text 4"/>
          <p:cNvSpPr txBox="1"/>
          <p:nvPr/>
        </p:nvSpPr>
        <p:spPr>
          <a:xfrm>
            <a:off x="6108192" y="365760"/>
            <a:ext cx="1502359" cy="237744"/>
          </a:xfrm>
          <a:prstGeom prst="rect">
            <a:avLst/>
          </a:prstGeom>
          <a:noFill/>
          <a:ln/>
        </p:spPr>
        <p:txBody>
          <a:bodyPr wrap="square" lIns="0" tIns="0" rIns="0" bIns="0" rtlCol="0" anchor="ctr"/>
          <a:lstStyle/>
          <a:p>
            <a:pPr algn="ctr" indent="0" marL="0">
              <a:buNone/>
            </a:pPr>
            <a:r>
              <a:rPr lang="en-US" sz="750" b="1" dirty="0">
                <a:solidFill>
                  <a:schemeClr val="accent4"/>
                </a:solidFill>
              </a:rPr>
              <a:t>Commercial Intelligence</a:t>
            </a:r>
            <a:endParaRPr lang="en-US" sz="750" dirty="0"/>
          </a:p>
        </p:txBody>
      </p:sp>
      <p:sp>
        <p:nvSpPr>
          <p:cNvPr id="7" name="tracker Medical / Regulatory Research"/>
          <p:cNvSpPr/>
          <p:nvPr/>
        </p:nvSpPr>
        <p:spPr>
          <a:xfrm>
            <a:off x="7674559" y="365760"/>
            <a:ext cx="1837030" cy="237744"/>
          </a:xfrm>
          <a:prstGeom prst="roundRect">
            <a:avLst>
              <a:gd name="adj" fmla="val 50000"/>
            </a:avLst>
          </a:prstGeom>
          <a:solidFill>
            <a:schemeClr val="accent5"/>
          </a:solidFill>
          <a:ln/>
        </p:spPr>
      </p:sp>
      <p:sp>
        <p:nvSpPr>
          <p:cNvPr id="8" name="Text 6"/>
          <p:cNvSpPr txBox="1"/>
          <p:nvPr/>
        </p:nvSpPr>
        <p:spPr>
          <a:xfrm>
            <a:off x="7674559" y="365760"/>
            <a:ext cx="1837030" cy="237744"/>
          </a:xfrm>
          <a:prstGeom prst="rect">
            <a:avLst/>
          </a:prstGeom>
          <a:noFill/>
          <a:ln/>
        </p:spPr>
        <p:txBody>
          <a:bodyPr wrap="square" lIns="0" tIns="0" rIns="0" bIns="0" rtlCol="0" anchor="ctr"/>
          <a:lstStyle/>
          <a:p>
            <a:pPr algn="ctr" indent="0" marL="0">
              <a:buNone/>
            </a:pPr>
            <a:r>
              <a:rPr lang="en-US" sz="750" b="1" dirty="0">
                <a:solidFill>
                  <a:schemeClr val="accent4"/>
                </a:solidFill>
              </a:rPr>
              <a:t>Medical / Regulatory Research</a:t>
            </a:r>
            <a:endParaRPr lang="en-US" sz="750" dirty="0"/>
          </a:p>
        </p:txBody>
      </p:sp>
      <p:sp>
        <p:nvSpPr>
          <p:cNvPr id="9" name="tracker Clinical Trials"/>
          <p:cNvSpPr/>
          <p:nvPr/>
        </p:nvSpPr>
        <p:spPr>
          <a:xfrm>
            <a:off x="9575597" y="365760"/>
            <a:ext cx="1056132" cy="237744"/>
          </a:xfrm>
          <a:prstGeom prst="roundRect">
            <a:avLst>
              <a:gd name="adj" fmla="val 50000"/>
            </a:avLst>
          </a:prstGeom>
          <a:solidFill>
            <a:schemeClr val="accent5"/>
          </a:solidFill>
          <a:ln/>
        </p:spPr>
      </p:sp>
      <p:sp>
        <p:nvSpPr>
          <p:cNvPr id="10" name="Text 8"/>
          <p:cNvSpPr txBox="1"/>
          <p:nvPr/>
        </p:nvSpPr>
        <p:spPr>
          <a:xfrm>
            <a:off x="9575597" y="365760"/>
            <a:ext cx="1056132" cy="237744"/>
          </a:xfrm>
          <a:prstGeom prst="rect">
            <a:avLst/>
          </a:prstGeom>
          <a:noFill/>
          <a:ln/>
        </p:spPr>
        <p:txBody>
          <a:bodyPr wrap="square" lIns="0" tIns="0" rIns="0" bIns="0" rtlCol="0" anchor="ctr"/>
          <a:lstStyle/>
          <a:p>
            <a:pPr algn="ctr" indent="0" marL="0">
              <a:buNone/>
            </a:pPr>
            <a:r>
              <a:rPr lang="en-US" sz="750" b="1" dirty="0">
                <a:solidFill>
                  <a:schemeClr val="accent4"/>
                </a:solidFill>
              </a:rPr>
              <a:t>Clinical Trials</a:t>
            </a:r>
            <a:endParaRPr lang="en-US" sz="750" dirty="0"/>
          </a:p>
        </p:txBody>
      </p:sp>
      <p:sp>
        <p:nvSpPr>
          <p:cNvPr id="11" name="tracker Market Access"/>
          <p:cNvSpPr/>
          <p:nvPr/>
        </p:nvSpPr>
        <p:spPr>
          <a:xfrm>
            <a:off x="10695737" y="365760"/>
            <a:ext cx="944575" cy="237744"/>
          </a:xfrm>
          <a:prstGeom prst="roundRect">
            <a:avLst>
              <a:gd name="adj" fmla="val 50000"/>
            </a:avLst>
          </a:prstGeom>
          <a:solidFill>
            <a:schemeClr val="accent5"/>
          </a:solidFill>
          <a:ln/>
        </p:spPr>
      </p:sp>
      <p:sp>
        <p:nvSpPr>
          <p:cNvPr id="12" name="Text 10"/>
          <p:cNvSpPr txBox="1"/>
          <p:nvPr/>
        </p:nvSpPr>
        <p:spPr>
          <a:xfrm>
            <a:off x="10695737" y="365760"/>
            <a:ext cx="944575" cy="237744"/>
          </a:xfrm>
          <a:prstGeom prst="rect">
            <a:avLst/>
          </a:prstGeom>
          <a:noFill/>
          <a:ln/>
        </p:spPr>
        <p:txBody>
          <a:bodyPr wrap="square" lIns="0" tIns="0" rIns="0" bIns="0" rtlCol="0" anchor="ctr"/>
          <a:lstStyle/>
          <a:p>
            <a:pPr algn="ctr" indent="0" marL="0">
              <a:buNone/>
            </a:pPr>
            <a:r>
              <a:rPr lang="en-US" sz="750" b="1" dirty="0">
                <a:solidFill>
                  <a:schemeClr val="accent4"/>
                </a:solidFill>
              </a:rPr>
              <a:t>Market Access</a:t>
            </a:r>
            <a:endParaRPr lang="en-US" sz="750" dirty="0"/>
          </a:p>
        </p:txBody>
      </p:sp>
      <p:sp>
        <p:nvSpPr>
          <p:cNvPr id="13" name="Text 2"/>
          <p:cNvSpPr/>
          <p:nvPr>
            <p:ph idx="103" type="title" hasCustomPrompt="1"/>
          </p:nvPr>
        </p:nvSpPr>
        <p:spPr>
          <a:xfrm>
            <a:off x="548640" y="640080"/>
            <a:ext cx="11091672" cy="749808"/>
          </a:xfrm>
          <a:prstGeom prst="rect">
            <a:avLst/>
          </a:prstGeom>
          <a:noFill/>
          <a:ln/>
        </p:spPr>
        <p:txBody>
          <a:bodyPr wrap="square" lIns="0" tIns="0" rIns="0" bIns="0" rtlCol="0" anchor="t"/>
          <a:lstStyle/>
          <a:p>
            <a:pPr algn="l" indent="0" marL="0">
              <a:buNone/>
            </a:pPr>
            <a:r>
              <a:rPr lang="en-US" sz="2200" b="1" dirty="0">
                <a:solidFill>
                  <a:schemeClr val="accent1"/>
                </a:solidFill>
              </a:rPr>
              <a:t>Competitors are marketing conversational tools to assess healthcare</a:t>
            </a:r>
            <a:br/>
            <a:pPr algn="l" indent="0" marL="0">
              <a:buNone/>
            </a:pPr>
            <a:r>
              <a:rPr lang="en-US" sz="2200" b="1" dirty="0">
                <a:solidFill>
                  <a:schemeClr val="accent1"/>
                </a:solidFill>
              </a:rPr>
              <a:t>datasets, explore cohorts and answer RWE questions</a:t>
            </a:r>
            <a:endParaRPr lang="en-US" sz="2200" dirty="0"/>
          </a:p>
        </p:txBody>
      </p:sp>
      <p:graphicFrame>
        <p:nvGraphicFramePr>
          <p:cNvPr id="6" name="task table"/>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2286000"/>
                <a:gridCol w="5760720"/>
                <a:gridCol w="3044952"/>
              </a:tblGrid>
              <a:tr h="329184">
                <a:tc>
                  <a:txBody>
                    <a:bodyPr/>
                    <a:lstStyle/>
                    <a:p>
                      <a:pPr algn="ctr" indent="0" marL="0">
                        <a:buNone/>
                      </a:pPr>
                      <a:r>
                        <a:rPr lang="en-US" sz="900" b="1" spc="100" kern="0" dirty="0">
                          <a:solidFill>
                            <a:schemeClr val="bg1"/>
                          </a:solidFill>
                        </a:rPr>
                        <a:t>CUSTOMER TASK</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ctr" indent="0" marL="0">
                        <a:buNone/>
                      </a:pPr>
                      <a:r>
                        <a:rPr lang="en-US" sz="900" b="1" spc="100" kern="0" dirty="0">
                          <a:solidFill>
                            <a:schemeClr val="bg1"/>
                          </a:solidFill>
                        </a:rPr>
                        <a:t>CONVERSATIONAL AI OFFERINGS</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ctr" indent="0" marL="0">
                        <a:buNone/>
                      </a:pPr>
                      <a:r>
                        <a:rPr lang="en-US" sz="900" b="1" spc="100" kern="0" dirty="0">
                          <a:solidFill>
                            <a:schemeClr val="bg1"/>
                          </a:solidFill>
                        </a:rPr>
                        <a:t>RELEVANT OPTUM LS OFFERINGS</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r>
              <a:tr h="901531">
                <a:tc>
                  <a:txBody>
                    <a:bodyPr/>
                    <a:lstStyle/>
                    <a:p>
                      <a:pPr algn="ctr" indent="0" marL="0">
                        <a:buNone/>
                      </a:pPr>
                      <a:r>
                        <a:rPr lang="en-US" sz="1050" b="1" dirty="0">
                          <a:solidFill>
                            <a:schemeClr val="accent1"/>
                          </a:solidFill>
                        </a:rPr>
                        <a:t>Identify and assess</a:t>
                      </a:r>
                      <a:br/>
                      <a:pPr algn="ctr" indent="0" marL="0">
                        <a:buNone/>
                      </a:pPr>
                      <a:r>
                        <a:rPr lang="en-US" sz="1050" b="1" dirty="0">
                          <a:solidFill>
                            <a:schemeClr val="accent1"/>
                          </a:solidFill>
                        </a:rPr>
                        <a:t>suitable data</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50" dirty="0">
                          <a:solidFill>
                            <a:schemeClr val="tx1"/>
                          </a:solidFill>
                        </a:rPr>
                        <a:t>Merative’s </a:t>
                      </a:r>
                      <a:pPr indent="0" marL="0">
                        <a:buNone/>
                      </a:pPr>
                      <a:r>
                        <a:rPr lang="en-US" sz="950" b="1" dirty="0">
                          <a:solidFill>
                            <a:schemeClr val="tx1"/>
                          </a:solidFill>
                        </a:rPr>
                        <a:t>MarketScan Snapshot</a:t>
                      </a:r>
                      <a:pPr indent="0" marL="0">
                        <a:buNone/>
                      </a:pPr>
                      <a:r>
                        <a:rPr lang="en-US" sz="950" dirty="0">
                          <a:solidFill>
                            <a:schemeClr val="tx1"/>
                          </a:solidFill>
                        </a:rPr>
                        <a:t>: natural-language assessment of dataset suitability;</a:t>
                      </a:r>
                      <a:endParaRPr lang="en-US" sz="950" dirty="0"/>
                    </a:p>
                    <a:p>
                      <a:pPr indent="0" marL="0">
                        <a:spcBef>
                          <a:spcPts val="400"/>
                        </a:spcBef>
                        <a:buNone/>
                      </a:pPr>
                      <a:r>
                        <a:rPr lang="en-US" sz="950" dirty="0">
                          <a:solidFill>
                            <a:schemeClr val="tx1"/>
                          </a:solidFill>
                        </a:rPr>
                        <a:t>HealthVerity’s </a:t>
                      </a:r>
                      <a:pPr indent="0" marL="0">
                        <a:buNone/>
                      </a:pPr>
                      <a:r>
                        <a:rPr lang="en-US" sz="950" b="1" dirty="0">
                          <a:solidFill>
                            <a:schemeClr val="tx1"/>
                          </a:solidFill>
                        </a:rPr>
                        <a:t>eXOs</a:t>
                      </a:r>
                      <a:pPr indent="0" marL="0">
                        <a:buNone/>
                      </a:pPr>
                      <a:r>
                        <a:rPr lang="en-US" sz="950" dirty="0">
                          <a:solidFill>
                            <a:schemeClr val="tx1"/>
                          </a:solidFill>
                        </a:rPr>
                        <a:t>: conversational exploration of connected healthcare data</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50" dirty="0">
                          <a:solidFill>
                            <a:schemeClr val="tx1"/>
                          </a:solidFill>
                        </a:rPr>
                        <a:t>Market Clarity Data; linked claims/EHR data; Enriched Clinical Data</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r h="1096476">
                <a:tc>
                  <a:txBody>
                    <a:bodyPr/>
                    <a:lstStyle/>
                    <a:p>
                      <a:pPr algn="ctr" indent="0" marL="0">
                        <a:buNone/>
                      </a:pPr>
                      <a:r>
                        <a:rPr lang="en-US" sz="1050" b="1" dirty="0">
                          <a:solidFill>
                            <a:schemeClr val="accent1"/>
                          </a:solidFill>
                        </a:rPr>
                        <a:t>Explore patient</a:t>
                      </a:r>
                      <a:br/>
                      <a:pPr algn="ctr" indent="0" marL="0">
                        <a:buNone/>
                      </a:pPr>
                      <a:r>
                        <a:rPr lang="en-US" sz="1050" b="1" dirty="0">
                          <a:solidFill>
                            <a:schemeClr val="accent1"/>
                          </a:solidFill>
                        </a:rPr>
                        <a:t>populations and cohorts</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50" dirty="0">
                          <a:solidFill>
                            <a:schemeClr val="tx1"/>
                          </a:solidFill>
                        </a:rPr>
                        <a:t>Komodo Health’s </a:t>
                      </a:r>
                      <a:pPr indent="0" marL="0">
                        <a:buNone/>
                      </a:pPr>
                      <a:r>
                        <a:rPr lang="en-US" sz="950" b="1" dirty="0">
                          <a:solidFill>
                            <a:schemeClr val="tx1"/>
                          </a:solidFill>
                        </a:rPr>
                        <a:t>Marmot</a:t>
                      </a:r>
                      <a:pPr indent="0" marL="0">
                        <a:buNone/>
                      </a:pPr>
                      <a:r>
                        <a:rPr lang="en-US" sz="950" dirty="0">
                          <a:solidFill>
                            <a:schemeClr val="tx1"/>
                          </a:solidFill>
                        </a:rPr>
                        <a:t> and </a:t>
                      </a:r>
                      <a:pPr indent="0" marL="0">
                        <a:buNone/>
                      </a:pPr>
                      <a:r>
                        <a:rPr lang="en-US" sz="950" b="1" dirty="0">
                          <a:solidFill>
                            <a:schemeClr val="tx1"/>
                          </a:solidFill>
                        </a:rPr>
                        <a:t>MapAI</a:t>
                      </a:r>
                      <a:pPr indent="0" marL="0">
                        <a:buNone/>
                      </a:pPr>
                      <a:r>
                        <a:rPr lang="en-US" sz="950" dirty="0">
                          <a:solidFill>
                            <a:schemeClr val="tx1"/>
                          </a:solidFill>
                        </a:rPr>
                        <a:t>: conversational healthcare analytics and cohort exploration;</a:t>
                      </a:r>
                      <a:endParaRPr lang="en-US" sz="950" dirty="0"/>
                    </a:p>
                    <a:p>
                      <a:pPr indent="0" marL="0">
                        <a:spcBef>
                          <a:spcPts val="400"/>
                        </a:spcBef>
                        <a:buNone/>
                      </a:pPr>
                      <a:r>
                        <a:rPr lang="en-US" sz="950" dirty="0">
                          <a:solidFill>
                            <a:schemeClr val="tx1"/>
                          </a:solidFill>
                        </a:rPr>
                        <a:t>Truveta’s </a:t>
                      </a:r>
                      <a:pPr indent="0" marL="0">
                        <a:buNone/>
                      </a:pPr>
                      <a:r>
                        <a:rPr lang="en-US" sz="950" b="1" dirty="0">
                          <a:solidFill>
                            <a:schemeClr val="tx1"/>
                          </a:solidFill>
                        </a:rPr>
                        <a:t>Truveta Intelligence</a:t>
                      </a:r>
                      <a:pPr indent="0" marL="0">
                        <a:buNone/>
                      </a:pPr>
                      <a:r>
                        <a:rPr lang="en-US" sz="950" dirty="0">
                          <a:solidFill>
                            <a:schemeClr val="tx1"/>
                          </a:solidFill>
                        </a:rPr>
                        <a:t>: natural-language research questions over longitudinal clinical data;</a:t>
                      </a:r>
                      <a:endParaRPr lang="en-US" sz="950" dirty="0"/>
                    </a:p>
                    <a:p>
                      <a:pPr indent="0" marL="0">
                        <a:spcBef>
                          <a:spcPts val="400"/>
                        </a:spcBef>
                        <a:buNone/>
                      </a:pPr>
                      <a:r>
                        <a:rPr lang="en-US" sz="950" dirty="0">
                          <a:solidFill>
                            <a:schemeClr val="tx1"/>
                          </a:solidFill>
                        </a:rPr>
                        <a:t>Briya’s </a:t>
                      </a:r>
                      <a:pPr indent="0" marL="0">
                        <a:buNone/>
                      </a:pPr>
                      <a:r>
                        <a:rPr lang="en-US" sz="950" b="1" dirty="0">
                          <a:solidFill>
                            <a:schemeClr val="tx1"/>
                          </a:solidFill>
                        </a:rPr>
                        <a:t>AIRE Population Agent</a:t>
                      </a:r>
                      <a:pPr indent="0" marL="0">
                        <a:buNone/>
                      </a:pPr>
                      <a:r>
                        <a:rPr lang="en-US" sz="950" dirty="0">
                          <a:solidFill>
                            <a:schemeClr val="tx1"/>
                          </a:solidFill>
                        </a:rPr>
                        <a:t> </a:t>
                      </a:r>
                      <a:pPr indent="0" marL="0">
                        <a:buNone/>
                      </a:pPr>
                      <a:r>
                        <a:rPr lang="en-US" sz="950" dirty="0">
                          <a:solidFill>
                            <a:schemeClr val="tx1"/>
                          </a:solidFill>
                        </a:rPr>
                        <a:t>(Israel)</a:t>
                      </a:r>
                      <a:pPr indent="0" marL="0">
                        <a:buNone/>
                      </a:pPr>
                      <a:r>
                        <a:rPr lang="en-US" sz="950" dirty="0">
                          <a:solidFill>
                            <a:schemeClr val="tx1"/>
                          </a:solidFill>
                        </a:rPr>
                        <a:t>: natural-language cohort eligibility and feasibility assessment</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50" dirty="0">
                          <a:solidFill>
                            <a:schemeClr val="tx1"/>
                          </a:solidFill>
                        </a:rPr>
                        <a:t>Analytics on Demand; Clinical Notes Lab; Prospector</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r h="1041612">
                <a:tc>
                  <a:txBody>
                    <a:bodyPr/>
                    <a:lstStyle/>
                    <a:p>
                      <a:pPr algn="ctr" indent="0" marL="0">
                        <a:buNone/>
                      </a:pPr>
                      <a:r>
                        <a:rPr lang="en-US" sz="1050" b="1" dirty="0">
                          <a:solidFill>
                            <a:schemeClr val="accent1"/>
                          </a:solidFill>
                        </a:rPr>
                        <a:t>Investigate broader</a:t>
                      </a:r>
                      <a:br/>
                      <a:pPr algn="ctr" indent="0" marL="0">
                        <a:buNone/>
                      </a:pPr>
                      <a:r>
                        <a:rPr lang="en-US" sz="1050" b="1" dirty="0">
                          <a:solidFill>
                            <a:schemeClr val="accent1"/>
                          </a:solidFill>
                        </a:rPr>
                        <a:t>RWE questions</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50" dirty="0">
                          <a:solidFill>
                            <a:schemeClr val="tx1"/>
                          </a:solidFill>
                        </a:rPr>
                        <a:t>Norstella’s </a:t>
                      </a:r>
                      <a:pPr indent="0" marL="0">
                        <a:buNone/>
                      </a:pPr>
                      <a:r>
                        <a:rPr lang="en-US" sz="950" b="1" dirty="0">
                          <a:solidFill>
                            <a:schemeClr val="tx1"/>
                          </a:solidFill>
                        </a:rPr>
                        <a:t>Ella AI</a:t>
                      </a:r>
                      <a:pPr indent="0" marL="0">
                        <a:buNone/>
                      </a:pPr>
                      <a:r>
                        <a:rPr lang="en-US" sz="950" dirty="0">
                          <a:solidFill>
                            <a:schemeClr val="tx1"/>
                          </a:solidFill>
                        </a:rPr>
                        <a:t>: conversational RWE analytics;</a:t>
                      </a:r>
                      <a:endParaRPr lang="en-US" sz="950" dirty="0"/>
                    </a:p>
                    <a:p>
                      <a:pPr indent="0" marL="0">
                        <a:spcBef>
                          <a:spcPts val="400"/>
                        </a:spcBef>
                        <a:buNone/>
                      </a:pPr>
                      <a:r>
                        <a:rPr lang="en-US" sz="950" dirty="0">
                          <a:solidFill>
                            <a:schemeClr val="tx1"/>
                          </a:solidFill>
                        </a:rPr>
                        <a:t>BC Platforms’ </a:t>
                      </a:r>
                      <a:pPr indent="0" marL="0">
                        <a:buNone/>
                      </a:pPr>
                      <a:r>
                        <a:rPr lang="en-US" sz="950" b="1" dirty="0">
                          <a:solidFill>
                            <a:schemeClr val="tx1"/>
                          </a:solidFill>
                        </a:rPr>
                        <a:t>BC Catalyst</a:t>
                      </a:r>
                      <a:pPr indent="0" marL="0">
                        <a:buNone/>
                      </a:pPr>
                      <a:r>
                        <a:rPr lang="en-US" sz="950" dirty="0">
                          <a:solidFill>
                            <a:schemeClr val="tx1"/>
                          </a:solidFill>
                        </a:rPr>
                        <a:t> </a:t>
                      </a:r>
                      <a:pPr indent="0" marL="0">
                        <a:buNone/>
                      </a:pPr>
                      <a:r>
                        <a:rPr lang="en-US" sz="950" dirty="0">
                          <a:solidFill>
                            <a:schemeClr val="tx1"/>
                          </a:solidFill>
                        </a:rPr>
                        <a:t>(Finland)</a:t>
                      </a:r>
                      <a:pPr indent="0" marL="0">
                        <a:buNone/>
                      </a:pPr>
                      <a:r>
                        <a:rPr lang="en-US" sz="950" dirty="0">
                          <a:solidFill>
                            <a:schemeClr val="tx1"/>
                          </a:solidFill>
                        </a:rPr>
                        <a:t>: prompt-based cohort building and clinical/genomic research exploration</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50" dirty="0">
                          <a:solidFill>
                            <a:schemeClr val="tx1"/>
                          </a:solidFill>
                        </a:rPr>
                        <a:t>Analytics on Demand; epidemiology research services</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bl>
          </a:graphicData>
        </a:graphic>
      </p:graphicFrame>
      <p:sp>
        <p:nvSpPr>
          <p:cNvPr id="15" name="beyond the public evidence card"/>
          <p:cNvSpPr/>
          <p:nvPr/>
        </p:nvSpPr>
        <p:spPr>
          <a:xfrm>
            <a:off x="548640" y="5033010"/>
            <a:ext cx="11091672" cy="1020318"/>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16" name="label"/>
          <p:cNvSpPr txBox="1"/>
          <p:nvPr/>
        </p:nvSpPr>
        <p:spPr>
          <a:xfrm>
            <a:off x="749808" y="5215890"/>
            <a:ext cx="10689336" cy="256032"/>
          </a:xfrm>
          <a:prstGeom prst="rect">
            <a:avLst/>
          </a:prstGeom>
          <a:noFill/>
          <a:ln/>
        </p:spPr>
        <p:txBody>
          <a:bodyPr wrap="square" lIns="0" tIns="0" rIns="0" bIns="0" rtlCol="0" anchor="t"/>
          <a:lstStyle/>
          <a:p>
            <a:pPr indent="0" marL="0">
              <a:buNone/>
            </a:pPr>
            <a:r>
              <a:rPr lang="en-US" sz="1300" b="1" spc="150" kern="0" dirty="0">
                <a:solidFill>
                  <a:schemeClr val="accent2"/>
                </a:solidFill>
              </a:rPr>
              <a:t>BEYOND THE PUBLIC EVIDENCE</a:t>
            </a:r>
            <a:endParaRPr lang="en-US" sz="1300" dirty="0"/>
          </a:p>
        </p:txBody>
      </p:sp>
      <p:sp>
        <p:nvSpPr>
          <p:cNvPr id="17" name="Text 14"/>
          <p:cNvSpPr txBox="1"/>
          <p:nvPr/>
        </p:nvSpPr>
        <p:spPr>
          <a:xfrm>
            <a:off x="749808" y="5545074"/>
            <a:ext cx="10689336" cy="380238"/>
          </a:xfrm>
          <a:prstGeom prst="rect">
            <a:avLst/>
          </a:prstGeom>
          <a:noFill/>
          <a:ln/>
        </p:spPr>
        <p:txBody>
          <a:bodyPr wrap="square" lIns="0" tIns="0" rIns="0" bIns="0" rtlCol="0" anchor="t"/>
          <a:lstStyle/>
          <a:p>
            <a:pPr indent="0" marL="0">
              <a:buNone/>
            </a:pPr>
            <a:r>
              <a:rPr lang="en-US" sz="1050" b="1" dirty="0">
                <a:solidFill>
                  <a:schemeClr val="tx1"/>
                </a:solidFill>
              </a:rPr>
              <a:t>What information can researchers query directly? What outputs can they generate, inspect and reuse? Where do dataset permissions, cohort definitions or specialist involvement constrain the experience?</a:t>
            </a:r>
            <a:endParaRPr lang="en-US" sz="1050" dirty="0"/>
          </a:p>
        </p:txBody>
      </p:sp>
      <p:sp>
        <p:nvSpPr>
          <p:cNvPr id="25" name="Slide Number Placeholder 0"/>
          <p:cNvSpPr>
            <a:spLocks noGrp="1"/>
          </p:cNvSpPr>
          <p:nvPr>
            <p:ph type="sldNum" sz="quarter" idx="4294967295"/>
          </p:nvPr>
        </p:nvSpPr>
        <p:spPr>
          <a:xfrm>
            <a:off x="10725912" y="6309360"/>
            <a:ext cx="9144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body" hasCustomPrompt="1"/>
          </p:nvPr>
        </p:nvSpPr>
        <p:spPr>
          <a:xfrm>
            <a:off x="548640" y="384048"/>
            <a:ext cx="8229600"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SPECIALIZED RWE AND EVIDENCE GENERATION</a:t>
            </a:r>
            <a:endParaRPr lang="en-US" sz="1000" dirty="0"/>
          </a:p>
        </p:txBody>
      </p:sp>
      <p:sp>
        <p:nvSpPr>
          <p:cNvPr id="3" name="tracker RWE"/>
          <p:cNvSpPr/>
          <p:nvPr/>
        </p:nvSpPr>
        <p:spPr>
          <a:xfrm>
            <a:off x="5657393" y="365760"/>
            <a:ext cx="386791" cy="237744"/>
          </a:xfrm>
          <a:prstGeom prst="roundRect">
            <a:avLst>
              <a:gd name="adj" fmla="val 50000"/>
            </a:avLst>
          </a:prstGeom>
          <a:solidFill>
            <a:schemeClr val="accent1"/>
          </a:solidFill>
          <a:ln/>
        </p:spPr>
      </p:sp>
      <p:sp>
        <p:nvSpPr>
          <p:cNvPr id="4" name="Text 2"/>
          <p:cNvSpPr txBox="1"/>
          <p:nvPr/>
        </p:nvSpPr>
        <p:spPr>
          <a:xfrm>
            <a:off x="5657393" y="365760"/>
            <a:ext cx="386791" cy="237744"/>
          </a:xfrm>
          <a:prstGeom prst="rect">
            <a:avLst/>
          </a:prstGeom>
          <a:noFill/>
          <a:ln/>
        </p:spPr>
        <p:txBody>
          <a:bodyPr wrap="square" lIns="0" tIns="0" rIns="0" bIns="0" rtlCol="0" anchor="ctr"/>
          <a:lstStyle/>
          <a:p>
            <a:pPr algn="ctr" indent="0" marL="0">
              <a:buNone/>
            </a:pPr>
            <a:r>
              <a:rPr lang="en-US" sz="750" b="1" dirty="0">
                <a:solidFill>
                  <a:schemeClr val="bg1"/>
                </a:solidFill>
              </a:rPr>
              <a:t>RWE</a:t>
            </a:r>
            <a:endParaRPr lang="en-US" sz="750" dirty="0"/>
          </a:p>
        </p:txBody>
      </p:sp>
      <p:sp>
        <p:nvSpPr>
          <p:cNvPr id="5" name="tracker Commercial Intelligence"/>
          <p:cNvSpPr/>
          <p:nvPr/>
        </p:nvSpPr>
        <p:spPr>
          <a:xfrm>
            <a:off x="6108192" y="365760"/>
            <a:ext cx="1502359" cy="237744"/>
          </a:xfrm>
          <a:prstGeom prst="roundRect">
            <a:avLst>
              <a:gd name="adj" fmla="val 50000"/>
            </a:avLst>
          </a:prstGeom>
          <a:solidFill>
            <a:schemeClr val="accent5"/>
          </a:solidFill>
          <a:ln/>
        </p:spPr>
      </p:sp>
      <p:sp>
        <p:nvSpPr>
          <p:cNvPr id="6" name="Text 4"/>
          <p:cNvSpPr txBox="1"/>
          <p:nvPr/>
        </p:nvSpPr>
        <p:spPr>
          <a:xfrm>
            <a:off x="6108192" y="365760"/>
            <a:ext cx="1502359" cy="237744"/>
          </a:xfrm>
          <a:prstGeom prst="rect">
            <a:avLst/>
          </a:prstGeom>
          <a:noFill/>
          <a:ln/>
        </p:spPr>
        <p:txBody>
          <a:bodyPr wrap="square" lIns="0" tIns="0" rIns="0" bIns="0" rtlCol="0" anchor="ctr"/>
          <a:lstStyle/>
          <a:p>
            <a:pPr algn="ctr" indent="0" marL="0">
              <a:buNone/>
            </a:pPr>
            <a:r>
              <a:rPr lang="en-US" sz="750" b="1" dirty="0">
                <a:solidFill>
                  <a:schemeClr val="accent4"/>
                </a:solidFill>
              </a:rPr>
              <a:t>Commercial Intelligence</a:t>
            </a:r>
            <a:endParaRPr lang="en-US" sz="750" dirty="0"/>
          </a:p>
        </p:txBody>
      </p:sp>
      <p:sp>
        <p:nvSpPr>
          <p:cNvPr id="7" name="tracker Medical / Regulatory Research"/>
          <p:cNvSpPr/>
          <p:nvPr/>
        </p:nvSpPr>
        <p:spPr>
          <a:xfrm>
            <a:off x="7674559" y="365760"/>
            <a:ext cx="1837030" cy="237744"/>
          </a:xfrm>
          <a:prstGeom prst="roundRect">
            <a:avLst>
              <a:gd name="adj" fmla="val 50000"/>
            </a:avLst>
          </a:prstGeom>
          <a:solidFill>
            <a:schemeClr val="accent5"/>
          </a:solidFill>
          <a:ln/>
        </p:spPr>
      </p:sp>
      <p:sp>
        <p:nvSpPr>
          <p:cNvPr id="8" name="Text 6"/>
          <p:cNvSpPr txBox="1"/>
          <p:nvPr/>
        </p:nvSpPr>
        <p:spPr>
          <a:xfrm>
            <a:off x="7674559" y="365760"/>
            <a:ext cx="1837030" cy="237744"/>
          </a:xfrm>
          <a:prstGeom prst="rect">
            <a:avLst/>
          </a:prstGeom>
          <a:noFill/>
          <a:ln/>
        </p:spPr>
        <p:txBody>
          <a:bodyPr wrap="square" lIns="0" tIns="0" rIns="0" bIns="0" rtlCol="0" anchor="ctr"/>
          <a:lstStyle/>
          <a:p>
            <a:pPr algn="ctr" indent="0" marL="0">
              <a:buNone/>
            </a:pPr>
            <a:r>
              <a:rPr lang="en-US" sz="750" b="1" dirty="0">
                <a:solidFill>
                  <a:schemeClr val="accent4"/>
                </a:solidFill>
              </a:rPr>
              <a:t>Medical / Regulatory Research</a:t>
            </a:r>
            <a:endParaRPr lang="en-US" sz="750" dirty="0"/>
          </a:p>
        </p:txBody>
      </p:sp>
      <p:sp>
        <p:nvSpPr>
          <p:cNvPr id="9" name="tracker Clinical Trials"/>
          <p:cNvSpPr/>
          <p:nvPr/>
        </p:nvSpPr>
        <p:spPr>
          <a:xfrm>
            <a:off x="9575597" y="365760"/>
            <a:ext cx="1056132" cy="237744"/>
          </a:xfrm>
          <a:prstGeom prst="roundRect">
            <a:avLst>
              <a:gd name="adj" fmla="val 50000"/>
            </a:avLst>
          </a:prstGeom>
          <a:solidFill>
            <a:schemeClr val="accent5"/>
          </a:solidFill>
          <a:ln/>
        </p:spPr>
      </p:sp>
      <p:sp>
        <p:nvSpPr>
          <p:cNvPr id="10" name="Text 8"/>
          <p:cNvSpPr txBox="1"/>
          <p:nvPr/>
        </p:nvSpPr>
        <p:spPr>
          <a:xfrm>
            <a:off x="9575597" y="365760"/>
            <a:ext cx="1056132" cy="237744"/>
          </a:xfrm>
          <a:prstGeom prst="rect">
            <a:avLst/>
          </a:prstGeom>
          <a:noFill/>
          <a:ln/>
        </p:spPr>
        <p:txBody>
          <a:bodyPr wrap="square" lIns="0" tIns="0" rIns="0" bIns="0" rtlCol="0" anchor="ctr"/>
          <a:lstStyle/>
          <a:p>
            <a:pPr algn="ctr" indent="0" marL="0">
              <a:buNone/>
            </a:pPr>
            <a:r>
              <a:rPr lang="en-US" sz="750" b="1" dirty="0">
                <a:solidFill>
                  <a:schemeClr val="accent4"/>
                </a:solidFill>
              </a:rPr>
              <a:t>Clinical Trials</a:t>
            </a:r>
            <a:endParaRPr lang="en-US" sz="750" dirty="0"/>
          </a:p>
        </p:txBody>
      </p:sp>
      <p:sp>
        <p:nvSpPr>
          <p:cNvPr id="11" name="tracker Market Access"/>
          <p:cNvSpPr/>
          <p:nvPr/>
        </p:nvSpPr>
        <p:spPr>
          <a:xfrm>
            <a:off x="10695737" y="365760"/>
            <a:ext cx="944575" cy="237744"/>
          </a:xfrm>
          <a:prstGeom prst="roundRect">
            <a:avLst>
              <a:gd name="adj" fmla="val 50000"/>
            </a:avLst>
          </a:prstGeom>
          <a:solidFill>
            <a:schemeClr val="accent5"/>
          </a:solidFill>
          <a:ln/>
        </p:spPr>
      </p:sp>
      <p:sp>
        <p:nvSpPr>
          <p:cNvPr id="12" name="Text 10"/>
          <p:cNvSpPr txBox="1"/>
          <p:nvPr/>
        </p:nvSpPr>
        <p:spPr>
          <a:xfrm>
            <a:off x="10695737" y="365760"/>
            <a:ext cx="944575" cy="237744"/>
          </a:xfrm>
          <a:prstGeom prst="rect">
            <a:avLst/>
          </a:prstGeom>
          <a:noFill/>
          <a:ln/>
        </p:spPr>
        <p:txBody>
          <a:bodyPr wrap="square" lIns="0" tIns="0" rIns="0" bIns="0" rtlCol="0" anchor="ctr"/>
          <a:lstStyle/>
          <a:p>
            <a:pPr algn="ctr" indent="0" marL="0">
              <a:buNone/>
            </a:pPr>
            <a:r>
              <a:rPr lang="en-US" sz="750" b="1" dirty="0">
                <a:solidFill>
                  <a:schemeClr val="accent4"/>
                </a:solidFill>
              </a:rPr>
              <a:t>Market Access</a:t>
            </a:r>
            <a:endParaRPr lang="en-US" sz="750" dirty="0"/>
          </a:p>
        </p:txBody>
      </p:sp>
      <p:sp>
        <p:nvSpPr>
          <p:cNvPr id="13" name="Text 2"/>
          <p:cNvSpPr/>
          <p:nvPr>
            <p:ph idx="103" type="title" hasCustomPrompt="1"/>
          </p:nvPr>
        </p:nvSpPr>
        <p:spPr>
          <a:xfrm>
            <a:off x="548640" y="640080"/>
            <a:ext cx="11091672" cy="749808"/>
          </a:xfrm>
          <a:prstGeom prst="rect">
            <a:avLst/>
          </a:prstGeom>
          <a:noFill/>
          <a:ln/>
        </p:spPr>
        <p:txBody>
          <a:bodyPr wrap="square" lIns="0" tIns="0" rIns="0" bIns="0" rtlCol="0" anchor="t"/>
          <a:lstStyle/>
          <a:p>
            <a:pPr algn="l" indent="0" marL="0">
              <a:buNone/>
            </a:pPr>
            <a:r>
              <a:rPr lang="en-US" sz="2200" b="1" dirty="0">
                <a:solidFill>
                  <a:schemeClr val="accent1"/>
                </a:solidFill>
              </a:rPr>
              <a:t>Specialty-data platforms bring conversational AI into oncology</a:t>
            </a:r>
            <a:br/>
            <a:pPr algn="l" indent="0" marL="0">
              <a:buNone/>
            </a:pPr>
            <a:r>
              <a:rPr lang="en-US" sz="2200" b="1" dirty="0">
                <a:solidFill>
                  <a:schemeClr val="accent1"/>
                </a:solidFill>
              </a:rPr>
              <a:t>research and more narrowly-defined evidence questions</a:t>
            </a:r>
            <a:endParaRPr lang="en-US" sz="2200" dirty="0"/>
          </a:p>
        </p:txBody>
      </p:sp>
      <p:graphicFrame>
        <p:nvGraphicFramePr>
          <p:cNvPr id="7" name="task table"/>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2286000"/>
                <a:gridCol w="5760720"/>
                <a:gridCol w="3044952"/>
              </a:tblGrid>
              <a:tr h="329184">
                <a:tc>
                  <a:txBody>
                    <a:bodyPr/>
                    <a:lstStyle/>
                    <a:p>
                      <a:pPr algn="ctr" indent="0" marL="0">
                        <a:buNone/>
                      </a:pPr>
                      <a:r>
                        <a:rPr lang="en-US" sz="900" b="1" spc="100" kern="0" dirty="0">
                          <a:solidFill>
                            <a:schemeClr val="bg1"/>
                          </a:solidFill>
                        </a:rPr>
                        <a:t>CUSTOMER TASK</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ctr" indent="0" marL="0">
                        <a:buNone/>
                      </a:pPr>
                      <a:r>
                        <a:rPr lang="en-US" sz="900" b="1" spc="100" kern="0" dirty="0">
                          <a:solidFill>
                            <a:schemeClr val="bg1"/>
                          </a:solidFill>
                        </a:rPr>
                        <a:t>CONVERSATIONAL AI OFFERINGS</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ctr" indent="0" marL="0">
                        <a:buNone/>
                      </a:pPr>
                      <a:r>
                        <a:rPr lang="en-US" sz="900" b="1" spc="100" kern="0" dirty="0">
                          <a:solidFill>
                            <a:schemeClr val="bg1"/>
                          </a:solidFill>
                        </a:rPr>
                        <a:t>RELEVANT OPTUM LS OFFERINGS</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r>
              <a:tr h="817795">
                <a:tc>
                  <a:txBody>
                    <a:bodyPr/>
                    <a:lstStyle/>
                    <a:p>
                      <a:pPr algn="ctr" indent="0" marL="0">
                        <a:buNone/>
                      </a:pPr>
                      <a:r>
                        <a:rPr lang="en-US" sz="1050" b="1" dirty="0">
                          <a:solidFill>
                            <a:schemeClr val="accent1"/>
                          </a:solidFill>
                        </a:rPr>
                        <a:t>Explore oncology and</a:t>
                      </a:r>
                      <a:br/>
                      <a:pPr algn="ctr" indent="0" marL="0">
                        <a:buNone/>
                      </a:pPr>
                      <a:r>
                        <a:rPr lang="en-US" sz="1050" b="1" dirty="0">
                          <a:solidFill>
                            <a:schemeClr val="accent1"/>
                          </a:solidFill>
                        </a:rPr>
                        <a:t>specialty cohorts</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50" dirty="0">
                          <a:solidFill>
                            <a:schemeClr val="tx1"/>
                          </a:solidFill>
                        </a:rPr>
                        <a:t>Flatiron Health’s </a:t>
                      </a:r>
                      <a:pPr indent="0" marL="0">
                        <a:buNone/>
                      </a:pPr>
                      <a:r>
                        <a:rPr lang="en-US" sz="950" b="1" dirty="0">
                          <a:solidFill>
                            <a:schemeClr val="tx1"/>
                          </a:solidFill>
                        </a:rPr>
                        <a:t>Telescope</a:t>
                      </a:r>
                      <a:pPr indent="0" marL="0">
                        <a:buNone/>
                      </a:pPr>
                      <a:r>
                        <a:rPr lang="en-US" sz="950" dirty="0">
                          <a:solidFill>
                            <a:schemeClr val="tx1"/>
                          </a:solidFill>
                        </a:rPr>
                        <a:t>: conversational oncology cohort exploration;</a:t>
                      </a:r>
                      <a:endParaRPr lang="en-US" sz="950" dirty="0"/>
                    </a:p>
                    <a:p>
                      <a:pPr indent="0" marL="0">
                        <a:spcBef>
                          <a:spcPts val="400"/>
                        </a:spcBef>
                        <a:buNone/>
                      </a:pPr>
                      <a:r>
                        <a:rPr lang="en-US" sz="950" dirty="0">
                          <a:solidFill>
                            <a:schemeClr val="tx1"/>
                          </a:solidFill>
                        </a:rPr>
                        <a:t>Tempus’s </a:t>
                      </a:r>
                      <a:pPr indent="0" marL="0">
                        <a:buNone/>
                      </a:pPr>
                      <a:r>
                        <a:rPr lang="en-US" sz="950" b="1" dirty="0">
                          <a:solidFill>
                            <a:schemeClr val="tx1"/>
                          </a:solidFill>
                        </a:rPr>
                        <a:t>Lens</a:t>
                      </a:r>
                      <a:pPr indent="0" marL="0">
                        <a:buNone/>
                      </a:pPr>
                      <a:r>
                        <a:rPr lang="en-US" sz="950" dirty="0">
                          <a:solidFill>
                            <a:schemeClr val="tx1"/>
                          </a:solidFill>
                        </a:rPr>
                        <a:t>: clinical and molecular research exploration</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50" dirty="0">
                          <a:solidFill>
                            <a:schemeClr val="tx1"/>
                          </a:solidFill>
                        </a:rPr>
                        <a:t>Enriched Clinical Data; clinicogenomics datasets</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r h="1012740">
                <a:tc>
                  <a:txBody>
                    <a:bodyPr/>
                    <a:lstStyle/>
                    <a:p>
                      <a:pPr algn="ctr" indent="0" marL="0">
                        <a:buNone/>
                      </a:pPr>
                      <a:r>
                        <a:rPr lang="en-US" sz="1050" b="1" dirty="0">
                          <a:solidFill>
                            <a:schemeClr val="accent1"/>
                          </a:solidFill>
                        </a:rPr>
                        <a:t>Investigate specialty-</a:t>
                      </a:r>
                      <a:br/>
                      <a:pPr algn="ctr" indent="0" marL="0">
                        <a:buNone/>
                      </a:pPr>
                      <a:r>
                        <a:rPr lang="en-US" sz="1050" b="1" dirty="0">
                          <a:solidFill>
                            <a:schemeClr val="accent1"/>
                          </a:solidFill>
                        </a:rPr>
                        <a:t>disease evidence</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50" dirty="0">
                          <a:solidFill>
                            <a:schemeClr val="tx1"/>
                          </a:solidFill>
                        </a:rPr>
                        <a:t>ConcertAI’s </a:t>
                      </a:r>
                      <a:pPr indent="0" marL="0">
                        <a:buNone/>
                      </a:pPr>
                      <a:r>
                        <a:rPr lang="en-US" sz="950" b="1" dirty="0">
                          <a:solidFill>
                            <a:schemeClr val="tx1"/>
                          </a:solidFill>
                        </a:rPr>
                        <a:t>Precision Explorer</a:t>
                      </a:r>
                      <a:pPr indent="0" marL="0">
                        <a:buNone/>
                      </a:pPr>
                      <a:r>
                        <a:rPr lang="en-US" sz="950" dirty="0">
                          <a:solidFill>
                            <a:schemeClr val="tx1"/>
                          </a:solidFill>
                        </a:rPr>
                        <a:t>: oncology research analytics;</a:t>
                      </a:r>
                      <a:endParaRPr lang="en-US" sz="950" dirty="0"/>
                    </a:p>
                    <a:p>
                      <a:pPr indent="0" marL="0">
                        <a:spcBef>
                          <a:spcPts val="400"/>
                        </a:spcBef>
                        <a:buNone/>
                      </a:pPr>
                      <a:r>
                        <a:rPr lang="en-US" sz="950" dirty="0">
                          <a:solidFill>
                            <a:schemeClr val="tx1"/>
                          </a:solidFill>
                        </a:rPr>
                        <a:t>Verana Health’s </a:t>
                      </a:r>
                      <a:pPr indent="0" marL="0">
                        <a:buNone/>
                      </a:pPr>
                      <a:r>
                        <a:rPr lang="en-US" sz="950" b="1" dirty="0">
                          <a:solidFill>
                            <a:schemeClr val="tx1"/>
                          </a:solidFill>
                        </a:rPr>
                        <a:t>Agent Claire</a:t>
                      </a:r>
                      <a:pPr indent="0" marL="0">
                        <a:buNone/>
                      </a:pPr>
                      <a:r>
                        <a:rPr lang="en-US" sz="950" dirty="0">
                          <a:solidFill>
                            <a:schemeClr val="tx1"/>
                          </a:solidFill>
                        </a:rPr>
                        <a:t>: conversational specialty-data research;</a:t>
                      </a:r>
                      <a:endParaRPr lang="en-US" sz="950" dirty="0"/>
                    </a:p>
                    <a:p>
                      <a:pPr indent="0" marL="0">
                        <a:spcBef>
                          <a:spcPts val="400"/>
                        </a:spcBef>
                        <a:buNone/>
                      </a:pPr>
                      <a:r>
                        <a:rPr lang="en-US" sz="950" dirty="0">
                          <a:solidFill>
                            <a:schemeClr val="tx1"/>
                          </a:solidFill>
                        </a:rPr>
                        <a:t>OrigiMed’s </a:t>
                      </a:r>
                      <a:pPr indent="0" marL="0">
                        <a:buNone/>
                      </a:pPr>
                      <a:r>
                        <a:rPr lang="en-US" sz="950" b="1" dirty="0">
                          <a:solidFill>
                            <a:schemeClr val="tx1"/>
                          </a:solidFill>
                        </a:rPr>
                        <a:t>OMSmartData</a:t>
                      </a:r>
                      <a:pPr indent="0" marL="0">
                        <a:buNone/>
                      </a:pPr>
                      <a:r>
                        <a:rPr lang="en-US" sz="950" dirty="0">
                          <a:solidFill>
                            <a:schemeClr val="tx1"/>
                          </a:solidFill>
                        </a:rPr>
                        <a:t> </a:t>
                      </a:r>
                      <a:pPr indent="0" marL="0">
                        <a:buNone/>
                      </a:pPr>
                      <a:r>
                        <a:rPr lang="en-US" sz="950" dirty="0">
                          <a:solidFill>
                            <a:schemeClr val="tx1"/>
                          </a:solidFill>
                        </a:rPr>
                        <a:t>(China)</a:t>
                      </a:r>
                      <a:pPr indent="0" marL="0">
                        <a:buNone/>
                      </a:pPr>
                      <a:r>
                        <a:rPr lang="en-US" sz="950" dirty="0">
                          <a:solidFill>
                            <a:schemeClr val="tx1"/>
                          </a:solidFill>
                        </a:rPr>
                        <a:t>: AI-supported analysis of oncology real-world data</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50" dirty="0">
                          <a:solidFill>
                            <a:schemeClr val="tx1"/>
                          </a:solidFill>
                        </a:rPr>
                        <a:t>Clinical Notes Lab; epidemiology and observational research</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r h="817795">
                <a:tc>
                  <a:txBody>
                    <a:bodyPr/>
                    <a:lstStyle/>
                    <a:p>
                      <a:pPr algn="ctr" indent="0" marL="0">
                        <a:buNone/>
                      </a:pPr>
                      <a:r>
                        <a:rPr lang="en-US" sz="1050" b="1" dirty="0">
                          <a:solidFill>
                            <a:schemeClr val="accent1"/>
                          </a:solidFill>
                        </a:rPr>
                        <a:t>Analyze curated</a:t>
                      </a:r>
                      <a:br/>
                      <a:pPr algn="ctr" indent="0" marL="0">
                        <a:buNone/>
                      </a:pPr>
                      <a:r>
                        <a:rPr lang="en-US" sz="1050" b="1" dirty="0">
                          <a:solidFill>
                            <a:schemeClr val="accent1"/>
                          </a:solidFill>
                        </a:rPr>
                        <a:t>research datasets</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50" dirty="0">
                          <a:solidFill>
                            <a:schemeClr val="tx1"/>
                          </a:solidFill>
                        </a:rPr>
                        <a:t>MDClone’s </a:t>
                      </a:r>
                      <a:pPr indent="0" marL="0">
                        <a:buNone/>
                      </a:pPr>
                      <a:r>
                        <a:rPr lang="en-US" sz="950" b="1" dirty="0">
                          <a:solidFill>
                            <a:schemeClr val="tx1"/>
                          </a:solidFill>
                        </a:rPr>
                        <a:t>ADAMS Copilot</a:t>
                      </a:r>
                      <a:pPr indent="0" marL="0">
                        <a:buNone/>
                      </a:pPr>
                      <a:r>
                        <a:rPr lang="en-US" sz="950" dirty="0">
                          <a:solidFill>
                            <a:schemeClr val="tx1"/>
                          </a:solidFill>
                        </a:rPr>
                        <a:t> </a:t>
                      </a:r>
                      <a:pPr indent="0" marL="0">
                        <a:buNone/>
                      </a:pPr>
                      <a:r>
                        <a:rPr lang="en-US" sz="950" dirty="0">
                          <a:solidFill>
                            <a:schemeClr val="tx1"/>
                          </a:solidFill>
                        </a:rPr>
                        <a:t>(Israel)</a:t>
                      </a:r>
                      <a:pPr indent="0" marL="0">
                        <a:buNone/>
                      </a:pPr>
                      <a:r>
                        <a:rPr lang="en-US" sz="950" dirty="0">
                          <a:solidFill>
                            <a:schemeClr val="tx1"/>
                          </a:solidFill>
                        </a:rPr>
                        <a:t>: conversational statistical analysis and visualization within controlled research datasets</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50" dirty="0">
                          <a:solidFill>
                            <a:schemeClr val="tx1"/>
                          </a:solidFill>
                        </a:rPr>
                        <a:t>Analytics on Demand; research data and study environments</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bl>
          </a:graphicData>
        </a:graphic>
      </p:graphicFrame>
      <p:sp>
        <p:nvSpPr>
          <p:cNvPr id="15" name="where does conversational analysis end and scientific evidence generation begin? card"/>
          <p:cNvSpPr/>
          <p:nvPr/>
        </p:nvSpPr>
        <p:spPr>
          <a:xfrm>
            <a:off x="548640" y="4641723"/>
            <a:ext cx="5454396" cy="1411605"/>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16" name="label"/>
          <p:cNvSpPr txBox="1"/>
          <p:nvPr/>
        </p:nvSpPr>
        <p:spPr>
          <a:xfrm>
            <a:off x="749808" y="4824603"/>
            <a:ext cx="5052060" cy="484632"/>
          </a:xfrm>
          <a:prstGeom prst="rect">
            <a:avLst/>
          </a:prstGeom>
          <a:noFill/>
          <a:ln/>
        </p:spPr>
        <p:txBody>
          <a:bodyPr wrap="square" lIns="0" tIns="0" rIns="0" bIns="0" rtlCol="0" anchor="t"/>
          <a:lstStyle/>
          <a:p>
            <a:pPr indent="0" marL="0">
              <a:buNone/>
            </a:pPr>
            <a:r>
              <a:rPr lang="en-US" sz="1300" b="1" spc="150" kern="0" dirty="0">
                <a:solidFill>
                  <a:schemeClr val="accent2"/>
                </a:solidFill>
              </a:rPr>
              <a:t>WHERE DOES CONVERSATIONAL ANALYSIS END AND SCIENTIFIC EVIDENCE GENERATION BEGIN?</a:t>
            </a:r>
            <a:endParaRPr lang="en-US" sz="1300" dirty="0"/>
          </a:p>
        </p:txBody>
      </p:sp>
      <p:sp>
        <p:nvSpPr>
          <p:cNvPr id="17" name="Text 14"/>
          <p:cNvSpPr txBox="1"/>
          <p:nvPr/>
        </p:nvSpPr>
        <p:spPr>
          <a:xfrm>
            <a:off x="749808" y="5382387"/>
            <a:ext cx="5052060" cy="542925"/>
          </a:xfrm>
          <a:prstGeom prst="rect">
            <a:avLst/>
          </a:prstGeom>
          <a:noFill/>
          <a:ln/>
        </p:spPr>
        <p:txBody>
          <a:bodyPr wrap="square" lIns="0" tIns="0" rIns="0" bIns="0" rtlCol="0" anchor="t"/>
          <a:lstStyle/>
          <a:p>
            <a:pPr indent="0" marL="0">
              <a:buNone/>
            </a:pPr>
            <a:r>
              <a:rPr lang="en-US" sz="1050" b="1" dirty="0">
                <a:solidFill>
                  <a:schemeClr val="tx1"/>
                </a:solidFill>
              </a:rPr>
              <a:t>Optum also markets epidemiology studies and Evidence Engine services. The conversational products above are not automatically equivalent to those scientific services.</a:t>
            </a:r>
            <a:endParaRPr lang="en-US" sz="1050" dirty="0"/>
          </a:p>
        </p:txBody>
      </p:sp>
      <p:sp>
        <p:nvSpPr>
          <p:cNvPr id="18" name="beyond the public evidence card"/>
          <p:cNvSpPr/>
          <p:nvPr/>
        </p:nvSpPr>
        <p:spPr>
          <a:xfrm>
            <a:off x="6185916" y="4641723"/>
            <a:ext cx="5454396" cy="1411605"/>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19" name="label"/>
          <p:cNvSpPr txBox="1"/>
          <p:nvPr/>
        </p:nvSpPr>
        <p:spPr>
          <a:xfrm>
            <a:off x="6387084" y="4824603"/>
            <a:ext cx="5052060" cy="256032"/>
          </a:xfrm>
          <a:prstGeom prst="rect">
            <a:avLst/>
          </a:prstGeom>
          <a:noFill/>
          <a:ln/>
        </p:spPr>
        <p:txBody>
          <a:bodyPr wrap="square" lIns="0" tIns="0" rIns="0" bIns="0" rtlCol="0" anchor="t"/>
          <a:lstStyle/>
          <a:p>
            <a:pPr indent="0" marL="0">
              <a:buNone/>
            </a:pPr>
            <a:r>
              <a:rPr lang="en-US" sz="1300" b="1" spc="150" kern="0" dirty="0">
                <a:solidFill>
                  <a:schemeClr val="accent2"/>
                </a:solidFill>
              </a:rPr>
              <a:t>BEYOND THE PUBLIC EVIDENCE</a:t>
            </a:r>
            <a:endParaRPr lang="en-US" sz="1300" dirty="0"/>
          </a:p>
        </p:txBody>
      </p:sp>
      <p:sp>
        <p:nvSpPr>
          <p:cNvPr id="20" name="Text 17"/>
          <p:cNvSpPr txBox="1"/>
          <p:nvPr/>
        </p:nvSpPr>
        <p:spPr>
          <a:xfrm>
            <a:off x="6387084" y="5153787"/>
            <a:ext cx="5052060" cy="705612"/>
          </a:xfrm>
          <a:prstGeom prst="rect">
            <a:avLst/>
          </a:prstGeom>
          <a:noFill/>
          <a:ln/>
        </p:spPr>
        <p:txBody>
          <a:bodyPr wrap="square" lIns="0" tIns="0" rIns="0" bIns="0" rtlCol="0" anchor="t"/>
          <a:lstStyle/>
          <a:p>
            <a:pPr indent="0" marL="0">
              <a:buNone/>
            </a:pPr>
            <a:r>
              <a:rPr lang="en-US" sz="1050" b="1" dirty="0">
                <a:solidFill>
                  <a:schemeClr val="tx1"/>
                </a:solidFill>
              </a:rPr>
              <a:t>Which tools support exploratory questions versus reproducible study analyses? What supporting methods, provenance and review can customers inspect? Which capabilities are publicly demonstrated, and which require further validation?</a:t>
            </a:r>
            <a:endParaRPr lang="en-US" sz="1050" dirty="0"/>
          </a:p>
        </p:txBody>
      </p:sp>
      <p:sp>
        <p:nvSpPr>
          <p:cNvPr id="25" name="Slide Number Placeholder 0"/>
          <p:cNvSpPr>
            <a:spLocks noGrp="1"/>
          </p:cNvSpPr>
          <p:nvPr>
            <p:ph type="sldNum" sz="quarter" idx="4294967295"/>
          </p:nvPr>
        </p:nvSpPr>
        <p:spPr>
          <a:xfrm>
            <a:off x="10725912" y="6309360"/>
            <a:ext cx="9144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body" hasCustomPrompt="1"/>
          </p:nvPr>
        </p:nvSpPr>
        <p:spPr>
          <a:xfrm>
            <a:off x="548640" y="384048"/>
            <a:ext cx="8229600"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CONVERSATIONAL AI IN COMMERCIAL INTELLIGENCE</a:t>
            </a:r>
            <a:endParaRPr lang="en-US" sz="1000" dirty="0"/>
          </a:p>
        </p:txBody>
      </p:sp>
      <p:sp>
        <p:nvSpPr>
          <p:cNvPr id="3" name="tracker RWE"/>
          <p:cNvSpPr/>
          <p:nvPr/>
        </p:nvSpPr>
        <p:spPr>
          <a:xfrm>
            <a:off x="5657393" y="365760"/>
            <a:ext cx="386791" cy="237744"/>
          </a:xfrm>
          <a:prstGeom prst="roundRect">
            <a:avLst>
              <a:gd name="adj" fmla="val 50000"/>
            </a:avLst>
          </a:prstGeom>
          <a:solidFill>
            <a:schemeClr val="accent5"/>
          </a:solidFill>
          <a:ln/>
        </p:spPr>
      </p:sp>
      <p:sp>
        <p:nvSpPr>
          <p:cNvPr id="4" name="Text 2"/>
          <p:cNvSpPr txBox="1"/>
          <p:nvPr/>
        </p:nvSpPr>
        <p:spPr>
          <a:xfrm>
            <a:off x="5657393" y="365760"/>
            <a:ext cx="386791" cy="237744"/>
          </a:xfrm>
          <a:prstGeom prst="rect">
            <a:avLst/>
          </a:prstGeom>
          <a:noFill/>
          <a:ln/>
        </p:spPr>
        <p:txBody>
          <a:bodyPr wrap="square" lIns="0" tIns="0" rIns="0" bIns="0" rtlCol="0" anchor="ctr"/>
          <a:lstStyle/>
          <a:p>
            <a:pPr algn="ctr" indent="0" marL="0">
              <a:buNone/>
            </a:pPr>
            <a:r>
              <a:rPr lang="en-US" sz="750" b="1" dirty="0">
                <a:solidFill>
                  <a:schemeClr val="accent4"/>
                </a:solidFill>
              </a:rPr>
              <a:t>RWE</a:t>
            </a:r>
            <a:endParaRPr lang="en-US" sz="750" dirty="0"/>
          </a:p>
        </p:txBody>
      </p:sp>
      <p:sp>
        <p:nvSpPr>
          <p:cNvPr id="5" name="tracker Commercial Intelligence"/>
          <p:cNvSpPr/>
          <p:nvPr/>
        </p:nvSpPr>
        <p:spPr>
          <a:xfrm>
            <a:off x="6108192" y="365760"/>
            <a:ext cx="1502359" cy="237744"/>
          </a:xfrm>
          <a:prstGeom prst="roundRect">
            <a:avLst>
              <a:gd name="adj" fmla="val 50000"/>
            </a:avLst>
          </a:prstGeom>
          <a:solidFill>
            <a:schemeClr val="accent1"/>
          </a:solidFill>
          <a:ln/>
        </p:spPr>
      </p:sp>
      <p:sp>
        <p:nvSpPr>
          <p:cNvPr id="6" name="Text 4"/>
          <p:cNvSpPr txBox="1"/>
          <p:nvPr/>
        </p:nvSpPr>
        <p:spPr>
          <a:xfrm>
            <a:off x="6108192" y="365760"/>
            <a:ext cx="1502359" cy="237744"/>
          </a:xfrm>
          <a:prstGeom prst="rect">
            <a:avLst/>
          </a:prstGeom>
          <a:noFill/>
          <a:ln/>
        </p:spPr>
        <p:txBody>
          <a:bodyPr wrap="square" lIns="0" tIns="0" rIns="0" bIns="0" rtlCol="0" anchor="ctr"/>
          <a:lstStyle/>
          <a:p>
            <a:pPr algn="ctr" indent="0" marL="0">
              <a:buNone/>
            </a:pPr>
            <a:r>
              <a:rPr lang="en-US" sz="750" b="1" dirty="0">
                <a:solidFill>
                  <a:schemeClr val="bg1"/>
                </a:solidFill>
              </a:rPr>
              <a:t>Commercial Intelligence</a:t>
            </a:r>
            <a:endParaRPr lang="en-US" sz="750" dirty="0"/>
          </a:p>
        </p:txBody>
      </p:sp>
      <p:sp>
        <p:nvSpPr>
          <p:cNvPr id="7" name="tracker Medical / Regulatory Research"/>
          <p:cNvSpPr/>
          <p:nvPr/>
        </p:nvSpPr>
        <p:spPr>
          <a:xfrm>
            <a:off x="7674559" y="365760"/>
            <a:ext cx="1837030" cy="237744"/>
          </a:xfrm>
          <a:prstGeom prst="roundRect">
            <a:avLst>
              <a:gd name="adj" fmla="val 50000"/>
            </a:avLst>
          </a:prstGeom>
          <a:solidFill>
            <a:schemeClr val="accent5"/>
          </a:solidFill>
          <a:ln/>
        </p:spPr>
      </p:sp>
      <p:sp>
        <p:nvSpPr>
          <p:cNvPr id="8" name="Text 6"/>
          <p:cNvSpPr txBox="1"/>
          <p:nvPr/>
        </p:nvSpPr>
        <p:spPr>
          <a:xfrm>
            <a:off x="7674559" y="365760"/>
            <a:ext cx="1837030" cy="237744"/>
          </a:xfrm>
          <a:prstGeom prst="rect">
            <a:avLst/>
          </a:prstGeom>
          <a:noFill/>
          <a:ln/>
        </p:spPr>
        <p:txBody>
          <a:bodyPr wrap="square" lIns="0" tIns="0" rIns="0" bIns="0" rtlCol="0" anchor="ctr"/>
          <a:lstStyle/>
          <a:p>
            <a:pPr algn="ctr" indent="0" marL="0">
              <a:buNone/>
            </a:pPr>
            <a:r>
              <a:rPr lang="en-US" sz="750" b="1" dirty="0">
                <a:solidFill>
                  <a:schemeClr val="accent4"/>
                </a:solidFill>
              </a:rPr>
              <a:t>Medical / Regulatory Research</a:t>
            </a:r>
            <a:endParaRPr lang="en-US" sz="750" dirty="0"/>
          </a:p>
        </p:txBody>
      </p:sp>
      <p:sp>
        <p:nvSpPr>
          <p:cNvPr id="9" name="tracker Clinical Trials"/>
          <p:cNvSpPr/>
          <p:nvPr/>
        </p:nvSpPr>
        <p:spPr>
          <a:xfrm>
            <a:off x="9575597" y="365760"/>
            <a:ext cx="1056132" cy="237744"/>
          </a:xfrm>
          <a:prstGeom prst="roundRect">
            <a:avLst>
              <a:gd name="adj" fmla="val 50000"/>
            </a:avLst>
          </a:prstGeom>
          <a:solidFill>
            <a:schemeClr val="accent5"/>
          </a:solidFill>
          <a:ln/>
        </p:spPr>
      </p:sp>
      <p:sp>
        <p:nvSpPr>
          <p:cNvPr id="10" name="Text 8"/>
          <p:cNvSpPr txBox="1"/>
          <p:nvPr/>
        </p:nvSpPr>
        <p:spPr>
          <a:xfrm>
            <a:off x="9575597" y="365760"/>
            <a:ext cx="1056132" cy="237744"/>
          </a:xfrm>
          <a:prstGeom prst="rect">
            <a:avLst/>
          </a:prstGeom>
          <a:noFill/>
          <a:ln/>
        </p:spPr>
        <p:txBody>
          <a:bodyPr wrap="square" lIns="0" tIns="0" rIns="0" bIns="0" rtlCol="0" anchor="ctr"/>
          <a:lstStyle/>
          <a:p>
            <a:pPr algn="ctr" indent="0" marL="0">
              <a:buNone/>
            </a:pPr>
            <a:r>
              <a:rPr lang="en-US" sz="750" b="1" dirty="0">
                <a:solidFill>
                  <a:schemeClr val="accent4"/>
                </a:solidFill>
              </a:rPr>
              <a:t>Clinical Trials</a:t>
            </a:r>
            <a:endParaRPr lang="en-US" sz="750" dirty="0"/>
          </a:p>
        </p:txBody>
      </p:sp>
      <p:sp>
        <p:nvSpPr>
          <p:cNvPr id="11" name="tracker Market Access"/>
          <p:cNvSpPr/>
          <p:nvPr/>
        </p:nvSpPr>
        <p:spPr>
          <a:xfrm>
            <a:off x="10695737" y="365760"/>
            <a:ext cx="944575" cy="237744"/>
          </a:xfrm>
          <a:prstGeom prst="roundRect">
            <a:avLst>
              <a:gd name="adj" fmla="val 50000"/>
            </a:avLst>
          </a:prstGeom>
          <a:solidFill>
            <a:schemeClr val="accent5"/>
          </a:solidFill>
          <a:ln/>
        </p:spPr>
      </p:sp>
      <p:sp>
        <p:nvSpPr>
          <p:cNvPr id="12" name="Text 10"/>
          <p:cNvSpPr txBox="1"/>
          <p:nvPr/>
        </p:nvSpPr>
        <p:spPr>
          <a:xfrm>
            <a:off x="10695737" y="365760"/>
            <a:ext cx="944575" cy="237744"/>
          </a:xfrm>
          <a:prstGeom prst="rect">
            <a:avLst/>
          </a:prstGeom>
          <a:noFill/>
          <a:ln/>
        </p:spPr>
        <p:txBody>
          <a:bodyPr wrap="square" lIns="0" tIns="0" rIns="0" bIns="0" rtlCol="0" anchor="ctr"/>
          <a:lstStyle/>
          <a:p>
            <a:pPr algn="ctr" indent="0" marL="0">
              <a:buNone/>
            </a:pPr>
            <a:r>
              <a:rPr lang="en-US" sz="750" b="1" dirty="0">
                <a:solidFill>
                  <a:schemeClr val="accent4"/>
                </a:solidFill>
              </a:rPr>
              <a:t>Market Access</a:t>
            </a:r>
            <a:endParaRPr lang="en-US" sz="750" dirty="0"/>
          </a:p>
        </p:txBody>
      </p:sp>
      <p:sp>
        <p:nvSpPr>
          <p:cNvPr id="13" name="Text 2"/>
          <p:cNvSpPr/>
          <p:nvPr>
            <p:ph idx="103" type="title" hasCustomPrompt="1"/>
          </p:nvPr>
        </p:nvSpPr>
        <p:spPr>
          <a:xfrm>
            <a:off x="548640" y="640080"/>
            <a:ext cx="11091672" cy="749808"/>
          </a:xfrm>
          <a:prstGeom prst="rect">
            <a:avLst/>
          </a:prstGeom>
          <a:noFill/>
          <a:ln/>
        </p:spPr>
        <p:txBody>
          <a:bodyPr wrap="square" lIns="0" tIns="0" rIns="0" bIns="0" rtlCol="0" anchor="t"/>
          <a:lstStyle/>
          <a:p>
            <a:pPr algn="l" indent="0" marL="0">
              <a:buNone/>
            </a:pPr>
            <a:r>
              <a:rPr lang="en-US" sz="2200" b="1" dirty="0">
                <a:solidFill>
                  <a:schemeClr val="accent1"/>
                </a:solidFill>
              </a:rPr>
              <a:t>Commercial Intelligence AI products extend conversational interaction into market intelligence, field decisions and simulated stakeholder research</a:t>
            </a:r>
            <a:endParaRPr lang="en-US" sz="2200" dirty="0"/>
          </a:p>
        </p:txBody>
      </p:sp>
      <p:graphicFrame>
        <p:nvGraphicFramePr>
          <p:cNvPr id="8" name="task table"/>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2286000"/>
                <a:gridCol w="5760720"/>
                <a:gridCol w="3044952"/>
              </a:tblGrid>
              <a:tr h="329184">
                <a:tc>
                  <a:txBody>
                    <a:bodyPr/>
                    <a:lstStyle/>
                    <a:p>
                      <a:pPr algn="ctr" indent="0" marL="0">
                        <a:buNone/>
                      </a:pPr>
                      <a:r>
                        <a:rPr lang="en-US" sz="900" b="1" spc="100" kern="0" dirty="0">
                          <a:solidFill>
                            <a:schemeClr val="bg1"/>
                          </a:solidFill>
                        </a:rPr>
                        <a:t>CUSTOMER TASK</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ctr" indent="0" marL="0">
                        <a:buNone/>
                      </a:pPr>
                      <a:r>
                        <a:rPr lang="en-US" sz="900" b="1" spc="100" kern="0" dirty="0">
                          <a:solidFill>
                            <a:schemeClr val="bg1"/>
                          </a:solidFill>
                        </a:rPr>
                        <a:t>CONVERSATIONAL AI OFFERINGS</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ctr" indent="0" marL="0">
                        <a:buNone/>
                      </a:pPr>
                      <a:r>
                        <a:rPr lang="en-US" sz="900" b="1" spc="100" kern="0" dirty="0">
                          <a:solidFill>
                            <a:schemeClr val="bg1"/>
                          </a:solidFill>
                        </a:rPr>
                        <a:t>RELEVANT OPTUM LS OFFERINGS</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r>
              <a:tr h="995553">
                <a:tc>
                  <a:txBody>
                    <a:bodyPr/>
                    <a:lstStyle/>
                    <a:p>
                      <a:pPr algn="ctr" indent="0" marL="0">
                        <a:buNone/>
                      </a:pPr>
                      <a:r>
                        <a:rPr lang="en-US" sz="1050" b="1" dirty="0">
                          <a:solidFill>
                            <a:schemeClr val="accent1"/>
                          </a:solidFill>
                        </a:rPr>
                        <a:t>Pharmaceutical market and portfolio intelligence</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50" dirty="0">
                          <a:solidFill>
                            <a:schemeClr val="tx1"/>
                          </a:solidFill>
                        </a:rPr>
                        <a:t>IQVIA’s </a:t>
                      </a:r>
                      <a:pPr indent="0" marL="0">
                        <a:buNone/>
                      </a:pPr>
                      <a:r>
                        <a:rPr lang="en-US" sz="950" b="1" dirty="0">
                          <a:solidFill>
                            <a:schemeClr val="tx1"/>
                          </a:solidFill>
                        </a:rPr>
                        <a:t>GMI Agent</a:t>
                      </a:r>
                      <a:pPr indent="0" marL="0">
                        <a:buNone/>
                      </a:pPr>
                      <a:r>
                        <a:rPr lang="en-US" sz="950" dirty="0">
                          <a:solidFill>
                            <a:schemeClr val="tx1"/>
                          </a:solidFill>
                        </a:rPr>
                        <a:t>: global market insights;</a:t>
                      </a:r>
                      <a:endParaRPr lang="en-US" sz="950" dirty="0"/>
                    </a:p>
                    <a:p>
                      <a:pPr indent="0" marL="0">
                        <a:spcBef>
                          <a:spcPts val="400"/>
                        </a:spcBef>
                        <a:buNone/>
                      </a:pPr>
                      <a:r>
                        <a:rPr lang="en-US" sz="950" dirty="0">
                          <a:solidFill>
                            <a:schemeClr val="tx1"/>
                          </a:solidFill>
                        </a:rPr>
                        <a:t>GBI Health’s </a:t>
                      </a:r>
                      <a:pPr indent="0" marL="0">
                        <a:buNone/>
                      </a:pPr>
                      <a:r>
                        <a:rPr lang="en-US" sz="950" b="1" dirty="0">
                          <a:solidFill>
                            <a:schemeClr val="tx1"/>
                          </a:solidFill>
                        </a:rPr>
                        <a:t>GBI BOT</a:t>
                      </a:r>
                      <a:pPr indent="0" marL="0">
                        <a:buNone/>
                      </a:pPr>
                      <a:r>
                        <a:rPr lang="en-US" sz="950" dirty="0">
                          <a:solidFill>
                            <a:schemeClr val="tx1"/>
                          </a:solidFill>
                        </a:rPr>
                        <a:t> </a:t>
                      </a:r>
                      <a:pPr indent="0" marL="0">
                        <a:buNone/>
                      </a:pPr>
                      <a:r>
                        <a:rPr lang="en-US" sz="950" dirty="0">
                          <a:solidFill>
                            <a:schemeClr val="tx1"/>
                          </a:solidFill>
                        </a:rPr>
                        <a:t>(China)</a:t>
                      </a:r>
                      <a:pPr indent="0" marL="0">
                        <a:buNone/>
                      </a:pPr>
                      <a:r>
                        <a:rPr lang="en-US" sz="950" dirty="0">
                          <a:solidFill>
                            <a:schemeClr val="tx1"/>
                          </a:solidFill>
                        </a:rPr>
                        <a:t>: pharmaceutical database Q&amp;A and competitive intelligence;</a:t>
                      </a:r>
                      <a:endParaRPr lang="en-US" sz="950" dirty="0"/>
                    </a:p>
                    <a:p>
                      <a:pPr indent="0" marL="0">
                        <a:spcBef>
                          <a:spcPts val="400"/>
                        </a:spcBef>
                        <a:buNone/>
                      </a:pPr>
                      <a:r>
                        <a:rPr lang="en-US" sz="950" dirty="0">
                          <a:solidFill>
                            <a:schemeClr val="tx1"/>
                          </a:solidFill>
                        </a:rPr>
                        <a:t>Prospection’s </a:t>
                      </a:r>
                      <a:pPr indent="0" marL="0">
                        <a:buNone/>
                      </a:pPr>
                      <a:r>
                        <a:rPr lang="en-US" sz="950" b="1" dirty="0">
                          <a:solidFill>
                            <a:schemeClr val="tx1"/>
                          </a:solidFill>
                        </a:rPr>
                        <a:t>ProGPT</a:t>
                      </a:r>
                      <a:pPr indent="0" marL="0">
                        <a:buNone/>
                      </a:pPr>
                      <a:r>
                        <a:rPr lang="en-US" sz="950" dirty="0">
                          <a:solidFill>
                            <a:schemeClr val="tx1"/>
                          </a:solidFill>
                        </a:rPr>
                        <a:t> </a:t>
                      </a:r>
                      <a:pPr indent="0" marL="0">
                        <a:buNone/>
                      </a:pPr>
                      <a:r>
                        <a:rPr lang="en-US" sz="950" dirty="0">
                          <a:solidFill>
                            <a:schemeClr val="tx1"/>
                          </a:solidFill>
                        </a:rPr>
                        <a:t>(Australia)</a:t>
                      </a:r>
                      <a:pPr indent="0" marL="0">
                        <a:buNone/>
                      </a:pPr>
                      <a:r>
                        <a:rPr lang="en-US" sz="950" dirty="0">
                          <a:solidFill>
                            <a:schemeClr val="tx1"/>
                          </a:solidFill>
                        </a:rPr>
                        <a:t>: conversational patient and market insights for brand planning</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50" dirty="0">
                          <a:solidFill>
                            <a:schemeClr val="tx1"/>
                          </a:solidFill>
                        </a:rPr>
                        <a:t>Market Clarity: market attractiveness and portfolio research</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r h="995553">
                <a:tc>
                  <a:txBody>
                    <a:bodyPr/>
                    <a:lstStyle/>
                    <a:p>
                      <a:pPr algn="ctr" indent="0" marL="0">
                        <a:buNone/>
                      </a:pPr>
                      <a:r>
                        <a:rPr lang="en-US" sz="1050" b="1" dirty="0">
                          <a:solidFill>
                            <a:schemeClr val="accent1"/>
                          </a:solidFill>
                        </a:rPr>
                        <a:t>Commercial field and prescribing decisions</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50" dirty="0">
                          <a:solidFill>
                            <a:schemeClr val="tx1"/>
                          </a:solidFill>
                        </a:rPr>
                        <a:t>IQVIA’s </a:t>
                      </a:r>
                      <a:pPr indent="0" marL="0">
                        <a:buNone/>
                      </a:pPr>
                      <a:r>
                        <a:rPr lang="en-US" sz="950" b="1" dirty="0">
                          <a:solidFill>
                            <a:schemeClr val="tx1"/>
                          </a:solidFill>
                        </a:rPr>
                        <a:t>Field Force Agent</a:t>
                      </a:r>
                      <a:pPr indent="0" marL="0">
                        <a:buNone/>
                      </a:pPr>
                      <a:r>
                        <a:rPr lang="en-US" sz="950" dirty="0">
                          <a:solidFill>
                            <a:schemeClr val="tx1"/>
                          </a:solidFill>
                        </a:rPr>
                        <a:t>: commercial field support;</a:t>
                      </a:r>
                      <a:endParaRPr lang="en-US" sz="950" dirty="0"/>
                    </a:p>
                    <a:p>
                      <a:pPr indent="0" marL="0">
                        <a:spcBef>
                          <a:spcPts val="400"/>
                        </a:spcBef>
                        <a:buNone/>
                      </a:pPr>
                      <a:r>
                        <a:rPr lang="en-US" sz="950" dirty="0">
                          <a:solidFill>
                            <a:schemeClr val="tx1"/>
                          </a:solidFill>
                        </a:rPr>
                        <a:t>ZS’s </a:t>
                      </a:r>
                      <a:pPr indent="0" marL="0">
                        <a:buNone/>
                      </a:pPr>
                      <a:r>
                        <a:rPr lang="en-US" sz="950" b="1" dirty="0">
                          <a:solidFill>
                            <a:schemeClr val="tx1"/>
                          </a:solidFill>
                        </a:rPr>
                        <a:t>ZAIDYN Conversational AI for Commercial</a:t>
                      </a:r>
                      <a:pPr indent="0" marL="0">
                        <a:buNone/>
                      </a:pPr>
                      <a:r>
                        <a:rPr lang="en-US" sz="950" dirty="0">
                          <a:solidFill>
                            <a:schemeClr val="tx1"/>
                          </a:solidFill>
                        </a:rPr>
                        <a:t>: commercial information and decision support;</a:t>
                      </a:r>
                      <a:endParaRPr lang="en-US" sz="950" dirty="0"/>
                    </a:p>
                    <a:p>
                      <a:pPr indent="0" marL="0">
                        <a:spcBef>
                          <a:spcPts val="400"/>
                        </a:spcBef>
                        <a:buNone/>
                      </a:pPr>
                      <a:r>
                        <a:rPr lang="en-US" sz="950" dirty="0">
                          <a:solidFill>
                            <a:schemeClr val="tx1"/>
                          </a:solidFill>
                        </a:rPr>
                        <a:t>Close-Up International’s </a:t>
                      </a:r>
                      <a:pPr indent="0" marL="0">
                        <a:buNone/>
                      </a:pPr>
                      <a:r>
                        <a:rPr lang="en-US" sz="950" b="1" dirty="0">
                          <a:solidFill>
                            <a:schemeClr val="tx1"/>
                          </a:solidFill>
                        </a:rPr>
                        <a:t>Xplora AI</a:t>
                      </a:r>
                      <a:pPr indent="0" marL="0">
                        <a:buNone/>
                      </a:pPr>
                      <a:r>
                        <a:rPr lang="en-US" sz="950" dirty="0">
                          <a:solidFill>
                            <a:schemeClr val="tx1"/>
                          </a:solidFill>
                        </a:rPr>
                        <a:t> </a:t>
                      </a:r>
                      <a:pPr indent="0" marL="0">
                        <a:buNone/>
                      </a:pPr>
                      <a:r>
                        <a:rPr lang="en-US" sz="950" dirty="0">
                          <a:solidFill>
                            <a:schemeClr val="tx1"/>
                          </a:solidFill>
                        </a:rPr>
                        <a:t>(Spain)</a:t>
                      </a:r>
                      <a:pPr indent="0" marL="0">
                        <a:buNone/>
                      </a:pPr>
                      <a:r>
                        <a:rPr lang="en-US" sz="950" dirty="0">
                          <a:solidFill>
                            <a:schemeClr val="tx1"/>
                          </a:solidFill>
                        </a:rPr>
                        <a:t>: AI-enabled pharmaceutical CRM and commercial intelligence</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50" dirty="0">
                          <a:solidFill>
                            <a:schemeClr val="tx1"/>
                          </a:solidFill>
                        </a:rPr>
                        <a:t>Market Clarity: patient and prescriber analytics</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r h="885825">
                <a:tc>
                  <a:txBody>
                    <a:bodyPr/>
                    <a:lstStyle/>
                    <a:p>
                      <a:pPr algn="ctr" indent="0" marL="0">
                        <a:buNone/>
                      </a:pPr>
                      <a:r>
                        <a:rPr lang="en-US" sz="1050" b="1" dirty="0">
                          <a:solidFill>
                            <a:schemeClr val="accent1"/>
                          </a:solidFill>
                        </a:rPr>
                        <a:t>Simulated stakeholder research</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50" dirty="0">
                          <a:solidFill>
                            <a:schemeClr val="tx1"/>
                          </a:solidFill>
                        </a:rPr>
                        <a:t>Trinity Life Sciences’ </a:t>
                      </a:r>
                      <a:pPr indent="0" marL="0">
                        <a:buNone/>
                      </a:pPr>
                      <a:r>
                        <a:rPr lang="en-US" sz="950" b="1" dirty="0">
                          <a:solidFill>
                            <a:schemeClr val="tx1"/>
                          </a:solidFill>
                        </a:rPr>
                        <a:t>InsightsEDGE Digital Twins</a:t>
                      </a:r>
                      <a:pPr indent="0" marL="0">
                        <a:buNone/>
                      </a:pPr>
                      <a:r>
                        <a:rPr lang="en-US" sz="950" dirty="0">
                          <a:solidFill>
                            <a:schemeClr val="tx1"/>
                          </a:solidFill>
                        </a:rPr>
                        <a:t>: conversational simulated personas;</a:t>
                      </a:r>
                      <a:endParaRPr lang="en-US" sz="950" dirty="0"/>
                    </a:p>
                    <a:p>
                      <a:pPr indent="0" marL="0">
                        <a:spcBef>
                          <a:spcPts val="400"/>
                        </a:spcBef>
                        <a:buNone/>
                      </a:pPr>
                      <a:r>
                        <a:rPr lang="en-US" sz="950" dirty="0">
                          <a:solidFill>
                            <a:schemeClr val="tx1"/>
                          </a:solidFill>
                        </a:rPr>
                        <a:t>Ipsos’s </a:t>
                      </a:r>
                      <a:pPr indent="0" marL="0">
                        <a:buNone/>
                      </a:pPr>
                      <a:r>
                        <a:rPr lang="en-US" sz="950" b="1" dirty="0">
                          <a:solidFill>
                            <a:schemeClr val="tx1"/>
                          </a:solidFill>
                        </a:rPr>
                        <a:t>Healthcare PersonaBot</a:t>
                      </a:r>
                      <a:pPr indent="0" marL="0">
                        <a:buNone/>
                      </a:pPr>
                      <a:r>
                        <a:rPr lang="en-US" sz="950" dirty="0">
                          <a:solidFill>
                            <a:schemeClr val="tx1"/>
                          </a:solidFill>
                        </a:rPr>
                        <a:t> </a:t>
                      </a:r>
                      <a:pPr indent="0" marL="0">
                        <a:buNone/>
                      </a:pPr>
                      <a:r>
                        <a:rPr lang="en-US" sz="950" dirty="0">
                          <a:solidFill>
                            <a:schemeClr val="tx1"/>
                          </a:solidFill>
                        </a:rPr>
                        <a:t>(France)</a:t>
                      </a:r>
                      <a:pPr indent="0" marL="0">
                        <a:buNone/>
                      </a:pPr>
                      <a:r>
                        <a:rPr lang="en-US" sz="950" dirty="0">
                          <a:solidFill>
                            <a:schemeClr val="tx1"/>
                          </a:solidFill>
                        </a:rPr>
                        <a:t>: interaction with simulated healthcare stakeholders</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50" dirty="0">
                          <a:solidFill>
                            <a:schemeClr val="tx1"/>
                          </a:solidFill>
                        </a:rPr>
                        <a:t>Market Clarity provides market insights; a directly comparable simulated-persona offering was not established in the Optum review</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bl>
          </a:graphicData>
        </a:graphic>
      </p:graphicFrame>
      <p:sp>
        <p:nvSpPr>
          <p:cNvPr id="15" name="beyond the public evidence card"/>
          <p:cNvSpPr/>
          <p:nvPr/>
        </p:nvSpPr>
        <p:spPr>
          <a:xfrm>
            <a:off x="548640" y="4870323"/>
            <a:ext cx="5454396" cy="1183005"/>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16" name="label"/>
          <p:cNvSpPr txBox="1"/>
          <p:nvPr/>
        </p:nvSpPr>
        <p:spPr>
          <a:xfrm>
            <a:off x="749808" y="5053203"/>
            <a:ext cx="5052060" cy="256032"/>
          </a:xfrm>
          <a:prstGeom prst="rect">
            <a:avLst/>
          </a:prstGeom>
          <a:noFill/>
          <a:ln/>
        </p:spPr>
        <p:txBody>
          <a:bodyPr wrap="square" lIns="0" tIns="0" rIns="0" bIns="0" rtlCol="0" anchor="t"/>
          <a:lstStyle/>
          <a:p>
            <a:pPr indent="0" marL="0">
              <a:buNone/>
            </a:pPr>
            <a:r>
              <a:rPr lang="en-US" sz="1300" b="1" spc="150" kern="0" dirty="0">
                <a:solidFill>
                  <a:schemeClr val="accent2"/>
                </a:solidFill>
              </a:rPr>
              <a:t>BEYOND THE PUBLIC EVIDENCE</a:t>
            </a:r>
            <a:endParaRPr lang="en-US" sz="1300" dirty="0"/>
          </a:p>
        </p:txBody>
      </p:sp>
      <p:sp>
        <p:nvSpPr>
          <p:cNvPr id="17" name="Text 14"/>
          <p:cNvSpPr txBox="1"/>
          <p:nvPr/>
        </p:nvSpPr>
        <p:spPr>
          <a:xfrm>
            <a:off x="749808" y="5382387"/>
            <a:ext cx="5052060" cy="542925"/>
          </a:xfrm>
          <a:prstGeom prst="rect">
            <a:avLst/>
          </a:prstGeom>
          <a:noFill/>
          <a:ln/>
        </p:spPr>
        <p:txBody>
          <a:bodyPr wrap="square" lIns="0" tIns="0" rIns="0" bIns="0" rtlCol="0" anchor="t"/>
          <a:lstStyle/>
          <a:p>
            <a:pPr indent="0" marL="0">
              <a:buNone/>
            </a:pPr>
            <a:r>
              <a:rPr lang="en-US" sz="1050" b="1" dirty="0">
                <a:solidFill>
                  <a:schemeClr val="tx1"/>
                </a:solidFill>
              </a:rPr>
              <a:t>Which decisions are these products designed to support? What underlying commercial information can users access? Where does an assistant move beyond analytics into field execution or simulated research?</a:t>
            </a:r>
            <a:endParaRPr lang="en-US" sz="1050" dirty="0"/>
          </a:p>
        </p:txBody>
      </p:sp>
      <p:sp>
        <p:nvSpPr>
          <p:cNvPr id="18" name="transition to other workflows card"/>
          <p:cNvSpPr/>
          <p:nvPr/>
        </p:nvSpPr>
        <p:spPr>
          <a:xfrm>
            <a:off x="6185916" y="4870323"/>
            <a:ext cx="5454396" cy="1183005"/>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19" name="label"/>
          <p:cNvSpPr txBox="1"/>
          <p:nvPr/>
        </p:nvSpPr>
        <p:spPr>
          <a:xfrm>
            <a:off x="6387084" y="5053203"/>
            <a:ext cx="5052060" cy="256032"/>
          </a:xfrm>
          <a:prstGeom prst="rect">
            <a:avLst/>
          </a:prstGeom>
          <a:noFill/>
          <a:ln/>
        </p:spPr>
        <p:txBody>
          <a:bodyPr wrap="square" lIns="0" tIns="0" rIns="0" bIns="0" rtlCol="0" anchor="t"/>
          <a:lstStyle/>
          <a:p>
            <a:pPr indent="0" marL="0">
              <a:buNone/>
            </a:pPr>
            <a:r>
              <a:rPr lang="en-US" sz="1300" b="1" spc="150" kern="0" dirty="0">
                <a:solidFill>
                  <a:schemeClr val="accent2"/>
                </a:solidFill>
              </a:rPr>
              <a:t>TRANSITION TO OTHER WORKFLOWS</a:t>
            </a:r>
            <a:endParaRPr lang="en-US" sz="1300" dirty="0"/>
          </a:p>
        </p:txBody>
      </p:sp>
      <p:sp>
        <p:nvSpPr>
          <p:cNvPr id="20" name="Text 17"/>
          <p:cNvSpPr txBox="1"/>
          <p:nvPr/>
        </p:nvSpPr>
        <p:spPr>
          <a:xfrm>
            <a:off x="6387084" y="5382387"/>
            <a:ext cx="5052060" cy="542925"/>
          </a:xfrm>
          <a:prstGeom prst="rect">
            <a:avLst/>
          </a:prstGeom>
          <a:noFill/>
          <a:ln/>
        </p:spPr>
        <p:txBody>
          <a:bodyPr wrap="square" lIns="0" tIns="0" rIns="0" bIns="0" rtlCol="0" anchor="t"/>
          <a:lstStyle/>
          <a:p>
            <a:pPr indent="0" marL="0">
              <a:buNone/>
            </a:pPr>
            <a:r>
              <a:rPr lang="en-US" sz="1050" b="1" dirty="0">
                <a:solidFill>
                  <a:schemeClr val="tx1"/>
                </a:solidFill>
              </a:rPr>
              <a:t>How does the comparison change for medical affairs, clinical development and market access, where the intended users, evidence requirements and decisions differ?</a:t>
            </a:r>
            <a:endParaRPr lang="en-US" sz="1050" dirty="0"/>
          </a:p>
        </p:txBody>
      </p:sp>
      <p:sp>
        <p:nvSpPr>
          <p:cNvPr id="25" name="Slide Number Placeholder 0"/>
          <p:cNvSpPr>
            <a:spLocks noGrp="1"/>
          </p:cNvSpPr>
          <p:nvPr>
            <p:ph type="sldNum" sz="quarter" idx="4294967295"/>
          </p:nvPr>
        </p:nvSpPr>
        <p:spPr>
          <a:xfrm>
            <a:off x="10725912" y="6309360"/>
            <a:ext cx="9144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body" hasCustomPrompt="1"/>
          </p:nvPr>
        </p:nvSpPr>
        <p:spPr>
          <a:xfrm>
            <a:off x="548640" y="384048"/>
            <a:ext cx="8229600"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CONVERSATIONAL AI IN MEDICAL / REGULATORY RESEARCH</a:t>
            </a:r>
            <a:endParaRPr lang="en-US" sz="1000" dirty="0"/>
          </a:p>
        </p:txBody>
      </p:sp>
      <p:sp>
        <p:nvSpPr>
          <p:cNvPr id="3" name="tracker RWE"/>
          <p:cNvSpPr/>
          <p:nvPr/>
        </p:nvSpPr>
        <p:spPr>
          <a:xfrm>
            <a:off x="5657393" y="365760"/>
            <a:ext cx="386791" cy="237744"/>
          </a:xfrm>
          <a:prstGeom prst="roundRect">
            <a:avLst>
              <a:gd name="adj" fmla="val 50000"/>
            </a:avLst>
          </a:prstGeom>
          <a:solidFill>
            <a:schemeClr val="accent5"/>
          </a:solidFill>
          <a:ln/>
        </p:spPr>
      </p:sp>
      <p:sp>
        <p:nvSpPr>
          <p:cNvPr id="4" name="Text 2"/>
          <p:cNvSpPr txBox="1"/>
          <p:nvPr/>
        </p:nvSpPr>
        <p:spPr>
          <a:xfrm>
            <a:off x="5657393" y="365760"/>
            <a:ext cx="386791" cy="237744"/>
          </a:xfrm>
          <a:prstGeom prst="rect">
            <a:avLst/>
          </a:prstGeom>
          <a:noFill/>
          <a:ln/>
        </p:spPr>
        <p:txBody>
          <a:bodyPr wrap="square" lIns="0" tIns="0" rIns="0" bIns="0" rtlCol="0" anchor="ctr"/>
          <a:lstStyle/>
          <a:p>
            <a:pPr algn="ctr" indent="0" marL="0">
              <a:buNone/>
            </a:pPr>
            <a:r>
              <a:rPr lang="en-US" sz="750" b="1" dirty="0">
                <a:solidFill>
                  <a:schemeClr val="accent4"/>
                </a:solidFill>
              </a:rPr>
              <a:t>RWE</a:t>
            </a:r>
            <a:endParaRPr lang="en-US" sz="750" dirty="0"/>
          </a:p>
        </p:txBody>
      </p:sp>
      <p:sp>
        <p:nvSpPr>
          <p:cNvPr id="5" name="tracker Commercial Intelligence"/>
          <p:cNvSpPr/>
          <p:nvPr/>
        </p:nvSpPr>
        <p:spPr>
          <a:xfrm>
            <a:off x="6108192" y="365760"/>
            <a:ext cx="1502359" cy="237744"/>
          </a:xfrm>
          <a:prstGeom prst="roundRect">
            <a:avLst>
              <a:gd name="adj" fmla="val 50000"/>
            </a:avLst>
          </a:prstGeom>
          <a:solidFill>
            <a:schemeClr val="accent5"/>
          </a:solidFill>
          <a:ln/>
        </p:spPr>
      </p:sp>
      <p:sp>
        <p:nvSpPr>
          <p:cNvPr id="6" name="Text 4"/>
          <p:cNvSpPr txBox="1"/>
          <p:nvPr/>
        </p:nvSpPr>
        <p:spPr>
          <a:xfrm>
            <a:off x="6108192" y="365760"/>
            <a:ext cx="1502359" cy="237744"/>
          </a:xfrm>
          <a:prstGeom prst="rect">
            <a:avLst/>
          </a:prstGeom>
          <a:noFill/>
          <a:ln/>
        </p:spPr>
        <p:txBody>
          <a:bodyPr wrap="square" lIns="0" tIns="0" rIns="0" bIns="0" rtlCol="0" anchor="ctr"/>
          <a:lstStyle/>
          <a:p>
            <a:pPr algn="ctr" indent="0" marL="0">
              <a:buNone/>
            </a:pPr>
            <a:r>
              <a:rPr lang="en-US" sz="750" b="1" dirty="0">
                <a:solidFill>
                  <a:schemeClr val="accent4"/>
                </a:solidFill>
              </a:rPr>
              <a:t>Commercial Intelligence</a:t>
            </a:r>
            <a:endParaRPr lang="en-US" sz="750" dirty="0"/>
          </a:p>
        </p:txBody>
      </p:sp>
      <p:sp>
        <p:nvSpPr>
          <p:cNvPr id="7" name="tracker Medical / Regulatory Research"/>
          <p:cNvSpPr/>
          <p:nvPr/>
        </p:nvSpPr>
        <p:spPr>
          <a:xfrm>
            <a:off x="7674559" y="365760"/>
            <a:ext cx="1837030" cy="237744"/>
          </a:xfrm>
          <a:prstGeom prst="roundRect">
            <a:avLst>
              <a:gd name="adj" fmla="val 50000"/>
            </a:avLst>
          </a:prstGeom>
          <a:solidFill>
            <a:schemeClr val="accent1"/>
          </a:solidFill>
          <a:ln/>
        </p:spPr>
      </p:sp>
      <p:sp>
        <p:nvSpPr>
          <p:cNvPr id="8" name="Text 6"/>
          <p:cNvSpPr txBox="1"/>
          <p:nvPr/>
        </p:nvSpPr>
        <p:spPr>
          <a:xfrm>
            <a:off x="7674559" y="365760"/>
            <a:ext cx="1837030" cy="237744"/>
          </a:xfrm>
          <a:prstGeom prst="rect">
            <a:avLst/>
          </a:prstGeom>
          <a:noFill/>
          <a:ln/>
        </p:spPr>
        <p:txBody>
          <a:bodyPr wrap="square" lIns="0" tIns="0" rIns="0" bIns="0" rtlCol="0" anchor="ctr"/>
          <a:lstStyle/>
          <a:p>
            <a:pPr algn="ctr" indent="0" marL="0">
              <a:buNone/>
            </a:pPr>
            <a:r>
              <a:rPr lang="en-US" sz="750" b="1" dirty="0">
                <a:solidFill>
                  <a:schemeClr val="bg1"/>
                </a:solidFill>
              </a:rPr>
              <a:t>Medical / Regulatory Research</a:t>
            </a:r>
            <a:endParaRPr lang="en-US" sz="750" dirty="0"/>
          </a:p>
        </p:txBody>
      </p:sp>
      <p:sp>
        <p:nvSpPr>
          <p:cNvPr id="9" name="tracker Clinical Trials"/>
          <p:cNvSpPr/>
          <p:nvPr/>
        </p:nvSpPr>
        <p:spPr>
          <a:xfrm>
            <a:off x="9575597" y="365760"/>
            <a:ext cx="1056132" cy="237744"/>
          </a:xfrm>
          <a:prstGeom prst="roundRect">
            <a:avLst>
              <a:gd name="adj" fmla="val 50000"/>
            </a:avLst>
          </a:prstGeom>
          <a:solidFill>
            <a:schemeClr val="accent5"/>
          </a:solidFill>
          <a:ln/>
        </p:spPr>
      </p:sp>
      <p:sp>
        <p:nvSpPr>
          <p:cNvPr id="10" name="Text 8"/>
          <p:cNvSpPr txBox="1"/>
          <p:nvPr/>
        </p:nvSpPr>
        <p:spPr>
          <a:xfrm>
            <a:off x="9575597" y="365760"/>
            <a:ext cx="1056132" cy="237744"/>
          </a:xfrm>
          <a:prstGeom prst="rect">
            <a:avLst/>
          </a:prstGeom>
          <a:noFill/>
          <a:ln/>
        </p:spPr>
        <p:txBody>
          <a:bodyPr wrap="square" lIns="0" tIns="0" rIns="0" bIns="0" rtlCol="0" anchor="ctr"/>
          <a:lstStyle/>
          <a:p>
            <a:pPr algn="ctr" indent="0" marL="0">
              <a:buNone/>
            </a:pPr>
            <a:r>
              <a:rPr lang="en-US" sz="750" b="1" dirty="0">
                <a:solidFill>
                  <a:schemeClr val="accent4"/>
                </a:solidFill>
              </a:rPr>
              <a:t>Clinical Trials</a:t>
            </a:r>
            <a:endParaRPr lang="en-US" sz="750" dirty="0"/>
          </a:p>
        </p:txBody>
      </p:sp>
      <p:sp>
        <p:nvSpPr>
          <p:cNvPr id="11" name="tracker Market Access"/>
          <p:cNvSpPr/>
          <p:nvPr/>
        </p:nvSpPr>
        <p:spPr>
          <a:xfrm>
            <a:off x="10695737" y="365760"/>
            <a:ext cx="944575" cy="237744"/>
          </a:xfrm>
          <a:prstGeom prst="roundRect">
            <a:avLst>
              <a:gd name="adj" fmla="val 50000"/>
            </a:avLst>
          </a:prstGeom>
          <a:solidFill>
            <a:schemeClr val="accent5"/>
          </a:solidFill>
          <a:ln/>
        </p:spPr>
      </p:sp>
      <p:sp>
        <p:nvSpPr>
          <p:cNvPr id="12" name="Text 10"/>
          <p:cNvSpPr txBox="1"/>
          <p:nvPr/>
        </p:nvSpPr>
        <p:spPr>
          <a:xfrm>
            <a:off x="10695737" y="365760"/>
            <a:ext cx="944575" cy="237744"/>
          </a:xfrm>
          <a:prstGeom prst="rect">
            <a:avLst/>
          </a:prstGeom>
          <a:noFill/>
          <a:ln/>
        </p:spPr>
        <p:txBody>
          <a:bodyPr wrap="square" lIns="0" tIns="0" rIns="0" bIns="0" rtlCol="0" anchor="ctr"/>
          <a:lstStyle/>
          <a:p>
            <a:pPr algn="ctr" indent="0" marL="0">
              <a:buNone/>
            </a:pPr>
            <a:r>
              <a:rPr lang="en-US" sz="750" b="1" dirty="0">
                <a:solidFill>
                  <a:schemeClr val="accent4"/>
                </a:solidFill>
              </a:rPr>
              <a:t>Market Access</a:t>
            </a:r>
            <a:endParaRPr lang="en-US" sz="750" dirty="0"/>
          </a:p>
        </p:txBody>
      </p:sp>
      <p:sp>
        <p:nvSpPr>
          <p:cNvPr id="13" name="Text 2"/>
          <p:cNvSpPr/>
          <p:nvPr>
            <p:ph idx="103" type="title" hasCustomPrompt="1"/>
          </p:nvPr>
        </p:nvSpPr>
        <p:spPr>
          <a:xfrm>
            <a:off x="548640" y="640080"/>
            <a:ext cx="11091672" cy="749808"/>
          </a:xfrm>
          <a:prstGeom prst="rect">
            <a:avLst/>
          </a:prstGeom>
          <a:noFill/>
          <a:ln/>
        </p:spPr>
        <p:txBody>
          <a:bodyPr wrap="square" lIns="0" tIns="0" rIns="0" bIns="0" rtlCol="0" anchor="t"/>
          <a:lstStyle/>
          <a:p>
            <a:pPr algn="l" indent="0" marL="0">
              <a:buNone/>
            </a:pPr>
            <a:r>
              <a:rPr lang="en-US" sz="2200" b="1" dirty="0">
                <a:solidFill>
                  <a:schemeClr val="accent1"/>
                </a:solidFill>
              </a:rPr>
              <a:t>Competitors market conversational tools for scientific evidence,</a:t>
            </a:r>
            <a:br/>
            <a:pPr algn="l" indent="0" marL="0">
              <a:buNone/>
            </a:pPr>
            <a:r>
              <a:rPr lang="en-US" sz="2200" b="1" dirty="0">
                <a:solidFill>
                  <a:schemeClr val="accent1"/>
                </a:solidFill>
              </a:rPr>
              <a:t>medical insights and regulated content workflows</a:t>
            </a:r>
            <a:endParaRPr lang="en-US" sz="2200" dirty="0"/>
          </a:p>
        </p:txBody>
      </p:sp>
      <p:graphicFrame>
        <p:nvGraphicFramePr>
          <p:cNvPr id="9" name="task table"/>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2286000"/>
                <a:gridCol w="5760720"/>
                <a:gridCol w="3044952"/>
              </a:tblGrid>
              <a:tr h="329184">
                <a:tc>
                  <a:txBody>
                    <a:bodyPr/>
                    <a:lstStyle/>
                    <a:p>
                      <a:pPr algn="ctr" indent="0" marL="0">
                        <a:buNone/>
                      </a:pPr>
                      <a:r>
                        <a:rPr lang="en-US" sz="900" b="1" spc="100" kern="0" dirty="0">
                          <a:solidFill>
                            <a:schemeClr val="bg1"/>
                          </a:solidFill>
                        </a:rPr>
                        <a:t>CUSTOMER TASK</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ctr" indent="0" marL="0">
                        <a:buNone/>
                      </a:pPr>
                      <a:r>
                        <a:rPr lang="en-US" sz="900" b="1" spc="100" kern="0" dirty="0">
                          <a:solidFill>
                            <a:schemeClr val="bg1"/>
                          </a:solidFill>
                        </a:rPr>
                        <a:t>CONVERSATIONAL AI OFFERINGS</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ctr" indent="0" marL="0">
                        <a:buNone/>
                      </a:pPr>
                      <a:r>
                        <a:rPr lang="en-US" sz="900" b="1" spc="100" kern="0" dirty="0">
                          <a:solidFill>
                            <a:schemeClr val="bg1"/>
                          </a:solidFill>
                        </a:rPr>
                        <a:t>RELEVANT OPTUM LS OFFERINGS</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r>
              <a:tr h="889042">
                <a:tc>
                  <a:txBody>
                    <a:bodyPr/>
                    <a:lstStyle/>
                    <a:p>
                      <a:pPr algn="ctr" indent="0" marL="0">
                        <a:buNone/>
                      </a:pPr>
                      <a:r>
                        <a:rPr lang="en-US" sz="1050" b="1" dirty="0">
                          <a:solidFill>
                            <a:schemeClr val="accent1"/>
                          </a:solidFill>
                        </a:rPr>
                        <a:t>Search and synthesize</a:t>
                      </a:r>
                      <a:br/>
                      <a:pPr algn="ctr" indent="0" marL="0">
                        <a:buNone/>
                      </a:pPr>
                      <a:r>
                        <a:rPr lang="en-US" sz="1050" b="1" dirty="0">
                          <a:solidFill>
                            <a:schemeClr val="accent1"/>
                          </a:solidFill>
                        </a:rPr>
                        <a:t>scientific evidence</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50" dirty="0">
                          <a:solidFill>
                            <a:schemeClr val="tx1"/>
                          </a:solidFill>
                        </a:rPr>
                        <a:t>IQVIA's </a:t>
                      </a:r>
                      <a:pPr indent="0" marL="0">
                        <a:buNone/>
                      </a:pPr>
                      <a:r>
                        <a:rPr lang="en-US" sz="950" b="1" dirty="0">
                          <a:solidFill>
                            <a:schemeClr val="tx1"/>
                          </a:solidFill>
                        </a:rPr>
                        <a:t>Med-R1 Deep Research Agent</a:t>
                      </a:r>
                      <a:pPr indent="0" marL="0">
                        <a:buNone/>
                      </a:pPr>
                      <a:r>
                        <a:rPr lang="en-US" sz="950" dirty="0">
                          <a:solidFill>
                            <a:schemeClr val="tx1"/>
                          </a:solidFill>
                        </a:rPr>
                        <a:t>: synthesizes biomedical, clinical and regulatory sources to answer complex research questions</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50" dirty="0">
                          <a:solidFill>
                            <a:schemeClr val="tx1"/>
                          </a:solidFill>
                        </a:rPr>
                        <a:t>Epidemiology research; postapproval safety and comparative-effectiveness studies</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r h="1176316">
                <a:tc>
                  <a:txBody>
                    <a:bodyPr/>
                    <a:lstStyle/>
                    <a:p>
                      <a:pPr algn="ctr" indent="0" marL="0">
                        <a:buNone/>
                      </a:pPr>
                      <a:r>
                        <a:rPr lang="en-US" sz="1050" b="1" dirty="0">
                          <a:solidFill>
                            <a:schemeClr val="accent1"/>
                          </a:solidFill>
                        </a:rPr>
                        <a:t>Explore medical insights and</a:t>
                      </a:r>
                      <a:br/>
                      <a:pPr algn="ctr" indent="0" marL="0">
                        <a:buNone/>
                      </a:pPr>
                      <a:r>
                        <a:rPr lang="en-US" sz="1050" b="1" dirty="0">
                          <a:solidFill>
                            <a:schemeClr val="accent1"/>
                          </a:solidFill>
                        </a:rPr>
                        <a:t>support scientific engagement</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50" dirty="0">
                          <a:solidFill>
                            <a:schemeClr val="tx1"/>
                          </a:solidFill>
                        </a:rPr>
                        <a:t>ZS's </a:t>
                      </a:r>
                      <a:pPr indent="0" marL="0">
                        <a:buNone/>
                      </a:pPr>
                      <a:r>
                        <a:rPr lang="en-US" sz="950" b="1" dirty="0">
                          <a:solidFill>
                            <a:schemeClr val="tx1"/>
                          </a:solidFill>
                        </a:rPr>
                        <a:t>ZAIDYN Conversational AI for Medical</a:t>
                      </a:r>
                      <a:pPr indent="0" marL="0">
                        <a:buNone/>
                      </a:pPr>
                      <a:r>
                        <a:rPr lang="en-US" sz="950" dirty="0">
                          <a:solidFill>
                            <a:schemeClr val="tx1"/>
                          </a:solidFill>
                        </a:rPr>
                        <a:t>: natural-language analysis of care gaps, scientific insights and opinion-leader information;</a:t>
                      </a:r>
                      <a:endParaRPr lang="en-US" sz="950" dirty="0"/>
                    </a:p>
                    <a:p>
                      <a:pPr indent="0" marL="0">
                        <a:spcBef>
                          <a:spcPts val="400"/>
                        </a:spcBef>
                        <a:buNone/>
                      </a:pPr>
                      <a:r>
                        <a:rPr lang="en-US" sz="950" dirty="0">
                          <a:solidFill>
                            <a:schemeClr val="tx1"/>
                          </a:solidFill>
                        </a:rPr>
                        <a:t>Evidenze's </a:t>
                      </a:r>
                      <a:pPr indent="0" marL="0">
                        <a:buNone/>
                      </a:pPr>
                      <a:r>
                        <a:rPr lang="en-US" sz="950" b="1" dirty="0">
                          <a:solidFill>
                            <a:schemeClr val="tx1"/>
                          </a:solidFill>
                        </a:rPr>
                        <a:t>AI medical-education chatbots</a:t>
                      </a:r>
                      <a:pPr indent="0" marL="0">
                        <a:buNone/>
                      </a:pPr>
                      <a:r>
                        <a:rPr lang="en-US" sz="950" dirty="0">
                          <a:solidFill>
                            <a:schemeClr val="tx1"/>
                          </a:solidFill>
                        </a:rPr>
                        <a:t> </a:t>
                      </a:r>
                      <a:pPr indent="0" marL="0">
                        <a:buNone/>
                      </a:pPr>
                      <a:r>
                        <a:rPr lang="en-US" sz="950" dirty="0">
                          <a:solidFill>
                            <a:schemeClr val="tx1"/>
                          </a:solidFill>
                        </a:rPr>
                        <a:t>(Spain)</a:t>
                      </a:r>
                      <a:pPr indent="0" marL="0">
                        <a:buNone/>
                      </a:pPr>
                      <a:r>
                        <a:rPr lang="en-US" sz="950" dirty="0">
                          <a:solidFill>
                            <a:schemeClr val="tx1"/>
                          </a:solidFill>
                        </a:rPr>
                        <a:t>: conversational medical education and knowledge support</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50" dirty="0">
                          <a:solidFill>
                            <a:schemeClr val="tx1"/>
                          </a:solidFill>
                        </a:rPr>
                        <a:t>Market Clarity medical affairs evidence and MSL insights</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r h="974259">
                <a:tc>
                  <a:txBody>
                    <a:bodyPr/>
                    <a:lstStyle/>
                    <a:p>
                      <a:pPr algn="ctr" indent="0" marL="0">
                        <a:buNone/>
                      </a:pPr>
                      <a:r>
                        <a:rPr lang="en-US" sz="1050" b="1" dirty="0">
                          <a:solidFill>
                            <a:schemeClr val="accent1"/>
                          </a:solidFill>
                        </a:rPr>
                        <a:t>Question and navigate</a:t>
                      </a:r>
                      <a:br/>
                      <a:pPr algn="ctr" indent="0" marL="0">
                        <a:buNone/>
                      </a:pPr>
                      <a:r>
                        <a:rPr lang="en-US" sz="1050" b="1" dirty="0">
                          <a:solidFill>
                            <a:schemeClr val="accent1"/>
                          </a:solidFill>
                        </a:rPr>
                        <a:t>regulated documents</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50" dirty="0">
                          <a:solidFill>
                            <a:schemeClr val="tx1"/>
                          </a:solidFill>
                        </a:rPr>
                        <a:t>Veeva's </a:t>
                      </a:r>
                      <a:pPr indent="0" marL="0">
                        <a:buNone/>
                      </a:pPr>
                      <a:r>
                        <a:rPr lang="en-US" sz="950" b="1" dirty="0">
                          <a:solidFill>
                            <a:schemeClr val="tx1"/>
                          </a:solidFill>
                        </a:rPr>
                        <a:t>Vault AI Chat</a:t>
                      </a:r>
                      <a:pPr indent="0" marL="0">
                        <a:buNone/>
                      </a:pPr>
                      <a:r>
                        <a:rPr lang="en-US" sz="950" dirty="0">
                          <a:solidFill>
                            <a:schemeClr val="tx1"/>
                          </a:solidFill>
                        </a:rPr>
                        <a:t>: questions, summaries and follow-up interactions within authorized Vault documents and records</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50" dirty="0">
                          <a:solidFill>
                            <a:schemeClr val="tx1"/>
                          </a:solidFill>
                        </a:rPr>
                        <a:t>Optum's safety and evidence-research services are adjacent; a comparable conversational interface for regulated documents was not established</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bl>
          </a:graphicData>
        </a:graphic>
      </p:graphicFrame>
      <p:sp>
        <p:nvSpPr>
          <p:cNvPr id="15" name="beyond the public evidence card"/>
          <p:cNvSpPr/>
          <p:nvPr/>
        </p:nvSpPr>
        <p:spPr>
          <a:xfrm>
            <a:off x="548640" y="5033010"/>
            <a:ext cx="11091672" cy="1020318"/>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16" name="label"/>
          <p:cNvSpPr txBox="1"/>
          <p:nvPr/>
        </p:nvSpPr>
        <p:spPr>
          <a:xfrm>
            <a:off x="749808" y="5215890"/>
            <a:ext cx="10689336" cy="256032"/>
          </a:xfrm>
          <a:prstGeom prst="rect">
            <a:avLst/>
          </a:prstGeom>
          <a:noFill/>
          <a:ln/>
        </p:spPr>
        <p:txBody>
          <a:bodyPr wrap="square" lIns="0" tIns="0" rIns="0" bIns="0" rtlCol="0" anchor="t"/>
          <a:lstStyle/>
          <a:p>
            <a:pPr indent="0" marL="0">
              <a:buNone/>
            </a:pPr>
            <a:r>
              <a:rPr lang="en-US" sz="1300" b="1" spc="150" kern="0" dirty="0">
                <a:solidFill>
                  <a:schemeClr val="accent2"/>
                </a:solidFill>
              </a:rPr>
              <a:t>BEYOND THE PUBLIC EVIDENCE</a:t>
            </a:r>
            <a:endParaRPr lang="en-US" sz="1300" dirty="0"/>
          </a:p>
        </p:txBody>
      </p:sp>
      <p:sp>
        <p:nvSpPr>
          <p:cNvPr id="17" name="Text 14"/>
          <p:cNvSpPr txBox="1"/>
          <p:nvPr/>
        </p:nvSpPr>
        <p:spPr>
          <a:xfrm>
            <a:off x="749808" y="5545074"/>
            <a:ext cx="10689336" cy="380238"/>
          </a:xfrm>
          <a:prstGeom prst="rect">
            <a:avLst/>
          </a:prstGeom>
          <a:noFill/>
          <a:ln/>
        </p:spPr>
        <p:txBody>
          <a:bodyPr wrap="square" lIns="0" tIns="0" rIns="0" bIns="0" rtlCol="0" anchor="t"/>
          <a:lstStyle/>
          <a:p>
            <a:pPr indent="0" marL="0">
              <a:buNone/>
            </a:pPr>
            <a:r>
              <a:rPr lang="en-US" sz="1050" b="1" dirty="0">
                <a:solidFill>
                  <a:schemeClr val="tx1"/>
                </a:solidFill>
              </a:rPr>
              <a:t>Which offerings help users find evidence, and which help them interpret or act on it? What source traceability, permissions and scientific review are built into the marketed experience? Where are these fundamentally different services?</a:t>
            </a:r>
            <a:endParaRPr lang="en-US" sz="1050" dirty="0"/>
          </a:p>
        </p:txBody>
      </p:sp>
      <p:sp>
        <p:nvSpPr>
          <p:cNvPr id="25" name="Slide Number Placeholder 0"/>
          <p:cNvSpPr>
            <a:spLocks noGrp="1"/>
          </p:cNvSpPr>
          <p:nvPr>
            <p:ph type="sldNum" sz="quarter" idx="4294967295"/>
          </p:nvPr>
        </p:nvSpPr>
        <p:spPr>
          <a:xfrm>
            <a:off x="10725912" y="6309360"/>
            <a:ext cx="9144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body" hasCustomPrompt="1"/>
          </p:nvPr>
        </p:nvSpPr>
        <p:spPr>
          <a:xfrm>
            <a:off x="548640" y="384048"/>
            <a:ext cx="8229600"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CONVERSATIONAL AI IN CLINICAL TRIALS AND MARKET ACCESS</a:t>
            </a:r>
            <a:endParaRPr lang="en-US" sz="1000" dirty="0"/>
          </a:p>
        </p:txBody>
      </p:sp>
      <p:sp>
        <p:nvSpPr>
          <p:cNvPr id="3" name="tracker RWE"/>
          <p:cNvSpPr/>
          <p:nvPr/>
        </p:nvSpPr>
        <p:spPr>
          <a:xfrm>
            <a:off x="5657393" y="365760"/>
            <a:ext cx="386791" cy="237744"/>
          </a:xfrm>
          <a:prstGeom prst="roundRect">
            <a:avLst>
              <a:gd name="adj" fmla="val 50000"/>
            </a:avLst>
          </a:prstGeom>
          <a:solidFill>
            <a:schemeClr val="accent5"/>
          </a:solidFill>
          <a:ln/>
        </p:spPr>
      </p:sp>
      <p:sp>
        <p:nvSpPr>
          <p:cNvPr id="4" name="Text 2"/>
          <p:cNvSpPr txBox="1"/>
          <p:nvPr/>
        </p:nvSpPr>
        <p:spPr>
          <a:xfrm>
            <a:off x="5657393" y="365760"/>
            <a:ext cx="386791" cy="237744"/>
          </a:xfrm>
          <a:prstGeom prst="rect">
            <a:avLst/>
          </a:prstGeom>
          <a:noFill/>
          <a:ln/>
        </p:spPr>
        <p:txBody>
          <a:bodyPr wrap="square" lIns="0" tIns="0" rIns="0" bIns="0" rtlCol="0" anchor="ctr"/>
          <a:lstStyle/>
          <a:p>
            <a:pPr algn="ctr" indent="0" marL="0">
              <a:buNone/>
            </a:pPr>
            <a:r>
              <a:rPr lang="en-US" sz="750" b="1" dirty="0">
                <a:solidFill>
                  <a:schemeClr val="accent4"/>
                </a:solidFill>
              </a:rPr>
              <a:t>RWE</a:t>
            </a:r>
            <a:endParaRPr lang="en-US" sz="750" dirty="0"/>
          </a:p>
        </p:txBody>
      </p:sp>
      <p:sp>
        <p:nvSpPr>
          <p:cNvPr id="5" name="tracker Commercial Intelligence"/>
          <p:cNvSpPr/>
          <p:nvPr/>
        </p:nvSpPr>
        <p:spPr>
          <a:xfrm>
            <a:off x="6108192" y="365760"/>
            <a:ext cx="1502359" cy="237744"/>
          </a:xfrm>
          <a:prstGeom prst="roundRect">
            <a:avLst>
              <a:gd name="adj" fmla="val 50000"/>
            </a:avLst>
          </a:prstGeom>
          <a:solidFill>
            <a:schemeClr val="accent5"/>
          </a:solidFill>
          <a:ln/>
        </p:spPr>
      </p:sp>
      <p:sp>
        <p:nvSpPr>
          <p:cNvPr id="6" name="Text 4"/>
          <p:cNvSpPr txBox="1"/>
          <p:nvPr/>
        </p:nvSpPr>
        <p:spPr>
          <a:xfrm>
            <a:off x="6108192" y="365760"/>
            <a:ext cx="1502359" cy="237744"/>
          </a:xfrm>
          <a:prstGeom prst="rect">
            <a:avLst/>
          </a:prstGeom>
          <a:noFill/>
          <a:ln/>
        </p:spPr>
        <p:txBody>
          <a:bodyPr wrap="square" lIns="0" tIns="0" rIns="0" bIns="0" rtlCol="0" anchor="ctr"/>
          <a:lstStyle/>
          <a:p>
            <a:pPr algn="ctr" indent="0" marL="0">
              <a:buNone/>
            </a:pPr>
            <a:r>
              <a:rPr lang="en-US" sz="750" b="1" dirty="0">
                <a:solidFill>
                  <a:schemeClr val="accent4"/>
                </a:solidFill>
              </a:rPr>
              <a:t>Commercial Intelligence</a:t>
            </a:r>
            <a:endParaRPr lang="en-US" sz="750" dirty="0"/>
          </a:p>
        </p:txBody>
      </p:sp>
      <p:sp>
        <p:nvSpPr>
          <p:cNvPr id="7" name="tracker Medical / Regulatory Research"/>
          <p:cNvSpPr/>
          <p:nvPr/>
        </p:nvSpPr>
        <p:spPr>
          <a:xfrm>
            <a:off x="7674559" y="365760"/>
            <a:ext cx="1837030" cy="237744"/>
          </a:xfrm>
          <a:prstGeom prst="roundRect">
            <a:avLst>
              <a:gd name="adj" fmla="val 50000"/>
            </a:avLst>
          </a:prstGeom>
          <a:solidFill>
            <a:schemeClr val="accent5"/>
          </a:solidFill>
          <a:ln/>
        </p:spPr>
      </p:sp>
      <p:sp>
        <p:nvSpPr>
          <p:cNvPr id="8" name="Text 6"/>
          <p:cNvSpPr txBox="1"/>
          <p:nvPr/>
        </p:nvSpPr>
        <p:spPr>
          <a:xfrm>
            <a:off x="7674559" y="365760"/>
            <a:ext cx="1837030" cy="237744"/>
          </a:xfrm>
          <a:prstGeom prst="rect">
            <a:avLst/>
          </a:prstGeom>
          <a:noFill/>
          <a:ln/>
        </p:spPr>
        <p:txBody>
          <a:bodyPr wrap="square" lIns="0" tIns="0" rIns="0" bIns="0" rtlCol="0" anchor="ctr"/>
          <a:lstStyle/>
          <a:p>
            <a:pPr algn="ctr" indent="0" marL="0">
              <a:buNone/>
            </a:pPr>
            <a:r>
              <a:rPr lang="en-US" sz="750" b="1" dirty="0">
                <a:solidFill>
                  <a:schemeClr val="accent4"/>
                </a:solidFill>
              </a:rPr>
              <a:t>Medical / Regulatory Research</a:t>
            </a:r>
            <a:endParaRPr lang="en-US" sz="750" dirty="0"/>
          </a:p>
        </p:txBody>
      </p:sp>
      <p:sp>
        <p:nvSpPr>
          <p:cNvPr id="9" name="tracker Clinical Trials"/>
          <p:cNvSpPr/>
          <p:nvPr/>
        </p:nvSpPr>
        <p:spPr>
          <a:xfrm>
            <a:off x="9575597" y="365760"/>
            <a:ext cx="1056132" cy="237744"/>
          </a:xfrm>
          <a:prstGeom prst="roundRect">
            <a:avLst>
              <a:gd name="adj" fmla="val 50000"/>
            </a:avLst>
          </a:prstGeom>
          <a:solidFill>
            <a:schemeClr val="accent1"/>
          </a:solidFill>
          <a:ln/>
        </p:spPr>
      </p:sp>
      <p:sp>
        <p:nvSpPr>
          <p:cNvPr id="10" name="Text 8"/>
          <p:cNvSpPr txBox="1"/>
          <p:nvPr/>
        </p:nvSpPr>
        <p:spPr>
          <a:xfrm>
            <a:off x="9575597" y="365760"/>
            <a:ext cx="1056132" cy="237744"/>
          </a:xfrm>
          <a:prstGeom prst="rect">
            <a:avLst/>
          </a:prstGeom>
          <a:noFill/>
          <a:ln/>
        </p:spPr>
        <p:txBody>
          <a:bodyPr wrap="square" lIns="0" tIns="0" rIns="0" bIns="0" rtlCol="0" anchor="ctr"/>
          <a:lstStyle/>
          <a:p>
            <a:pPr algn="ctr" indent="0" marL="0">
              <a:buNone/>
            </a:pPr>
            <a:r>
              <a:rPr lang="en-US" sz="750" b="1" dirty="0">
                <a:solidFill>
                  <a:schemeClr val="bg1"/>
                </a:solidFill>
              </a:rPr>
              <a:t>Clinical Trials</a:t>
            </a:r>
            <a:endParaRPr lang="en-US" sz="750" dirty="0"/>
          </a:p>
        </p:txBody>
      </p:sp>
      <p:sp>
        <p:nvSpPr>
          <p:cNvPr id="11" name="tracker Market Access"/>
          <p:cNvSpPr/>
          <p:nvPr/>
        </p:nvSpPr>
        <p:spPr>
          <a:xfrm>
            <a:off x="10695737" y="365760"/>
            <a:ext cx="944575" cy="237744"/>
          </a:xfrm>
          <a:prstGeom prst="roundRect">
            <a:avLst>
              <a:gd name="adj" fmla="val 50000"/>
            </a:avLst>
          </a:prstGeom>
          <a:solidFill>
            <a:schemeClr val="accent1"/>
          </a:solidFill>
          <a:ln/>
        </p:spPr>
      </p:sp>
      <p:sp>
        <p:nvSpPr>
          <p:cNvPr id="12" name="Text 10"/>
          <p:cNvSpPr txBox="1"/>
          <p:nvPr/>
        </p:nvSpPr>
        <p:spPr>
          <a:xfrm>
            <a:off x="10695737" y="365760"/>
            <a:ext cx="944575" cy="237744"/>
          </a:xfrm>
          <a:prstGeom prst="rect">
            <a:avLst/>
          </a:prstGeom>
          <a:noFill/>
          <a:ln/>
        </p:spPr>
        <p:txBody>
          <a:bodyPr wrap="square" lIns="0" tIns="0" rIns="0" bIns="0" rtlCol="0" anchor="ctr"/>
          <a:lstStyle/>
          <a:p>
            <a:pPr algn="ctr" indent="0" marL="0">
              <a:buNone/>
            </a:pPr>
            <a:r>
              <a:rPr lang="en-US" sz="750" b="1" dirty="0">
                <a:solidFill>
                  <a:schemeClr val="bg1"/>
                </a:solidFill>
              </a:rPr>
              <a:t>Market Access</a:t>
            </a:r>
            <a:endParaRPr lang="en-US" sz="750" dirty="0"/>
          </a:p>
        </p:txBody>
      </p:sp>
      <p:sp>
        <p:nvSpPr>
          <p:cNvPr id="13" name="Text 2"/>
          <p:cNvSpPr/>
          <p:nvPr>
            <p:ph idx="103" type="title" hasCustomPrompt="1"/>
          </p:nvPr>
        </p:nvSpPr>
        <p:spPr>
          <a:xfrm>
            <a:off x="548640" y="640080"/>
            <a:ext cx="11091672" cy="749808"/>
          </a:xfrm>
          <a:prstGeom prst="rect">
            <a:avLst/>
          </a:prstGeom>
          <a:noFill/>
          <a:ln/>
        </p:spPr>
        <p:txBody>
          <a:bodyPr wrap="square" lIns="0" tIns="0" rIns="0" bIns="0" rtlCol="0" anchor="t"/>
          <a:lstStyle/>
          <a:p>
            <a:pPr algn="l" indent="0" marL="0">
              <a:buNone/>
            </a:pPr>
            <a:r>
              <a:rPr lang="en-US" sz="2200" b="1" dirty="0">
                <a:solidFill>
                  <a:schemeClr val="accent1"/>
                </a:solidFill>
              </a:rPr>
              <a:t>Conversational offerings address specific trial operations and pricing questions, not the entire clinical or market-access workflow</a:t>
            </a:r>
            <a:endParaRPr lang="en-US" sz="2200" dirty="0"/>
          </a:p>
        </p:txBody>
      </p:sp>
      <p:sp>
        <p:nvSpPr>
          <p:cNvPr id="14" name="label"/>
          <p:cNvSpPr txBox="1"/>
          <p:nvPr/>
        </p:nvSpPr>
        <p:spPr>
          <a:xfrm>
            <a:off x="548640" y="1481328"/>
            <a:ext cx="11091672" cy="201168"/>
          </a:xfrm>
          <a:prstGeom prst="rect">
            <a:avLst/>
          </a:prstGeom>
          <a:noFill/>
          <a:ln/>
        </p:spPr>
        <p:txBody>
          <a:bodyPr wrap="square" lIns="0" tIns="0" rIns="0" bIns="0" rtlCol="0" anchor="t"/>
          <a:lstStyle/>
          <a:p>
            <a:pPr indent="0" marL="0">
              <a:buNone/>
            </a:pPr>
            <a:r>
              <a:rPr lang="en-US" sz="1000" b="1" spc="100" kern="0" dirty="0">
                <a:solidFill>
                  <a:schemeClr val="accent2"/>
                </a:solidFill>
              </a:rPr>
              <a:t>CLINICAL TRIALS — COMPETITIVE EXAMPLES</a:t>
            </a:r>
            <a:endParaRPr lang="en-US" sz="1000" dirty="0"/>
          </a:p>
        </p:txBody>
      </p:sp>
      <p:graphicFrame>
        <p:nvGraphicFramePr>
          <p:cNvPr id="10" name="task table"/>
          <p:cNvGraphicFramePr>
            <a:graphicFrameLocks noGrp="1"/>
          </p:cNvGraphicFramePr>
          <p:nvPr>
            <p:extLst>
              <p:ext uri="{D42A27DB-BD31-4B8C-83A1-F6EECF244321}">
                <p14:modId xmlns:p14="http://schemas.microsoft.com/office/powerpoint/2010/main" val="1579011935"/>
              </p:ext>
            </p:extLst>
          </p:nvPr>
        </p:nvGraphicFramePr>
        <p:xfrm>
          <a:off x="548640" y="1755648"/>
          <a:ext cx="11091672" cy="914400"/>
        </p:xfrm>
        <a:graphic>
          <a:graphicData uri="http://schemas.openxmlformats.org/drawingml/2006/table">
            <a:tbl>
              <a:tblPr/>
              <a:tblGrid>
                <a:gridCol w="2286000"/>
                <a:gridCol w="5760720"/>
                <a:gridCol w="3044952"/>
              </a:tblGrid>
              <a:tr h="329184">
                <a:tc>
                  <a:txBody>
                    <a:bodyPr/>
                    <a:lstStyle/>
                    <a:p>
                      <a:pPr algn="ctr" indent="0" marL="0">
                        <a:buNone/>
                      </a:pPr>
                      <a:r>
                        <a:rPr lang="en-US" sz="900" b="1" spc="100" kern="0" dirty="0">
                          <a:solidFill>
                            <a:schemeClr val="bg1"/>
                          </a:solidFill>
                        </a:rPr>
                        <a:t>CUSTOMER TASK</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ctr" indent="0" marL="0">
                        <a:buNone/>
                      </a:pPr>
                      <a:r>
                        <a:rPr lang="en-US" sz="900" b="1" spc="100" kern="0" dirty="0">
                          <a:solidFill>
                            <a:schemeClr val="bg1"/>
                          </a:solidFill>
                        </a:rPr>
                        <a:t>CONVERSATIONAL AI OFFERINGS</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ctr" indent="0" marL="0">
                        <a:buNone/>
                      </a:pPr>
                      <a:r>
                        <a:rPr lang="en-US" sz="900" b="1" spc="100" kern="0" dirty="0">
                          <a:solidFill>
                            <a:schemeClr val="bg1"/>
                          </a:solidFill>
                        </a:rPr>
                        <a:t>RELEVANT OPTUM LS OFFERINGS</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r>
              <a:tr h="564811">
                <a:tc>
                  <a:txBody>
                    <a:bodyPr/>
                    <a:lstStyle/>
                    <a:p>
                      <a:pPr algn="ctr" indent="0" marL="0">
                        <a:buNone/>
                      </a:pPr>
                      <a:r>
                        <a:rPr lang="en-US" sz="1050" b="1" dirty="0">
                          <a:solidFill>
                            <a:schemeClr val="accent1"/>
                          </a:solidFill>
                        </a:rPr>
                        <a:t>Trial feasibility, site and investigator identification</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50" dirty="0">
                          <a:solidFill>
                            <a:schemeClr val="tx1"/>
                          </a:solidFill>
                        </a:rPr>
                        <a:t>TriNetX's </a:t>
                      </a:r>
                      <a:pPr indent="0" marL="0">
                        <a:buNone/>
                      </a:pPr>
                      <a:r>
                        <a:rPr lang="en-US" sz="950" b="1" dirty="0">
                          <a:solidFill>
                            <a:schemeClr val="tx1"/>
                          </a:solidFill>
                        </a:rPr>
                        <a:t>Terrain AI Assistant</a:t>
                      </a:r>
                      <a:pPr indent="0" marL="0">
                        <a:buNone/>
                      </a:pPr>
                      <a:r>
                        <a:rPr lang="en-US" sz="950" dirty="0">
                          <a:solidFill>
                            <a:schemeClr val="tx1"/>
                          </a:solidFill>
                        </a:rPr>
                        <a:t>: natural-language questions about trial sites, investigator experience and patient populations</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50" dirty="0">
                          <a:solidFill>
                            <a:schemeClr val="tx1"/>
                          </a:solidFill>
                        </a:rPr>
                        <a:t>Prospector Data Mining Studio; Optum Digital Research Network</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r h="650028">
                <a:tc>
                  <a:txBody>
                    <a:bodyPr/>
                    <a:lstStyle/>
                    <a:p>
                      <a:pPr algn="ctr" indent="0" marL="0">
                        <a:buNone/>
                      </a:pPr>
                      <a:r>
                        <a:rPr lang="en-US" sz="1050" b="1" dirty="0">
                          <a:solidFill>
                            <a:schemeClr val="accent1"/>
                          </a:solidFill>
                        </a:rPr>
                        <a:t>Clinical-trial document operations</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50" dirty="0">
                          <a:solidFill>
                            <a:schemeClr val="tx1"/>
                          </a:solidFill>
                        </a:rPr>
                        <a:t>Taimei's </a:t>
                      </a:r>
                      <a:pPr indent="0" marL="0">
                        <a:buNone/>
                      </a:pPr>
                      <a:r>
                        <a:rPr lang="en-US" sz="950" b="1" dirty="0">
                          <a:solidFill>
                            <a:schemeClr val="tx1"/>
                          </a:solidFill>
                        </a:rPr>
                        <a:t>Wiz-iCTA</a:t>
                      </a:r>
                      <a:pPr indent="0" marL="0">
                        <a:buNone/>
                      </a:pPr>
                      <a:r>
                        <a:rPr lang="en-US" sz="950" dirty="0">
                          <a:solidFill>
                            <a:schemeClr val="tx1"/>
                          </a:solidFill>
                        </a:rPr>
                        <a:t> </a:t>
                      </a:r>
                      <a:pPr indent="0" marL="0">
                        <a:buNone/>
                      </a:pPr>
                      <a:r>
                        <a:rPr lang="en-US" sz="950" dirty="0">
                          <a:solidFill>
                            <a:schemeClr val="tx1"/>
                          </a:solidFill>
                        </a:rPr>
                        <a:t>(China)</a:t>
                      </a:r>
                      <a:pPr indent="0" marL="0">
                        <a:buNone/>
                      </a:pPr>
                      <a:r>
                        <a:rPr lang="en-US" sz="950" dirty="0">
                          <a:solidFill>
                            <a:schemeClr val="tx1"/>
                          </a:solidFill>
                        </a:rPr>
                        <a:t>: conversational assistant supporting trial project teams and document-management work</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50" dirty="0">
                          <a:solidFill>
                            <a:schemeClr val="tx1"/>
                          </a:solidFill>
                        </a:rPr>
                        <a:t>Optum True Source supports clinical-trial source-data capture; a directly equivalent document assistant was not established</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bl>
          </a:graphicData>
        </a:graphic>
      </p:graphicFrame>
      <p:sp>
        <p:nvSpPr>
          <p:cNvPr id="16" name="label"/>
          <p:cNvSpPr txBox="1"/>
          <p:nvPr/>
        </p:nvSpPr>
        <p:spPr>
          <a:xfrm>
            <a:off x="548640" y="3445976"/>
            <a:ext cx="11091672" cy="201168"/>
          </a:xfrm>
          <a:prstGeom prst="rect">
            <a:avLst/>
          </a:prstGeom>
          <a:noFill/>
          <a:ln/>
        </p:spPr>
        <p:txBody>
          <a:bodyPr wrap="square" lIns="0" tIns="0" rIns="0" bIns="0" rtlCol="0" anchor="t"/>
          <a:lstStyle/>
          <a:p>
            <a:pPr indent="0" marL="0">
              <a:buNone/>
            </a:pPr>
            <a:r>
              <a:rPr lang="en-US" sz="1000" b="1" spc="100" kern="0" dirty="0">
                <a:solidFill>
                  <a:schemeClr val="accent2"/>
                </a:solidFill>
              </a:rPr>
              <a:t>MARKET ACCESS — COMPETITIVE EXAMPLES</a:t>
            </a:r>
            <a:endParaRPr lang="en-US" sz="1000" dirty="0"/>
          </a:p>
        </p:txBody>
      </p:sp>
      <p:graphicFrame>
        <p:nvGraphicFramePr>
          <p:cNvPr id="19" name="task table"/>
          <p:cNvGraphicFramePr>
            <a:graphicFrameLocks noGrp="1"/>
          </p:cNvGraphicFramePr>
          <p:nvPr>
            <p:extLst>
              <p:ext uri="{D42A27DB-BD31-4B8C-83A1-F6EECF244321}">
                <p14:modId xmlns:p14="http://schemas.microsoft.com/office/powerpoint/2010/main" val="1579011935"/>
              </p:ext>
            </p:extLst>
          </p:nvPr>
        </p:nvGraphicFramePr>
        <p:xfrm>
          <a:off x="548640" y="3720296"/>
          <a:ext cx="11091672" cy="914400"/>
        </p:xfrm>
        <a:graphic>
          <a:graphicData uri="http://schemas.openxmlformats.org/drawingml/2006/table">
            <a:tbl>
              <a:tblPr/>
              <a:tblGrid>
                <a:gridCol w="2286000"/>
                <a:gridCol w="5760720"/>
                <a:gridCol w="3044952"/>
              </a:tblGrid>
              <a:tr h="329184">
                <a:tc>
                  <a:txBody>
                    <a:bodyPr/>
                    <a:lstStyle/>
                    <a:p>
                      <a:pPr algn="ctr" indent="0" marL="0">
                        <a:buNone/>
                      </a:pPr>
                      <a:r>
                        <a:rPr lang="en-US" sz="900" b="1" spc="100" kern="0" dirty="0">
                          <a:solidFill>
                            <a:schemeClr val="bg1"/>
                          </a:solidFill>
                        </a:rPr>
                        <a:t>CUSTOMER TASK</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ctr" indent="0" marL="0">
                        <a:buNone/>
                      </a:pPr>
                      <a:r>
                        <a:rPr lang="en-US" sz="900" b="1" spc="100" kern="0" dirty="0">
                          <a:solidFill>
                            <a:schemeClr val="bg1"/>
                          </a:solidFill>
                        </a:rPr>
                        <a:t>CONVERSATIONAL AI OFFERINGS</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algn="ctr" indent="0" marL="0">
                        <a:buNone/>
                      </a:pPr>
                      <a:r>
                        <a:rPr lang="en-US" sz="900" b="1" spc="100" kern="0" dirty="0">
                          <a:solidFill>
                            <a:schemeClr val="bg1"/>
                          </a:solidFill>
                        </a:rPr>
                        <a:t>RELEVANT OPTUM LS OFFERINGS</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r>
              <a:tr h="564811">
                <a:tc>
                  <a:txBody>
                    <a:bodyPr/>
                    <a:lstStyle/>
                    <a:p>
                      <a:pPr algn="ctr" indent="0" marL="0">
                        <a:buNone/>
                      </a:pPr>
                      <a:r>
                        <a:rPr lang="en-US" sz="1050" b="1" dirty="0">
                          <a:solidFill>
                            <a:schemeClr val="accent1"/>
                          </a:solidFill>
                        </a:rPr>
                        <a:t>Pharmaceutical pricing and market-access intelligence</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50" dirty="0">
                          <a:solidFill>
                            <a:schemeClr val="tx1"/>
                          </a:solidFill>
                        </a:rPr>
                        <a:t>EVERSANA's </a:t>
                      </a:r>
                      <a:pPr indent="0" marL="0">
                        <a:buNone/>
                      </a:pPr>
                      <a:r>
                        <a:rPr lang="en-US" sz="950" b="1" dirty="0">
                          <a:solidFill>
                            <a:schemeClr val="tx1"/>
                          </a:solidFill>
                        </a:rPr>
                        <a:t>Ask NAVLIN</a:t>
                      </a:r>
                      <a:pPr indent="0" marL="0">
                        <a:buNone/>
                      </a:pPr>
                      <a:r>
                        <a:rPr lang="en-US" sz="950" dirty="0">
                          <a:solidFill>
                            <a:schemeClr val="tx1"/>
                          </a:solidFill>
                        </a:rPr>
                        <a:t>: conversational access to pricing, reimbursement and market-access information</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50" dirty="0">
                          <a:solidFill>
                            <a:schemeClr val="tx1"/>
                          </a:solidFill>
                        </a:rPr>
                        <a:t>Optum HEOR and value evidence; Evidence Engine; health economic and budget impact modeling</a:t>
                      </a:r>
                      <a:endParaRPr lang="en-US" sz="95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bl>
          </a:graphicData>
        </a:graphic>
      </p:graphicFrame>
      <p:sp>
        <p:nvSpPr>
          <p:cNvPr id="18" name="beyond the public evidence card"/>
          <p:cNvSpPr/>
          <p:nvPr/>
        </p:nvSpPr>
        <p:spPr>
          <a:xfrm>
            <a:off x="548640" y="4797171"/>
            <a:ext cx="11091672" cy="1256157"/>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19" name="label"/>
          <p:cNvSpPr txBox="1"/>
          <p:nvPr/>
        </p:nvSpPr>
        <p:spPr>
          <a:xfrm>
            <a:off x="749808" y="4980051"/>
            <a:ext cx="10689336" cy="256032"/>
          </a:xfrm>
          <a:prstGeom prst="rect">
            <a:avLst/>
          </a:prstGeom>
          <a:noFill/>
          <a:ln/>
        </p:spPr>
        <p:txBody>
          <a:bodyPr wrap="square" lIns="0" tIns="0" rIns="0" bIns="0" rtlCol="0" anchor="t"/>
          <a:lstStyle/>
          <a:p>
            <a:pPr indent="0" marL="0">
              <a:buNone/>
            </a:pPr>
            <a:r>
              <a:rPr lang="en-US" sz="1300" b="1" spc="150" kern="0" dirty="0">
                <a:solidFill>
                  <a:schemeClr val="accent2"/>
                </a:solidFill>
              </a:rPr>
              <a:t>BEYOND THE PUBLIC EVIDENCE</a:t>
            </a:r>
            <a:endParaRPr lang="en-US" sz="1300" dirty="0"/>
          </a:p>
        </p:txBody>
      </p:sp>
      <p:sp>
        <p:nvSpPr>
          <p:cNvPr id="20" name="Text 16"/>
          <p:cNvSpPr txBox="1"/>
          <p:nvPr/>
        </p:nvSpPr>
        <p:spPr>
          <a:xfrm>
            <a:off x="749808" y="5309235"/>
            <a:ext cx="10689336" cy="616077"/>
          </a:xfrm>
          <a:prstGeom prst="rect">
            <a:avLst/>
          </a:prstGeom>
          <a:noFill/>
          <a:ln/>
        </p:spPr>
        <p:txBody>
          <a:bodyPr wrap="square" lIns="0" tIns="0" rIns="0" bIns="0" rtlCol="0" anchor="t"/>
          <a:lstStyle/>
          <a:p>
            <a:pPr indent="0" marL="0">
              <a:buNone/>
            </a:pPr>
            <a:r>
              <a:rPr lang="en-US" sz="1050" b="1" dirty="0">
                <a:solidFill>
                  <a:schemeClr val="tx1"/>
                </a:solidFill>
              </a:rPr>
              <a:t>For Clinical Trials, does the interface help identify viable sites, evaluate patients or manage trial documents—and how far does it go?</a:t>
            </a:r>
            <a:endParaRPr lang="en-US" sz="1050" dirty="0"/>
          </a:p>
          <a:p>
            <a:pPr indent="0" marL="0">
              <a:spcBef>
                <a:spcPts val="600"/>
              </a:spcBef>
              <a:buNone/>
            </a:pPr>
            <a:r>
              <a:rPr lang="en-US" sz="1050" b="1" dirty="0">
                <a:solidFill>
                  <a:schemeClr val="tx1"/>
                </a:solidFill>
              </a:rPr>
              <a:t>For Market Access, is the customer asking for pricing intelligence, reimbursement information or new economic evidence? Where do the vendor offerings overlap with Optum LS, and where do they solve a different problem?</a:t>
            </a:r>
            <a:endParaRPr lang="en-US" sz="1050" dirty="0"/>
          </a:p>
        </p:txBody>
      </p:sp>
      <p:sp>
        <p:nvSpPr>
          <p:cNvPr id="25" name="Slide Number Placeholder 0"/>
          <p:cNvSpPr>
            <a:spLocks noGrp="1"/>
          </p:cNvSpPr>
          <p:nvPr>
            <p:ph type="sldNum" sz="quarter" idx="4294967295"/>
          </p:nvPr>
        </p:nvSpPr>
        <p:spPr>
          <a:xfrm>
            <a:off x="10725912" y="6309360"/>
            <a:ext cx="9144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body" hasCustomPrompt="1"/>
          </p:nvPr>
        </p:nvSpPr>
        <p:spPr>
          <a:xfrm>
            <a:off x="548640" y="384048"/>
            <a:ext cx="8229600"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ADDITIONAL COMPETITIVE DYNAMIC: AI SUPPLIERS EXPAND INTO LIFE SCIENCES</a:t>
            </a:r>
            <a:endParaRPr lang="en-US" sz="1000" dirty="0"/>
          </a:p>
        </p:txBody>
      </p:sp>
      <p:sp>
        <p:nvSpPr>
          <p:cNvPr id="3" name="Text 2"/>
          <p:cNvSpPr/>
          <p:nvPr>
            <p:ph idx="103" type="title" hasCustomPrompt="1"/>
          </p:nvPr>
        </p:nvSpPr>
        <p:spPr>
          <a:xfrm>
            <a:off x="548640" y="640080"/>
            <a:ext cx="11091672" cy="749808"/>
          </a:xfrm>
          <a:prstGeom prst="rect">
            <a:avLst/>
          </a:prstGeom>
          <a:noFill/>
          <a:ln/>
        </p:spPr>
        <p:txBody>
          <a:bodyPr wrap="square" lIns="0" tIns="0" rIns="0" bIns="0" rtlCol="0" anchor="t"/>
          <a:lstStyle/>
          <a:p>
            <a:pPr algn="l" indent="0" marL="0">
              <a:buNone/>
            </a:pPr>
            <a:r>
              <a:rPr lang="en-US" sz="2200" b="1" dirty="0">
                <a:solidFill>
                  <a:schemeClr val="accent1"/>
                </a:solidFill>
              </a:rPr>
              <a:t>Conversational AI providers are expanding into pharmaceutical workflows through partnerships, specialized offerings and acquisitions</a:t>
            </a:r>
            <a:endParaRPr lang="en-US" sz="2200" dirty="0"/>
          </a:p>
        </p:txBody>
      </p:sp>
      <p:sp>
        <p:nvSpPr>
          <p:cNvPr id="4" name="label"/>
          <p:cNvSpPr txBox="1"/>
          <p:nvPr/>
        </p:nvSpPr>
        <p:spPr>
          <a:xfrm>
            <a:off x="548640" y="1481328"/>
            <a:ext cx="7315200" cy="201168"/>
          </a:xfrm>
          <a:prstGeom prst="rect">
            <a:avLst/>
          </a:prstGeom>
          <a:noFill/>
          <a:ln/>
        </p:spPr>
        <p:txBody>
          <a:bodyPr wrap="square" lIns="0" tIns="0" rIns="0" bIns="0" rtlCol="0" anchor="t"/>
          <a:lstStyle/>
          <a:p>
            <a:pPr indent="0" marL="0">
              <a:buNone/>
            </a:pPr>
            <a:r>
              <a:rPr lang="en-US" sz="1000" b="1" spc="100" kern="0" dirty="0">
                <a:solidFill>
                  <a:schemeClr val="accent2"/>
                </a:solidFill>
              </a:rPr>
              <a:t>THREE OBSERVED APPROACHES TO ENTERING LIFE SCIENCES</a:t>
            </a:r>
            <a:endParaRPr lang="en-US" sz="1000" dirty="0"/>
          </a:p>
        </p:txBody>
      </p:sp>
      <p:graphicFrame>
        <p:nvGraphicFramePr>
          <p:cNvPr id="11" name="task table"/>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914400"/>
        </p:xfrm>
        <a:graphic>
          <a:graphicData uri="http://schemas.openxmlformats.org/drawingml/2006/table">
            <a:tbl>
              <a:tblPr/>
              <a:tblGrid>
                <a:gridCol w="1965960"/>
                <a:gridCol w="5349240"/>
                <a:gridCol w="3776472"/>
              </a:tblGrid>
              <a:tr h="402336">
                <a:tc>
                  <a:txBody>
                    <a:bodyPr/>
                    <a:lstStyle/>
                    <a:p>
                      <a:pPr indent="0" marL="0">
                        <a:buNone/>
                      </a:pPr>
                      <a:r>
                        <a:rPr lang="en-US" sz="900" b="1" spc="100" kern="0" dirty="0">
                          <a:solidFill>
                            <a:schemeClr val="bg1"/>
                          </a:solidFill>
                        </a:rPr>
                        <a:t>AI SUPPLIER APPROACH</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indent="0" marL="0">
                        <a:buNone/>
                      </a:pPr>
                      <a:r>
                        <a:rPr lang="en-US" sz="900" b="1" spc="100" kern="0" dirty="0">
                          <a:solidFill>
                            <a:schemeClr val="bg1"/>
                          </a:solidFill>
                        </a:rPr>
                        <a:t>SELECTED PUBLIC DEVELOPMENTS</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indent="0" marL="0">
                        <a:buNone/>
                      </a:pPr>
                      <a:r>
                        <a:rPr lang="en-US" sz="900" b="1" spc="100" kern="0" dirty="0">
                          <a:solidFill>
                            <a:schemeClr val="bg1"/>
                          </a:solidFill>
                        </a:rPr>
                        <a:t>COMPETITIVE SIGNIFICANCE FOR OPTUM LS</a:t>
                      </a:r>
                      <a:endParaRPr lang="en-US" sz="900" dirty="0"/>
                    </a:p>
                  </a:txBody>
                  <a:tcPr marL="109728" marR="109728" marT="64008" marB="64008" anchor="ctr">
                    <a:lnL w="0" cap="flat" cmpd="sng" algn="ctr">
                      <a:noFill/>
                    </a:lnL>
                    <a:lnR w="0" cap="flat" cmpd="sng" algn="ctr">
                      <a:noFill/>
                    </a:lnR>
                    <a:lnT w="0" cap="flat" cmpd="sng" algn="ctr">
                      <a:noFill/>
                    </a:lnT>
                    <a:lnB w="0" cap="flat" cmpd="sng" algn="ctr">
                      <a:noFill/>
                    </a:lnB>
                    <a:solidFill>
                      <a:schemeClr val="accent1"/>
                    </a:solidFill>
                  </a:tcPr>
                </a:tc>
              </a:tr>
              <a:tr h="850392">
                <a:tc>
                  <a:txBody>
                    <a:bodyPr/>
                    <a:lstStyle/>
                    <a:p>
                      <a:pPr algn="l" indent="0" marL="0">
                        <a:buNone/>
                      </a:pPr>
                      <a:r>
                        <a:rPr lang="en-US" sz="1050" b="1" dirty="0">
                          <a:solidFill>
                            <a:schemeClr val="accent1"/>
                          </a:solidFill>
                        </a:rPr>
                        <a:t>Partner with established life-sciences vendors</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900" b="1" dirty="0">
                          <a:solidFill>
                            <a:schemeClr val="tx1"/>
                          </a:solidFill>
                        </a:rPr>
                        <a:t>Anthropic + Komodo Health:</a:t>
                      </a:r>
                      <a:pPr indent="0" marL="0">
                        <a:buNone/>
                      </a:pPr>
                      <a:r>
                        <a:rPr lang="en-US" sz="900" dirty="0">
                          <a:solidFill>
                            <a:schemeClr val="tx1"/>
                          </a:solidFill>
                        </a:rPr>
                        <a:t> A documented partnership supporting AI-enabled healthcare analytics;</a:t>
                      </a:r>
                      <a:endParaRPr lang="en-US" sz="900" dirty="0"/>
                    </a:p>
                    <a:p>
                      <a:pPr indent="0" marL="0">
                        <a:spcBef>
                          <a:spcPts val="400"/>
                        </a:spcBef>
                        <a:buNone/>
                      </a:pPr>
                      <a:r>
                        <a:rPr lang="en-US" sz="900" b="1" dirty="0">
                          <a:solidFill>
                            <a:schemeClr val="tx1"/>
                          </a:solidFill>
                        </a:rPr>
                        <a:t>Anthropic + Veeva:</a:t>
                      </a:r>
                      <a:pPr indent="0" marL="0">
                        <a:buNone/>
                      </a:pPr>
                      <a:r>
                        <a:rPr lang="en-US" sz="900" dirty="0">
                          <a:solidFill>
                            <a:schemeClr val="tx1"/>
                          </a:solidFill>
                        </a:rPr>
                        <a:t> Claude incorporated into Veeva's industry-specific AI offerings;</a:t>
                      </a:r>
                      <a:endParaRPr lang="en-US" sz="900" dirty="0"/>
                    </a:p>
                    <a:p>
                      <a:pPr indent="0" marL="0">
                        <a:spcBef>
                          <a:spcPts val="400"/>
                        </a:spcBef>
                        <a:buNone/>
                      </a:pPr>
                      <a:r>
                        <a:rPr lang="en-US" sz="900" b="1" dirty="0">
                          <a:solidFill>
                            <a:schemeClr val="tx1"/>
                          </a:solidFill>
                        </a:rPr>
                        <a:t>AWS + Datavant:</a:t>
                      </a:r>
                      <a:pPr indent="0" marL="0">
                        <a:buNone/>
                      </a:pPr>
                      <a:r>
                        <a:rPr lang="en-US" sz="900" dirty="0">
                          <a:solidFill>
                            <a:schemeClr val="tx1"/>
                          </a:solidFill>
                        </a:rPr>
                        <a:t> Explore Assistant, publicly described in February 2026, uses Bedrock and AWS Clean Rooms to support natural-language assessment of healthcare datasets and research feasibility.</a:t>
                      </a:r>
                      <a:endParaRPr lang="en-US" sz="900" dirty="0"/>
                    </a:p>
                  </a:txBody>
                  <a:tcPr marL="109728" marR="109728" marT="64008" marB="64008" anchor="ctr">
                    <a:lnL w="0" cap="flat" cmpd="sng" algn="ctr">
                      <a:noFill/>
                    </a:lnL>
                    <a:lnR w="0" cap="flat" cmpd="sng" algn="ctr">
                      <a:noFill/>
                    </a:lnR>
                    <a:lnT w="0" cap="flat" cmpd="sng" algn="ctr">
                      <a:noFill/>
                    </a:lnT>
                    <a:lnB w="19050" cap="flat" cmpd="sng" algn="ctr">
                      <a:solidFill>
                        <a:srgbClr val="002677"/>
                      </a:solidFill>
                      <a:prstDash val="solid"/>
                      <a:round/>
                      <a:headEnd type="none" w="med" len="med"/>
                      <a:tailEnd type="none" w="med" len="med"/>
                    </a:lnB>
                  </a:tcPr>
                </a:tc>
                <a:tc>
                  <a:txBody>
                    <a:bodyPr/>
                    <a:lstStyle/>
                    <a:p>
                      <a:pPr indent="0" marL="0">
                        <a:buNone/>
                      </a:pPr>
                      <a:r>
                        <a:rPr lang="en-US" sz="900" dirty="0">
                          <a:solidFill>
                            <a:schemeClr val="tx1"/>
                          </a:solidFill>
                        </a:rPr>
                        <a:t>Conversational AI providers can contribute underlying technology to existing life-sciences platforms while those companies retain specialized data, applications and customer relationships. Komodo and Veeva already appear in our competitive analysis.</a:t>
                      </a:r>
                      <a:endParaRPr lang="en-US" sz="900" dirty="0"/>
                    </a:p>
                  </a:txBody>
                  <a:tcPr marL="109728" marR="109728" marT="64008" marB="64008" anchor="ctr">
                    <a:lnL w="0" cap="flat" cmpd="sng" algn="ctr">
                      <a:noFill/>
                    </a:lnL>
                    <a:lnR w="0" cap="flat" cmpd="sng" algn="ctr">
                      <a:noFill/>
                    </a:lnR>
                    <a:lnT w="0" cap="flat" cmpd="sng" algn="ctr">
                      <a:noFill/>
                    </a:lnT>
                    <a:lnB w="19050" cap="flat" cmpd="sng" algn="ctr">
                      <a:solidFill>
                        <a:srgbClr val="002677"/>
                      </a:solidFill>
                      <a:prstDash val="solid"/>
                      <a:round/>
                      <a:headEnd type="none" w="med" len="med"/>
                      <a:tailEnd type="none" w="med" len="med"/>
                    </a:lnB>
                  </a:tcPr>
                </a:tc>
              </a:tr>
              <a:tr h="880110">
                <a:tc>
                  <a:txBody>
                    <a:bodyPr/>
                    <a:lstStyle/>
                    <a:p>
                      <a:pPr algn="l" indent="0" marL="0">
                        <a:buNone/>
                      </a:pPr>
                      <a:r>
                        <a:rPr lang="en-US" sz="1050" b="1" dirty="0">
                          <a:solidFill>
                            <a:schemeClr val="bg1"/>
                          </a:solidFill>
                        </a:rPr>
                        <a:t>Develop their own life-sciences-specific products and tools</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1"/>
                    </a:solidFill>
                  </a:tcPr>
                </a:tc>
                <a:tc>
                  <a:txBody>
                    <a:bodyPr/>
                    <a:lstStyle/>
                    <a:p>
                      <a:pPr indent="0" marL="0">
                        <a:buNone/>
                      </a:pPr>
                      <a:r>
                        <a:rPr lang="en-US" sz="900" b="1" dirty="0">
                          <a:solidFill>
                            <a:schemeClr val="tx1"/>
                          </a:solidFill>
                        </a:rPr>
                        <a:t>Anthropic's Claude for Life Sciences:</a:t>
                      </a:r>
                      <a:pPr indent="0" marL="0">
                        <a:buNone/>
                      </a:pPr>
                      <a:r>
                        <a:rPr lang="en-US" sz="900" dirty="0">
                          <a:solidFill>
                            <a:schemeClr val="tx1"/>
                          </a:solidFill>
                        </a:rPr>
                        <a:t> Specialized scientific tools and integrations supporting research, clinical trials and regulatory workflows;</a:t>
                      </a:r>
                      <a:endParaRPr lang="en-US" sz="900" dirty="0"/>
                    </a:p>
                    <a:p>
                      <a:pPr indent="0" marL="0">
                        <a:spcBef>
                          <a:spcPts val="400"/>
                        </a:spcBef>
                        <a:buNone/>
                      </a:pPr>
                      <a:r>
                        <a:rPr lang="en-US" sz="900" b="1" dirty="0">
                          <a:solidFill>
                            <a:schemeClr val="tx1"/>
                          </a:solidFill>
                        </a:rPr>
                        <a:t>OpenAI's GPT-Rosalind:</a:t>
                      </a:r>
                      <a:pPr indent="0" marL="0">
                        <a:buNone/>
                      </a:pPr>
                      <a:r>
                        <a:rPr lang="en-US" sz="900" dirty="0">
                          <a:solidFill>
                            <a:schemeClr val="tx1"/>
                          </a:solidFill>
                        </a:rPr>
                        <a:t> A purpose-built model for biology, drug discovery and translational research, with access expanded to eligible organizations in September 2026.</a:t>
                      </a:r>
                      <a:endParaRPr lang="en-US" sz="90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00" dirty="0">
                          <a:solidFill>
                            <a:schemeClr val="tx1"/>
                          </a:solidFill>
                        </a:rPr>
                        <a:t>Rather than acting only as technology suppliers, conversational AI providers are building offerings aimed more directly at life-sciences users. These products are not necessarily direct substitutes for Optum LS's RWE and healthcare-data offerings, but they illustrate potential expansion into adjacent customer workflows.</a:t>
                      </a:r>
                      <a:endParaRPr lang="en-US" sz="90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r h="740664">
                <a:tc>
                  <a:txBody>
                    <a:bodyPr/>
                    <a:lstStyle/>
                    <a:p>
                      <a:pPr algn="l" indent="0" marL="0">
                        <a:buNone/>
                      </a:pPr>
                      <a:r>
                        <a:rPr lang="en-US" sz="1050" b="1" dirty="0">
                          <a:solidFill>
                            <a:schemeClr val="bg1"/>
                          </a:solidFill>
                        </a:rPr>
                        <a:t>Acquire specialized life-sciences capabilities</a:t>
                      </a:r>
                      <a:endParaRPr lang="en-US" sz="1050" dirty="0"/>
                    </a:p>
                  </a:txBody>
                  <a:tcPr marL="109728" marR="109728" marT="64008" marB="64008" anchor="ctr">
                    <a:lnL w="0" cap="flat" cmpd="sng" algn="ctr">
                      <a:noFill/>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1"/>
                    </a:solidFill>
                  </a:tcPr>
                </a:tc>
                <a:tc>
                  <a:txBody>
                    <a:bodyPr/>
                    <a:lstStyle/>
                    <a:p>
                      <a:pPr indent="0" marL="0">
                        <a:buNone/>
                      </a:pPr>
                      <a:r>
                        <a:rPr lang="en-US" sz="900" b="1" dirty="0">
                          <a:solidFill>
                            <a:schemeClr val="tx1"/>
                          </a:solidFill>
                        </a:rPr>
                        <a:t>Cohere + Reliant AI:</a:t>
                      </a:r>
                      <a:pPr indent="0" marL="0">
                        <a:buNone/>
                      </a:pPr>
                      <a:r>
                        <a:rPr lang="en-US" sz="900" dirty="0">
                          <a:solidFill>
                            <a:schemeClr val="tx1"/>
                          </a:solidFill>
                        </a:rPr>
                        <a:t> In May 2026, Cohere acquired a biopharma AI company offering literature review, competitive landscaping and scientific/regulatory information extraction. The acquisition supports development of North for Pharma, a planned specialized agentic offering.</a:t>
                      </a:r>
                      <a:endParaRPr lang="en-US" sz="90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c>
                  <a:txBody>
                    <a:bodyPr/>
                    <a:lstStyle/>
                    <a:p>
                      <a:pPr indent="0" marL="0">
                        <a:buNone/>
                      </a:pPr>
                      <a:r>
                        <a:rPr lang="en-US" sz="900" dirty="0">
                          <a:solidFill>
                            <a:schemeClr val="tx1"/>
                          </a:solidFill>
                        </a:rPr>
                        <a:t>Acquisitions provide another way for conversational AI providers to obtain industry-specific technology, expertise and pharmaceutical customer relationships—potentially strengthening their ability to supply or compete with established life-sciences platforms.</a:t>
                      </a:r>
                      <a:endParaRPr lang="en-US" sz="900" dirty="0"/>
                    </a:p>
                  </a:txBody>
                  <a:tcPr marL="109728" marR="109728" marT="64008" marB="64008" anchor="ctr">
                    <a:lnL w="0" cap="flat" cmpd="sng" algn="ctr">
                      <a:noFill/>
                    </a:lnL>
                    <a:lnR w="0" cap="flat" cmpd="sng" algn="ctr">
                      <a:noFill/>
                    </a:lnR>
                    <a:lnT w="0" cap="flat" cmpd="sng" algn="ctr">
                      <a:noFill/>
                    </a:lnT>
                    <a:lnB w="9525" cap="flat" cmpd="sng" algn="ctr">
                      <a:solidFill>
                        <a:srgbClr val="D9D4C7"/>
                      </a:solidFill>
                      <a:prstDash val="solid"/>
                      <a:round/>
                      <a:headEnd type="none" w="med" len="med"/>
                      <a:tailEnd type="none" w="med" len="med"/>
                    </a:lnB>
                  </a:tcPr>
                </a:tc>
              </a:tr>
            </a:tbl>
          </a:graphicData>
        </a:graphic>
      </p:graphicFrame>
      <p:sp>
        <p:nvSpPr>
          <p:cNvPr id="6" name="strategic question card"/>
          <p:cNvSpPr/>
          <p:nvPr/>
        </p:nvSpPr>
        <p:spPr>
          <a:xfrm>
            <a:off x="548640" y="4738878"/>
            <a:ext cx="11091672" cy="1387602"/>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7" name="icon circle"/>
          <p:cNvSpPr/>
          <p:nvPr/>
        </p:nvSpPr>
        <p:spPr>
          <a:xfrm>
            <a:off x="749808" y="4812030"/>
            <a:ext cx="402336" cy="402336"/>
          </a:xfrm>
          <a:prstGeom prst="ellipse">
            <a:avLst/>
          </a:prstGeom>
          <a:solidFill>
            <a:schemeClr val="accent5"/>
          </a:solidFill>
          <a:ln/>
        </p:spPr>
      </p:sp>
      <p:pic>
        <p:nvPicPr>
          <p:cNvPr id="8" name="icon MdOutlineLightbulb" descr="preencoded.png">    </p:cNvPr>
          <p:cNvPicPr>
            <a:picLocks noChangeAspect="1"/>
          </p:cNvPicPr>
          <p:nvPr/>
        </p:nvPicPr>
        <p:blipFill>
          <a:blip r:embed="rId1"/>
          <a:stretch>
            <a:fillRect/>
          </a:stretch>
        </p:blipFill>
        <p:spPr>
          <a:xfrm>
            <a:off x="838322" y="4900544"/>
            <a:ext cx="225308" cy="225308"/>
          </a:xfrm>
          <a:prstGeom prst="rect">
            <a:avLst/>
          </a:prstGeom>
        </p:spPr>
      </p:pic>
      <p:sp>
        <p:nvSpPr>
          <p:cNvPr id="9" name="label"/>
          <p:cNvSpPr txBox="1"/>
          <p:nvPr/>
        </p:nvSpPr>
        <p:spPr>
          <a:xfrm>
            <a:off x="1280160" y="4812030"/>
            <a:ext cx="7315200" cy="402336"/>
          </a:xfrm>
          <a:prstGeom prst="rect">
            <a:avLst/>
          </a:prstGeom>
          <a:noFill/>
          <a:ln/>
        </p:spPr>
        <p:txBody>
          <a:bodyPr wrap="square" lIns="0" tIns="0" rIns="0" bIns="0" rtlCol="0" anchor="ctr"/>
          <a:lstStyle/>
          <a:p>
            <a:pPr indent="0" marL="0">
              <a:buNone/>
            </a:pPr>
            <a:r>
              <a:rPr lang="en-US" sz="1300" b="1" spc="150" kern="0" dirty="0">
                <a:solidFill>
                  <a:schemeClr val="accent2"/>
                </a:solidFill>
              </a:rPr>
              <a:t>STRATEGIC QUESTIONS FOR OPTUM LS</a:t>
            </a:r>
            <a:endParaRPr lang="en-US" sz="1300" dirty="0"/>
          </a:p>
        </p:txBody>
      </p:sp>
      <p:sp>
        <p:nvSpPr>
          <p:cNvPr id="10" name="Text 6"/>
          <p:cNvSpPr txBox="1"/>
          <p:nvPr/>
        </p:nvSpPr>
        <p:spPr>
          <a:xfrm>
            <a:off x="1280160" y="5287518"/>
            <a:ext cx="10131552" cy="777240"/>
          </a:xfrm>
          <a:prstGeom prst="rect">
            <a:avLst/>
          </a:prstGeom>
          <a:noFill/>
          <a:ln/>
        </p:spPr>
        <p:txBody>
          <a:bodyPr wrap="square" lIns="0" tIns="0" rIns="0" bIns="0" rtlCol="0" anchor="t"/>
          <a:lstStyle/>
          <a:p>
            <a:pPr indent="0" marL="0">
              <a:buNone/>
            </a:pPr>
            <a:r>
              <a:rPr lang="en-US" sz="1100" b="1" dirty="0">
                <a:solidFill>
                  <a:schemeClr val="accent1"/>
                </a:solidFill>
              </a:rPr>
              <a:t>As conversational AI providers expand beyond supplying general-purpose models, where will they remain technology partners to established life-sciences vendors—and where might they increasingly compete for the same pharmaceutical customers and workflows?</a:t>
            </a:r>
            <a:endParaRPr lang="en-US" sz="1100" dirty="0"/>
          </a:p>
          <a:p>
            <a:pPr indent="0" marL="0">
              <a:spcBef>
                <a:spcPts val="600"/>
              </a:spcBef>
              <a:buNone/>
            </a:pPr>
            <a:r>
              <a:rPr lang="en-US" sz="1100" b="1" dirty="0">
                <a:solidFill>
                  <a:schemeClr val="accent1"/>
                </a:solidFill>
              </a:rPr>
              <a:t>What could these developments mean for the competitive positions of companies whose offerings combine differentiated healthcare data, research tools and scientific expertise?</a:t>
            </a:r>
            <a:endParaRPr lang="en-US" sz="1100" dirty="0"/>
          </a:p>
        </p:txBody>
      </p:sp>
      <p:sp>
        <p:nvSpPr>
          <p:cNvPr id="25" name="Slide Number Placeholder 0"/>
          <p:cNvSpPr>
            <a:spLocks noGrp="1"/>
          </p:cNvSpPr>
          <p:nvPr>
            <p:ph type="sldNum" sz="quarter" idx="4294967295"/>
          </p:nvPr>
        </p:nvSpPr>
        <p:spPr>
          <a:xfrm>
            <a:off x="10725912" y="6309360"/>
            <a:ext cx="9144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body" hasCustomPrompt="1"/>
          </p:nvPr>
        </p:nvSpPr>
        <p:spPr>
          <a:xfrm>
            <a:off x="548640" y="384048"/>
            <a:ext cx="8229600"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METHODOLOGY NOTES</a:t>
            </a:r>
            <a:endParaRPr lang="en-US" sz="1000" dirty="0"/>
          </a:p>
        </p:txBody>
      </p:sp>
      <p:sp>
        <p:nvSpPr>
          <p:cNvPr id="3" name="slide 1 — evidence boundary"/>
          <p:cNvSpPr/>
          <p:nvPr/>
        </p:nvSpPr>
        <p:spPr>
          <a:xfrm>
            <a:off x="548640" y="822960"/>
            <a:ext cx="3587496" cy="2171700"/>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4" name="label"/>
          <p:cNvSpPr txBox="1"/>
          <p:nvPr/>
        </p:nvSpPr>
        <p:spPr>
          <a:xfrm>
            <a:off x="731520" y="969264"/>
            <a:ext cx="3221736"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SLIDE 1 — EVIDENCE BOUNDARY</a:t>
            </a:r>
            <a:endParaRPr lang="en-US" sz="1000" dirty="0"/>
          </a:p>
        </p:txBody>
      </p:sp>
      <p:sp>
        <p:nvSpPr>
          <p:cNvPr id="5" name="Text 3"/>
          <p:cNvSpPr txBox="1"/>
          <p:nvPr/>
        </p:nvSpPr>
        <p:spPr>
          <a:xfrm>
            <a:off x="731520" y="1243584"/>
            <a:ext cx="3221736" cy="1677924"/>
          </a:xfrm>
          <a:prstGeom prst="rect">
            <a:avLst/>
          </a:prstGeom>
          <a:noFill/>
          <a:ln/>
        </p:spPr>
        <p:txBody>
          <a:bodyPr wrap="square" lIns="0" tIns="0" rIns="0" bIns="0" rtlCol="0" anchor="t"/>
          <a:lstStyle/>
          <a:p>
            <a:pPr indent="0" marL="0">
              <a:buNone/>
            </a:pPr>
            <a:r>
              <a:rPr lang="en-US" sz="1000" dirty="0">
                <a:solidFill>
                  <a:schemeClr val="tx1"/>
                </a:solidFill>
              </a:rPr>
              <a:t>Public product marketing and announcements reviewed as of October 13, 2026. The findings describe selected screened inventories—not a market census, adoption rates, verified product performance or undisclosed capabilities.</a:t>
            </a:r>
            <a:endParaRPr lang="en-US" sz="1000" dirty="0"/>
          </a:p>
        </p:txBody>
      </p:sp>
      <p:sp>
        <p:nvSpPr>
          <p:cNvPr id="6" name="slide 2 — evidence boundary"/>
          <p:cNvSpPr/>
          <p:nvPr/>
        </p:nvSpPr>
        <p:spPr>
          <a:xfrm>
            <a:off x="4300728" y="822960"/>
            <a:ext cx="3587496" cy="2171700"/>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7" name="label"/>
          <p:cNvSpPr txBox="1"/>
          <p:nvPr/>
        </p:nvSpPr>
        <p:spPr>
          <a:xfrm>
            <a:off x="4483608" y="969264"/>
            <a:ext cx="3221736"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SLIDE 2 — EVIDENCE BOUNDARY</a:t>
            </a:r>
            <a:endParaRPr lang="en-US" sz="1000" dirty="0"/>
          </a:p>
        </p:txBody>
      </p:sp>
      <p:sp>
        <p:nvSpPr>
          <p:cNvPr id="8" name="Text 6"/>
          <p:cNvSpPr txBox="1"/>
          <p:nvPr/>
        </p:nvSpPr>
        <p:spPr>
          <a:xfrm>
            <a:off x="4483608" y="1243584"/>
            <a:ext cx="3221736" cy="1677924"/>
          </a:xfrm>
          <a:prstGeom prst="rect">
            <a:avLst/>
          </a:prstGeom>
          <a:noFill/>
          <a:ln/>
        </p:spPr>
        <p:txBody>
          <a:bodyPr wrap="square" lIns="0" tIns="0" rIns="0" bIns="0" rtlCol="0" anchor="t"/>
          <a:lstStyle/>
          <a:p>
            <a:pPr indent="0" marL="0">
              <a:buNone/>
            </a:pPr>
            <a:r>
              <a:rPr lang="en-US" sz="1000" dirty="0">
                <a:solidFill>
                  <a:schemeClr val="tx1"/>
                </a:solidFill>
              </a:rPr>
              <a:t>Dates reflect selected public announcements or releases, not necessarily first feature availability. The timeline illustrates a research catalyst, not measured market-wide growth. AI-enabled or agentic launches are not automatically qualifying conversational products; the Norstella example is excluded from the final conversational count.</a:t>
            </a:r>
            <a:endParaRPr lang="en-US" sz="1000" dirty="0"/>
          </a:p>
        </p:txBody>
      </p:sp>
      <p:sp>
        <p:nvSpPr>
          <p:cNvPr id="9" name="slide 3 — methodology note"/>
          <p:cNvSpPr/>
          <p:nvPr/>
        </p:nvSpPr>
        <p:spPr>
          <a:xfrm>
            <a:off x="8052816" y="822960"/>
            <a:ext cx="3587496" cy="2171700"/>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10" name="label"/>
          <p:cNvSpPr txBox="1"/>
          <p:nvPr/>
        </p:nvSpPr>
        <p:spPr>
          <a:xfrm>
            <a:off x="8235696" y="969264"/>
            <a:ext cx="3221736"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SLIDE 3 — METHODOLOGY NOTE</a:t>
            </a:r>
            <a:endParaRPr lang="en-US" sz="1000" dirty="0"/>
          </a:p>
        </p:txBody>
      </p:sp>
      <p:sp>
        <p:nvSpPr>
          <p:cNvPr id="11" name="Text 9"/>
          <p:cNvSpPr txBox="1"/>
          <p:nvPr/>
        </p:nvSpPr>
        <p:spPr>
          <a:xfrm>
            <a:off x="8235696" y="1243584"/>
            <a:ext cx="3221736" cy="1677924"/>
          </a:xfrm>
          <a:prstGeom prst="rect">
            <a:avLst/>
          </a:prstGeom>
          <a:noFill/>
          <a:ln/>
        </p:spPr>
        <p:txBody>
          <a:bodyPr wrap="square" lIns="0" tIns="0" rIns="0" bIns="0" rtlCol="0" anchor="t"/>
          <a:lstStyle/>
          <a:p>
            <a:pPr indent="0" marL="0">
              <a:buNone/>
            </a:pPr>
            <a:r>
              <a:rPr lang="en-US" sz="1000" dirty="0">
                <a:solidFill>
                  <a:schemeClr val="tx1"/>
                </a:solidFill>
              </a:rPr>
              <a:t>Comparable competitors include </a:t>
            </a:r>
            <a:pPr indent="0" marL="0">
              <a:buNone/>
            </a:pPr>
            <a:r>
              <a:rPr lang="en-US" sz="1000" b="1" dirty="0">
                <a:solidFill>
                  <a:schemeClr val="tx1"/>
                </a:solidFill>
              </a:rPr>
              <a:t>direct and specialized/partial offering-level competitors</a:t>
            </a:r>
            <a:pPr indent="0" marL="0">
              <a:buNone/>
            </a:pPr>
            <a:r>
              <a:rPr lang="en-US" sz="1000" dirty="0">
                <a:solidFill>
                  <a:schemeClr val="tx1"/>
                </a:solidFill>
              </a:rPr>
              <a:t> serving similar customer tasks; adjacent participants are excluded. Counts represent distinct company groups per workflow, not product totals. A company may appear in multiple workflows. Optum's ○ indicates that a qualifying conversational interface was </a:t>
            </a:r>
            <a:pPr indent="0" marL="0">
              <a:buNone/>
            </a:pPr>
            <a:r>
              <a:rPr lang="en-US" sz="1000" i="1" dirty="0">
                <a:solidFill>
                  <a:schemeClr val="tx1"/>
                </a:solidFill>
              </a:rPr>
              <a:t>not publicly established in this review</a:t>
            </a:r>
            <a:pPr indent="0" marL="0">
              <a:buNone/>
            </a:pPr>
            <a:r>
              <a:rPr lang="en-US" sz="1000" dirty="0">
                <a:solidFill>
                  <a:schemeClr val="tx1"/>
                </a:solidFill>
              </a:rPr>
              <a:t>, not that the capability is absent. These are selected screened companies, not market-wide adoption rates.</a:t>
            </a:r>
            <a:endParaRPr lang="en-US" sz="1000" dirty="0"/>
          </a:p>
        </p:txBody>
      </p:sp>
      <p:sp>
        <p:nvSpPr>
          <p:cNvPr id="12" name="slide 4 — india reconciliation"/>
          <p:cNvSpPr/>
          <p:nvPr/>
        </p:nvSpPr>
        <p:spPr>
          <a:xfrm>
            <a:off x="548640" y="3159252"/>
            <a:ext cx="3587496" cy="2171700"/>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13" name="label"/>
          <p:cNvSpPr txBox="1"/>
          <p:nvPr/>
        </p:nvSpPr>
        <p:spPr>
          <a:xfrm>
            <a:off x="731520" y="3305556"/>
            <a:ext cx="3221736"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SLIDE 4 — INDIA RECONCILIATION</a:t>
            </a:r>
            <a:endParaRPr lang="en-US" sz="1000" dirty="0"/>
          </a:p>
        </p:txBody>
      </p:sp>
      <p:sp>
        <p:nvSpPr>
          <p:cNvPr id="14" name="Text 12"/>
          <p:cNvSpPr txBox="1"/>
          <p:nvPr/>
        </p:nvSpPr>
        <p:spPr>
          <a:xfrm>
            <a:off x="731520" y="3579876"/>
            <a:ext cx="3221736" cy="1677924"/>
          </a:xfrm>
          <a:prstGeom prst="rect">
            <a:avLst/>
          </a:prstGeom>
          <a:noFill/>
          <a:ln/>
        </p:spPr>
        <p:txBody>
          <a:bodyPr wrap="square" lIns="0" tIns="0" rIns="0" bIns="0" rtlCol="0" anchor="t"/>
          <a:lstStyle/>
          <a:p>
            <a:pPr indent="0" marL="0">
              <a:buNone/>
            </a:pPr>
            <a:r>
              <a:rPr lang="en-US" sz="1000" dirty="0">
                <a:solidFill>
                  <a:schemeClr val="tx1"/>
                </a:solidFill>
              </a:rPr>
              <a:t>Of 37 screened companies, 36 qualify as direct/specialized comparators in at least one of the five decision workflows; excluding four companies already represented in the qualifying U.S. chat cohort leaves 32. Three additional chat-marketing companies qualify: Axtria, Doceree and Genpact. Company presence in an India screen does not prove the specific product is available or deployed in India.</a:t>
            </a:r>
            <a:endParaRPr lang="en-US" sz="1000" dirty="0"/>
          </a:p>
        </p:txBody>
      </p:sp>
      <p:sp>
        <p:nvSpPr>
          <p:cNvPr id="15" name="slide 4 — evidence boundary"/>
          <p:cNvSpPr/>
          <p:nvPr/>
        </p:nvSpPr>
        <p:spPr>
          <a:xfrm>
            <a:off x="4300728" y="3159252"/>
            <a:ext cx="3587496" cy="2171700"/>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16" name="label"/>
          <p:cNvSpPr txBox="1"/>
          <p:nvPr/>
        </p:nvSpPr>
        <p:spPr>
          <a:xfrm>
            <a:off x="4483608" y="3305556"/>
            <a:ext cx="3221736"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SLIDE 4 — EVIDENCE BOUNDARY</a:t>
            </a:r>
            <a:endParaRPr lang="en-US" sz="1000" dirty="0"/>
          </a:p>
        </p:txBody>
      </p:sp>
      <p:sp>
        <p:nvSpPr>
          <p:cNvPr id="17" name="Text 15"/>
          <p:cNvSpPr txBox="1"/>
          <p:nvPr/>
        </p:nvSpPr>
        <p:spPr>
          <a:xfrm>
            <a:off x="4483608" y="3579876"/>
            <a:ext cx="3221736" cy="1677924"/>
          </a:xfrm>
          <a:prstGeom prst="rect">
            <a:avLst/>
          </a:prstGeom>
          <a:noFill/>
          <a:ln/>
        </p:spPr>
        <p:txBody>
          <a:bodyPr wrap="square" lIns="0" tIns="0" rIns="0" bIns="0" rtlCol="0" anchor="t"/>
          <a:lstStyle/>
          <a:p>
            <a:pPr indent="0" marL="0">
              <a:buNone/>
            </a:pPr>
            <a:r>
              <a:rPr lang="en-US" sz="1000" dirty="0">
                <a:solidFill>
                  <a:schemeClr val="tx1"/>
                </a:solidFill>
              </a:rPr>
              <a:t>Selected country/region screens differ in research depth and company composition and are not representative national market samples. The Nordics screen groups Denmark, Finland, Norway and Sweden. A multinational may appear in multiple country screens; the counts are not additive across countries. A globally marketed product does not establish locally verified use. Percentages show shares within screened comparable companies, not regional adoption, customer penetration or product deployment rates.</a:t>
            </a:r>
            <a:endParaRPr lang="en-US" sz="1000" dirty="0"/>
          </a:p>
        </p:txBody>
      </p:sp>
      <p:sp>
        <p:nvSpPr>
          <p:cNvPr id="18" name="slide 5 — evidence boundary"/>
          <p:cNvSpPr/>
          <p:nvPr/>
        </p:nvSpPr>
        <p:spPr>
          <a:xfrm>
            <a:off x="8052816" y="3159252"/>
            <a:ext cx="3587496" cy="2171700"/>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19" name="label"/>
          <p:cNvSpPr txBox="1"/>
          <p:nvPr/>
        </p:nvSpPr>
        <p:spPr>
          <a:xfrm>
            <a:off x="8235696" y="3305556"/>
            <a:ext cx="3221736"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SLIDE 5 — EVIDENCE BOUNDARY</a:t>
            </a:r>
            <a:endParaRPr lang="en-US" sz="1000" dirty="0"/>
          </a:p>
        </p:txBody>
      </p:sp>
      <p:sp>
        <p:nvSpPr>
          <p:cNvPr id="20" name="Text 18"/>
          <p:cNvSpPr txBox="1"/>
          <p:nvPr/>
        </p:nvSpPr>
        <p:spPr>
          <a:xfrm>
            <a:off x="8235696" y="3579876"/>
            <a:ext cx="3221736" cy="1677924"/>
          </a:xfrm>
          <a:prstGeom prst="rect">
            <a:avLst/>
          </a:prstGeom>
          <a:noFill/>
          <a:ln/>
        </p:spPr>
        <p:txBody>
          <a:bodyPr wrap="square" lIns="0" tIns="0" rIns="0" bIns="0" rtlCol="0" anchor="t"/>
          <a:lstStyle/>
          <a:p>
            <a:pPr indent="0" marL="0">
              <a:buNone/>
            </a:pPr>
            <a:r>
              <a:rPr lang="en-US" sz="1000" dirty="0">
                <a:solidFill>
                  <a:schemeClr val="tx1"/>
                </a:solidFill>
              </a:rPr>
              <a:t>Scope: Six qualifying U.S. conversational offerings plus two selected international examples. Optum offerings are task-level comparators, not established conversational equivalents. Descriptions reflect public marketing, not independently verified performance or data access.</a:t>
            </a:r>
            <a:endParaRPr lang="en-US" sz="1000" dirty="0"/>
          </a:p>
        </p:txBody>
      </p:sp>
      <p:sp>
        <p:nvSpPr>
          <p:cNvPr id="21" name="Text 2"/>
          <p:cNvSpPr/>
          <p:nvPr>
            <p:ph idx="103" type="title" hasCustomPrompt="1"/>
          </p:nvPr>
        </p:nvSpPr>
        <p:spPr>
          <a:xfrm>
            <a:off x="548640" y="640080"/>
            <a:ext cx="11091672" cy="749808"/>
          </a:xfrm>
          <a:prstGeom prst="rect">
            <a:avLst/>
          </a:prstGeom>
          <a:noFill/>
          <a:ln/>
        </p:spPr>
        <p:txBody>
          <a:bodyPr wrap="square" lIns="0" tIns="0" rIns="0" bIns="0" rtlCol="0" anchor="t"/>
          <a:lstStyle/>
          <a:p>
            <a:pPr algn="l" indent="0" marL="0">
              <a:buNone/>
            </a:pPr>
            <a:endParaRPr lang="en-US" sz="2200" dirty="0"/>
          </a:p>
        </p:txBody>
      </p:sp>
      <p:sp>
        <p:nvSpPr>
          <p:cNvPr id="25" name="Slide Number Placeholder 0"/>
          <p:cNvSpPr>
            <a:spLocks noGrp="1"/>
          </p:cNvSpPr>
          <p:nvPr>
            <p:ph type="sldNum" sz="quarter" idx="4294967295"/>
          </p:nvPr>
        </p:nvSpPr>
        <p:spPr>
          <a:xfrm>
            <a:off x="10725912" y="6309360"/>
            <a:ext cx="9144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body" hasCustomPrompt="1"/>
          </p:nvPr>
        </p:nvSpPr>
        <p:spPr>
          <a:xfrm>
            <a:off x="548640" y="384048"/>
            <a:ext cx="8229600"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METHODOLOGY NOTES (CONT.)</a:t>
            </a:r>
            <a:endParaRPr lang="en-US" sz="1000" dirty="0"/>
          </a:p>
        </p:txBody>
      </p:sp>
      <p:sp>
        <p:nvSpPr>
          <p:cNvPr id="3" name="slide 6 — evidence boundary"/>
          <p:cNvSpPr/>
          <p:nvPr/>
        </p:nvSpPr>
        <p:spPr>
          <a:xfrm>
            <a:off x="548640" y="822960"/>
            <a:ext cx="3587496" cy="1706880"/>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4" name="label"/>
          <p:cNvSpPr txBox="1"/>
          <p:nvPr/>
        </p:nvSpPr>
        <p:spPr>
          <a:xfrm>
            <a:off x="731520" y="969264"/>
            <a:ext cx="3221736"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SLIDE 6 — EVIDENCE BOUNDARY</a:t>
            </a:r>
            <a:endParaRPr lang="en-US" sz="1000" dirty="0"/>
          </a:p>
        </p:txBody>
      </p:sp>
      <p:sp>
        <p:nvSpPr>
          <p:cNvPr id="5" name="Text 3"/>
          <p:cNvSpPr txBox="1"/>
          <p:nvPr/>
        </p:nvSpPr>
        <p:spPr>
          <a:xfrm>
            <a:off x="731520" y="1243584"/>
            <a:ext cx="3221736" cy="1213104"/>
          </a:xfrm>
          <a:prstGeom prst="rect">
            <a:avLst/>
          </a:prstGeom>
          <a:noFill/>
          <a:ln/>
        </p:spPr>
        <p:txBody>
          <a:bodyPr wrap="square" lIns="0" tIns="0" rIns="0" bIns="0" rtlCol="0" anchor="t"/>
          <a:lstStyle/>
          <a:p>
            <a:pPr indent="0" marL="0">
              <a:buNone/>
            </a:pPr>
            <a:r>
              <a:rPr lang="en-US" sz="1000" dirty="0">
                <a:solidFill>
                  <a:schemeClr val="tx1"/>
                </a:solidFill>
              </a:rPr>
              <a:t>Scope: Four qualifying U.S. conversational offerings plus two selected international examples. Product descriptions are based on public marketing; study-grade reliability, data entitlements and actual deployment are not independently established.</a:t>
            </a:r>
            <a:endParaRPr lang="en-US" sz="1000" dirty="0"/>
          </a:p>
        </p:txBody>
      </p:sp>
      <p:sp>
        <p:nvSpPr>
          <p:cNvPr id="6" name="slide 7 — evidence boundary"/>
          <p:cNvSpPr/>
          <p:nvPr/>
        </p:nvSpPr>
        <p:spPr>
          <a:xfrm>
            <a:off x="4300728" y="822960"/>
            <a:ext cx="3587496" cy="1706880"/>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7" name="label"/>
          <p:cNvSpPr txBox="1"/>
          <p:nvPr/>
        </p:nvSpPr>
        <p:spPr>
          <a:xfrm>
            <a:off x="4483608" y="969264"/>
            <a:ext cx="3221736"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SLIDE 7 — EVIDENCE BOUNDARY</a:t>
            </a:r>
            <a:endParaRPr lang="en-US" sz="1000" dirty="0"/>
          </a:p>
        </p:txBody>
      </p:sp>
      <p:sp>
        <p:nvSpPr>
          <p:cNvPr id="8" name="Text 6"/>
          <p:cNvSpPr txBox="1"/>
          <p:nvPr/>
        </p:nvSpPr>
        <p:spPr>
          <a:xfrm>
            <a:off x="4483608" y="1243584"/>
            <a:ext cx="3221736" cy="1213104"/>
          </a:xfrm>
          <a:prstGeom prst="rect">
            <a:avLst/>
          </a:prstGeom>
          <a:noFill/>
          <a:ln/>
        </p:spPr>
        <p:txBody>
          <a:bodyPr wrap="square" lIns="0" tIns="0" rIns="0" bIns="0" rtlCol="0" anchor="t"/>
          <a:lstStyle/>
          <a:p>
            <a:pPr indent="0" marL="0">
              <a:buNone/>
            </a:pPr>
            <a:r>
              <a:rPr lang="en-US" sz="1000" dirty="0">
                <a:solidFill>
                  <a:schemeClr val="tx1"/>
                </a:solidFill>
              </a:rPr>
              <a:t>Scope: All four qualifying U.S. commercial conversational offerings plus four selected international examples. Customer tasks are not interchangeable; Optum comparisons are based on public offerings, not feature-for-feature validation. International examples are illustrative, not a geographic prevalence comparison.</a:t>
            </a:r>
            <a:endParaRPr lang="en-US" sz="1000" dirty="0"/>
          </a:p>
        </p:txBody>
      </p:sp>
      <p:sp>
        <p:nvSpPr>
          <p:cNvPr id="9" name="slide 8 — evidence boundary"/>
          <p:cNvSpPr/>
          <p:nvPr/>
        </p:nvSpPr>
        <p:spPr>
          <a:xfrm>
            <a:off x="8052816" y="822960"/>
            <a:ext cx="3587496" cy="1706880"/>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10" name="label"/>
          <p:cNvSpPr txBox="1"/>
          <p:nvPr/>
        </p:nvSpPr>
        <p:spPr>
          <a:xfrm>
            <a:off x="8235696" y="969264"/>
            <a:ext cx="3221736"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SLIDE 8 — EVIDENCE BOUNDARY</a:t>
            </a:r>
            <a:endParaRPr lang="en-US" sz="1000" dirty="0"/>
          </a:p>
        </p:txBody>
      </p:sp>
      <p:sp>
        <p:nvSpPr>
          <p:cNvPr id="11" name="Text 9"/>
          <p:cNvSpPr txBox="1"/>
          <p:nvPr/>
        </p:nvSpPr>
        <p:spPr>
          <a:xfrm>
            <a:off x="8235696" y="1243584"/>
            <a:ext cx="3221736" cy="1213104"/>
          </a:xfrm>
          <a:prstGeom prst="rect">
            <a:avLst/>
          </a:prstGeom>
          <a:noFill/>
          <a:ln/>
        </p:spPr>
        <p:txBody>
          <a:bodyPr wrap="square" lIns="0" tIns="0" rIns="0" bIns="0" rtlCol="0" anchor="t"/>
          <a:lstStyle/>
          <a:p>
            <a:pPr indent="0" marL="0">
              <a:buNone/>
            </a:pPr>
            <a:r>
              <a:rPr lang="en-US" sz="1000" dirty="0">
                <a:solidFill>
                  <a:schemeClr val="tx1"/>
                </a:solidFill>
              </a:rPr>
              <a:t>Three qualifying U.S. offerings plus one selected Spanish example. The examples span distinct tasks; scientific research, medical education, document assistance and pharmacovigilance are not interchangeable. Optum comparisons reflect publicly marketed capabilities, not verified conversational equivalence.</a:t>
            </a:r>
            <a:endParaRPr lang="en-US" sz="1000" dirty="0"/>
          </a:p>
        </p:txBody>
      </p:sp>
      <p:sp>
        <p:nvSpPr>
          <p:cNvPr id="12" name="slide 9 — evidence boundary"/>
          <p:cNvSpPr/>
          <p:nvPr/>
        </p:nvSpPr>
        <p:spPr>
          <a:xfrm>
            <a:off x="548640" y="2694432"/>
            <a:ext cx="3587496" cy="2326640"/>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13" name="label"/>
          <p:cNvSpPr txBox="1"/>
          <p:nvPr/>
        </p:nvSpPr>
        <p:spPr>
          <a:xfrm>
            <a:off x="731520" y="2840736"/>
            <a:ext cx="3221736"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SLIDE 9 — EVIDENCE BOUNDARY</a:t>
            </a:r>
            <a:endParaRPr lang="en-US" sz="1000" dirty="0"/>
          </a:p>
        </p:txBody>
      </p:sp>
      <p:sp>
        <p:nvSpPr>
          <p:cNvPr id="14" name="Text 12"/>
          <p:cNvSpPr txBox="1"/>
          <p:nvPr/>
        </p:nvSpPr>
        <p:spPr>
          <a:xfrm>
            <a:off x="731520" y="3115056"/>
            <a:ext cx="3221736" cy="1832864"/>
          </a:xfrm>
          <a:prstGeom prst="rect">
            <a:avLst/>
          </a:prstGeom>
          <a:noFill/>
          <a:ln/>
        </p:spPr>
        <p:txBody>
          <a:bodyPr wrap="square" lIns="0" tIns="0" rIns="0" bIns="0" rtlCol="0" anchor="t"/>
          <a:lstStyle/>
          <a:p>
            <a:pPr indent="0" marL="0">
              <a:buNone/>
            </a:pPr>
            <a:r>
              <a:rPr lang="en-US" sz="1000" dirty="0">
                <a:solidFill>
                  <a:schemeClr val="tx1"/>
                </a:solidFill>
              </a:rPr>
              <a:t>Clinical trials — one qualifying U.S. offering and one selected Chinese example. Market access — one qualifying U.S. offering. No additional qualifying international market-access offering was identified in the selected inventory. The Optum comparisons are based on customer-task overlap, not identical product functionality.</a:t>
            </a:r>
            <a:endParaRPr lang="en-US" sz="1000" dirty="0"/>
          </a:p>
        </p:txBody>
      </p:sp>
      <p:sp>
        <p:nvSpPr>
          <p:cNvPr id="15" name="slide 10 — evidence boundary"/>
          <p:cNvSpPr/>
          <p:nvPr/>
        </p:nvSpPr>
        <p:spPr>
          <a:xfrm>
            <a:off x="4300728" y="2694432"/>
            <a:ext cx="3587496" cy="2326640"/>
          </a:xfrm>
          <a:prstGeom prst="rect">
            <a:avLst/>
          </a:prstGeom>
          <a:solidFill>
            <a:schemeClr val="bg1"/>
          </a:solidFill>
          <a:ln/>
          <a:effectLst>
            <a:outerShdw sx="100000" sy="100000" kx="0" ky="0" algn="bl" rotWithShape="0" blurRad="101600" dist="25400" dir="5400000">
              <a:srgbClr val="000000">
                <a:alpha val="10000"/>
              </a:srgbClr>
            </a:outerShdw>
          </a:effectLst>
        </p:spPr>
      </p:sp>
      <p:sp>
        <p:nvSpPr>
          <p:cNvPr id="16" name="label"/>
          <p:cNvSpPr txBox="1"/>
          <p:nvPr/>
        </p:nvSpPr>
        <p:spPr>
          <a:xfrm>
            <a:off x="4483608" y="2840736"/>
            <a:ext cx="3221736"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SLIDE 10 — EVIDENCE BOUNDARY</a:t>
            </a:r>
            <a:endParaRPr lang="en-US" sz="1000" dirty="0"/>
          </a:p>
        </p:txBody>
      </p:sp>
      <p:sp>
        <p:nvSpPr>
          <p:cNvPr id="17" name="Text 15"/>
          <p:cNvSpPr txBox="1"/>
          <p:nvPr/>
        </p:nvSpPr>
        <p:spPr>
          <a:xfrm>
            <a:off x="4483608" y="3115056"/>
            <a:ext cx="3221736" cy="1832864"/>
          </a:xfrm>
          <a:prstGeom prst="rect">
            <a:avLst/>
          </a:prstGeom>
          <a:noFill/>
          <a:ln/>
        </p:spPr>
        <p:txBody>
          <a:bodyPr wrap="square" lIns="0" tIns="0" rIns="0" bIns="0" rtlCol="0" anchor="t"/>
          <a:lstStyle/>
          <a:p>
            <a:pPr indent="0" marL="0">
              <a:buNone/>
            </a:pPr>
            <a:r>
              <a:rPr lang="en-US" sz="1000" dirty="0">
                <a:solidFill>
                  <a:schemeClr val="tx1"/>
                </a:solidFill>
              </a:rPr>
              <a:t>These are selected publicly documented developments, not an exhaustive assessment of AI suppliers. The three approaches are neither mutually exclusive nor predictions of future competition. They do not establish that AI suppliers caused the recent RWE launch cluster, are displacing established vendors, or expose an Optum capability gap. Not all supplier offerings qualify as conversational products; they are not additions to the deck's product counts. North for Pharma was described as planned; Explore Assistant's general commercial availability was not established in our review.</a:t>
            </a:r>
            <a:endParaRPr lang="en-US" sz="1000" dirty="0"/>
          </a:p>
        </p:txBody>
      </p:sp>
      <p:sp>
        <p:nvSpPr>
          <p:cNvPr id="18" name="Text 2"/>
          <p:cNvSpPr/>
          <p:nvPr>
            <p:ph idx="103" type="title" hasCustomPrompt="1"/>
          </p:nvPr>
        </p:nvSpPr>
        <p:spPr>
          <a:xfrm>
            <a:off x="548640" y="640080"/>
            <a:ext cx="11091672" cy="749808"/>
          </a:xfrm>
          <a:prstGeom prst="rect">
            <a:avLst/>
          </a:prstGeom>
          <a:noFill/>
          <a:ln/>
        </p:spPr>
        <p:txBody>
          <a:bodyPr wrap="square" lIns="0" tIns="0" rIns="0" bIns="0" rtlCol="0" anchor="t"/>
          <a:lstStyle/>
          <a:p>
            <a:pPr algn="l" indent="0" marL="0">
              <a:buNone/>
            </a:pPr>
            <a:endParaRPr lang="en-US" sz="2200" dirty="0"/>
          </a:p>
        </p:txBody>
      </p:sp>
      <p:sp>
        <p:nvSpPr>
          <p:cNvPr id="25" name="Slide Number Placeholder 0"/>
          <p:cNvSpPr>
            <a:spLocks noGrp="1"/>
          </p:cNvSpPr>
          <p:nvPr>
            <p:ph type="sldNum" sz="quarter" idx="4294967295"/>
          </p:nvPr>
        </p:nvSpPr>
        <p:spPr>
          <a:xfrm>
            <a:off x="10725912" y="6309360"/>
            <a:ext cx="9144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ptum LS Strategy">
  <a:themeElements>
    <a:clrScheme name="Optum LS Strategy">
      <a:dk1>
        <a:srgbClr val="4B4D4F"/>
      </a:dk1>
      <a:lt1>
        <a:srgbClr val="FFFFFF"/>
      </a:lt1>
      <a:dk2>
        <a:srgbClr val="002677"/>
      </a:dk2>
      <a:lt2>
        <a:srgbClr val="FAF8F2"/>
      </a:lt2>
      <a:accent1>
        <a:srgbClr val="002677"/>
      </a:accent1>
      <a:accent2>
        <a:srgbClr val="FF612B"/>
      </a:accent2>
      <a:accent3>
        <a:srgbClr val="D9D4C7"/>
      </a:accent3>
      <a:accent4>
        <a:srgbClr val="7A7C7E"/>
      </a:accent4>
      <a:accent5>
        <a:srgbClr val="E6ECF5"/>
      </a:accent5>
      <a:accent6>
        <a:srgbClr val="196ECF"/>
      </a:accent6>
      <a:hlink>
        <a:srgbClr val="196ECF"/>
      </a:hlink>
      <a:folHlink>
        <a:srgbClr val="7A7C7E"/>
      </a:folHlink>
    </a:clrScheme>
    <a:fontScheme name="Optum LS Strateg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Optum Life Sciences — Conversational AI</dc:title>
  <dc:subject>PptxGenJS Presentation</dc:subject>
  <dc:creator>PptxGenJS</dc:creator>
  <cp:lastModifiedBy>PptxGenJS</cp:lastModifiedBy>
  <cp:revision>1</cp:revision>
  <dcterms:created xsi:type="dcterms:W3CDTF">2026-10-14T02:26:17Z</dcterms:created>
  <dcterms:modified xsi:type="dcterms:W3CDTF">2026-10-14T02:26:17Z</dcterms:modified>
</cp:coreProperties>
</file>