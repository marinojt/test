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cutive summary" id="{d79acef3-e6ee-f20a-5c79-506f0b9e77e5}">
          <p14:sldIdLst>
            <p14:sldId id="256"/>
          </p14:sldIdLst>
        </p14:section>
        <p14:section name="U.S. competitive landscape" id="{730b3676-5e9d-d0cf-ad9a-8b6a233e2ea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 qualifying chat</c:v>
                </c:pt>
              </c:strCache>
            </c:strRef>
          </c:tx>
          <c:spPr>
            <a:solidFill>
              <a:srgbClr val="0026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Remaining comparable</c:v>
                </c:pt>
              </c:strCache>
            </c:strRef>
          </c:tx>
          <c:spPr>
            <a:solidFill>
              <a:srgbClr val="D9D4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20</c:v>
                </c:pt>
                <c:pt idx="2">
                  <c:v>15</c:v>
                </c:pt>
                <c:pt idx="3">
                  <c:v>24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axMin"/>
          <c:max val="3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36208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3093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Candidate work sample — outside-in research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1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Conversational AI is being marketed across life sciences workflows, creating new ways to access information, analytics and decision support</a:t>
            </a:r>
            <a:endParaRPr lang="en-US" sz="2200" dirty="0"/>
          </a:p>
        </p:txBody>
      </p:sp>
      <p:sp>
        <p:nvSpPr>
          <p:cNvPr id="4" name="lens card"/>
          <p:cNvSpPr/>
          <p:nvPr/>
        </p:nvSpPr>
        <p:spPr>
          <a:xfrm>
            <a:off x="548640" y="1572768"/>
            <a:ext cx="11091672" cy="107899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777240" y="178308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icon MdTravelExplo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883664"/>
            <a:ext cx="256032" cy="256032"/>
          </a:xfrm>
          <a:prstGeom prst="rect">
            <a:avLst/>
          </a:prstGeom>
        </p:spPr>
      </p:pic>
      <p:sp>
        <p:nvSpPr>
          <p:cNvPr id="7" name="label"/>
          <p:cNvSpPr txBox="1"/>
          <p:nvPr/>
        </p:nvSpPr>
        <p:spPr>
          <a:xfrm>
            <a:off x="1417320" y="173736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OUTSIDE-IN RESEARCH LENS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965960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An assessment of publicly-marketed conversational AI products across six core Optum Life Sciences workflows: data access, RWE, market access, clinical trials, commercial intelligence, and medical/regulatory research.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The U.S. competitive landscape is the primary focus; selected international offerings provide context; and Optum LS is the strategic reference point.</a:t>
            </a:r>
            <a:endParaRPr lang="en-US" sz="1100" dirty="0"/>
          </a:p>
        </p:txBody>
      </p:sp>
      <p:sp>
        <p:nvSpPr>
          <p:cNvPr id="9" name="key findings card"/>
          <p:cNvSpPr/>
          <p:nvPr/>
        </p:nvSpPr>
        <p:spPr>
          <a:xfrm>
            <a:off x="548640" y="2788920"/>
            <a:ext cx="3575304" cy="281635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777240" y="3017520"/>
            <a:ext cx="420624" cy="420624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1" name="icon MdInsight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77" y="3110057"/>
            <a:ext cx="235549" cy="235549"/>
          </a:xfrm>
          <a:prstGeom prst="rect">
            <a:avLst/>
          </a:prstGeom>
        </p:spPr>
      </p:pic>
      <p:sp>
        <p:nvSpPr>
          <p:cNvPr id="12" name="label"/>
          <p:cNvSpPr txBox="1"/>
          <p:nvPr/>
        </p:nvSpPr>
        <p:spPr>
          <a:xfrm>
            <a:off x="1325880" y="3127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KEY FINDINGS</a:t>
            </a:r>
            <a:endParaRPr lang="en-US" sz="1000" dirty="0"/>
          </a:p>
        </p:txBody>
      </p:sp>
      <p:sp>
        <p:nvSpPr>
          <p:cNvPr id="13" name="hero 19"/>
          <p:cNvSpPr txBox="1"/>
          <p:nvPr/>
        </p:nvSpPr>
        <p:spPr>
          <a:xfrm>
            <a:off x="777240" y="3575304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19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1572768" y="3611880"/>
            <a:ext cx="23591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The U.S. screen identified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19 qualifying conversational AI offerings across five of six domains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, concentrated in RWE and commercial intelligence.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777240" y="4590288"/>
            <a:ext cx="3118104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16" name="hero 10"/>
          <p:cNvSpPr txBox="1"/>
          <p:nvPr/>
        </p:nvSpPr>
        <p:spPr>
          <a:xfrm>
            <a:off x="777240" y="466344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10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1572768" y="4700016"/>
            <a:ext cx="2359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The selected international comparison identified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10 qualifying offerings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, providing additional examples of how vendors position conversational interaction.</a:t>
            </a:r>
            <a:endParaRPr lang="en-US" sz="1050" dirty="0"/>
          </a:p>
        </p:txBody>
      </p:sp>
      <p:sp>
        <p:nvSpPr>
          <p:cNvPr id="18" name="optum positioning card"/>
          <p:cNvSpPr/>
          <p:nvPr/>
        </p:nvSpPr>
        <p:spPr>
          <a:xfrm>
            <a:off x="4306824" y="2788920"/>
            <a:ext cx="3575304" cy="281635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4535424" y="3017520"/>
            <a:ext cx="420624" cy="420624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0" name="icon MdOutlineLayer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7961" y="3110057"/>
            <a:ext cx="235549" cy="235549"/>
          </a:xfrm>
          <a:prstGeom prst="rect">
            <a:avLst/>
          </a:prstGeom>
        </p:spPr>
      </p:pic>
      <p:sp>
        <p:nvSpPr>
          <p:cNvPr id="21" name="label"/>
          <p:cNvSpPr txBox="1"/>
          <p:nvPr/>
        </p:nvSpPr>
        <p:spPr>
          <a:xfrm>
            <a:off x="5084064" y="3127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OPTUM POSITIONING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4535424" y="3611880"/>
            <a:ext cx="3118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Optum LS publicly emphasizes linked healthcare data, AI-enabled research tools and scientific expertise. Several competitors prominently market conversational interfaces as the entry point to comparable customer tasks. </a:t>
            </a:r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This reflects differences in public positioning, not necessarily in underlying functionality.</a:t>
            </a:r>
            <a:endParaRPr lang="en-US" sz="1100" dirty="0"/>
          </a:p>
        </p:txBody>
      </p:sp>
      <p:sp>
        <p:nvSpPr>
          <p:cNvPr id="23" name="strategic implication card"/>
          <p:cNvSpPr/>
          <p:nvPr/>
        </p:nvSpPr>
        <p:spPr>
          <a:xfrm>
            <a:off x="8065008" y="2788920"/>
            <a:ext cx="3575304" cy="281635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icon circle"/>
          <p:cNvSpPr/>
          <p:nvPr/>
        </p:nvSpPr>
        <p:spPr>
          <a:xfrm>
            <a:off x="8293608" y="3017520"/>
            <a:ext cx="420624" cy="420624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5" name="icon MdOutlineLightbulb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145" y="3110057"/>
            <a:ext cx="235549" cy="235549"/>
          </a:xfrm>
          <a:prstGeom prst="rect">
            <a:avLst/>
          </a:prstGeom>
        </p:spPr>
      </p:pic>
      <p:sp>
        <p:nvSpPr>
          <p:cNvPr id="26" name="label"/>
          <p:cNvSpPr txBox="1"/>
          <p:nvPr/>
        </p:nvSpPr>
        <p:spPr>
          <a:xfrm>
            <a:off x="8842248" y="3127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STRATEGIC IMPLICATION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8293608" y="3611880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competitive significance of conversational AI depends on the customer task, underlying data and reliability of the results.</a:t>
            </a:r>
            <a:endParaRPr lang="en-US" sz="1100" dirty="0"/>
          </a:p>
        </p:txBody>
      </p:sp>
      <p:sp>
        <p:nvSpPr>
          <p:cNvPr id="28" name="strategic question"/>
          <p:cNvSpPr txBox="1"/>
          <p:nvPr/>
        </p:nvSpPr>
        <p:spPr>
          <a:xfrm>
            <a:off x="8293608" y="4416552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Where could conversational interaction add value to Optum's existing offerings?</a:t>
            </a:r>
            <a:endParaRPr lang="en-US" sz="1400" dirty="0"/>
          </a:p>
        </p:txBody>
      </p:sp>
      <p:sp>
        <p:nvSpPr>
          <p:cNvPr id="29" name="evidence boundary"/>
          <p:cNvSpPr txBox="1"/>
          <p:nvPr/>
        </p:nvSpPr>
        <p:spPr>
          <a:xfrm>
            <a:off x="548640" y="573328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Evidence boundary: Public product marketing and announcements reviewed as of October 13, 2026. The findings describe selected screened inventories—not a market census, adoption rates, verified product performance or undisclosed capabilities.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U.S. COMPETITIVE LANDSCAPE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Conversational AI is most prominent in RWE among screened U.S. competitors; Optum has relevant offerings across five decision workflows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51790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U.S. COMPETITIVE SCREEN</a:t>
            </a:r>
            <a:endParaRPr lang="en-US" sz="1000" dirty="0"/>
          </a:p>
        </p:txBody>
      </p:sp>
      <p:sp>
        <p:nvSpPr>
          <p:cNvPr id="5" name="kpi tile 45"/>
          <p:cNvSpPr/>
          <p:nvPr/>
        </p:nvSpPr>
        <p:spPr>
          <a:xfrm>
            <a:off x="548640" y="1783080"/>
            <a:ext cx="2438400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78308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45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1783080"/>
            <a:ext cx="1505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competitor groups initially screened</a:t>
            </a:r>
            <a:endParaRPr lang="en-US" sz="950" dirty="0"/>
          </a:p>
        </p:txBody>
      </p:sp>
      <p:sp>
        <p:nvSpPr>
          <p:cNvPr id="8" name="kpi tile 15"/>
          <p:cNvSpPr/>
          <p:nvPr/>
        </p:nvSpPr>
        <p:spPr>
          <a:xfrm>
            <a:off x="3124200" y="1783080"/>
            <a:ext cx="2438400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261360" y="178308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15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3965448" y="1783080"/>
            <a:ext cx="1505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distinct groups marketing qualifying conversational AI</a:t>
            </a:r>
            <a:endParaRPr lang="en-US" sz="950" dirty="0"/>
          </a:p>
        </p:txBody>
      </p:sp>
      <p:sp>
        <p:nvSpPr>
          <p:cNvPr id="11" name="kpi tile 19"/>
          <p:cNvSpPr/>
          <p:nvPr/>
        </p:nvSpPr>
        <p:spPr>
          <a:xfrm>
            <a:off x="5699760" y="1783080"/>
            <a:ext cx="2438400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36920" y="178308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19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541008" y="1783080"/>
            <a:ext cx="1505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qualifying conversational AI offerings across five of six workflows</a:t>
            </a:r>
            <a:endParaRPr lang="en-US" sz="950" dirty="0"/>
          </a:p>
        </p:txBody>
      </p:sp>
      <p:sp>
        <p:nvSpPr>
          <p:cNvPr id="14" name="label"/>
          <p:cNvSpPr txBox="1"/>
          <p:nvPr/>
        </p:nvSpPr>
        <p:spPr>
          <a:xfrm>
            <a:off x="548640" y="261518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COMPETITOR COVERAGE AND OPTUM LS POSITIONING</a:t>
            </a:r>
            <a:endParaRPr lang="en-US" sz="1000" dirty="0"/>
          </a:p>
        </p:txBody>
      </p:sp>
      <p:sp>
        <p:nvSpPr>
          <p:cNvPr id="15" name="table header"/>
          <p:cNvSpPr/>
          <p:nvPr/>
        </p:nvSpPr>
        <p:spPr>
          <a:xfrm>
            <a:off x="548640" y="2862072"/>
            <a:ext cx="7589520" cy="3657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8620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U.S. competitors marketing chat / comparable competitors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28620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Workflow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8620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Optum's publicly marketed offerings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286207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Optum public chat claim</a:t>
            </a:r>
            <a:endParaRPr lang="en-US" sz="850" dirty="0"/>
          </a:p>
        </p:txBody>
      </p:sp>
      <p:graphicFrame>
        <p:nvGraphicFramePr>
          <p:cNvPr id="20" name="competitor coverage chart" descr=""/>
          <p:cNvGraphicFramePr/>
          <p:nvPr/>
        </p:nvGraphicFramePr>
        <p:xfrm>
          <a:off x="1188720" y="3227832"/>
          <a:ext cx="237744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fraction RWE"/>
          <p:cNvSpPr txBox="1"/>
          <p:nvPr/>
        </p:nvSpPr>
        <p:spPr>
          <a:xfrm>
            <a:off x="548640" y="3227832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9</a:t>
            </a:r>
            <a:pPr algn="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/ 34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3703320" y="322783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RWE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440680" y="322783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Analytics on Demand; epidemiology research</a:t>
            </a:r>
            <a:endParaRPr lang="en-US" sz="900" dirty="0"/>
          </a:p>
        </p:txBody>
      </p:sp>
      <p:sp>
        <p:nvSpPr>
          <p:cNvPr id="24" name="chat status RWE"/>
          <p:cNvSpPr/>
          <p:nvPr/>
        </p:nvSpPr>
        <p:spPr>
          <a:xfrm>
            <a:off x="7644384" y="3355848"/>
            <a:ext cx="164592" cy="164592"/>
          </a:xfrm>
          <a:prstGeom prst="ellipse">
            <a:avLst/>
          </a:prstGeom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8640" y="3648456"/>
            <a:ext cx="758952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26" name="fraction Commercial intelligence"/>
          <p:cNvSpPr txBox="1"/>
          <p:nvPr/>
        </p:nvSpPr>
        <p:spPr>
          <a:xfrm>
            <a:off x="1317812" y="364845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3</a:t>
            </a:r>
            <a:pPr algn="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/ 23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3703320" y="364845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Commercial intelligence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440680" y="364845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Market Clarity: portfolio and patient/prescriber analytics</a:t>
            </a:r>
            <a:endParaRPr lang="en-US" sz="900" dirty="0"/>
          </a:p>
        </p:txBody>
      </p:sp>
      <p:sp>
        <p:nvSpPr>
          <p:cNvPr id="29" name="chat status Commercial intelligence"/>
          <p:cNvSpPr/>
          <p:nvPr/>
        </p:nvSpPr>
        <p:spPr>
          <a:xfrm>
            <a:off x="7644384" y="3776472"/>
            <a:ext cx="164592" cy="164592"/>
          </a:xfrm>
          <a:prstGeom prst="ellipse">
            <a:avLst/>
          </a:prstGeom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4069080"/>
            <a:ext cx="758952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1" name="fraction Medical / regulatory research"/>
          <p:cNvSpPr txBox="1"/>
          <p:nvPr/>
        </p:nvSpPr>
        <p:spPr>
          <a:xfrm>
            <a:off x="1667435" y="4069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3</a:t>
            </a:r>
            <a:pPr algn="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/ 18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3703320" y="406908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Medical / regulatory research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440680" y="40690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Postapproval safety studies; Market Clarity medical affairs insights</a:t>
            </a:r>
            <a:endParaRPr lang="en-US" sz="900" dirty="0"/>
          </a:p>
        </p:txBody>
      </p:sp>
      <p:sp>
        <p:nvSpPr>
          <p:cNvPr id="34" name="chat status Medical / regulatory research"/>
          <p:cNvSpPr/>
          <p:nvPr/>
        </p:nvSpPr>
        <p:spPr>
          <a:xfrm>
            <a:off x="7644384" y="4197096"/>
            <a:ext cx="164592" cy="164592"/>
          </a:xfrm>
          <a:prstGeom prst="ellipse">
            <a:avLst/>
          </a:prstGeom>
          <a:ln w="15875">
            <a:solidFill>
              <a:schemeClr val="accent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640" y="4489704"/>
            <a:ext cx="758952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6" name="fraction Clinical trials"/>
          <p:cNvSpPr txBox="1"/>
          <p:nvPr/>
        </p:nvSpPr>
        <p:spPr>
          <a:xfrm>
            <a:off x="1177962" y="4489704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</a:t>
            </a:r>
            <a:pPr algn="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/ 25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3703320" y="4489704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Clinical trials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5440680" y="448970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Prospector; Digital Research Network; True Source</a:t>
            </a:r>
            <a:endParaRPr lang="en-US" sz="900" dirty="0"/>
          </a:p>
        </p:txBody>
      </p:sp>
      <p:sp>
        <p:nvSpPr>
          <p:cNvPr id="39" name="chat status Clinical trials"/>
          <p:cNvSpPr/>
          <p:nvPr/>
        </p:nvSpPr>
        <p:spPr>
          <a:xfrm>
            <a:off x="7644384" y="4617720"/>
            <a:ext cx="164592" cy="164592"/>
          </a:xfrm>
          <a:prstGeom prst="ellipse">
            <a:avLst/>
          </a:prstGeom>
          <a:ln w="15875">
            <a:solidFill>
              <a:schemeClr val="accent1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48640" y="4910328"/>
            <a:ext cx="758952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41" name="fraction Market access"/>
          <p:cNvSpPr txBox="1"/>
          <p:nvPr/>
        </p:nvSpPr>
        <p:spPr>
          <a:xfrm>
            <a:off x="1247887" y="4910328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</a:t>
            </a:r>
            <a:pPr algn="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/ 24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3703320" y="491032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Market access</a:t>
            </a:r>
            <a:endParaRPr lang="en-US" sz="1000" dirty="0"/>
          </a:p>
        </p:txBody>
      </p:sp>
      <p:sp>
        <p:nvSpPr>
          <p:cNvPr id="43" name="Text 40"/>
          <p:cNvSpPr txBox="1"/>
          <p:nvPr/>
        </p:nvSpPr>
        <p:spPr>
          <a:xfrm>
            <a:off x="5440680" y="491032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HEOR/value evidence; Evidence Engine</a:t>
            </a:r>
            <a:endParaRPr lang="en-US" sz="900" dirty="0"/>
          </a:p>
        </p:txBody>
      </p:sp>
      <p:sp>
        <p:nvSpPr>
          <p:cNvPr id="44" name="chat status Market access"/>
          <p:cNvSpPr/>
          <p:nvPr/>
        </p:nvSpPr>
        <p:spPr>
          <a:xfrm>
            <a:off x="7644384" y="5038344"/>
            <a:ext cx="164592" cy="164592"/>
          </a:xfrm>
          <a:prstGeom prst="ellipse">
            <a:avLst/>
          </a:prstGeom>
          <a:ln w="15875">
            <a:solidFill>
              <a:schemeClr val="accent1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48640" y="5330952"/>
            <a:ext cx="758952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46" name="representative offerings card"/>
          <p:cNvSpPr/>
          <p:nvPr/>
        </p:nvSpPr>
        <p:spPr>
          <a:xfrm>
            <a:off x="8366760" y="1517904"/>
            <a:ext cx="3273552" cy="23774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7" name="label"/>
          <p:cNvSpPr txBox="1"/>
          <p:nvPr/>
        </p:nvSpPr>
        <p:spPr>
          <a:xfrm>
            <a:off x="8549640" y="1664208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REPRESENTATIVE CONVERSATIONAL AI OFFERINGS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8549640" y="2103120"/>
            <a:ext cx="290779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1"/>
                </a:solidFill>
              </a:rPr>
              <a:t>RWE: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1"/>
                </a:solidFill>
              </a:rPr>
              <a:t> Komodo Marmot and MapAI; Truveta Intelligence; Flatiron Telescope; Tempus Lens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1"/>
                </a:solidFill>
              </a:rPr>
              <a:t>Commercial intelligence: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1"/>
                </a:solidFill>
              </a:rPr>
              <a:t> IQVIA Field Force Agent and GMI Agent; ZS Conversational AI for Commercial; Trinity InsightsEDGE Digital Twins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1"/>
                </a:solidFill>
              </a:rPr>
              <a:t>Medical / regulatory: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1"/>
                </a:solidFill>
              </a:rPr>
              <a:t> IQVIA Med-R1; ZS Conversational AI for Medical; Veeva Vault AI Chat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1"/>
                </a:solidFill>
              </a:rPr>
              <a:t>Clinical trials: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1"/>
                </a:solidFill>
              </a:rPr>
              <a:t> TriNetX Terrain AI Assistant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1"/>
                </a:solidFill>
              </a:rPr>
              <a:t>Market access: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1"/>
                </a:solidFill>
              </a:rPr>
              <a:t> EVERSANA Ask NAVLIN</a:t>
            </a:r>
            <a:endParaRPr lang="en-US" sz="900" dirty="0"/>
          </a:p>
        </p:txBody>
      </p:sp>
      <p:sp>
        <p:nvSpPr>
          <p:cNvPr id="49" name="key takeaway card"/>
          <p:cNvSpPr/>
          <p:nvPr/>
        </p:nvSpPr>
        <p:spPr>
          <a:xfrm>
            <a:off x="8366760" y="4005072"/>
            <a:ext cx="3273552" cy="138988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0" name="label"/>
          <p:cNvSpPr txBox="1"/>
          <p:nvPr/>
        </p:nvSpPr>
        <p:spPr>
          <a:xfrm>
            <a:off x="8549640" y="4142232"/>
            <a:ext cx="2907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KEY TAKEAWAY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549640" y="4389120"/>
            <a:ext cx="2907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RWE has the largest number of screened U.S. companies marketing qualifying conversational AI. Optum offers products and services across the five decision workflows shown, but a qualifying customer-facing conversational interface was not established in the reviewed public materials.</a:t>
            </a:r>
            <a:endParaRPr lang="en-US" sz="950" dirty="0"/>
          </a:p>
        </p:txBody>
      </p:sp>
      <p:sp>
        <p:nvSpPr>
          <p:cNvPr id="52" name="scope and methodology notes"/>
          <p:cNvSpPr txBox="1"/>
          <p:nvPr/>
        </p:nvSpPr>
        <p:spPr>
          <a:xfrm>
            <a:off x="548640" y="54589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4"/>
                </a:solidFill>
              </a:rPr>
              <a:t>Scope note: Data access/enrichment is a cross-workflow enabling category. Zero qualifying chat offerings assigned primarily to this domain does not imply an absence of conversational data-access capabilities in products classified under RWE or other workflows.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4"/>
                </a:solidFill>
              </a:rPr>
              <a:t>METHODOLOGY NOTE  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chemeClr val="accent4"/>
                </a:solidFill>
              </a:rPr>
              <a:t>Comparable competitors include </a:t>
            </a:r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4"/>
                </a:solidFill>
              </a:rPr>
              <a:t>direct and specialized/partial offering-level competitors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chemeClr val="accent4"/>
                </a:solidFill>
              </a:rPr>
              <a:t> serving similar customer tasks; adjacent participants are excluded. Counts represent distinct company groups per workflow, not product totals. A company may appear in multiple workflows. Optum's ○ indicates that a qualifying conversational interface was </a:t>
            </a:r>
            <a:pPr indent="0" marL="0">
              <a:spcAft>
                <a:spcPts val="200"/>
              </a:spcAft>
              <a:buNone/>
            </a:pPr>
            <a:r>
              <a:rPr lang="en-US" sz="800" i="1" dirty="0">
                <a:solidFill>
                  <a:schemeClr val="accent4"/>
                </a:solidFill>
              </a:rPr>
              <a:t>not publicly established in this review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chemeClr val="accent4"/>
                </a:solidFill>
              </a:rPr>
              <a:t>, not that the capability is absent. These are selected screened companies, not market-wide adoption rates.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tum LS Strategy">
  <a:themeElements>
    <a:clrScheme name="Optum LS Strategy">
      <a:dk1>
        <a:srgbClr val="4B4D4F"/>
      </a:dk1>
      <a:lt1>
        <a:srgbClr val="FFFFFF"/>
      </a:lt1>
      <a:dk2>
        <a:srgbClr val="002677"/>
      </a:dk2>
      <a:lt2>
        <a:srgbClr val="FAF8F2"/>
      </a:lt2>
      <a:accent1>
        <a:srgbClr val="002677"/>
      </a:accent1>
      <a:accent2>
        <a:srgbClr val="FF612B"/>
      </a:accent2>
      <a:accent3>
        <a:srgbClr val="D9D4C7"/>
      </a:accent3>
      <a:accent4>
        <a:srgbClr val="7A7C7E"/>
      </a:accent4>
      <a:accent5>
        <a:srgbClr val="E6ECF5"/>
      </a:accent5>
      <a:accent6>
        <a:srgbClr val="196ECF"/>
      </a:accent6>
      <a:hlink>
        <a:srgbClr val="196ECF"/>
      </a:hlink>
      <a:folHlink>
        <a:srgbClr val="7A7C7E"/>
      </a:folHlink>
    </a:clrScheme>
    <a:fontScheme name="Optum LS Strateg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Optum Life Sciences — Conversational AI</dc:title>
  <dc:subject>PptxGenJS Presentation</dc:subject>
  <dc:creator>PptxGenJS</dc:creator>
  <cp:lastModifiedBy>PptxGenJS</cp:lastModifiedBy>
  <cp:revision>1</cp:revision>
  <dcterms:created xsi:type="dcterms:W3CDTF">2026-10-13T20:04:54Z</dcterms:created>
  <dcterms:modified xsi:type="dcterms:W3CDTF">2026-10-13T20:04:54Z</dcterms:modified>
</cp:coreProperties>
</file>