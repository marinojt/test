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f117afb3-2c34-6b08-5552-f22066b20e0f}">
          <p14:sldIdLst>
            <p14:sldId id="256"/>
          </p14:sldIdLst>
        </p14:section>
        <p14:section name="U.S. competitive landscape" id="{8fbeba38-bf27-d05c-e062-d5788216b804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qualifying chat</c:v>
                </c:pt>
              </c:strCache>
            </c:strRef>
          </c:tx>
          <c:spPr>
            <a:solidFill>
              <a:srgbClr val="0026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RWE</c:v>
                  </c:pt>
                  <c:pt idx="1">
                    <c:v>Commercial intelligence</c:v>
                  </c:pt>
                  <c:pt idx="2">
                    <c:v>Medical / regulatory research</c:v>
                  </c:pt>
                  <c:pt idx="3">
                    <c:v>Clinical trials</c:v>
                  </c:pt>
                  <c:pt idx="4">
                    <c:v>Market access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comparable</c:v>
                </c:pt>
              </c:strCache>
            </c:strRef>
          </c:tx>
          <c:spPr>
            <a:solidFill>
              <a:srgbClr val="D9D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RWE</c:v>
                  </c:pt>
                  <c:pt idx="1">
                    <c:v>Commercial intelligence</c:v>
                  </c:pt>
                  <c:pt idx="2">
                    <c:v>Medical / regulatory research</c:v>
                  </c:pt>
                  <c:pt idx="3">
                    <c:v>Clinical trials</c:v>
                  </c:pt>
                  <c:pt idx="4">
                    <c:v>Market access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24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axMin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093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Candidate work sample — outside-in research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1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Conversational AI is being marketed across life sciences workflows, creating new ways to access information, analytics and decision support</a:t>
            </a:r>
            <a:endParaRPr lang="en-US" sz="2200" dirty="0"/>
          </a:p>
        </p:txBody>
      </p:sp>
      <p:sp>
        <p:nvSpPr>
          <p:cNvPr id="4" name="lens card"/>
          <p:cNvSpPr/>
          <p:nvPr/>
        </p:nvSpPr>
        <p:spPr>
          <a:xfrm>
            <a:off x="548640" y="1536192"/>
            <a:ext cx="11091672" cy="137160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 MdTravelExplo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1841967"/>
            <a:ext cx="266273" cy="266273"/>
          </a:xfrm>
          <a:prstGeom prst="rect">
            <a:avLst/>
          </a:prstGeom>
        </p:spPr>
      </p:pic>
      <p:sp>
        <p:nvSpPr>
          <p:cNvPr id="7" name="card label"/>
          <p:cNvSpPr txBox="1"/>
          <p:nvPr/>
        </p:nvSpPr>
        <p:spPr>
          <a:xfrm>
            <a:off x="1417320" y="1719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OUTSIDE-IN RESEARCH LENS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48256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 assessment of publicly marketed conversational AI across five Optum Life Sciences decision workflows:</a:t>
            </a:r>
            <a:endParaRPr lang="en-US" sz="1100" dirty="0"/>
          </a:p>
        </p:txBody>
      </p:sp>
      <p:sp>
        <p:nvSpPr>
          <p:cNvPr id="9" name="workflow chip RWE"/>
          <p:cNvSpPr/>
          <p:nvPr/>
        </p:nvSpPr>
        <p:spPr>
          <a:xfrm>
            <a:off x="1417320" y="2304288"/>
            <a:ext cx="506578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17320" y="2304288"/>
            <a:ext cx="506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RWE</a:t>
            </a:r>
            <a:endParaRPr lang="en-US" sz="1000" dirty="0"/>
          </a:p>
        </p:txBody>
      </p:sp>
      <p:sp>
        <p:nvSpPr>
          <p:cNvPr id="11" name="workflow chip Commercial intelligence"/>
          <p:cNvSpPr/>
          <p:nvPr/>
        </p:nvSpPr>
        <p:spPr>
          <a:xfrm>
            <a:off x="2033626" y="2304288"/>
            <a:ext cx="1933042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33626" y="2304288"/>
            <a:ext cx="19330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Commercial intelligence</a:t>
            </a:r>
            <a:endParaRPr lang="en-US" sz="1000" dirty="0"/>
          </a:p>
        </p:txBody>
      </p:sp>
      <p:sp>
        <p:nvSpPr>
          <p:cNvPr id="13" name="workflow chip Medical / regulatory research"/>
          <p:cNvSpPr/>
          <p:nvPr/>
        </p:nvSpPr>
        <p:spPr>
          <a:xfrm>
            <a:off x="4076395" y="2304288"/>
            <a:ext cx="2360981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76395" y="2304288"/>
            <a:ext cx="23609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Medical / regulatory research</a:t>
            </a:r>
            <a:endParaRPr lang="en-US" sz="1000" dirty="0"/>
          </a:p>
        </p:txBody>
      </p:sp>
      <p:sp>
        <p:nvSpPr>
          <p:cNvPr id="15" name="workflow chip Clinical trials"/>
          <p:cNvSpPr/>
          <p:nvPr/>
        </p:nvSpPr>
        <p:spPr>
          <a:xfrm>
            <a:off x="6547104" y="2304288"/>
            <a:ext cx="1362456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47104" y="2304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Clinical trials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019288" y="230428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and</a:t>
            </a:r>
            <a:endParaRPr lang="en-US" sz="1000" dirty="0"/>
          </a:p>
        </p:txBody>
      </p:sp>
      <p:sp>
        <p:nvSpPr>
          <p:cNvPr id="18" name="workflow chip Market access"/>
          <p:cNvSpPr/>
          <p:nvPr/>
        </p:nvSpPr>
        <p:spPr>
          <a:xfrm>
            <a:off x="8403336" y="2304288"/>
            <a:ext cx="121981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03336" y="2304288"/>
            <a:ext cx="1219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Market access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265176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U.S. competitive landscape is the primary focus; selected international offerings provide context; and Optum LS is the strategic reference point.</a:t>
            </a:r>
            <a:endParaRPr lang="en-US" sz="1100" dirty="0"/>
          </a:p>
        </p:txBody>
      </p:sp>
      <p:sp>
        <p:nvSpPr>
          <p:cNvPr id="21" name="key findings card"/>
          <p:cNvSpPr/>
          <p:nvPr/>
        </p:nvSpPr>
        <p:spPr>
          <a:xfrm>
            <a:off x="548640" y="3035808"/>
            <a:ext cx="3575304" cy="26060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323697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 MdInsigh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337560"/>
            <a:ext cx="256032" cy="256032"/>
          </a:xfrm>
          <a:prstGeom prst="rect">
            <a:avLst/>
          </a:prstGeom>
        </p:spPr>
      </p:pic>
      <p:sp>
        <p:nvSpPr>
          <p:cNvPr id="24" name="card label"/>
          <p:cNvSpPr txBox="1"/>
          <p:nvPr/>
        </p:nvSpPr>
        <p:spPr>
          <a:xfrm>
            <a:off x="1353312" y="332841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5" name="hero 19"/>
          <p:cNvSpPr txBox="1"/>
          <p:nvPr/>
        </p:nvSpPr>
        <p:spPr>
          <a:xfrm>
            <a:off x="777240" y="384048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19</a:t>
            </a:r>
            <a:endParaRPr lang="en-US" sz="3400" dirty="0"/>
          </a:p>
        </p:txBody>
      </p:sp>
      <p:sp>
        <p:nvSpPr>
          <p:cNvPr id="26" name="Text 22"/>
          <p:cNvSpPr txBox="1"/>
          <p:nvPr/>
        </p:nvSpPr>
        <p:spPr>
          <a:xfrm>
            <a:off x="1444752" y="3904488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U.S. screen identified 19 qualifying conversational AI offerings across five decision workflows, concentrated in RWE and commercial intelligence.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77240" y="4690872"/>
            <a:ext cx="311810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hero 10"/>
          <p:cNvSpPr txBox="1"/>
          <p:nvPr/>
        </p:nvSpPr>
        <p:spPr>
          <a:xfrm>
            <a:off x="777240" y="473659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10</a:t>
            </a:r>
            <a:endParaRPr lang="en-US" sz="3400" dirty="0"/>
          </a:p>
        </p:txBody>
      </p:sp>
      <p:sp>
        <p:nvSpPr>
          <p:cNvPr id="29" name="Text 25"/>
          <p:cNvSpPr txBox="1"/>
          <p:nvPr/>
        </p:nvSpPr>
        <p:spPr>
          <a:xfrm>
            <a:off x="1444752" y="4800600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The selected international comparison identified 10 qualifying offerings, providing additional examples of how vendors position conversational interaction.</a:t>
            </a:r>
            <a:endParaRPr lang="en-US" sz="1050" dirty="0"/>
          </a:p>
        </p:txBody>
      </p:sp>
      <p:sp>
        <p:nvSpPr>
          <p:cNvPr id="30" name="optum positioning card"/>
          <p:cNvSpPr/>
          <p:nvPr/>
        </p:nvSpPr>
        <p:spPr>
          <a:xfrm>
            <a:off x="4306824" y="3035808"/>
            <a:ext cx="3575304" cy="26060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icon circle"/>
          <p:cNvSpPr/>
          <p:nvPr/>
        </p:nvSpPr>
        <p:spPr>
          <a:xfrm>
            <a:off x="4535424" y="323697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icon MdOutlineLay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3337560"/>
            <a:ext cx="256032" cy="256032"/>
          </a:xfrm>
          <a:prstGeom prst="rect">
            <a:avLst/>
          </a:prstGeom>
        </p:spPr>
      </p:pic>
      <p:sp>
        <p:nvSpPr>
          <p:cNvPr id="33" name="card label"/>
          <p:cNvSpPr txBox="1"/>
          <p:nvPr/>
        </p:nvSpPr>
        <p:spPr>
          <a:xfrm>
            <a:off x="5111496" y="332841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OPTUM POSITIONING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4535424" y="3904488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Optum LS publicly emphasizes linked healthcare data, AI-enabled research tools and scientific expertise.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Several competitors prominently market conversational interfaces as the entry point to comparable customer tasks.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</a:rPr>
              <a:t>This reflects differences in public positioning, not necessarily in underlying functionality.</a:t>
            </a:r>
            <a:endParaRPr lang="en-US" sz="1100" dirty="0"/>
          </a:p>
        </p:txBody>
      </p:sp>
      <p:sp>
        <p:nvSpPr>
          <p:cNvPr id="35" name="strategic implication card"/>
          <p:cNvSpPr/>
          <p:nvPr/>
        </p:nvSpPr>
        <p:spPr>
          <a:xfrm>
            <a:off x="8065008" y="3035808"/>
            <a:ext cx="3575304" cy="26060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icon circle"/>
          <p:cNvSpPr/>
          <p:nvPr/>
        </p:nvSpPr>
        <p:spPr>
          <a:xfrm>
            <a:off x="8293608" y="323697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icon MdOutline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3337560"/>
            <a:ext cx="256032" cy="256032"/>
          </a:xfrm>
          <a:prstGeom prst="rect">
            <a:avLst/>
          </a:prstGeom>
        </p:spPr>
      </p:pic>
      <p:sp>
        <p:nvSpPr>
          <p:cNvPr id="38" name="card label"/>
          <p:cNvSpPr txBox="1"/>
          <p:nvPr/>
        </p:nvSpPr>
        <p:spPr>
          <a:xfrm>
            <a:off x="8869680" y="332841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STRATEGIC IMPLICATION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8293608" y="3904488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competitive significance of conversational AI depends on the customer task, underlying data and reliability of the results.</a:t>
            </a:r>
            <a:endParaRPr lang="en-US" sz="1100" dirty="0"/>
          </a:p>
        </p:txBody>
      </p:sp>
      <p:sp>
        <p:nvSpPr>
          <p:cNvPr id="40" name="strategic question"/>
          <p:cNvSpPr txBox="1"/>
          <p:nvPr/>
        </p:nvSpPr>
        <p:spPr>
          <a:xfrm>
            <a:off x="8293608" y="4636008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Where could conversational interaction add value to Optum's existing offerings?</a:t>
            </a:r>
            <a:endParaRPr lang="en-US" sz="1400" dirty="0"/>
          </a:p>
        </p:txBody>
      </p:sp>
      <p:sp>
        <p:nvSpPr>
          <p:cNvPr id="41" name="evidence boundary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Evidence boundary: Public product marketing and announcements reviewed as of October 13, 2026. The findings describe selected screened inventories—not a market census, adoption rates, verified product performance or undisclosed capabilities.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U.S. COMPETITIVE LANDSCAPE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Conversational AI is most prominent in RWE among screened U.S. competitors; Optum has relevant offerings across five decision workflows</a:t>
            </a:r>
            <a:endParaRPr lang="en-US" sz="2200" dirty="0"/>
          </a:p>
        </p:txBody>
      </p:sp>
      <p:sp>
        <p:nvSpPr>
          <p:cNvPr id="4" name="label"/>
          <p:cNvSpPr txBox="1"/>
          <p:nvPr/>
        </p:nvSpPr>
        <p:spPr>
          <a:xfrm>
            <a:off x="548640" y="1463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U.S. COMPETITIVE SCREEN</a:t>
            </a:r>
            <a:endParaRPr lang="en-US" sz="1000" dirty="0"/>
          </a:p>
        </p:txBody>
      </p:sp>
      <p:sp>
        <p:nvSpPr>
          <p:cNvPr id="5" name="kpi tile 45"/>
          <p:cNvSpPr/>
          <p:nvPr/>
        </p:nvSpPr>
        <p:spPr>
          <a:xfrm>
            <a:off x="548640" y="1700784"/>
            <a:ext cx="3319272" cy="5303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0078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07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competitor groups initially screened</a:t>
            </a:r>
            <a:endParaRPr lang="en-US" sz="1000" dirty="0"/>
          </a:p>
        </p:txBody>
      </p:sp>
      <p:sp>
        <p:nvSpPr>
          <p:cNvPr id="8" name="flow arrow"/>
          <p:cNvSpPr/>
          <p:nvPr/>
        </p:nvSpPr>
        <p:spPr>
          <a:xfrm>
            <a:off x="3995928" y="1847088"/>
            <a:ext cx="31089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kpi tile 15"/>
          <p:cNvSpPr/>
          <p:nvPr/>
        </p:nvSpPr>
        <p:spPr>
          <a:xfrm>
            <a:off x="4434840" y="1700784"/>
            <a:ext cx="3319272" cy="5303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170078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007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distinct groups marketing qualifying conversational AI</a:t>
            </a:r>
            <a:endParaRPr lang="en-US" sz="1000" dirty="0"/>
          </a:p>
        </p:txBody>
      </p:sp>
      <p:sp>
        <p:nvSpPr>
          <p:cNvPr id="12" name="flow arrow"/>
          <p:cNvSpPr/>
          <p:nvPr/>
        </p:nvSpPr>
        <p:spPr>
          <a:xfrm>
            <a:off x="7882128" y="1847088"/>
            <a:ext cx="310896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kpi tile 19"/>
          <p:cNvSpPr/>
          <p:nvPr/>
        </p:nvSpPr>
        <p:spPr>
          <a:xfrm>
            <a:off x="8321040" y="1700784"/>
            <a:ext cx="3319272" cy="5303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5632" y="170078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19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7007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qualifying conversational AI offerings across five decision workflows</a:t>
            </a:r>
            <a:endParaRPr lang="en-US" sz="1000" dirty="0"/>
          </a:p>
        </p:txBody>
      </p:sp>
      <p:sp>
        <p:nvSpPr>
          <p:cNvPr id="16" name="label"/>
          <p:cNvSpPr txBox="1"/>
          <p:nvPr/>
        </p:nvSpPr>
        <p:spPr>
          <a:xfrm>
            <a:off x="548640" y="2377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COMPETITOR COVERAGE AND OPTUM LS POSITIONING</a:t>
            </a:r>
            <a:endParaRPr lang="en-US" sz="1000" dirty="0"/>
          </a:p>
        </p:txBody>
      </p:sp>
      <p:sp>
        <p:nvSpPr>
          <p:cNvPr id="17" name="table header"/>
          <p:cNvSpPr/>
          <p:nvPr/>
        </p:nvSpPr>
        <p:spPr>
          <a:xfrm>
            <a:off x="548640" y="2615184"/>
            <a:ext cx="11091672" cy="43891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6151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U.S. competitors marketing chat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comparable competitors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6151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Workflow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6151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Representative conversational AI offerings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6151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Optum's publicly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marketed offerings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52760" y="261518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Optum public chat claim</a:t>
            </a:r>
            <a:endParaRPr lang="en-US" sz="900" dirty="0"/>
          </a:p>
        </p:txBody>
      </p:sp>
      <p:graphicFrame>
        <p:nvGraphicFramePr>
          <p:cNvPr id="23" name="competitor coverage chart" descr=""/>
          <p:cNvGraphicFramePr/>
          <p:nvPr/>
        </p:nvGraphicFramePr>
        <p:xfrm>
          <a:off x="1170432" y="3054096"/>
          <a:ext cx="2212848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fraction RWE"/>
          <p:cNvSpPr txBox="1"/>
          <p:nvPr/>
        </p:nvSpPr>
        <p:spPr>
          <a:xfrm>
            <a:off x="566928" y="3054096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9</a:t>
            </a:r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/ 34</a:t>
            </a:r>
            <a:endParaRPr lang="en-US" sz="1000" dirty="0"/>
          </a:p>
        </p:txBody>
      </p:sp>
      <p:sp>
        <p:nvSpPr>
          <p:cNvPr id="25" name="workflow chip RWE"/>
          <p:cNvSpPr/>
          <p:nvPr/>
        </p:nvSpPr>
        <p:spPr>
          <a:xfrm>
            <a:off x="3547872" y="3122676"/>
            <a:ext cx="1819656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47872" y="312267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RWE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577840" y="3054096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Komodo Marmot and MapAI; Truveta Intelligence; Flatiron Telescope; Tempus Lens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054096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Analytics on Demand; epidemiology research</a:t>
            </a:r>
            <a:endParaRPr lang="en-US" sz="900" dirty="0"/>
          </a:p>
        </p:txBody>
      </p:sp>
      <p:sp>
        <p:nvSpPr>
          <p:cNvPr id="29" name="chat status RWE"/>
          <p:cNvSpPr/>
          <p:nvPr/>
        </p:nvSpPr>
        <p:spPr>
          <a:xfrm>
            <a:off x="11109960" y="3195828"/>
            <a:ext cx="164592" cy="164592"/>
          </a:xfrm>
          <a:prstGeom prst="ellipse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502152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1" name="fraction Commercial intelligence"/>
          <p:cNvSpPr txBox="1"/>
          <p:nvPr/>
        </p:nvSpPr>
        <p:spPr>
          <a:xfrm>
            <a:off x="1282849" y="3502152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</a:t>
            </a:r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/ 23</a:t>
            </a:r>
            <a:endParaRPr lang="en-US" sz="1000" dirty="0"/>
          </a:p>
        </p:txBody>
      </p:sp>
      <p:sp>
        <p:nvSpPr>
          <p:cNvPr id="32" name="workflow chip Commercial intelligence"/>
          <p:cNvSpPr/>
          <p:nvPr/>
        </p:nvSpPr>
        <p:spPr>
          <a:xfrm>
            <a:off x="3547872" y="3570732"/>
            <a:ext cx="1819656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47872" y="357073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Commercial intelligence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577840" y="3502152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IQVIA Field Force Agent and GMI Agent; ZS Conversational AI for Commercial; Trinity InsightsEDGE Digital Twins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3502152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Market Clarity: portfolio and patient/prescriber analytics</a:t>
            </a:r>
            <a:endParaRPr lang="en-US" sz="900" dirty="0"/>
          </a:p>
        </p:txBody>
      </p:sp>
      <p:sp>
        <p:nvSpPr>
          <p:cNvPr id="36" name="chat status Commercial intelligence"/>
          <p:cNvSpPr/>
          <p:nvPr/>
        </p:nvSpPr>
        <p:spPr>
          <a:xfrm>
            <a:off x="11109960" y="3643884"/>
            <a:ext cx="164592" cy="164592"/>
          </a:xfrm>
          <a:prstGeom prst="ellipse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" y="3950208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8" name="fraction Medical / regulatory research"/>
          <p:cNvSpPr txBox="1"/>
          <p:nvPr/>
        </p:nvSpPr>
        <p:spPr>
          <a:xfrm>
            <a:off x="1608268" y="3950208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</a:t>
            </a:r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/ 18</a:t>
            </a:r>
            <a:endParaRPr lang="en-US" sz="1000" dirty="0"/>
          </a:p>
        </p:txBody>
      </p:sp>
      <p:sp>
        <p:nvSpPr>
          <p:cNvPr id="39" name="workflow chip Medical / regulatory research"/>
          <p:cNvSpPr/>
          <p:nvPr/>
        </p:nvSpPr>
        <p:spPr>
          <a:xfrm>
            <a:off x="3547872" y="4018788"/>
            <a:ext cx="1819656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547872" y="401878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Medical / regulatory research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3950208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IQVIA Med-R1; ZS Conversational AI for Medical; Veeva Vault AI Chat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8595360" y="3950208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Postapproval safety studies; Market Clarity medical affairs insights</a:t>
            </a:r>
            <a:endParaRPr lang="en-US" sz="900" dirty="0"/>
          </a:p>
        </p:txBody>
      </p:sp>
      <p:sp>
        <p:nvSpPr>
          <p:cNvPr id="43" name="chat status Medical / regulatory research"/>
          <p:cNvSpPr/>
          <p:nvPr/>
        </p:nvSpPr>
        <p:spPr>
          <a:xfrm>
            <a:off x="11109960" y="4091940"/>
            <a:ext cx="164592" cy="164592"/>
          </a:xfrm>
          <a:prstGeom prst="ellipse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" y="4398264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5" name="fraction Clinical trials"/>
          <p:cNvSpPr txBox="1"/>
          <p:nvPr/>
        </p:nvSpPr>
        <p:spPr>
          <a:xfrm>
            <a:off x="1152682" y="4398264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/ 25</a:t>
            </a:r>
            <a:endParaRPr lang="en-US" sz="1000" dirty="0"/>
          </a:p>
        </p:txBody>
      </p:sp>
      <p:sp>
        <p:nvSpPr>
          <p:cNvPr id="46" name="workflow chip Clinical trials"/>
          <p:cNvSpPr/>
          <p:nvPr/>
        </p:nvSpPr>
        <p:spPr>
          <a:xfrm>
            <a:off x="3547872" y="4466844"/>
            <a:ext cx="1819656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547872" y="4466844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Clinical trials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5577840" y="4398264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TriNetX Terrain AI Assistant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8595360" y="4398264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Prospector; Digital Research Network; True Source</a:t>
            </a:r>
            <a:endParaRPr lang="en-US" sz="900" dirty="0"/>
          </a:p>
        </p:txBody>
      </p:sp>
      <p:sp>
        <p:nvSpPr>
          <p:cNvPr id="50" name="chat status Clinical trials"/>
          <p:cNvSpPr/>
          <p:nvPr/>
        </p:nvSpPr>
        <p:spPr>
          <a:xfrm>
            <a:off x="11109960" y="4539996"/>
            <a:ext cx="164592" cy="164592"/>
          </a:xfrm>
          <a:prstGeom prst="ellipse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48640" y="484632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2" name="fraction Market access"/>
          <p:cNvSpPr txBox="1"/>
          <p:nvPr/>
        </p:nvSpPr>
        <p:spPr>
          <a:xfrm>
            <a:off x="1217766" y="4846320"/>
            <a:ext cx="548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/ 24</a:t>
            </a:r>
            <a:endParaRPr lang="en-US" sz="1000" dirty="0"/>
          </a:p>
        </p:txBody>
      </p:sp>
      <p:sp>
        <p:nvSpPr>
          <p:cNvPr id="53" name="workflow chip Market access"/>
          <p:cNvSpPr/>
          <p:nvPr/>
        </p:nvSpPr>
        <p:spPr>
          <a:xfrm>
            <a:off x="3547872" y="4914900"/>
            <a:ext cx="1819656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47872" y="491490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Market access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5577840" y="4846320"/>
            <a:ext cx="2697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EVERSANA Ask NAVLIN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8595360" y="4846320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HEOR/value evidence; Evidence Engine</a:t>
            </a:r>
            <a:endParaRPr lang="en-US" sz="900" dirty="0"/>
          </a:p>
        </p:txBody>
      </p:sp>
      <p:sp>
        <p:nvSpPr>
          <p:cNvPr id="57" name="chat status Market access"/>
          <p:cNvSpPr/>
          <p:nvPr/>
        </p:nvSpPr>
        <p:spPr>
          <a:xfrm>
            <a:off x="11109960" y="4988052"/>
            <a:ext cx="164592" cy="164592"/>
          </a:xfrm>
          <a:prstGeom prst="ellipse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48640" y="5294376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9" name="scope note"/>
          <p:cNvSpPr txBox="1"/>
          <p:nvPr/>
        </p:nvSpPr>
        <p:spPr>
          <a:xfrm>
            <a:off x="548640" y="535838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Scope note: Offerings are organized by their primary customer decision workflow; supporting data and analytics capabilities may serve more than one workflow.</a:t>
            </a:r>
            <a:endParaRPr lang="en-US" sz="800" dirty="0"/>
          </a:p>
        </p:txBody>
      </p:sp>
      <p:sp>
        <p:nvSpPr>
          <p:cNvPr id="60" name="chat claim legend"/>
          <p:cNvSpPr txBox="1"/>
          <p:nvPr/>
        </p:nvSpPr>
        <p:spPr>
          <a:xfrm>
            <a:off x="9418320" y="535838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○  Not publicly established in this review</a:t>
            </a:r>
            <a:endParaRPr lang="en-US" sz="800" dirty="0"/>
          </a:p>
        </p:txBody>
      </p:sp>
      <p:sp>
        <p:nvSpPr>
          <p:cNvPr id="61" name="key takeaway card"/>
          <p:cNvSpPr/>
          <p:nvPr/>
        </p:nvSpPr>
        <p:spPr>
          <a:xfrm>
            <a:off x="548640" y="5596128"/>
            <a:ext cx="11091672" cy="5486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2" name="label"/>
          <p:cNvSpPr txBox="1"/>
          <p:nvPr/>
        </p:nvSpPr>
        <p:spPr>
          <a:xfrm>
            <a:off x="731520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KEY TAKEAWAY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2331720" y="5596128"/>
            <a:ext cx="9125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RWE has the largest number of screened U.S. companies marketing qualifying conversational AI. Optum offers products and services across the five decision workflows shown, but a qualifying customer-facing conversational interface was not established in the reviewed public materials.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09360"/>
            <a:ext cx="9144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um LS Strategy">
  <a:themeElements>
    <a:clrScheme name="Optum LS Strategy">
      <a:dk1>
        <a:srgbClr val="4B4D4F"/>
      </a:dk1>
      <a:lt1>
        <a:srgbClr val="FFFFFF"/>
      </a:lt1>
      <a:dk2>
        <a:srgbClr val="002677"/>
      </a:dk2>
      <a:lt2>
        <a:srgbClr val="FAF8F2"/>
      </a:lt2>
      <a:accent1>
        <a:srgbClr val="002677"/>
      </a:accent1>
      <a:accent2>
        <a:srgbClr val="FF612B"/>
      </a:accent2>
      <a:accent3>
        <a:srgbClr val="D9D4C7"/>
      </a:accent3>
      <a:accent4>
        <a:srgbClr val="7A7C7E"/>
      </a:accent4>
      <a:accent5>
        <a:srgbClr val="E6ECF5"/>
      </a:accent5>
      <a:accent6>
        <a:srgbClr val="196ECF"/>
      </a:accent6>
      <a:hlink>
        <a:srgbClr val="196ECF"/>
      </a:hlink>
      <a:folHlink>
        <a:srgbClr val="7A7C7E"/>
      </a:folHlink>
    </a:clrScheme>
    <a:fontScheme name="Optum LS Strateg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Optum Life Sciences — Conversational AI</dc:title>
  <dc:subject>PptxGenJS Presentation</dc:subject>
  <dc:creator>PptxGenJS</dc:creator>
  <cp:lastModifiedBy>PptxGenJS</cp:lastModifiedBy>
  <cp:revision>1</cp:revision>
  <dcterms:created xsi:type="dcterms:W3CDTF">2026-10-13T22:01:12Z</dcterms:created>
  <dcterms:modified xsi:type="dcterms:W3CDTF">2026-10-13T22:01:12Z</dcterms:modified>
</cp:coreProperties>
</file>